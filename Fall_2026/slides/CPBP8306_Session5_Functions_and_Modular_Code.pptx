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4" r:id="rId4"/>
    <p:sldId id="258" r:id="rId5"/>
    <p:sldId id="265" r:id="rId6"/>
    <p:sldId id="266" r:id="rId7"/>
    <p:sldId id="270" r:id="rId8"/>
    <p:sldId id="260" r:id="rId9"/>
    <p:sldId id="267" r:id="rId10"/>
    <p:sldId id="269" r:id="rId11"/>
    <p:sldId id="271" r:id="rId12"/>
    <p:sldId id="262" r:id="rId13"/>
    <p:sldId id="261" r:id="rId14"/>
    <p:sldId id="263"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0182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session that changes how students work for the rest of the semester. Treat it as the keystone of Unit 1.</a:t>
            </a:r>
          </a:p>
          <a:p>
            <a:endParaRPr/>
          </a:p>
          <a:p>
            <a:r>
              <a:t>Open before class: demos/05_functions_demo.py. The refactoring demo is much better PERFORMED than described — start with the duplicated block on screen and edit it into a function while narrating.</a:t>
            </a:r>
          </a:p>
          <a:p>
            <a:endParaRPr/>
          </a:p>
          <a:p>
            <a:r>
              <a:t>NOTE THE FORMAT CHANGE: the second half of this session is Problem Set 05, not a tutor conversation. Have it posted and know which problems you want them to reach (3 and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Thirty seconds, and genuinely take answers. Do not supply them.</a:t>
            </a:r>
          </a:p>
          <a:p>
            <a:endParaRPr/>
          </a:p>
          <a:p>
            <a:r>
              <a:t>Answers you want: it is the same logic twice; if the threshold changes you have to remember both places; the reused count_high variable is a trap waiting to happen.</a:t>
            </a:r>
          </a:p>
          <a:p>
            <a:endParaRPr/>
          </a:p>
          <a:p>
            <a:r>
              <a:t>Then push further with the question that gets the real answer: "what happens when there is a group C?" and "what if you fix a bug in one copy and forget the other?"</a:t>
            </a:r>
          </a:p>
          <a:p>
            <a:endParaRPr/>
          </a:p>
          <a:p>
            <a:r>
              <a:t>Every copy-paste doubles the surface area for bugs. That sentence is the whole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 seconds on the objectives. Objective 5 — the docstring as a spec you hand to an AI — is the AI-collaboration payload of the entire unit, and it is what slides 11 and 12 build to.</a:t>
            </a:r>
          </a:p>
          <a:p>
            <a:endParaRPr/>
          </a:p>
          <a:p>
            <a:r>
              <a:t>The right-hand panel matters more than it looks: students treat library functions as a separate category of magical object, and it makes them timid about writing their own. Somebody wrote print. Somebody wrote mean. Say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Perform the refactor live rather than showing the finished version. Start with the duplicated block from slide 2 on screen and edit it into the function while narrating: "what changes between the two copies? That is a parameter."</a:t>
            </a:r>
          </a:p>
          <a:p>
            <a:endParaRPr/>
          </a:p>
          <a:p>
            <a:r>
              <a:t>Emphasise that DEFINING a function runs nothing. Students hit enter on the def, see no output, and think something failed.</a:t>
            </a:r>
          </a:p>
          <a:p>
            <a:endParaRPr/>
          </a:p>
          <a:p>
            <a:r>
              <a:t>The R body is the vectorised one-liner from Session 4 — call that back deliberately. Same function, four lines shorter, and it is the reward for last week's lesson.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Trigger the actual error live so they read the message with the vocabulary fresh: call count_high() with no arguments and let Python say "missing 1 required positional argument: 'bps'".</a:t>
            </a:r>
          </a:p>
          <a:p>
            <a:endParaRPr/>
          </a:p>
          <a:p>
            <a:r>
              <a:t>The analogy that works: a recipe says "flour"; your kitchen has a specific bag. The recipe word is the parameter, the bag is the argument.</a:t>
            </a:r>
          </a:p>
          <a:p>
            <a:endParaRPr/>
          </a:p>
          <a:p>
            <a:r>
              <a:t>This looks like pedantry until the first time they have to act on an error message. Two minutes now saves a confused office hour later.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concrete, repeatable habit to give them: when you paste a call with bare positional arguments, name them before you trust it.</a:t>
            </a:r>
          </a:p>
          <a:p>
            <a:endParaRPr/>
          </a:p>
          <a:p>
            <a:r>
              <a:t>The reason it works is the good part — you cannot name the arguments without first finding out what they are, so it is a reading exercise disguised as a formatting change.</a:t>
            </a:r>
          </a:p>
          <a:p>
            <a:endParaRPr/>
          </a:p>
          <a:p>
            <a:r>
              <a:t>If you have a real example of an AI emitting t.test(x, y, TRUE, 0.99), this is the moment for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it live: x = print_high(bps) then print(x). Seeing None printed is worth more than any explanation of it.</a:t>
            </a:r>
          </a:p>
          <a:p>
            <a:endParaRPr/>
          </a:p>
          <a:p>
            <a:r>
              <a:t>This is the most common beginner function bug, and it is silent — Python hands back None and never complains.</a:t>
            </a:r>
          </a:p>
          <a:p>
            <a:endParaRPr/>
          </a:p>
          <a:p>
            <a:r>
              <a:t>Rule of thumb, say it plainly: printing is for humans looking at output; returning is so the next line of code can use the result.</a:t>
            </a:r>
          </a:p>
          <a:p>
            <a:endParaRPr/>
          </a:p>
          <a:p>
            <a:r>
              <a:t>Mention the R asymmetry briefly — R returns the last expression implicitly, which makes translating between the two languages error-prone in exactly this spot.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scope as PROTECTION from the first sentence. Students meet it as an error message and conclude it is an obstacle.</a:t>
            </a:r>
          </a:p>
          <a:p>
            <a:endParaRPr/>
          </a:p>
          <a:p>
            <a:r>
              <a:t>The counterfactual is what makes it click: imagine every variable name shared across your entire project. A function you wrote in September could clobber a variable in your November script. Scope is why that cannot happen.</a:t>
            </a:r>
          </a:p>
          <a:p>
            <a:endParaRPr/>
          </a:p>
          <a:p>
            <a:r>
              <a:t>Run the NameError live. It is a friendly error and worth normalising.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nasty part is that the fragile version does NOT error. It silently uses whatever threshold happens to be — which is the definition of an irreproducible result.</a:t>
            </a:r>
          </a:p>
          <a:p>
            <a:endParaRPr/>
          </a:p>
          <a:p>
            <a:r>
              <a:t>Say the phrase "works on my machine" out loud. This is how you get it.</a:t>
            </a:r>
          </a:p>
          <a:p>
            <a:endParaRPr/>
          </a:p>
          <a:p>
            <a:r>
              <a:t>Everything a function needs should arrive through the door. Then it gives the same answer anywhere, forever.</a:t>
            </a:r>
          </a:p>
          <a:p>
            <a:endParaRPr/>
          </a:p>
          <a:p>
            <a:r>
              <a:t>This is Problem 5 of today's problem set — flag that, so they recognise it when they get there.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Rule 3 is the practical one: if naming it is hard, the block is doing too many things. Naming difficulty is a design smell, not a vocabulary problem.</a:t>
            </a:r>
          </a:p>
          <a:p>
            <a:endParaRPr/>
          </a:p>
          <a:p>
            <a:r>
              <a:t>Rule 1 is non-negotiable and worth saying as a rule: if you copied it more than once, convert it.</a:t>
            </a:r>
          </a:p>
          <a:p>
            <a:endParaRPr/>
          </a:p>
          <a:p>
            <a:r>
              <a:t>Rule 4 leads straight into the docstring slides — do not linger here.</a:t>
            </a:r>
          </a:p>
          <a:p>
            <a:endParaRPr/>
          </a:p>
          <a:p>
            <a:r>
              <a:t>The trench-coat line usually gets a laugh, and it lands the point that 200-line functions are a real failure mode.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 the "Missing values are NOT handled" line. A docstring that records a known limitation is worth more than one that restates the function's name.</a:t>
            </a:r>
          </a:p>
          <a:p>
            <a:endParaRPr/>
          </a:p>
          <a:p>
            <a:r>
              <a:t>Demo the hover: both VS Code and RStudio show docstrings on hover. That is the payoff that makes students actually write them — otherwise it reads as paperwork.</a:t>
            </a:r>
          </a:p>
          <a:p>
            <a:endParaRPr/>
          </a:p>
          <a:p>
            <a:r>
              <a:t>In R the #' comments are the convention packages use, and R's help system reads them.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 THIS SLIDE. This is the workflow the whole course has been building toward since Session 1. Say it as a thesis, not a tip:</a:t>
            </a:r>
          </a:p>
          <a:p>
            <a:endParaRPr/>
          </a:p>
          <a:p>
            <a:r>
              <a:t>  Write the docstring first. Hand it to the AI. Get back a body that matches. Then verify it.</a:t>
            </a:r>
          </a:p>
          <a:p>
            <a:endParaRPr/>
          </a:p>
          <a:p>
            <a:r>
              <a:t>Walk the table left to right. The left column is what everyone does now; the right column is what this course is for.</a:t>
            </a:r>
          </a:p>
          <a:p>
            <a:endParaRPr/>
          </a:p>
          <a:p>
            <a:r>
              <a:t>The key asymmetry is the last row: with "analyze my data" you cannot tell WHERE it went wrong. With a function against a docstring, it is wrong right here, in five lines you specified.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single most transferable habit in this deck. Make them do it during the problem set — it is Problem 3.</a:t>
            </a:r>
          </a:p>
          <a:p>
            <a:endParaRPr/>
          </a:p>
          <a:p>
            <a:r>
              <a:t>count_high([140]) is the one that matters: &gt;= or &gt; ? An AI-written function gets boundary cases wrong constantly, and no error will ever tell you.</a:t>
            </a:r>
          </a:p>
          <a:p>
            <a:endParaRPr/>
          </a:p>
          <a:p>
            <a:r>
              <a:t>Name the connection to unit testing and stop there — do not teach pytest. "This is the informal ancestor of a test suite" is enough.</a:t>
            </a:r>
          </a:p>
          <a:p>
            <a:endParaRPr/>
          </a:p>
          <a:p>
            <a:r>
              <a:t>Ten seconds, every time, before you trust a function you did not write.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Leave this up during the transition to the problem set.</a:t>
            </a:r>
          </a:p>
          <a:p>
            <a:endParaRPr/>
          </a:p>
          <a:p>
            <a:r>
              <a:t>The bottom-right box is the one to point at: accepting an AI-written function without testing it on a known answer. That is the trap that costs you a paper, and it is the one today exists to prevent.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FORMAT CHANGE THIS WEEK — the second half is Problem Set 05, worked through with the general Course Tutor, not a session-specific tutor.</a:t>
            </a:r>
          </a:p>
          <a:p>
            <a:endParaRPr/>
          </a:p>
          <a:p>
            <a:r>
              <a:t>Six problems, 20–25 minutes. Tell them to work in ORDER and to expect to reach all six; the tutor transcripts from earlier weeks showed about a third of students stopping early because nothing signalled there was more.</a:t>
            </a:r>
          </a:p>
          <a:p>
            <a:endParaRPr/>
          </a:p>
          <a:p>
            <a:r>
              <a:t>Flag the two that carry the session: Problem 3 (the boundary case — count_high_bp([140]) must be 1) and Problem 5 (the global-variable trap, which is slide 9).</a:t>
            </a:r>
          </a:p>
          <a:p>
            <a:endParaRPr/>
          </a:p>
          <a:p>
            <a:r>
              <a:t>Problem 6 needs data/patients.csv — make sure it is reachable before they start.</a:t>
            </a:r>
          </a:p>
          <a:p>
            <a:endParaRPr/>
          </a:p>
          <a:p>
            <a:r>
              <a:t>NEXT WEEK: tell them to create their GitHub account BEFORE class. Signup plus email verification eats ten minutes of a 55-minute session, and Session 6 is the highest-risk session of the unit.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logo_white.png"/>
          <p:cNvPicPr>
            <a:picLocks noChangeAspect="1"/>
          </p:cNvPicPr>
          <p:nvPr/>
        </p:nvPicPr>
        <p:blipFill>
          <a:blip r:embed="rId3"/>
          <a:stretch>
            <a:fillRect/>
          </a:stretch>
        </p:blipFill>
        <p:spPr>
          <a:xfrm>
            <a:off x="640080" y="594360"/>
            <a:ext cx="2377440" cy="516257"/>
          </a:xfrm>
          <a:prstGeom prst="rect">
            <a:avLst/>
          </a:prstGeom>
        </p:spPr>
      </p:pic>
      <p:sp>
        <p:nvSpPr>
          <p:cNvPr id="3" name="Text 0"/>
          <p:cNvSpPr/>
          <p:nvPr/>
        </p:nvSpPr>
        <p:spPr>
          <a:xfrm>
            <a:off x="640080" y="1508760"/>
            <a:ext cx="6675120" cy="365760"/>
          </a:xfrm>
          <a:prstGeom prst="rect">
            <a:avLst/>
          </a:prstGeom>
          <a:noFill/>
          <a:ln/>
        </p:spPr>
        <p:txBody>
          <a:bodyPr wrap="square" rtlCol="0" anchor="ctr"/>
          <a:lstStyle/>
          <a:p>
            <a:pPr marL="0" indent="0">
              <a:buNone/>
            </a:pPr>
            <a:r>
              <a:rPr lang="en-US" sz="1300" b="1" kern="0" spc="200" dirty="0">
                <a:solidFill>
                  <a:srgbClr val="ECB748"/>
                </a:solidFill>
                <a:latin typeface="Arial" pitchFamily="34" charset="0"/>
                <a:ea typeface="Arial" pitchFamily="34" charset="-122"/>
                <a:cs typeface="Arial" pitchFamily="34" charset="-120"/>
              </a:rPr>
              <a:t>SESSION 5  ·  UNIT 1 — FOUNDATIONS</a:t>
            </a:r>
            <a:endParaRPr lang="en-US" sz="1300" dirty="0"/>
          </a:p>
        </p:txBody>
      </p:sp>
      <p:sp>
        <p:nvSpPr>
          <p:cNvPr id="4" name="Text 1"/>
          <p:cNvSpPr/>
          <p:nvPr/>
        </p:nvSpPr>
        <p:spPr>
          <a:xfrm>
            <a:off x="594360" y="1920240"/>
            <a:ext cx="6766560" cy="1600200"/>
          </a:xfrm>
          <a:prstGeom prst="rect">
            <a:avLst/>
          </a:prstGeom>
          <a:noFill/>
          <a:ln/>
        </p:spPr>
        <p:txBody>
          <a:bodyPr wrap="square" rtlCol="0" anchor="ctr"/>
          <a:lstStyle/>
          <a:p>
            <a:pPr marL="0" indent="0">
              <a:lnSpc>
                <a:spcPct val="108000"/>
              </a:lnSpc>
              <a:buNone/>
            </a:pPr>
            <a:r>
              <a:rPr lang="en-US" sz="3600" b="1" dirty="0">
                <a:solidFill>
                  <a:srgbClr val="FFFFFF"/>
                </a:solidFill>
                <a:latin typeface="Arial" pitchFamily="34" charset="0"/>
                <a:ea typeface="Arial" pitchFamily="34" charset="-122"/>
                <a:cs typeface="Arial" pitchFamily="34" charset="-120"/>
              </a:rPr>
              <a:t>Functions and</a:t>
            </a:r>
            <a:endParaRPr lang="en-US" sz="3600" dirty="0"/>
          </a:p>
          <a:p>
            <a:pPr marL="0" indent="0">
              <a:lnSpc>
                <a:spcPct val="108000"/>
              </a:lnSpc>
              <a:buNone/>
            </a:pPr>
            <a:r>
              <a:rPr lang="en-US" sz="3600" b="1" dirty="0">
                <a:solidFill>
                  <a:srgbClr val="FFFFFF"/>
                </a:solidFill>
                <a:latin typeface="Arial" pitchFamily="34" charset="0"/>
                <a:ea typeface="Arial" pitchFamily="34" charset="-122"/>
                <a:cs typeface="Arial" pitchFamily="34" charset="-120"/>
              </a:rPr>
              <a:t>Modular Code</a:t>
            </a:r>
            <a:endParaRPr lang="en-US" sz="3600" dirty="0"/>
          </a:p>
        </p:txBody>
      </p:sp>
      <p:sp>
        <p:nvSpPr>
          <p:cNvPr id="5" name="Text 2"/>
          <p:cNvSpPr/>
          <p:nvPr/>
        </p:nvSpPr>
        <p:spPr>
          <a:xfrm>
            <a:off x="640080" y="3520440"/>
            <a:ext cx="6675120" cy="548640"/>
          </a:xfrm>
          <a:prstGeom prst="rect">
            <a:avLst/>
          </a:prstGeom>
          <a:noFill/>
          <a:ln/>
        </p:spPr>
        <p:txBody>
          <a:bodyPr wrap="square" rtlCol="0" anchor="ctr"/>
          <a:lstStyle/>
          <a:p>
            <a:pPr marL="0" indent="0">
              <a:buNone/>
            </a:pPr>
            <a:r>
              <a:rPr lang="en-US" sz="1600" dirty="0">
                <a:solidFill>
                  <a:srgbClr val="F5F3EF"/>
                </a:solidFill>
                <a:latin typeface="Arial" pitchFamily="34" charset="0"/>
                <a:ea typeface="Arial" pitchFamily="34" charset="-122"/>
                <a:cs typeface="Arial" pitchFamily="34" charset="-120"/>
              </a:rPr>
              <a:t>The smallest unit an AI can get right — and you can check</a:t>
            </a:r>
            <a:endParaRPr lang="en-US" sz="1600" dirty="0"/>
          </a:p>
        </p:txBody>
      </p:sp>
      <p:sp>
        <p:nvSpPr>
          <p:cNvPr id="6" name="Text 3"/>
          <p:cNvSpPr/>
          <p:nvPr/>
        </p:nvSpPr>
        <p:spPr>
          <a:xfrm>
            <a:off x="640080" y="5349240"/>
            <a:ext cx="6675120" cy="1005840"/>
          </a:xfrm>
          <a:prstGeom prst="rect">
            <a:avLst/>
          </a:prstGeom>
          <a:noFill/>
          <a:ln/>
        </p:spPr>
        <p:txBody>
          <a:bodyPr wrap="square" rtlCol="0" anchor="ctr"/>
          <a:lstStyle/>
          <a:p>
            <a:pPr marL="0" indent="0">
              <a:lnSpc>
                <a:spcPct val="130000"/>
              </a:lnSpc>
              <a:buNone/>
            </a:pPr>
            <a:r>
              <a:rPr lang="en-US" sz="1250" b="1" dirty="0">
                <a:solidFill>
                  <a:srgbClr val="FFFFFF"/>
                </a:solidFill>
                <a:latin typeface="Arial" pitchFamily="34" charset="0"/>
                <a:ea typeface="Arial" pitchFamily="34" charset="-122"/>
                <a:cs typeface="Arial" pitchFamily="34" charset="-120"/>
              </a:rPr>
              <a:t>CPBP 8306 — Coding for Research</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Joshua Borycz  &amp;  Daniel Genkins   |   TA: Peyton Coleman</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Thursdays 10:00–10:55am  ·  Light Hall 439</a:t>
            </a:r>
            <a:endParaRPr lang="en-US" sz="1250" dirty="0"/>
          </a:p>
        </p:txBody>
      </p:sp>
      <p:sp>
        <p:nvSpPr>
          <p:cNvPr id="7" name="Shape 4"/>
          <p:cNvSpPr/>
          <p:nvPr/>
        </p:nvSpPr>
        <p:spPr>
          <a:xfrm>
            <a:off x="8001000" y="2286000"/>
            <a:ext cx="3566160" cy="2651760"/>
          </a:xfrm>
          <a:prstGeom prst="roundRect">
            <a:avLst>
              <a:gd name="adj" fmla="val 4138"/>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229600" y="2514600"/>
            <a:ext cx="146304" cy="146304"/>
          </a:xfrm>
          <a:prstGeom prst="ellipse">
            <a:avLst/>
          </a:prstGeom>
          <a:solidFill>
            <a:srgbClr val="D64550"/>
          </a:solidFill>
          <a:ln/>
        </p:spPr>
        <p:txBody>
          <a:bodyPr/>
          <a:lstStyle/>
          <a:p>
            <a:endParaRPr lang="en-US"/>
          </a:p>
        </p:txBody>
      </p:sp>
      <p:sp>
        <p:nvSpPr>
          <p:cNvPr id="9" name="Shape 6"/>
          <p:cNvSpPr/>
          <p:nvPr/>
        </p:nvSpPr>
        <p:spPr>
          <a:xfrm>
            <a:off x="8485632" y="2514600"/>
            <a:ext cx="146304" cy="146304"/>
          </a:xfrm>
          <a:prstGeom prst="ellipse">
            <a:avLst/>
          </a:prstGeom>
          <a:solidFill>
            <a:srgbClr val="ECB748"/>
          </a:solidFill>
          <a:ln/>
        </p:spPr>
        <p:txBody>
          <a:bodyPr/>
          <a:lstStyle/>
          <a:p>
            <a:endParaRPr lang="en-US"/>
          </a:p>
        </p:txBody>
      </p:sp>
      <p:sp>
        <p:nvSpPr>
          <p:cNvPr id="10" name="Shape 7"/>
          <p:cNvSpPr/>
          <p:nvPr/>
        </p:nvSpPr>
        <p:spPr>
          <a:xfrm>
            <a:off x="8741664" y="2514600"/>
            <a:ext cx="146304" cy="146304"/>
          </a:xfrm>
          <a:prstGeom prst="ellipse">
            <a:avLst/>
          </a:prstGeom>
          <a:solidFill>
            <a:srgbClr val="6B6B6B"/>
          </a:solidFill>
          <a:ln/>
        </p:spPr>
        <p:txBody>
          <a:bodyPr/>
          <a:lstStyle/>
          <a:p>
            <a:endParaRPr lang="en-US"/>
          </a:p>
        </p:txBody>
      </p:sp>
      <p:sp>
        <p:nvSpPr>
          <p:cNvPr id="11" name="Text 8"/>
          <p:cNvSpPr/>
          <p:nvPr/>
        </p:nvSpPr>
        <p:spPr>
          <a:xfrm>
            <a:off x="9189720" y="2450592"/>
            <a:ext cx="2194560" cy="274320"/>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count.py</a:t>
            </a:r>
            <a:endParaRPr lang="en-US" sz="1050" dirty="0"/>
          </a:p>
        </p:txBody>
      </p:sp>
      <p:sp>
        <p:nvSpPr>
          <p:cNvPr id="12" name="Shape 9"/>
          <p:cNvSpPr/>
          <p:nvPr/>
        </p:nvSpPr>
        <p:spPr>
          <a:xfrm>
            <a:off x="8046720" y="2834640"/>
            <a:ext cx="3474720" cy="0"/>
          </a:xfrm>
          <a:prstGeom prst="line">
            <a:avLst/>
          </a:prstGeom>
          <a:noFill/>
          <a:ln w="12700">
            <a:solidFill>
              <a:srgbClr val="444444"/>
            </a:solidFill>
            <a:prstDash val="solid"/>
          </a:ln>
        </p:spPr>
        <p:txBody>
          <a:bodyPr/>
          <a:lstStyle/>
          <a:p>
            <a:endParaRPr lang="en-US"/>
          </a:p>
        </p:txBody>
      </p:sp>
      <p:sp>
        <p:nvSpPr>
          <p:cNvPr id="13" name="Text 10"/>
          <p:cNvSpPr/>
          <p:nvPr/>
        </p:nvSpPr>
        <p:spPr>
          <a:xfrm>
            <a:off x="8275320" y="3063240"/>
            <a:ext cx="3017520" cy="365760"/>
          </a:xfrm>
          <a:prstGeom prst="rect">
            <a:avLst/>
          </a:prstGeom>
          <a:noFill/>
          <a:ln/>
        </p:spPr>
        <p:txBody>
          <a:bodyPr wrap="square" rtlCol="0" anchor="ctr"/>
          <a:lstStyle/>
          <a:p>
            <a:pPr marL="0" indent="0">
              <a:buNone/>
            </a:pPr>
            <a:r>
              <a:rPr lang="en-US" sz="1350" dirty="0">
                <a:solidFill>
                  <a:srgbClr val="F5F3EF"/>
                </a:solidFill>
                <a:latin typeface="Courier New" pitchFamily="34" charset="0"/>
                <a:ea typeface="Courier New" pitchFamily="34" charset="-122"/>
                <a:cs typeface="Courier New" pitchFamily="34" charset="-120"/>
              </a:rPr>
              <a:t>def count_high(bps, threshold=140):</a:t>
            </a:r>
            <a:endParaRPr lang="en-US" sz="1350" dirty="0"/>
          </a:p>
        </p:txBody>
      </p:sp>
      <p:sp>
        <p:nvSpPr>
          <p:cNvPr id="14" name="Text 11"/>
          <p:cNvSpPr/>
          <p:nvPr/>
        </p:nvSpPr>
        <p:spPr>
          <a:xfrm>
            <a:off x="8275320" y="3520440"/>
            <a:ext cx="3017520" cy="365760"/>
          </a:xfrm>
          <a:prstGeom prst="rect">
            <a:avLst/>
          </a:prstGeom>
          <a:noFill/>
          <a:ln/>
        </p:spPr>
        <p:txBody>
          <a:bodyPr wrap="square" rtlCol="0" anchor="ctr"/>
          <a:lstStyle/>
          <a:p>
            <a:r>
              <a:rPr lang="en-US" sz="1400" dirty="0">
                <a:solidFill>
                  <a:srgbClr val="F5F3EF"/>
                </a:solidFill>
                <a:latin typeface="Courier New" pitchFamily="34" charset="0"/>
                <a:ea typeface="Courier New" pitchFamily="34" charset="-122"/>
                <a:cs typeface="Courier New" pitchFamily="34" charset="-120"/>
              </a:rPr>
              <a:t>    return sum(bp &gt;= threshold</a:t>
            </a:r>
            <a:r>
              <a:rPr lang="en-US" sz="1400" dirty="0">
                <a:solidFill>
                  <a:srgbClr val="ECB748"/>
                </a:solidFill>
                <a:latin typeface="Courier New" pitchFamily="34" charset="0"/>
                <a:ea typeface="Courier New" pitchFamily="34" charset="-122"/>
                <a:cs typeface="Courier New" pitchFamily="34" charset="-120"/>
              </a:rPr>
              <a:t> for bp in bps)</a:t>
            </a:r>
            <a:endParaRPr lang="en-US" sz="1400" dirty="0"/>
          </a:p>
        </p:txBody>
      </p:sp>
      <p:sp>
        <p:nvSpPr>
          <p:cNvPr id="15" name="Text 12"/>
          <p:cNvSpPr/>
          <p:nvPr/>
        </p:nvSpPr>
        <p:spPr>
          <a:xfrm>
            <a:off x="8275320" y="3977640"/>
            <a:ext cx="3017520" cy="365760"/>
          </a:xfrm>
          <a:prstGeom prst="rect">
            <a:avLst/>
          </a:prstGeom>
          <a:noFill/>
          <a:ln/>
        </p:spPr>
        <p:txBody>
          <a:bodyPr wrap="square" rtlCol="0" anchor="ctr"/>
          <a:lstStyle/>
          <a:p>
            <a:pPr marL="0" indent="0">
              <a:buNone/>
            </a:pPr>
            <a:endParaRPr lang="en-US" sz="1300" dirty="0"/>
          </a:p>
        </p:txBody>
      </p:sp>
      <p:sp>
        <p:nvSpPr>
          <p:cNvPr id="16" name="Text 13"/>
          <p:cNvSpPr/>
          <p:nvPr/>
        </p:nvSpPr>
        <p:spPr>
          <a:xfrm>
            <a:off x="8001000" y="5074920"/>
            <a:ext cx="3566160" cy="365760"/>
          </a:xfrm>
          <a:prstGeom prst="rect">
            <a:avLst/>
          </a:prstGeom>
          <a:noFill/>
          <a:ln/>
        </p:spPr>
        <p:txBody>
          <a:bodyPr wrap="square" rtlCol="0" anchor="ctr"/>
          <a:lstStyle/>
          <a:p>
            <a:pPr marL="0" indent="0" algn="ctr">
              <a:buNone/>
            </a:pPr>
            <a:r>
              <a:rPr lang="en-US" sz="1100" i="1" dirty="0">
                <a:solidFill>
                  <a:srgbClr val="9B9690"/>
                </a:solidFill>
                <a:latin typeface="Arial" pitchFamily="34" charset="0"/>
                <a:ea typeface="Arial" pitchFamily="34" charset="-122"/>
                <a:cs typeface="Arial" pitchFamily="34" charset="-120"/>
              </a:rPr>
              <a:t>One definition. Any number of calls. Written once, checked once.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0–4 MIN  ·  RECAP</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What is wrong with this?</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count_high = 0</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for bp in group_a:   if bp &gt;= 140: count_high += 1</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count_high_a = count_high</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count_high = 0</a:t>
            </a: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for bp in group_b:   if bp &gt;= 140: count_high += 1</a:t>
            </a: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count_high_b = count_high</a:t>
            </a:r>
            <a:endParaRPr lang="en-US" sz="1600" dirty="0"/>
          </a:p>
          <a:p>
            <a:pPr marL="0" indent="0">
              <a:lnSpc>
                <a:spcPct val="125000"/>
              </a:lnSpc>
              <a:buNone/>
            </a:pP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Thirty seconds. What bothers you about it? Call it out.</a:t>
            </a:r>
            <a:endParaRPr lang="en-US" sz="16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THE REAL ANSWER</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Group C.</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What happens when a third group arrives — or when you fix a bug in one copy and forget the other? Every copy-paste doubles the surface area for bugs.</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ROADMAP</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By the end of today you can…</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1.  Define a function with parameters, defaults, and a return value.</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2.  Tell an argument from a parameter — the words matter when reading errors.</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3.  Say what scope is, and predict where a variable is visible.</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4.  Recognise the moment a block of code should become a function.</a:t>
            </a: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5.  Write a docstring — and use it as a spec you hand to an AI.</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txBody>
          <a:bodyPr/>
          <a:lstStyle/>
          <a:p>
            <a:endParaRPr lang="en-US"/>
          </a:p>
        </p:txBody>
      </p:sp>
      <p:sp>
        <p:nvSpPr>
          <p:cNvPr id="9" name="Text 6"/>
          <p:cNvSpPr/>
          <p:nvPr/>
        </p:nvSpPr>
        <p:spPr>
          <a:xfrm>
            <a:off x="868680" y="4663440"/>
            <a:ext cx="5852160" cy="10058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Objective 5 is the AI-collaboration payload of the whole unit.</a:t>
            </a: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YOU HAVE USED THESE ALL SEMESTER</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print  sum  len  mean  c</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Somebody wrote each of those. They are not magic — they are named, reusable blocks. Yours will be too.</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870862"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870862"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5–12 MIN  ·  SEGMENT 2</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Defining and calling</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define.py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def count_high(bps, threshold=140):</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return sum(bp &gt;= threshold</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ECB748"/>
                </a:solidFill>
                <a:latin typeface="Courier New" pitchFamily="34" charset="0"/>
                <a:ea typeface="Courier New" pitchFamily="34" charset="-122"/>
                <a:cs typeface="Courier New" pitchFamily="34" charset="-120"/>
              </a:rPr>
              <a:t>               for bp in bps)</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16" name="Shape 13"/>
          <p:cNvSpPr/>
          <p:nvPr/>
        </p:nvSpPr>
        <p:spPr>
          <a:xfrm>
            <a:off x="6492240" y="1801368"/>
            <a:ext cx="146304" cy="146304"/>
          </a:xfrm>
          <a:prstGeom prst="ellipse">
            <a:avLst/>
          </a:prstGeom>
          <a:solidFill>
            <a:srgbClr val="D64550"/>
          </a:solidFill>
          <a:ln/>
        </p:spPr>
        <p:txBody>
          <a:bodyPr/>
          <a:lstStyle/>
          <a:p>
            <a:endParaRPr lang="en-US"/>
          </a:p>
        </p:txBody>
      </p:sp>
      <p:sp>
        <p:nvSpPr>
          <p:cNvPr id="17" name="Shape 14"/>
          <p:cNvSpPr/>
          <p:nvPr/>
        </p:nvSpPr>
        <p:spPr>
          <a:xfrm>
            <a:off x="6748272" y="1801368"/>
            <a:ext cx="146304" cy="146304"/>
          </a:xfrm>
          <a:prstGeom prst="ellipse">
            <a:avLst/>
          </a:prstGeom>
          <a:solidFill>
            <a:srgbClr val="ECB748"/>
          </a:solidFill>
          <a:ln/>
        </p:spPr>
        <p:txBody>
          <a:bodyPr/>
          <a:lstStyle/>
          <a:p>
            <a:endParaRPr lang="en-US"/>
          </a:p>
        </p:txBody>
      </p:sp>
      <p:sp>
        <p:nvSpPr>
          <p:cNvPr id="18" name="Shape 15"/>
          <p:cNvSpPr/>
          <p:nvPr/>
        </p:nvSpPr>
        <p:spPr>
          <a:xfrm>
            <a:off x="7004304" y="1801368"/>
            <a:ext cx="146304" cy="146304"/>
          </a:xfrm>
          <a:prstGeom prst="ellipse">
            <a:avLst/>
          </a:prstGeom>
          <a:solidFill>
            <a:srgbClr val="6B6B6B"/>
          </a:solidFill>
          <a:ln/>
        </p:spPr>
        <p:txBody>
          <a:bodyPr/>
          <a:lstStyle/>
          <a:p>
            <a:endParaRPr lang="en-US"/>
          </a:p>
        </p:txBody>
      </p:sp>
      <p:sp>
        <p:nvSpPr>
          <p:cNvPr id="19" name="Text 16"/>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define.R</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1" name="Text 18"/>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count_high &lt;- function(bps,</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threshold = 140) {</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B3C9CD"/>
                </a:solidFill>
                <a:latin typeface="Courier New" pitchFamily="34" charset="0"/>
                <a:ea typeface="Courier New" pitchFamily="34" charset="-122"/>
                <a:cs typeface="Courier New" pitchFamily="34" charset="-120"/>
              </a:rPr>
              <a:t>  sum(bps &gt;= threshold) }</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1. Two calls, one definition.  count_high(group_a)  and  count_high(group_b, threshold=150). The duplicated block from the last slide is gone.</a:t>
            </a: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2. Defining a function runs nothing.  You will hit enter on the def and see no output. That is correct, and it surprises almost everybody once.</a:t>
            </a: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txBody>
          <a:bodyPr/>
          <a:lstStyle/>
          <a:p>
            <a:endParaRPr lang="en-US"/>
          </a:p>
        </p:txBody>
      </p:sp>
      <p:sp>
        <p:nvSpPr>
          <p:cNvPr id="27" name="Text 24"/>
          <p:cNvSpPr/>
          <p:nvPr/>
        </p:nvSpPr>
        <p:spPr>
          <a:xfrm>
            <a:off x="960120" y="4754880"/>
            <a:ext cx="1024128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AN R QUIRK WORTH KNOWING</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marL="0" indent="0">
              <a:buNone/>
            </a:pPr>
            <a:r>
              <a:rPr lang="en-US" sz="1500" b="1" dirty="0">
                <a:solidFill>
                  <a:srgbClr val="1C1C1C"/>
                </a:solidFill>
                <a:latin typeface="Courier New" pitchFamily="34" charset="0"/>
                <a:ea typeface="Courier New" pitchFamily="34" charset="-122"/>
                <a:cs typeface="Courier New" pitchFamily="34" charset="-120"/>
              </a:rPr>
              <a:t>The last expression in an R function is its return value — return() exists and is fine for clarity</a:t>
            </a: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marL="0" indent="0">
              <a:buNone/>
            </a:pPr>
            <a:r>
              <a:rPr lang="en-US" sz="1250" i="1" dirty="0">
                <a:solidFill>
                  <a:srgbClr val="1C1C1C"/>
                </a:solidFill>
                <a:latin typeface="Arial" pitchFamily="34" charset="0"/>
                <a:ea typeface="Arial" pitchFamily="34" charset="-122"/>
                <a:cs typeface="Arial" pitchFamily="34" charset="-120"/>
              </a:rPr>
              <a:t>The R body is the vectorised one-liner from last week. Same function, four lines shorter — that is the reward for Session 4.</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243937"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243937"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12–15 MIN  ·  THE VOCABULARY</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Parameter, or argument?</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the definition</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def count_high(bps, threshold=140):</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         ^</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ECB748"/>
                </a:solidFill>
                <a:latin typeface="Courier New" pitchFamily="34" charset="0"/>
                <a:ea typeface="Courier New" pitchFamily="34" charset="-122"/>
                <a:cs typeface="Courier New" pitchFamily="34" charset="-120"/>
              </a:rPr>
              <a:t>            parameter   parameter + default</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16" name="Shape 13"/>
          <p:cNvSpPr/>
          <p:nvPr/>
        </p:nvSpPr>
        <p:spPr>
          <a:xfrm>
            <a:off x="6492240" y="1801368"/>
            <a:ext cx="146304" cy="146304"/>
          </a:xfrm>
          <a:prstGeom prst="ellipse">
            <a:avLst/>
          </a:prstGeom>
          <a:solidFill>
            <a:srgbClr val="D64550"/>
          </a:solidFill>
          <a:ln/>
        </p:spPr>
        <p:txBody>
          <a:bodyPr/>
          <a:lstStyle/>
          <a:p>
            <a:endParaRPr lang="en-US"/>
          </a:p>
        </p:txBody>
      </p:sp>
      <p:sp>
        <p:nvSpPr>
          <p:cNvPr id="17" name="Shape 14"/>
          <p:cNvSpPr/>
          <p:nvPr/>
        </p:nvSpPr>
        <p:spPr>
          <a:xfrm>
            <a:off x="6748272" y="1801368"/>
            <a:ext cx="146304" cy="146304"/>
          </a:xfrm>
          <a:prstGeom prst="ellipse">
            <a:avLst/>
          </a:prstGeom>
          <a:solidFill>
            <a:srgbClr val="ECB748"/>
          </a:solidFill>
          <a:ln/>
        </p:spPr>
        <p:txBody>
          <a:bodyPr/>
          <a:lstStyle/>
          <a:p>
            <a:endParaRPr lang="en-US"/>
          </a:p>
        </p:txBody>
      </p:sp>
      <p:sp>
        <p:nvSpPr>
          <p:cNvPr id="18" name="Shape 15"/>
          <p:cNvSpPr/>
          <p:nvPr/>
        </p:nvSpPr>
        <p:spPr>
          <a:xfrm>
            <a:off x="7004304" y="1801368"/>
            <a:ext cx="146304" cy="146304"/>
          </a:xfrm>
          <a:prstGeom prst="ellipse">
            <a:avLst/>
          </a:prstGeom>
          <a:solidFill>
            <a:srgbClr val="6B6B6B"/>
          </a:solidFill>
          <a:ln/>
        </p:spPr>
        <p:txBody>
          <a:bodyPr/>
          <a:lstStyle/>
          <a:p>
            <a:endParaRPr lang="en-US"/>
          </a:p>
        </p:txBody>
      </p:sp>
      <p:sp>
        <p:nvSpPr>
          <p:cNvPr id="19" name="Text 16"/>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the call</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1" name="Text 18"/>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count_high(group_a, 150)</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         ^</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B3C9CD"/>
                </a:solidFill>
                <a:latin typeface="Courier New" pitchFamily="34" charset="0"/>
                <a:ea typeface="Courier New" pitchFamily="34" charset="-122"/>
                <a:cs typeface="Courier New" pitchFamily="34" charset="-120"/>
              </a:rPr>
              <a:t>        argument   argument</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1. Parameter = the name in the definition.  A placeholder. bps and threshold.</a:t>
            </a: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2. Argument = the value at the call.  The real thing. group_a and 150.</a:t>
            </a: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txBody>
          <a:bodyPr/>
          <a:lstStyle/>
          <a:p>
            <a:endParaRPr lang="en-US"/>
          </a:p>
        </p:txBody>
      </p:sp>
      <p:sp>
        <p:nvSpPr>
          <p:cNvPr id="27" name="Text 24"/>
          <p:cNvSpPr/>
          <p:nvPr/>
        </p:nvSpPr>
        <p:spPr>
          <a:xfrm>
            <a:off x="960120" y="4754880"/>
            <a:ext cx="1024128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WHY THE WORDS EARN THEIR KEEP</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marL="0" indent="0">
              <a:buNone/>
            </a:pPr>
            <a:r>
              <a:rPr lang="en-US" sz="1500" b="1" dirty="0">
                <a:solidFill>
                  <a:srgbClr val="1C1C1C"/>
                </a:solidFill>
                <a:latin typeface="Courier New" pitchFamily="34" charset="0"/>
                <a:ea typeface="Courier New" pitchFamily="34" charset="-122"/>
                <a:cs typeface="Courier New" pitchFamily="34" charset="-120"/>
              </a:rPr>
              <a:t>TypeError: count_high() missing 1 required positional argument: 'bps'</a:t>
            </a: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marL="0" indent="0">
              <a:buNone/>
            </a:pPr>
            <a:r>
              <a:rPr lang="en-US" sz="1250" i="1" dirty="0">
                <a:solidFill>
                  <a:srgbClr val="1C1C1C"/>
                </a:solidFill>
                <a:latin typeface="Arial" pitchFamily="34" charset="0"/>
                <a:ea typeface="Arial" pitchFamily="34" charset="-122"/>
                <a:cs typeface="Arial" pitchFamily="34" charset="-120"/>
              </a:rPr>
              <a:t>You cannot act on that message without knowing which noun is which. A recipe says "flour"; your kitchen has a specific bag. Recipe word = parameter, bag = argument.</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05740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05740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15–18 MIN  ·  READABILITY</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Name your arguments when the meaning is not obvious</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unreadable</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t.test(x, y, TRUE, 0.99)</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What is TRUE? Paired?</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self-documenting</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t.test(x, y,</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paired = TRUE,</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conf.level = 0.99)</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the code states its assumptions</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A READING EXERCISE THAT DOUBLES AS A CORRECTNESS CHECK</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You cannot name the arguments without first finding out what they are</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AI often emits the terse positional form. Give yourself a rule: when you paste a call with bare positional arguments, name them before you trust them. A reviewer — or you in March — can then check the assumptions without reading the docs.</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18–21 MIN  ·  SEGMENT 3</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Return, don't print</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side effect only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def print_high(bps):</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n = count(bps)</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print(n)</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x = print_high(bps)   # x is None</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returns a value</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def count_high(bps):</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return count(bps)</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y = count_high(bps)   # y is a number</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COMPUTE, THEN RETURN</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Printing is for humans looking at output. Returning is so the next line of code can use the result.</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A missing return in Python is silent — you get None and no complaint. R returns the last expression implicitly, which makes translating between the two languages error-prone in exactly this spot.</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21–25 MIN  ·  SEGMENT 4</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Scope — every function gets its own little world</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scope.py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def demo():</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x = 5</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outside the function</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demo()      # prints 5</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print(x)    # NameError</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x lived inside demo() and stopped</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SCOPE IS A FEATURE, NOT AN OBSTACLE</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It is what makes functions safe to reuse</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A function you wrote in September cannot clobber a variable in your November script, because its x is a different x. Imagine the alternative: every name in your whole project would have to be unique.</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306116"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306116"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25–28 MIN  ·  REPRODUCIBILITY</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The global-variable trap</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fragile</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threshold = 140    # global</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def count_high(bps):</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for bp in bps)</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self-contained</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def count_high(bps,</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threshold=140):</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return sum(bp &gt;= threshold</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for bp in bps)</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NO ERROR. NO WARNING.</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The fragile version silently uses whatever threshold happens to be — forty lines earlier, or in another script</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That is what an irreproducible result looks like from the inside. Everything a function needs should arrive through the door; then it gives the same answer anywhere, forever.</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28–30 MIN  ·  SEGMENT 5</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When should this be a function?</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1.  You copied it more than once.  Convert it. Non-negotiable.</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2.  You want to test one piece of your analysis on its own.</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3.  You can name what it does in three words.  Then that is its name.</a:t>
            </a: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4.  You want to hand it to an AI without pasting your entire analysis.</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txBody>
          <a:bodyPr/>
          <a:lstStyle/>
          <a:p>
            <a:endParaRPr lang="en-US"/>
          </a:p>
        </p:txBody>
      </p:sp>
      <p:sp>
        <p:nvSpPr>
          <p:cNvPr id="9" name="Text 6"/>
          <p:cNvSpPr/>
          <p:nvPr/>
        </p:nvSpPr>
        <p:spPr>
          <a:xfrm>
            <a:off x="868680" y="4663440"/>
            <a:ext cx="5852160" cy="10058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Rule 3 is the practical one: if naming it is hard, the block is doing too many things. Naming difficulty is a design smell.</a:t>
            </a: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AND THE REVERSE SIGNAL</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200 lines?</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Then it is not one function. It is three or four functions in a trench coat.</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119579"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119579"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30–33 MIN  ·  THE CONTRACT</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Docstrings — the contract, in prose</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python</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def count_high(bps, threshold=140):</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"""Count readings at or above</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a threshold. Missing values</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are NOT handled. Returns int."""</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R  ·  roxygen</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Count high BP readings</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@param bps numeric, mmHg</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@param threshold default 140</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@return integer count</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A DOCSTRING THAT RECORDS A LIMITATION BEATS ONE THAT RESTATES THE NAME</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"Missing values are not handled"  is the most useful line in that block</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Both editors show docstrings on hover — demo it, that is the payoff that makes people actually write them. In R the #' comments are the convention packages use, and the help system reads them.</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243937"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243937"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33–35 MIN  ·  THE AI PAYLOAD</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Why the function is the right unit for AI collaboration</a:t>
            </a:r>
            <a:endParaRPr lang="en-US" sz="3000" dirty="0"/>
          </a:p>
        </p:txBody>
      </p:sp>
      <p:sp>
        <p:nvSpPr>
          <p:cNvPr id="6" name="Shape 3"/>
          <p:cNvSpPr/>
          <p:nvPr/>
        </p:nvSpPr>
        <p:spPr>
          <a:xfrm>
            <a:off x="640080" y="1600200"/>
            <a:ext cx="5257800" cy="2331720"/>
          </a:xfrm>
          <a:prstGeom prst="roundRect">
            <a:avLst>
              <a:gd name="adj" fmla="val 3922"/>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the workflow</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1. Write the docstring first.</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2. Hand it to the AI.</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3. Get back a body that matches.</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4. Then verify it. Always.</a:t>
            </a:r>
            <a:endParaRPr lang="en-US" sz="1300" dirty="0"/>
          </a:p>
        </p:txBody>
      </p:sp>
      <p:sp>
        <p:nvSpPr>
          <p:cNvPr id="16" name="Shape 13"/>
          <p:cNvSpPr/>
          <p:nvPr/>
        </p:nvSpPr>
        <p:spPr>
          <a:xfrm>
            <a:off x="6263640" y="1600200"/>
            <a:ext cx="5257800" cy="2331720"/>
          </a:xfrm>
          <a:prstGeom prst="roundRect">
            <a:avLst>
              <a:gd name="adj" fmla="val 3922"/>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a good docstring is</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 specification —</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inputs, outputs and edge</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cases, all stated up front,</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before any code exists.</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4160520"/>
          <a:ext cx="10881360" cy="2011680"/>
        </p:xfrm>
        <a:graphic>
          <a:graphicData uri="http://schemas.openxmlformats.org/drawingml/2006/table">
            <a:tbl>
              <a:tblPr/>
              <a:tblGrid>
                <a:gridCol w="4352544">
                  <a:extLst>
                    <a:ext uri="{9D8B030D-6E8A-4147-A177-3AD203B41FA5}">
                      <a16:colId xmlns:a16="http://schemas.microsoft.com/office/drawing/2014/main" val="20000"/>
                    </a:ext>
                  </a:extLst>
                </a:gridCol>
                <a:gridCol w="3264408">
                  <a:extLst>
                    <a:ext uri="{9D8B030D-6E8A-4147-A177-3AD203B41FA5}">
                      <a16:colId xmlns:a16="http://schemas.microsoft.com/office/drawing/2014/main" val="20001"/>
                    </a:ext>
                  </a:extLst>
                </a:gridCol>
                <a:gridCol w="3264408">
                  <a:extLst>
                    <a:ext uri="{9D8B030D-6E8A-4147-A177-3AD203B41FA5}">
                      <a16:colId xmlns:a16="http://schemas.microsoft.com/office/drawing/2014/main" val="20002"/>
                    </a:ext>
                  </a:extLst>
                </a:gridCol>
              </a:tblGrid>
              <a:tr h="365760">
                <a:tc>
                  <a:txBody>
                    <a:bodyPr/>
                    <a:lstStyle/>
                    <a:p>
                      <a:pPr marL="0" indent="0" algn="l">
                        <a:buNone/>
                      </a:pP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"Analyze my data"</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"Write this function to this docstring"</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The model must guess</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your goal, your data, your assumptions</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nothing — it is all stated</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You get back</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80 lines you did not specify</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5 lines with a defined contract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To check it you must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check all 80 at once</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test one input whose answer you know</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When it is wrong</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you cannot tell where</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it is wrong right here</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bl>
          </a:graphicData>
        </a:graphic>
      </p:graphicFrame>
      <p:sp>
        <p:nvSpPr>
          <p:cNvPr id="27" name="Text 23"/>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35–36 MIN  ·  THE HABIT</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The test that costs ten seconds</a:t>
            </a:r>
            <a:endParaRPr lang="en-US" sz="2800" dirty="0"/>
          </a:p>
        </p:txBody>
      </p:sp>
      <p:sp>
        <p:nvSpPr>
          <p:cNvPr id="6" name="Text 3"/>
          <p:cNvSpPr/>
          <p:nvPr/>
        </p:nvSpPr>
        <p:spPr>
          <a:xfrm>
            <a:off x="640080" y="1417320"/>
            <a:ext cx="10881360" cy="457200"/>
          </a:xfrm>
          <a:prstGeom prst="rect">
            <a:avLst/>
          </a:prstGeom>
          <a:noFill/>
          <a:ln/>
        </p:spPr>
        <p:txBody>
          <a:bodyPr wrap="square" rtlCol="0" anchor="ctr"/>
          <a:lstStyle/>
          <a:p>
            <a:pPr marL="0" indent="0">
              <a:buNone/>
            </a:pPr>
            <a:r>
              <a:rPr lang="en-US" sz="1400" i="1" dirty="0">
                <a:solidFill>
                  <a:srgbClr val="595959"/>
                </a:solidFill>
                <a:latin typeface="Arial" pitchFamily="34" charset="0"/>
                <a:ea typeface="Arial" pitchFamily="34" charset="-122"/>
                <a:cs typeface="Arial" pitchFamily="34" charset="-120"/>
              </a:rPr>
              <a:t>Call your new function on an input whose answer you already know. Before you trust it, and before it reaches your paper.</a:t>
            </a:r>
            <a:endParaRPr lang="en-US" sz="1400" dirty="0"/>
          </a:p>
        </p:txBody>
      </p:sp>
      <p:sp>
        <p:nvSpPr>
          <p:cNvPr id="7" name="Shape 4"/>
          <p:cNvSpPr/>
          <p:nvPr/>
        </p:nvSpPr>
        <p:spPr>
          <a:xfrm>
            <a:off x="640080" y="2011680"/>
            <a:ext cx="5257800" cy="2286000"/>
          </a:xfrm>
          <a:prstGeom prst="roundRect">
            <a:avLst>
              <a:gd name="adj" fmla="val 4000"/>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68680" y="2212848"/>
            <a:ext cx="146304" cy="146304"/>
          </a:xfrm>
          <a:prstGeom prst="ellipse">
            <a:avLst/>
          </a:prstGeom>
          <a:solidFill>
            <a:srgbClr val="D64550"/>
          </a:solidFill>
          <a:ln/>
        </p:spPr>
        <p:txBody>
          <a:bodyPr/>
          <a:lstStyle/>
          <a:p>
            <a:endParaRPr lang="en-US"/>
          </a:p>
        </p:txBody>
      </p:sp>
      <p:sp>
        <p:nvSpPr>
          <p:cNvPr id="9" name="Shape 6"/>
          <p:cNvSpPr/>
          <p:nvPr/>
        </p:nvSpPr>
        <p:spPr>
          <a:xfrm>
            <a:off x="1124712" y="2212848"/>
            <a:ext cx="146304" cy="146304"/>
          </a:xfrm>
          <a:prstGeom prst="ellipse">
            <a:avLst/>
          </a:prstGeom>
          <a:solidFill>
            <a:srgbClr val="ECB748"/>
          </a:solidFill>
          <a:ln/>
        </p:spPr>
        <p:txBody>
          <a:bodyPr/>
          <a:lstStyle/>
          <a:p>
            <a:endParaRPr lang="en-US"/>
          </a:p>
        </p:txBody>
      </p:sp>
      <p:sp>
        <p:nvSpPr>
          <p:cNvPr id="10" name="Shape 7"/>
          <p:cNvSpPr/>
          <p:nvPr/>
        </p:nvSpPr>
        <p:spPr>
          <a:xfrm>
            <a:off x="1380744" y="2212848"/>
            <a:ext cx="146304" cy="146304"/>
          </a:xfrm>
          <a:prstGeom prst="ellipse">
            <a:avLst/>
          </a:prstGeom>
          <a:solidFill>
            <a:srgbClr val="6B6B6B"/>
          </a:solidFill>
          <a:ln/>
        </p:spPr>
        <p:txBody>
          <a:bodyPr/>
          <a:lstStyle/>
          <a:p>
            <a:endParaRPr lang="en-US"/>
          </a:p>
        </p:txBody>
      </p:sp>
      <p:sp>
        <p:nvSpPr>
          <p:cNvPr id="11" name="Text 8"/>
          <p:cNvSpPr/>
          <p:nvPr/>
        </p:nvSpPr>
        <p:spPr>
          <a:xfrm>
            <a:off x="1783080" y="215798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known answers</a:t>
            </a:r>
            <a:endParaRPr lang="en-US" sz="1050" dirty="0"/>
          </a:p>
        </p:txBody>
      </p:sp>
      <p:sp>
        <p:nvSpPr>
          <p:cNvPr id="12" name="Shape 9"/>
          <p:cNvSpPr/>
          <p:nvPr/>
        </p:nvSpPr>
        <p:spPr>
          <a:xfrm>
            <a:off x="685800" y="2514600"/>
            <a:ext cx="5166360" cy="0"/>
          </a:xfrm>
          <a:prstGeom prst="line">
            <a:avLst/>
          </a:prstGeom>
          <a:noFill/>
          <a:ln w="12700">
            <a:solidFill>
              <a:srgbClr val="444444"/>
            </a:solidFill>
            <a:prstDash val="solid"/>
          </a:ln>
        </p:spPr>
        <p:txBody>
          <a:bodyPr/>
          <a:lstStyle/>
          <a:p>
            <a:endParaRPr lang="en-US"/>
          </a:p>
        </p:txBody>
      </p:sp>
      <p:sp>
        <p:nvSpPr>
          <p:cNvPr id="13" name="Text 10"/>
          <p:cNvSpPr/>
          <p:nvPr/>
        </p:nvSpPr>
        <p:spPr>
          <a:xfrm>
            <a:off x="914400" y="265176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count_high([100, 200])   # must be 1</a:t>
            </a:r>
            <a:endParaRPr lang="en-US" sz="1300" dirty="0"/>
          </a:p>
        </p:txBody>
      </p:sp>
      <p:sp>
        <p:nvSpPr>
          <p:cNvPr id="14" name="Text 11"/>
          <p:cNvSpPr/>
          <p:nvPr/>
        </p:nvSpPr>
        <p:spPr>
          <a:xfrm>
            <a:off x="914400" y="298094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count_high([])           # must be 0</a:t>
            </a:r>
            <a:endParaRPr lang="en-US" sz="1300" dirty="0"/>
          </a:p>
        </p:txBody>
      </p:sp>
      <p:sp>
        <p:nvSpPr>
          <p:cNvPr id="15" name="Text 12"/>
          <p:cNvSpPr/>
          <p:nvPr/>
        </p:nvSpPr>
        <p:spPr>
          <a:xfrm>
            <a:off x="914400" y="3310128"/>
            <a:ext cx="4709160" cy="329184"/>
          </a:xfrm>
          <a:prstGeom prst="rect">
            <a:avLst/>
          </a:prstGeom>
          <a:noFill/>
          <a:ln/>
        </p:spPr>
        <p:txBody>
          <a:bodyPr wrap="square" rtlCol="0" anchor="ctr"/>
          <a:lstStyle/>
          <a:p>
            <a:pPr marL="0" indent="0">
              <a:buNone/>
            </a:pPr>
            <a:r>
              <a:rPr lang="en-US" sz="1300" dirty="0">
                <a:solidFill>
                  <a:srgbClr val="8A8A82"/>
                </a:solidFill>
                <a:latin typeface="Courier New" pitchFamily="34" charset="0"/>
                <a:ea typeface="Courier New" pitchFamily="34" charset="-122"/>
                <a:cs typeface="Courier New" pitchFamily="34" charset="-120"/>
              </a:rPr>
              <a:t>count_high([140])        # must be 1</a:t>
            </a:r>
            <a:endParaRPr lang="en-US" sz="1300" dirty="0"/>
          </a:p>
        </p:txBody>
      </p:sp>
      <p:sp>
        <p:nvSpPr>
          <p:cNvPr id="16" name="Shape 13"/>
          <p:cNvSpPr/>
          <p:nvPr/>
        </p:nvSpPr>
        <p:spPr>
          <a:xfrm>
            <a:off x="6263640" y="2011680"/>
            <a:ext cx="5257800" cy="2286000"/>
          </a:xfrm>
          <a:prstGeom prst="roundRect">
            <a:avLst>
              <a:gd name="adj" fmla="val 4000"/>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2212848"/>
            <a:ext cx="146304" cy="146304"/>
          </a:xfrm>
          <a:prstGeom prst="ellipse">
            <a:avLst/>
          </a:prstGeom>
          <a:solidFill>
            <a:srgbClr val="D64550"/>
          </a:solidFill>
          <a:ln/>
        </p:spPr>
        <p:txBody>
          <a:bodyPr/>
          <a:lstStyle/>
          <a:p>
            <a:endParaRPr lang="en-US"/>
          </a:p>
        </p:txBody>
      </p:sp>
      <p:sp>
        <p:nvSpPr>
          <p:cNvPr id="18" name="Shape 15"/>
          <p:cNvSpPr/>
          <p:nvPr/>
        </p:nvSpPr>
        <p:spPr>
          <a:xfrm>
            <a:off x="6748272" y="2212848"/>
            <a:ext cx="146304" cy="146304"/>
          </a:xfrm>
          <a:prstGeom prst="ellipse">
            <a:avLst/>
          </a:prstGeom>
          <a:solidFill>
            <a:srgbClr val="ECB748"/>
          </a:solidFill>
          <a:ln/>
        </p:spPr>
        <p:txBody>
          <a:bodyPr/>
          <a:lstStyle/>
          <a:p>
            <a:endParaRPr lang="en-US"/>
          </a:p>
        </p:txBody>
      </p:sp>
      <p:sp>
        <p:nvSpPr>
          <p:cNvPr id="19" name="Shape 16"/>
          <p:cNvSpPr/>
          <p:nvPr/>
        </p:nvSpPr>
        <p:spPr>
          <a:xfrm>
            <a:off x="7004304" y="2212848"/>
            <a:ext cx="146304" cy="146304"/>
          </a:xfrm>
          <a:prstGeom prst="ellipse">
            <a:avLst/>
          </a:prstGeom>
          <a:solidFill>
            <a:srgbClr val="6B6B6B"/>
          </a:solidFill>
          <a:ln/>
        </p:spPr>
        <p:txBody>
          <a:bodyPr/>
          <a:lstStyle/>
          <a:p>
            <a:endParaRPr lang="en-US"/>
          </a:p>
        </p:txBody>
      </p:sp>
      <p:sp>
        <p:nvSpPr>
          <p:cNvPr id="20" name="Text 17"/>
          <p:cNvSpPr/>
          <p:nvPr/>
        </p:nvSpPr>
        <p:spPr>
          <a:xfrm>
            <a:off x="7406640" y="215798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why the last one</a:t>
            </a:r>
            <a:endParaRPr lang="en-US" sz="1050" dirty="0"/>
          </a:p>
        </p:txBody>
      </p:sp>
      <p:sp>
        <p:nvSpPr>
          <p:cNvPr id="21" name="Shape 18"/>
          <p:cNvSpPr/>
          <p:nvPr/>
        </p:nvSpPr>
        <p:spPr>
          <a:xfrm>
            <a:off x="6309360" y="251460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65176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The boundary. &gt;= or &gt; ?</a:t>
            </a:r>
            <a:endParaRPr lang="en-US" sz="1300" dirty="0"/>
          </a:p>
        </p:txBody>
      </p:sp>
      <p:sp>
        <p:nvSpPr>
          <p:cNvPr id="23" name="Text 20"/>
          <p:cNvSpPr/>
          <p:nvPr/>
        </p:nvSpPr>
        <p:spPr>
          <a:xfrm>
            <a:off x="6537960" y="298094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An AI-written function gets</a:t>
            </a:r>
            <a:endParaRPr lang="en-US" sz="1300" dirty="0"/>
          </a:p>
        </p:txBody>
      </p:sp>
      <p:sp>
        <p:nvSpPr>
          <p:cNvPr id="24" name="Text 21"/>
          <p:cNvSpPr/>
          <p:nvPr/>
        </p:nvSpPr>
        <p:spPr>
          <a:xfrm>
            <a:off x="6537960" y="331012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this wrong constantly, and</a:t>
            </a:r>
            <a:endParaRPr lang="en-US" sz="1300" dirty="0"/>
          </a:p>
        </p:txBody>
      </p:sp>
      <p:sp>
        <p:nvSpPr>
          <p:cNvPr id="25" name="Text 22"/>
          <p:cNvSpPr/>
          <p:nvPr/>
        </p:nvSpPr>
        <p:spPr>
          <a:xfrm>
            <a:off x="6537960" y="363931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no error will ever tell you.</a:t>
            </a:r>
            <a:endParaRPr lang="en-US" sz="1300" dirty="0"/>
          </a:p>
        </p:txBody>
      </p:sp>
      <p:sp>
        <p:nvSpPr>
          <p:cNvPr id="26" name="Shape 23"/>
          <p:cNvSpPr/>
          <p:nvPr/>
        </p:nvSpPr>
        <p:spPr>
          <a:xfrm>
            <a:off x="640080" y="4572000"/>
            <a:ext cx="10881360" cy="1463040"/>
          </a:xfrm>
          <a:prstGeom prst="roundRect">
            <a:avLst>
              <a:gd name="adj" fmla="val 6250"/>
            </a:avLst>
          </a:prstGeom>
          <a:solidFill>
            <a:srgbClr val="FBF0DA"/>
          </a:solidFill>
          <a:ln w="19050">
            <a:solidFill>
              <a:srgbClr val="ECB748"/>
            </a:solidFill>
            <a:prstDash val="solid"/>
          </a:ln>
        </p:spPr>
        <p:txBody>
          <a:bodyPr/>
          <a:lstStyle/>
          <a:p>
            <a:endParaRPr lang="en-US"/>
          </a:p>
        </p:txBody>
      </p:sp>
      <p:sp>
        <p:nvSpPr>
          <p:cNvPr id="27" name="Text 24"/>
          <p:cNvSpPr/>
          <p:nvPr/>
        </p:nvSpPr>
        <p:spPr>
          <a:xfrm>
            <a:off x="914400" y="4754880"/>
            <a:ext cx="10332720" cy="457200"/>
          </a:xfrm>
          <a:prstGeom prst="rect">
            <a:avLst/>
          </a:prstGeom>
          <a:noFill/>
          <a:ln/>
        </p:spPr>
        <p:txBody>
          <a:bodyPr wrap="square" rtlCol="0" anchor="ctr"/>
          <a:lstStyle/>
          <a:p>
            <a:pPr marL="0" indent="0">
              <a:buNone/>
            </a:pPr>
            <a:r>
              <a:rPr lang="en-US" sz="1800" b="1" dirty="0">
                <a:solidFill>
                  <a:srgbClr val="1C1C1C"/>
                </a:solidFill>
                <a:latin typeface="Courier New" pitchFamily="34" charset="0"/>
                <a:ea typeface="Courier New" pitchFamily="34" charset="-122"/>
                <a:cs typeface="Courier New" pitchFamily="34" charset="-120"/>
              </a:rPr>
              <a:t>count_high([140]) must be 1</a:t>
            </a:r>
            <a:endParaRPr lang="en-US" sz="1800" dirty="0"/>
          </a:p>
        </p:txBody>
      </p:sp>
      <p:sp>
        <p:nvSpPr>
          <p:cNvPr id="28" name="Text 25"/>
          <p:cNvSpPr/>
          <p:nvPr/>
        </p:nvSpPr>
        <p:spPr>
          <a:xfrm>
            <a:off x="914400" y="5257800"/>
            <a:ext cx="10332720" cy="6400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This is the single most transferable habit in the deck, and it is the informal ancestor of unit testing. If the answer is not what you know it should be, you found the bug before your reviewer did.</a:t>
            </a:r>
            <a:endParaRPr lang="en-US" sz="1400" dirty="0"/>
          </a:p>
        </p:txBody>
      </p:sp>
      <p:sp>
        <p:nvSpPr>
          <p:cNvPr id="29" name="Text 26"/>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ECB748"/>
                </a:solidFill>
                <a:latin typeface="Arial" pitchFamily="34" charset="0"/>
                <a:ea typeface="Arial" pitchFamily="34" charset="-122"/>
                <a:cs typeface="Arial" pitchFamily="34" charset="-120"/>
              </a:rPr>
              <a:t>REFERENCE</a:t>
            </a:r>
            <a:endParaRPr lang="en-US" sz="1200" dirty="0"/>
          </a:p>
        </p:txBody>
      </p:sp>
      <p:sp>
        <p:nvSpPr>
          <p:cNvPr id="4" name="Text 1"/>
          <p:cNvSpPr/>
          <p:nvPr/>
        </p:nvSpPr>
        <p:spPr>
          <a:xfrm>
            <a:off x="594360" y="822960"/>
            <a:ext cx="91440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Vocabulary and traps</a:t>
            </a:r>
            <a:endParaRPr lang="en-US" sz="2800" dirty="0"/>
          </a:p>
        </p:txBody>
      </p:sp>
      <p:sp>
        <p:nvSpPr>
          <p:cNvPr id="5" name="Shape 2"/>
          <p:cNvSpPr/>
          <p:nvPr/>
        </p:nvSpPr>
        <p:spPr>
          <a:xfrm>
            <a:off x="640080" y="1600200"/>
            <a:ext cx="3538728" cy="960120"/>
          </a:xfrm>
          <a:prstGeom prst="roundRect">
            <a:avLst>
              <a:gd name="adj" fmla="val 9524"/>
            </a:avLst>
          </a:prstGeom>
          <a:solidFill>
            <a:srgbClr val="2E2E2E"/>
          </a:solidFill>
          <a:ln/>
        </p:spPr>
        <p:txBody>
          <a:bodyPr/>
          <a:lstStyle/>
          <a:p>
            <a:endParaRPr lang="en-US"/>
          </a:p>
        </p:txBody>
      </p:sp>
      <p:sp>
        <p:nvSpPr>
          <p:cNvPr id="6" name="Text 3"/>
          <p:cNvSpPr/>
          <p:nvPr/>
        </p:nvSpPr>
        <p:spPr>
          <a:xfrm>
            <a:off x="822960" y="170992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Function</a:t>
            </a:r>
            <a:endParaRPr lang="en-US" sz="1300" dirty="0"/>
          </a:p>
        </p:txBody>
      </p:sp>
      <p:sp>
        <p:nvSpPr>
          <p:cNvPr id="7" name="Text 4"/>
          <p:cNvSpPr/>
          <p:nvPr/>
        </p:nvSpPr>
        <p:spPr>
          <a:xfrm>
            <a:off x="822960" y="201168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A named block: inputs in, output out.</a:t>
            </a:r>
            <a:endParaRPr lang="en-US" sz="1050" dirty="0"/>
          </a:p>
        </p:txBody>
      </p:sp>
      <p:sp>
        <p:nvSpPr>
          <p:cNvPr id="8" name="Shape 5"/>
          <p:cNvSpPr/>
          <p:nvPr/>
        </p:nvSpPr>
        <p:spPr>
          <a:xfrm>
            <a:off x="4306824" y="1600200"/>
            <a:ext cx="3538728" cy="960120"/>
          </a:xfrm>
          <a:prstGeom prst="roundRect">
            <a:avLst>
              <a:gd name="adj" fmla="val 9524"/>
            </a:avLst>
          </a:prstGeom>
          <a:solidFill>
            <a:srgbClr val="2E2E2E"/>
          </a:solidFill>
          <a:ln/>
        </p:spPr>
        <p:txBody>
          <a:bodyPr/>
          <a:lstStyle/>
          <a:p>
            <a:endParaRPr lang="en-US"/>
          </a:p>
        </p:txBody>
      </p:sp>
      <p:sp>
        <p:nvSpPr>
          <p:cNvPr id="9" name="Text 6"/>
          <p:cNvSpPr/>
          <p:nvPr/>
        </p:nvSpPr>
        <p:spPr>
          <a:xfrm>
            <a:off x="4489704" y="170992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Parameter</a:t>
            </a:r>
            <a:endParaRPr lang="en-US" sz="1300" dirty="0"/>
          </a:p>
        </p:txBody>
      </p:sp>
      <p:sp>
        <p:nvSpPr>
          <p:cNvPr id="10" name="Text 7"/>
          <p:cNvSpPr/>
          <p:nvPr/>
        </p:nvSpPr>
        <p:spPr>
          <a:xfrm>
            <a:off x="4489704" y="201168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The name in the definition.</a:t>
            </a:r>
            <a:endParaRPr lang="en-US" sz="1050" dirty="0"/>
          </a:p>
        </p:txBody>
      </p:sp>
      <p:sp>
        <p:nvSpPr>
          <p:cNvPr id="11" name="Shape 8"/>
          <p:cNvSpPr/>
          <p:nvPr/>
        </p:nvSpPr>
        <p:spPr>
          <a:xfrm>
            <a:off x="7973568" y="1600200"/>
            <a:ext cx="3538728" cy="960120"/>
          </a:xfrm>
          <a:prstGeom prst="roundRect">
            <a:avLst>
              <a:gd name="adj" fmla="val 9524"/>
            </a:avLst>
          </a:prstGeom>
          <a:solidFill>
            <a:srgbClr val="2E2E2E"/>
          </a:solidFill>
          <a:ln/>
        </p:spPr>
        <p:txBody>
          <a:bodyPr/>
          <a:lstStyle/>
          <a:p>
            <a:endParaRPr lang="en-US"/>
          </a:p>
        </p:txBody>
      </p:sp>
      <p:sp>
        <p:nvSpPr>
          <p:cNvPr id="12" name="Text 9"/>
          <p:cNvSpPr/>
          <p:nvPr/>
        </p:nvSpPr>
        <p:spPr>
          <a:xfrm>
            <a:off x="8156448" y="170992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Argument</a:t>
            </a:r>
            <a:endParaRPr lang="en-US" sz="1300" dirty="0"/>
          </a:p>
        </p:txBody>
      </p:sp>
      <p:sp>
        <p:nvSpPr>
          <p:cNvPr id="13" name="Text 10"/>
          <p:cNvSpPr/>
          <p:nvPr/>
        </p:nvSpPr>
        <p:spPr>
          <a:xfrm>
            <a:off x="8156448" y="201168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The value passed at the call.</a:t>
            </a:r>
            <a:endParaRPr lang="en-US" sz="1050" dirty="0"/>
          </a:p>
        </p:txBody>
      </p:sp>
      <p:sp>
        <p:nvSpPr>
          <p:cNvPr id="14" name="Shape 11"/>
          <p:cNvSpPr/>
          <p:nvPr/>
        </p:nvSpPr>
        <p:spPr>
          <a:xfrm>
            <a:off x="640080" y="2697480"/>
            <a:ext cx="3538728" cy="960120"/>
          </a:xfrm>
          <a:prstGeom prst="roundRect">
            <a:avLst>
              <a:gd name="adj" fmla="val 9524"/>
            </a:avLst>
          </a:prstGeom>
          <a:solidFill>
            <a:srgbClr val="2E2E2E"/>
          </a:solidFill>
          <a:ln/>
        </p:spPr>
        <p:txBody>
          <a:bodyPr/>
          <a:lstStyle/>
          <a:p>
            <a:endParaRPr lang="en-US"/>
          </a:p>
        </p:txBody>
      </p:sp>
      <p:sp>
        <p:nvSpPr>
          <p:cNvPr id="15" name="Text 12"/>
          <p:cNvSpPr/>
          <p:nvPr/>
        </p:nvSpPr>
        <p:spPr>
          <a:xfrm>
            <a:off x="822960" y="280720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Default argument</a:t>
            </a:r>
            <a:endParaRPr lang="en-US" sz="1300" dirty="0"/>
          </a:p>
        </p:txBody>
      </p:sp>
      <p:sp>
        <p:nvSpPr>
          <p:cNvPr id="16" name="Text 13"/>
          <p:cNvSpPr/>
          <p:nvPr/>
        </p:nvSpPr>
        <p:spPr>
          <a:xfrm>
            <a:off x="822960" y="310896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Used when the caller omits it.</a:t>
            </a:r>
            <a:endParaRPr lang="en-US" sz="1050" dirty="0"/>
          </a:p>
        </p:txBody>
      </p:sp>
      <p:sp>
        <p:nvSpPr>
          <p:cNvPr id="17" name="Shape 14"/>
          <p:cNvSpPr/>
          <p:nvPr/>
        </p:nvSpPr>
        <p:spPr>
          <a:xfrm>
            <a:off x="4306824" y="2697480"/>
            <a:ext cx="3538728" cy="960120"/>
          </a:xfrm>
          <a:prstGeom prst="roundRect">
            <a:avLst>
              <a:gd name="adj" fmla="val 9524"/>
            </a:avLst>
          </a:prstGeom>
          <a:solidFill>
            <a:srgbClr val="2E2E2E"/>
          </a:solidFill>
          <a:ln/>
        </p:spPr>
        <p:txBody>
          <a:bodyPr/>
          <a:lstStyle/>
          <a:p>
            <a:endParaRPr lang="en-US"/>
          </a:p>
        </p:txBody>
      </p:sp>
      <p:sp>
        <p:nvSpPr>
          <p:cNvPr id="18" name="Text 15"/>
          <p:cNvSpPr/>
          <p:nvPr/>
        </p:nvSpPr>
        <p:spPr>
          <a:xfrm>
            <a:off x="4489704" y="280720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Return value</a:t>
            </a:r>
            <a:endParaRPr lang="en-US" sz="1300" dirty="0"/>
          </a:p>
        </p:txBody>
      </p:sp>
      <p:sp>
        <p:nvSpPr>
          <p:cNvPr id="19" name="Text 16"/>
          <p:cNvSpPr/>
          <p:nvPr/>
        </p:nvSpPr>
        <p:spPr>
          <a:xfrm>
            <a:off x="4489704" y="310896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What the function hands back.</a:t>
            </a:r>
            <a:endParaRPr lang="en-US" sz="1050" dirty="0"/>
          </a:p>
        </p:txBody>
      </p:sp>
      <p:sp>
        <p:nvSpPr>
          <p:cNvPr id="20" name="Shape 17"/>
          <p:cNvSpPr/>
          <p:nvPr/>
        </p:nvSpPr>
        <p:spPr>
          <a:xfrm>
            <a:off x="7973568" y="2697480"/>
            <a:ext cx="3538728" cy="960120"/>
          </a:xfrm>
          <a:prstGeom prst="roundRect">
            <a:avLst>
              <a:gd name="adj" fmla="val 9524"/>
            </a:avLst>
          </a:prstGeom>
          <a:solidFill>
            <a:srgbClr val="2E2E2E"/>
          </a:solidFill>
          <a:ln/>
        </p:spPr>
        <p:txBody>
          <a:bodyPr/>
          <a:lstStyle/>
          <a:p>
            <a:endParaRPr lang="en-US"/>
          </a:p>
        </p:txBody>
      </p:sp>
      <p:sp>
        <p:nvSpPr>
          <p:cNvPr id="21" name="Text 18"/>
          <p:cNvSpPr/>
          <p:nvPr/>
        </p:nvSpPr>
        <p:spPr>
          <a:xfrm>
            <a:off x="8156448" y="280720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Scope</a:t>
            </a:r>
            <a:endParaRPr lang="en-US" sz="1300" dirty="0"/>
          </a:p>
        </p:txBody>
      </p:sp>
      <p:sp>
        <p:nvSpPr>
          <p:cNvPr id="22" name="Text 19"/>
          <p:cNvSpPr/>
          <p:nvPr/>
        </p:nvSpPr>
        <p:spPr>
          <a:xfrm>
            <a:off x="8156448" y="310896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Where a name is visible.</a:t>
            </a:r>
            <a:endParaRPr lang="en-US" sz="1050" dirty="0"/>
          </a:p>
        </p:txBody>
      </p:sp>
      <p:sp>
        <p:nvSpPr>
          <p:cNvPr id="23" name="Shape 20"/>
          <p:cNvSpPr/>
          <p:nvPr/>
        </p:nvSpPr>
        <p:spPr>
          <a:xfrm>
            <a:off x="640080" y="3840480"/>
            <a:ext cx="5212080" cy="2606040"/>
          </a:xfrm>
          <a:prstGeom prst="roundRect">
            <a:avLst>
              <a:gd name="adj" fmla="val 3509"/>
            </a:avLst>
          </a:prstGeom>
          <a:solidFill>
            <a:srgbClr val="2E2E2E"/>
          </a:solidFill>
          <a:ln/>
        </p:spPr>
        <p:txBody>
          <a:bodyPr/>
          <a:lstStyle/>
          <a:p>
            <a:endParaRPr lang="en-US"/>
          </a:p>
        </p:txBody>
      </p:sp>
      <p:sp>
        <p:nvSpPr>
          <p:cNvPr id="24" name="Text 21"/>
          <p:cNvSpPr/>
          <p:nvPr/>
        </p:nvSpPr>
        <p:spPr>
          <a:xfrm>
            <a:off x="960120" y="4069080"/>
            <a:ext cx="4572000" cy="365760"/>
          </a:xfrm>
          <a:prstGeom prst="rect">
            <a:avLst/>
          </a:prstGeom>
          <a:noFill/>
          <a:ln/>
        </p:spPr>
        <p:txBody>
          <a:bodyPr wrap="square" rtlCol="0" anchor="ctr"/>
          <a:lstStyle/>
          <a:p>
            <a:pPr marL="0" indent="0">
              <a:buNone/>
            </a:pPr>
            <a:r>
              <a:rPr lang="en-US" sz="1500" b="1" dirty="0">
                <a:solidFill>
                  <a:srgbClr val="B3C9CD"/>
                </a:solidFill>
                <a:latin typeface="Arial" pitchFamily="34" charset="0"/>
                <a:ea typeface="Arial" pitchFamily="34" charset="-122"/>
                <a:cs typeface="Arial" pitchFamily="34" charset="-120"/>
              </a:rPr>
              <a:t>Traps we saw today</a:t>
            </a:r>
            <a:endParaRPr lang="en-US" sz="1500" dirty="0"/>
          </a:p>
        </p:txBody>
      </p:sp>
      <p:sp>
        <p:nvSpPr>
          <p:cNvPr id="25" name="Text 22"/>
          <p:cNvSpPr/>
          <p:nvPr/>
        </p:nvSpPr>
        <p:spPr>
          <a:xfrm>
            <a:off x="960120" y="4526280"/>
            <a:ext cx="4572000" cy="1691640"/>
          </a:xfrm>
          <a:prstGeom prst="rect">
            <a:avLst/>
          </a:prstGeom>
          <a:noFill/>
          <a:ln/>
        </p:spPr>
        <p:txBody>
          <a:bodyPr wrap="square" rtlCol="0" anchor="t"/>
          <a:lstStyle/>
          <a:p>
            <a:pPr marL="342900" indent="-342900">
              <a:spcAft>
                <a:spcPts val="800"/>
              </a:spcAft>
              <a:buSzPct val="100000"/>
              <a:buChar char="●"/>
            </a:pPr>
            <a:r>
              <a:rPr lang="en-US" sz="1200" dirty="0">
                <a:solidFill>
                  <a:srgbClr val="F5F3EF"/>
                </a:solidFill>
                <a:latin typeface="Arial" pitchFamily="34" charset="0"/>
                <a:ea typeface="Arial" pitchFamily="34" charset="-122"/>
                <a:cs typeface="Arial" pitchFamily="34" charset="-120"/>
              </a:rPr>
              <a:t>Printing where you should return
Copy-pasting a body instead of parameterising it
Reaching for a global from inside a function
200-line functions</a:t>
            </a:r>
            <a:endParaRPr lang="en-US" sz="1200" dirty="0"/>
          </a:p>
        </p:txBody>
      </p:sp>
      <p:sp>
        <p:nvSpPr>
          <p:cNvPr id="26" name="Shape 23"/>
          <p:cNvSpPr/>
          <p:nvPr/>
        </p:nvSpPr>
        <p:spPr>
          <a:xfrm>
            <a:off x="5989320" y="3840480"/>
            <a:ext cx="5577840" cy="2606040"/>
          </a:xfrm>
          <a:prstGeom prst="roundRect">
            <a:avLst>
              <a:gd name="adj" fmla="val 3509"/>
            </a:avLst>
          </a:prstGeom>
          <a:solidFill>
            <a:srgbClr val="ECB748"/>
          </a:solidFill>
          <a:ln/>
        </p:spPr>
        <p:txBody>
          <a:bodyPr/>
          <a:lstStyle/>
          <a:p>
            <a:endParaRPr lang="en-US"/>
          </a:p>
        </p:txBody>
      </p:sp>
      <p:sp>
        <p:nvSpPr>
          <p:cNvPr id="27" name="Text 24"/>
          <p:cNvSpPr/>
          <p:nvPr/>
        </p:nvSpPr>
        <p:spPr>
          <a:xfrm>
            <a:off x="6309360" y="4069080"/>
            <a:ext cx="4937760"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The one that costs you a paper</a:t>
            </a:r>
            <a:endParaRPr lang="en-US" sz="1500" dirty="0"/>
          </a:p>
        </p:txBody>
      </p:sp>
      <p:sp>
        <p:nvSpPr>
          <p:cNvPr id="28" name="Text 25"/>
          <p:cNvSpPr/>
          <p:nvPr/>
        </p:nvSpPr>
        <p:spPr>
          <a:xfrm>
            <a:off x="6309360" y="4498848"/>
            <a:ext cx="4937760" cy="1691640"/>
          </a:xfrm>
          <a:prstGeom prst="rect">
            <a:avLst/>
          </a:prstGeom>
          <a:noFill/>
          <a:ln/>
        </p:spPr>
        <p:txBody>
          <a:bodyPr wrap="square" rtlCol="0" anchor="t"/>
          <a:lstStyle/>
          <a:p>
            <a:pPr marL="0" indent="0">
              <a:lnSpc>
                <a:spcPct val="125000"/>
              </a:lnSpc>
              <a:buNone/>
            </a:pPr>
            <a:r>
              <a:rPr lang="en-US" sz="1250" dirty="0">
                <a:solidFill>
                  <a:srgbClr val="1C1C1C"/>
                </a:solidFill>
                <a:latin typeface="Arial" pitchFamily="34" charset="0"/>
                <a:ea typeface="Arial" pitchFamily="34" charset="-122"/>
                <a:cs typeface="Arial" pitchFamily="34" charset="-120"/>
              </a:rPr>
              <a:t>Accepting an AI-written function without testing it
on an input whose answer you already know.
Ten seconds. Every time.</a:t>
            </a:r>
            <a:endParaRPr lang="en-US" sz="1250" dirty="0"/>
          </a:p>
        </p:txBody>
      </p:sp>
      <p:sp>
        <p:nvSpPr>
          <p:cNvPr id="29"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205740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205740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36–55 MIN  ·  PROBLEM SET</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Your problem set, and next week</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Problem Set 05 — six problems, about 20–25 minutes. Spot the duplication, write count_high_bp() with a default, run the ten-second test, then apply it to the real patients.csv.</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Work through them in order. Problems 3 and 5 are the ones that matter — the boundary case, and the global-variable trap.</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txBody>
          <a:bodyPr/>
          <a:lstStyle/>
          <a:p>
            <a:endParaRPr lang="en-US"/>
          </a:p>
        </p:txBody>
      </p:sp>
      <p:sp>
        <p:nvSpPr>
          <p:cNvPr id="9" name="Text 6"/>
          <p:cNvSpPr/>
          <p:nvPr/>
        </p:nvSpPr>
        <p:spPr>
          <a:xfrm>
            <a:off x="868680" y="4663440"/>
            <a:ext cx="5852160" cy="10058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Post your answers to Brightspace before our next class session.</a:t>
            </a: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NEXT WEEK  ·  SESSION 6</a:t>
            </a:r>
            <a:endParaRPr lang="en-US" sz="1100" dirty="0"/>
          </a:p>
        </p:txBody>
      </p:sp>
      <p:sp>
        <p:nvSpPr>
          <p:cNvPr id="12" name="Text 9"/>
          <p:cNvSpPr/>
          <p:nvPr/>
        </p:nvSpPr>
        <p:spPr>
          <a:xfrm>
            <a:off x="7589520" y="2606040"/>
            <a:ext cx="3566160" cy="906779"/>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Projects, files, Git</a:t>
            </a:r>
            <a:endParaRPr lang="en-US" sz="2000" dirty="0"/>
          </a:p>
        </p:txBody>
      </p:sp>
      <p:sp>
        <p:nvSpPr>
          <p:cNvPr id="14" name="Text 11"/>
          <p:cNvSpPr/>
          <p:nvPr/>
        </p:nvSpPr>
        <p:spPr>
          <a:xfrm>
            <a:off x="7589520" y="3950969"/>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Where your code lives, and how to undo an AI that just rewrote half of it.  Create your GitHub account BEFORE next class — signup plus email verification eats ten minutes of a 55-minute session.</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3411</Words>
  <Application>Microsoft Office PowerPoint</Application>
  <PresentationFormat>Widescreen</PresentationFormat>
  <Paragraphs>317</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Vanderbilt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CPBP 8306 — Session 3</dc:title>
  <dc:subject>PptxGenJS Presentation</dc:subject>
  <dc:creator>Joshua Borycz &amp; Daniel Genkins</dc:creator>
  <cp:lastModifiedBy>Daniel Genkins</cp:lastModifiedBy>
  <cp:revision>5</cp:revision>
  <dcterms:created xsi:type="dcterms:W3CDTF">2026-07-27T21:40:15Z</dcterms:created>
  <dcterms:modified xsi:type="dcterms:W3CDTF">2026-09-23T21:20:52Z</dcterms:modified>
</cp:coreProperties>
</file>