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850"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22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286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vita.had.co.nz/papers/tidy-data.pdf"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before class: penguins.csv already loaded once in a live Python console and once in R, so both are warm. Say the shape out loud before you show it: 344 rows, 7 columns in pandas. The R package keeps an extra year column, so R will show 344 by 8. Mention that now so nobody thinks the data differs.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someone to name the four Git commands from last week before you move on. That takes thirty seconds and keeps last week's habit alive. Read the Wickham line aloud, then say that from here the course moves from the language itself to the tools researchers use. Then point at the data section: everyone loads both datasets before the next segment. R users get penguins from the palmerpenguins package. It has 8 columns because it keeps year (2007 to 2009, when each penguin was sampled), while the CSV used in Python has 7. It is the same 344 penguins, but the rows are in a different order (Gentoo before Chinstrap), species, island and sex are factors, and sex is lowercase. Later sessions select the four measurement columns by name, so year never leaks into the PCA or correlations. Group means and the regression slope are identical. Do not use the built-in penguins in R 4.5 and later: it has shortened column names (bill_len, bill_dep) that break the code on later slides. schools_tibble.csv is on Brightspace; students save it next to their script.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seconds on the numbered list, then point at the milestone box: the cleaning work starts today and finishes by Session 9. Nobody should hear that for the first time in Session 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live, and keep it to five minutes. Point out glimpse() specifically: it's the fastest way in R to see types and missingness in one call, and df.info() is its pandas cousin. Say the habit as a rule, not a suggestion: look before you touch.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Build the table live in whichever language the room prefers, then say the callback aloud: this is the third time this shape of idea has shown up (Session 3, Session 4, today), and naming the repetition is the 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answer wrong first: 'bp_2020, bp_2021, bp_2022' is the near-universal first guess. Then reveal that the variable is year, hiding in the column headers. Formal source: Wickham (2014), Tidy Data. It is Codd's third normal form restated for statisticians, and the same paper adds a rule you will meet in Session 8, that each type of observational unit gets its own table, which is why joins exist. The 'why tidy' argument is from Lowndes and Horst (2020, Openscapes): tidy data lets the same tools work on any dataset. Protect this slide if the clock is tight.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i="0" dirty="0">
                <a:solidFill>
                  <a:srgbClr val="515151"/>
                </a:solidFill>
                <a:effectLst/>
                <a:latin typeface="Tahoma" panose="020B0604030504040204" pitchFamily="34" charset="0"/>
                <a:ea typeface="Tahoma" panose="020B0604030504040204" pitchFamily="34" charset="0"/>
                <a:cs typeface="Tahoma" panose="020B0604030504040204" pitchFamily="34" charset="0"/>
              </a:rPr>
              <a:t>The formal definition of tidy data from Hadley’s paper</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latin typeface="Tahoma" panose="020B0604030504040204" pitchFamily="34" charset="0"/>
                <a:ea typeface="Tahoma" panose="020B0604030504040204" pitchFamily="34" charset="0"/>
                <a:cs typeface="Tahoma" panose="020B0604030504040204" pitchFamily="34" charset="0"/>
              </a:rPr>
              <a:t>What’s nice about </a:t>
            </a:r>
            <a:r>
              <a:rPr lang="en-US" dirty="0" err="1">
                <a:latin typeface="Tahoma" panose="020B0604030504040204" pitchFamily="34" charset="0"/>
                <a:ea typeface="Tahoma" panose="020B0604030504040204" pitchFamily="34" charset="0"/>
                <a:cs typeface="Tahoma" panose="020B0604030504040204" pitchFamily="34" charset="0"/>
              </a:rPr>
              <a:t>TidyData</a:t>
            </a:r>
            <a:r>
              <a:rPr lang="en-US" dirty="0">
                <a:latin typeface="Tahoma" panose="020B0604030504040204" pitchFamily="34" charset="0"/>
                <a:ea typeface="Tahoma" panose="020B0604030504040204" pitchFamily="34" charset="0"/>
                <a:cs typeface="Tahoma" panose="020B0604030504040204" pitchFamily="34" charset="0"/>
              </a:rPr>
              <a:t> is that the suggestions are easy to remember and apply to any data</a:t>
            </a:r>
          </a:p>
          <a:p>
            <a:endParaRPr lang="en-US" b="0" i="0" dirty="0">
              <a:solidFill>
                <a:srgbClr val="51515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principles of tidy data are closely tied to relational databases and Codd’s relational algebra (Codd 1990),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Attempt to reach third normal formal,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Tahoma" panose="020B0604030504040204" pitchFamily="34" charset="0"/>
                <a:ea typeface="Tahoma" panose="020B0604030504040204" pitchFamily="34" charset="0"/>
                <a:cs typeface="Tahoma" panose="020B0604030504040204" pitchFamily="34" charset="0"/>
              </a:rPr>
              <a:t>framed in a language familiar to statisticians and conceptually easy to remember and apply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Tahoma" panose="020B0604030504040204" pitchFamily="34" charset="0"/>
              <a:ea typeface="Tahoma" panose="020B0604030504040204" pitchFamily="34" charset="0"/>
              <a:cs typeface="Tahoma" panose="020B0604030504040204" pitchFamily="34" charset="0"/>
            </a:endParaRPr>
          </a:p>
          <a:p>
            <a:pPr algn="l"/>
            <a:r>
              <a:rPr lang="en-US" b="0" i="0" dirty="0">
                <a:solidFill>
                  <a:srgbClr val="45484D"/>
                </a:solidFill>
                <a:effectLst/>
                <a:latin typeface="Tahoma" panose="020B0604030504040204" pitchFamily="34" charset="0"/>
                <a:ea typeface="Tahoma" panose="020B0604030504040204" pitchFamily="34" charset="0"/>
                <a:cs typeface="Tahoma" panose="020B0604030504040204" pitchFamily="34" charset="0"/>
              </a:rPr>
              <a:t>Hadley Wickham defines </a:t>
            </a:r>
            <a:r>
              <a:rPr lang="en-US" b="0" i="0" u="none" strike="noStrike" dirty="0">
                <a:solidFill>
                  <a:srgbClr val="212226"/>
                </a:solidFill>
                <a:effectLst/>
                <a:latin typeface="Tahoma" panose="020B0604030504040204" pitchFamily="34" charset="0"/>
                <a:ea typeface="Tahoma" panose="020B0604030504040204" pitchFamily="34" charset="0"/>
                <a:cs typeface="Tahoma" panose="020B0604030504040204" pitchFamily="34" charset="0"/>
                <a:hlinkClick r:id="rId3"/>
              </a:rPr>
              <a:t>"tidy data"</a:t>
            </a:r>
            <a:r>
              <a:rPr lang="en-US" b="0" i="0" dirty="0">
                <a:solidFill>
                  <a:srgbClr val="45484D"/>
                </a:solidFill>
                <a:effectLst/>
                <a:latin typeface="Tahoma" panose="020B0604030504040204" pitchFamily="34" charset="0"/>
                <a:ea typeface="Tahoma" panose="020B0604030504040204" pitchFamily="34" charset="0"/>
                <a:cs typeface="Tahoma" panose="020B0604030504040204" pitchFamily="34" charset="0"/>
              </a:rPr>
              <a:t> is data stored in "3rd normal form". Restated in language used by statisticians and data scientists</a:t>
            </a:r>
            <a:endParaRPr lang="en-US" b="1" dirty="0">
              <a:latin typeface="Tahoma" panose="020B0604030504040204" pitchFamily="34" charset="0"/>
              <a:ea typeface="Tahoma" panose="020B0604030504040204" pitchFamily="34" charset="0"/>
              <a:cs typeface="Tahoma" panose="020B0604030504040204" pitchFamily="34" charset="0"/>
            </a:endParaRPr>
          </a:p>
          <a:p>
            <a:endParaRPr lang="en-US" b="0" i="0" dirty="0">
              <a:solidFill>
                <a:srgbClr val="515151"/>
              </a:solidFill>
              <a:effectLst/>
              <a:latin typeface="Tahoma" panose="020B0604030504040204" pitchFamily="34" charset="0"/>
              <a:ea typeface="Tahoma" panose="020B0604030504040204" pitchFamily="34" charset="0"/>
              <a:cs typeface="Tahoma" panose="020B0604030504040204" pitchFamily="34" charset="0"/>
            </a:endParaRPr>
          </a:p>
          <a:p>
            <a:pPr algn="l"/>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With a standardized framework for how your data should look, you spend less time on data cleaning and wrangling, and more time to focus on answering the problem at hand.</a:t>
            </a:r>
          </a:p>
          <a:p>
            <a:pPr algn="l"/>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It’s also a good practice to have your data in this format, which makes it reproducible and it’s easy for others to understand.</a:t>
            </a:r>
          </a:p>
          <a:p>
            <a:endParaRPr lang="en-US" b="0" i="0" dirty="0">
              <a:solidFill>
                <a:srgbClr val="515151"/>
              </a:solidFill>
              <a:effectLst/>
              <a:latin typeface="Tahoma" panose="020B0604030504040204" pitchFamily="34" charset="0"/>
              <a:ea typeface="Tahoma" panose="020B0604030504040204" pitchFamily="34" charset="0"/>
              <a:cs typeface="Tahom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DE41453-96BF-7F45-9044-514C3EFC7F6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6334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four-school table on screen and ask what is wrong before you show the cards. All numbers come from the full file (169 rows, 35 columns): 15 grade columns give 868 non-NA cells when made long, and those cells sum to 86,527 students, which equals male plus female. mapped_location matches latitude and longitude in all 168 rows where it is filled. school_year is 18-19 in every row, so it is a constant, not a violation. This slide is diagnosis only. The pivot (pivot_longer in R, melt in pandas) is Session 8's reshape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Mostly a callback: say explicitly that these are the same bugs from Sessions 1 to 3, now framed as dtype problems. The schools file adds one more, two labels for one category. In pandas the merge is df['school_level'].replace({'Non-Traditional - Hybrid': 'Non-Traditional'}). Name it, don't demo it. Session 8 owns cleaning, and problem 5 in the tutor set has a runnable version.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students settle into the activity. Say once that it's a reference, not a memorization list.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ends around minute 27, leaving about 28 minutes for the tutor activity. The problem set needs 20 to 25 of them, so protect that time and do not let the wrangling preview run long. Remind students to download schools_tibble.csv before they open the tutor.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ntent Slide Light_with list">
    <p:bg>
      <p:bgPr>
        <a:solidFill>
          <a:srgbClr val="FFFFFF"/>
        </a:solidFill>
        <a:effectLst/>
      </p:bgPr>
    </p:bg>
    <p:spTree>
      <p:nvGrpSpPr>
        <p:cNvPr id="1" name=""/>
        <p:cNvGrpSpPr/>
        <p:nvPr/>
      </p:nvGrpSpPr>
      <p:grpSpPr>
        <a:xfrm>
          <a:off x="0" y="0"/>
          <a:ext cx="0" cy="0"/>
          <a:chOff x="0" y="0"/>
          <a:chExt cx="0" cy="0"/>
        </a:xfrm>
      </p:grpSpPr>
      <p:pic>
        <p:nvPicPr>
          <p:cNvPr id="20" name="Picture 19" descr="Icon&#10;&#10;Description automatically generated with medium confidence">
            <a:extLst>
              <a:ext uri="{FF2B5EF4-FFF2-40B4-BE49-F238E27FC236}">
                <a16:creationId xmlns:a16="http://schemas.microsoft.com/office/drawing/2014/main" id="{DD070A6E-64DC-2F41-9A40-2D85E3663D4A}"/>
              </a:ext>
            </a:extLst>
          </p:cNvPr>
          <p:cNvPicPr>
            <a:picLocks noChangeAspect="1"/>
          </p:cNvPicPr>
          <p:nvPr userDrawn="1"/>
        </p:nvPicPr>
        <p:blipFill>
          <a:blip r:embed="rId2"/>
          <a:stretch>
            <a:fillRect/>
          </a:stretch>
        </p:blipFill>
        <p:spPr>
          <a:xfrm>
            <a:off x="11307510" y="396775"/>
            <a:ext cx="537926" cy="381031"/>
          </a:xfrm>
          <a:prstGeom prst="rect">
            <a:avLst/>
          </a:prstGeom>
        </p:spPr>
      </p:pic>
      <p:sp>
        <p:nvSpPr>
          <p:cNvPr id="13" name="Subtitle 2">
            <a:extLst>
              <a:ext uri="{FF2B5EF4-FFF2-40B4-BE49-F238E27FC236}">
                <a16:creationId xmlns:a16="http://schemas.microsoft.com/office/drawing/2014/main" id="{B9925059-DA62-0741-A886-A75ABAED9C3E}"/>
              </a:ext>
            </a:extLst>
          </p:cNvPr>
          <p:cNvSpPr>
            <a:spLocks noGrp="1"/>
          </p:cNvSpPr>
          <p:nvPr>
            <p:ph type="subTitle" idx="1" hasCustomPrompt="1"/>
          </p:nvPr>
        </p:nvSpPr>
        <p:spPr>
          <a:xfrm>
            <a:off x="508000" y="2283090"/>
            <a:ext cx="9852104" cy="3181151"/>
          </a:xfrm>
        </p:spPr>
        <p:txBody>
          <a:bodyPr>
            <a:normAutofit/>
          </a:bodyPr>
          <a:lstStyle>
            <a:lvl1pPr marL="342900" marR="0" indent="-342900" algn="l" defTabSz="457200" rtl="0" eaLnBrk="1" fontAlgn="auto" latinLnBrk="0" hangingPunct="1">
              <a:lnSpc>
                <a:spcPct val="150000"/>
              </a:lnSpc>
              <a:spcBef>
                <a:spcPts val="0"/>
              </a:spcBef>
              <a:spcAft>
                <a:spcPts val="0"/>
              </a:spcAft>
              <a:buClr>
                <a:srgbClr val="D2B16D"/>
              </a:buClr>
              <a:buSzPct val="70000"/>
              <a:buFont typeface="Arial" panose="020B0604020202020204" pitchFamily="34" charset="0"/>
              <a:buChar char="•"/>
              <a:tabLst/>
              <a:defRPr lang="en-US" sz="20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251460" marR="0" lvl="0" indent="-342900" algn="l" defTabSz="914400" rtl="0" eaLnBrk="1" fontAlgn="auto" latinLnBrk="0" hangingPunct="1">
              <a:lnSpc>
                <a:spcPct val="90000"/>
              </a:lnSpc>
              <a:spcBef>
                <a:spcPts val="1000"/>
              </a:spcBef>
              <a:spcAft>
                <a:spcPts val="0"/>
              </a:spcAft>
              <a:buClr>
                <a:schemeClr val="accent2"/>
              </a:buClr>
              <a:buSzPct val="80000"/>
              <a:tabLst/>
              <a:defRPr/>
            </a:pPr>
            <a:r>
              <a:rPr lang="en-US"/>
              <a:t>Click to edit Master text styles</a:t>
            </a:r>
          </a:p>
          <a:p>
            <a:pPr marL="251460" marR="0" lvl="0" indent="-342900" algn="l" defTabSz="914400" rtl="0" eaLnBrk="1" fontAlgn="auto" latinLnBrk="0" hangingPunct="1">
              <a:lnSpc>
                <a:spcPct val="90000"/>
              </a:lnSpc>
              <a:spcBef>
                <a:spcPts val="1000"/>
              </a:spcBef>
              <a:spcAft>
                <a:spcPts val="0"/>
              </a:spcAft>
              <a:buClr>
                <a:schemeClr val="accent2"/>
              </a:buClr>
              <a:buSzPct val="80000"/>
              <a:tabLst/>
              <a:defRPr/>
            </a:pPr>
            <a:r>
              <a:rPr lang="en-US"/>
              <a:t>Click to edit Master text styles</a:t>
            </a:r>
          </a:p>
          <a:p>
            <a:pPr marL="251460" marR="0" lvl="0" indent="-342900" algn="l" defTabSz="914400" rtl="0" eaLnBrk="1" fontAlgn="auto" latinLnBrk="0" hangingPunct="1">
              <a:lnSpc>
                <a:spcPct val="90000"/>
              </a:lnSpc>
              <a:spcBef>
                <a:spcPts val="1000"/>
              </a:spcBef>
              <a:spcAft>
                <a:spcPts val="0"/>
              </a:spcAft>
              <a:buClr>
                <a:schemeClr val="accent2"/>
              </a:buClr>
              <a:buSzPct val="80000"/>
              <a:tabLst/>
              <a:defRPr/>
            </a:pPr>
            <a:r>
              <a:rPr lang="en-US"/>
              <a:t>Click to edit Master text styles</a:t>
            </a:r>
          </a:p>
          <a:p>
            <a:pPr marL="251460" marR="0" lvl="0" indent="-342900" algn="l" defTabSz="914400" rtl="0" eaLnBrk="1" fontAlgn="auto" latinLnBrk="0" hangingPunct="1">
              <a:lnSpc>
                <a:spcPct val="90000"/>
              </a:lnSpc>
              <a:spcBef>
                <a:spcPts val="1000"/>
              </a:spcBef>
              <a:spcAft>
                <a:spcPts val="0"/>
              </a:spcAft>
              <a:buClr>
                <a:schemeClr val="accent2"/>
              </a:buClr>
              <a:buSzPct val="80000"/>
              <a:tabLst/>
              <a:defRPr/>
            </a:pPr>
            <a:r>
              <a:rPr lang="en-US"/>
              <a:t>Click to edit Master text styles</a:t>
            </a:r>
          </a:p>
          <a:p>
            <a:pPr marL="251460" marR="0" lvl="0" indent="-342900" algn="l" defTabSz="914400" rtl="0" eaLnBrk="1" fontAlgn="auto" latinLnBrk="0" hangingPunct="1">
              <a:lnSpc>
                <a:spcPct val="90000"/>
              </a:lnSpc>
              <a:spcBef>
                <a:spcPts val="1000"/>
              </a:spcBef>
              <a:spcAft>
                <a:spcPts val="0"/>
              </a:spcAft>
              <a:buClr>
                <a:schemeClr val="accent2"/>
              </a:buClr>
              <a:buSzPct val="80000"/>
              <a:tabLst/>
              <a:defRPr/>
            </a:pPr>
            <a:r>
              <a:rPr lang="en-US"/>
              <a:t>Click to edit Master text styles</a:t>
            </a:r>
          </a:p>
          <a:p>
            <a:pPr marL="251460" marR="0" lvl="0" indent="-342900" algn="l" defTabSz="914400" rtl="0" eaLnBrk="1" fontAlgn="auto" latinLnBrk="0" hangingPunct="1">
              <a:lnSpc>
                <a:spcPct val="90000"/>
              </a:lnSpc>
              <a:spcBef>
                <a:spcPts val="1000"/>
              </a:spcBef>
              <a:spcAft>
                <a:spcPts val="0"/>
              </a:spcAft>
              <a:buClr>
                <a:schemeClr val="accent2"/>
              </a:buClr>
              <a:buSzPct val="80000"/>
              <a:tabLst/>
              <a:defRPr/>
            </a:pPr>
            <a:r>
              <a:rPr lang="en-US"/>
              <a:t>Click to edit Master text styles</a:t>
            </a:r>
          </a:p>
        </p:txBody>
      </p:sp>
    </p:spTree>
    <p:extLst>
      <p:ext uri="{BB962C8B-B14F-4D97-AF65-F5344CB8AC3E}">
        <p14:creationId xmlns:p14="http://schemas.microsoft.com/office/powerpoint/2010/main" val="309054923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logo_white.png"/>
          <p:cNvPicPr>
            <a:picLocks noChangeAspect="1"/>
          </p:cNvPicPr>
          <p:nvPr/>
        </p:nvPicPr>
        <p:blipFill>
          <a:blip r:embed="rId3"/>
          <a:stretch>
            <a:fillRect/>
          </a:stretch>
        </p:blipFill>
        <p:spPr>
          <a:xfrm>
            <a:off x="640080" y="594360"/>
            <a:ext cx="2377440" cy="516257"/>
          </a:xfrm>
          <a:prstGeom prst="rect">
            <a:avLst/>
          </a:prstGeom>
        </p:spPr>
      </p:pic>
      <p:sp>
        <p:nvSpPr>
          <p:cNvPr id="3" name="Text 0"/>
          <p:cNvSpPr txBox="1"/>
          <p:nvPr/>
        </p:nvSpPr>
        <p:spPr>
          <a:xfrm>
            <a:off x="640080" y="1508760"/>
            <a:ext cx="6675120" cy="365760"/>
          </a:xfrm>
          <a:prstGeom prst="rect">
            <a:avLst/>
          </a:prstGeom>
          <a:noFill/>
          <a:ln/>
        </p:spPr>
        <p:txBody>
          <a:bodyPr wrap="square" rtlCol="0" anchor="ctr"/>
          <a:lstStyle/>
          <a:p>
            <a:pPr marL="0" indent="0">
              <a:buNone/>
            </a:pPr>
            <a:r>
              <a:rPr lang="en-US" sz="1300" b="1" kern="0" spc="200" dirty="0">
                <a:solidFill>
                  <a:srgbClr val="ECB748"/>
                </a:solidFill>
                <a:latin typeface="Arial" pitchFamily="34" charset="0"/>
                <a:ea typeface="Arial" pitchFamily="34" charset="-122"/>
                <a:cs typeface="Arial" pitchFamily="34" charset="-120"/>
              </a:rPr>
              <a:t>SESSION 7  ·  UNIT 2: DATA WRANGLING</a:t>
            </a:r>
            <a:endParaRPr lang="en-US" sz="1300" dirty="0"/>
          </a:p>
        </p:txBody>
      </p:sp>
      <p:sp>
        <p:nvSpPr>
          <p:cNvPr id="4" name="Text 1"/>
          <p:cNvSpPr txBox="1"/>
          <p:nvPr/>
        </p:nvSpPr>
        <p:spPr>
          <a:xfrm>
            <a:off x="594360" y="1920240"/>
            <a:ext cx="6766560" cy="1463040"/>
          </a:xfrm>
          <a:prstGeom prst="rect">
            <a:avLst/>
          </a:prstGeom>
          <a:noFill/>
          <a:ln/>
        </p:spPr>
        <p:txBody>
          <a:bodyPr wrap="square" rtlCol="0" anchor="ctr"/>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Dataframes and</a:t>
            </a:r>
            <a:endParaRPr lang="en-US" sz="3400" dirty="0"/>
          </a:p>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Tidy Data</a:t>
            </a:r>
            <a:endParaRPr lang="en-US" sz="3400" dirty="0"/>
          </a:p>
        </p:txBody>
      </p:sp>
      <p:sp>
        <p:nvSpPr>
          <p:cNvPr id="5" name="Text 2"/>
          <p:cNvSpPr txBox="1"/>
          <p:nvPr/>
        </p:nvSpPr>
        <p:spPr>
          <a:xfrm>
            <a:off x="640080" y="3383280"/>
            <a:ext cx="6675120" cy="548640"/>
          </a:xfrm>
          <a:prstGeom prst="rect">
            <a:avLst/>
          </a:prstGeom>
          <a:noFill/>
          <a:ln/>
        </p:spPr>
        <p:txBody>
          <a:bodyPr wrap="square" rtlCol="0" anchor="ctr"/>
          <a:lstStyle/>
          <a:p>
            <a:pPr marL="0" indent="0">
              <a:buNone/>
            </a:pPr>
            <a:r>
              <a:rPr lang="en-US" sz="1600" dirty="0">
                <a:solidFill>
                  <a:srgbClr val="F5F3EF"/>
                </a:solidFill>
                <a:latin typeface="Arial" pitchFamily="34" charset="0"/>
                <a:ea typeface="Arial" pitchFamily="34" charset="-122"/>
                <a:cs typeface="Arial" pitchFamily="34" charset="-120"/>
              </a:rPr>
              <a:t>What a table looks like in pandas and R, and what makes it tidy</a:t>
            </a:r>
            <a:endParaRPr lang="en-US" sz="1600" dirty="0"/>
          </a:p>
        </p:txBody>
      </p:sp>
      <p:sp>
        <p:nvSpPr>
          <p:cNvPr id="6" name="Text 3"/>
          <p:cNvSpPr txBox="1"/>
          <p:nvPr/>
        </p:nvSpPr>
        <p:spPr>
          <a:xfrm>
            <a:off x="640080" y="5349240"/>
            <a:ext cx="6675120" cy="1005840"/>
          </a:xfrm>
          <a:prstGeom prst="rect">
            <a:avLst/>
          </a:prstGeom>
          <a:noFill/>
          <a:ln/>
        </p:spPr>
        <p:txBody>
          <a:bodyPr wrap="square" rtlCol="0" anchor="ctr"/>
          <a:lstStyle/>
          <a:p>
            <a:pPr marL="0" indent="0">
              <a:lnSpc>
                <a:spcPct val="130000"/>
              </a:lnSpc>
              <a:buNone/>
            </a:pPr>
            <a:r>
              <a:rPr lang="en-US" sz="1250" b="1" dirty="0">
                <a:solidFill>
                  <a:srgbClr val="FFFFFF"/>
                </a:solidFill>
                <a:latin typeface="Arial" pitchFamily="34" charset="0"/>
                <a:ea typeface="Arial" pitchFamily="34" charset="-122"/>
                <a:cs typeface="Arial" pitchFamily="34" charset="-120"/>
              </a:rPr>
              <a:t>CPBP 8306: Coding for Research</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Joshua Borycz  &amp;  Daniel Genkins   |   TA: Peyton Coleman</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Thursdays 10:00–10:55am  ·  Light Hall 439</a:t>
            </a:r>
            <a:endParaRPr lang="en-US" sz="1250" dirty="0"/>
          </a:p>
        </p:txBody>
      </p:sp>
      <p:sp>
        <p:nvSpPr>
          <p:cNvPr id="7" name="Shape 4"/>
          <p:cNvSpPr/>
          <p:nvPr/>
        </p:nvSpPr>
        <p:spPr>
          <a:xfrm>
            <a:off x="7818120" y="2194560"/>
            <a:ext cx="3749040" cy="2286000"/>
          </a:xfrm>
          <a:prstGeom prst="roundRect">
            <a:avLst>
              <a:gd name="adj" fmla="val 4800"/>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046720" y="2395728"/>
            <a:ext cx="146304" cy="146304"/>
          </a:xfrm>
          <a:prstGeom prst="ellipse">
            <a:avLst/>
          </a:prstGeom>
          <a:solidFill>
            <a:srgbClr val="D64550"/>
          </a:solidFill>
          <a:ln/>
        </p:spPr>
        <p:txBody>
          <a:bodyPr/>
          <a:lstStyle/>
          <a:p>
            <a:endParaRPr lang="en-US"/>
          </a:p>
        </p:txBody>
      </p:sp>
      <p:sp>
        <p:nvSpPr>
          <p:cNvPr id="9" name="Shape 6"/>
          <p:cNvSpPr/>
          <p:nvPr/>
        </p:nvSpPr>
        <p:spPr>
          <a:xfrm>
            <a:off x="8302752" y="2395728"/>
            <a:ext cx="146304" cy="146304"/>
          </a:xfrm>
          <a:prstGeom prst="ellipse">
            <a:avLst/>
          </a:prstGeom>
          <a:solidFill>
            <a:srgbClr val="ECB748"/>
          </a:solidFill>
          <a:ln/>
        </p:spPr>
        <p:txBody>
          <a:bodyPr/>
          <a:lstStyle/>
          <a:p>
            <a:endParaRPr lang="en-US"/>
          </a:p>
        </p:txBody>
      </p:sp>
      <p:sp>
        <p:nvSpPr>
          <p:cNvPr id="10" name="Shape 7"/>
          <p:cNvSpPr/>
          <p:nvPr/>
        </p:nvSpPr>
        <p:spPr>
          <a:xfrm>
            <a:off x="8558784" y="2395728"/>
            <a:ext cx="146304" cy="146304"/>
          </a:xfrm>
          <a:prstGeom prst="ellipse">
            <a:avLst/>
          </a:prstGeom>
          <a:solidFill>
            <a:srgbClr val="6B6B6B"/>
          </a:solidFill>
          <a:ln/>
        </p:spPr>
        <p:txBody>
          <a:bodyPr/>
          <a:lstStyle/>
          <a:p>
            <a:endParaRPr lang="en-US"/>
          </a:p>
        </p:txBody>
      </p:sp>
      <p:sp>
        <p:nvSpPr>
          <p:cNvPr id="11" name="Text 8"/>
          <p:cNvSpPr txBox="1"/>
          <p:nvPr/>
        </p:nvSpPr>
        <p:spPr>
          <a:xfrm>
            <a:off x="8961120" y="2340864"/>
            <a:ext cx="24688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peek.py</a:t>
            </a:r>
            <a:endParaRPr lang="en-US" sz="1050" dirty="0"/>
          </a:p>
        </p:txBody>
      </p:sp>
      <p:sp>
        <p:nvSpPr>
          <p:cNvPr id="12" name="Shape 9"/>
          <p:cNvSpPr/>
          <p:nvPr/>
        </p:nvSpPr>
        <p:spPr>
          <a:xfrm>
            <a:off x="7863840" y="2697480"/>
            <a:ext cx="3657600" cy="0"/>
          </a:xfrm>
          <a:prstGeom prst="line">
            <a:avLst/>
          </a:prstGeom>
          <a:noFill/>
          <a:ln w="12700">
            <a:solidFill>
              <a:srgbClr val="444444"/>
            </a:solidFill>
            <a:prstDash val="solid"/>
          </a:ln>
        </p:spPr>
        <p:txBody>
          <a:bodyPr/>
          <a:lstStyle/>
          <a:p>
            <a:endParaRPr lang="en-US"/>
          </a:p>
        </p:txBody>
      </p:sp>
      <p:sp>
        <p:nvSpPr>
          <p:cNvPr id="13" name="Text 10"/>
          <p:cNvSpPr txBox="1"/>
          <p:nvPr/>
        </p:nvSpPr>
        <p:spPr>
          <a:xfrm>
            <a:off x="8092440" y="2880360"/>
            <a:ext cx="3200400" cy="365760"/>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df</a:t>
            </a:r>
            <a:r>
              <a:rPr lang="en-US" sz="1300" dirty="0">
                <a:solidFill>
                  <a:srgbClr val="FFFFFF"/>
                </a:solidFill>
                <a:latin typeface="Courier New" pitchFamily="34" charset="0"/>
                <a:ea typeface="Courier New" pitchFamily="34" charset="-122"/>
                <a:cs typeface="Courier New" pitchFamily="34" charset="-120"/>
              </a:rPr>
              <a:t> = pd.read_csv(</a:t>
            </a:r>
            <a:r>
              <a:rPr lang="en-US" sz="1300" dirty="0">
                <a:solidFill>
                  <a:srgbClr val="ECB748"/>
                </a:solidFill>
                <a:latin typeface="Courier New" pitchFamily="34" charset="0"/>
                <a:ea typeface="Courier New" pitchFamily="34" charset="-122"/>
                <a:cs typeface="Courier New" pitchFamily="34" charset="-120"/>
              </a:rPr>
              <a:t>"penguins.csv"</a:t>
            </a: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4" name="Text 11"/>
          <p:cNvSpPr txBox="1"/>
          <p:nvPr/>
        </p:nvSpPr>
        <p:spPr>
          <a:xfrm>
            <a:off x="8092440" y="3337560"/>
            <a:ext cx="3200400" cy="365760"/>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df.shape</a:t>
            </a:r>
            <a:r>
              <a:rPr lang="en-US" sz="1300" dirty="0">
                <a:solidFill>
                  <a:srgbClr val="000000"/>
                </a:solidFill>
                <a:latin typeface="Courier New" pitchFamily="34" charset="0"/>
                <a:ea typeface="Courier New" pitchFamily="34" charset="-122"/>
                <a:cs typeface="Courier New" pitchFamily="34" charset="-120"/>
              </a:rPr>
              <a:t>   </a:t>
            </a:r>
            <a:r>
              <a:rPr lang="en-US" sz="1300" dirty="0">
                <a:solidFill>
                  <a:srgbClr val="ECB748"/>
                </a:solidFill>
                <a:latin typeface="Courier New" pitchFamily="34" charset="0"/>
                <a:ea typeface="Courier New" pitchFamily="34" charset="-122"/>
                <a:cs typeface="Courier New" pitchFamily="34" charset="-120"/>
              </a:rPr>
              <a:t># (344, 7)</a:t>
            </a:r>
            <a:endParaRPr lang="en-US" sz="1300" dirty="0"/>
          </a:p>
        </p:txBody>
      </p:sp>
      <p:sp>
        <p:nvSpPr>
          <p:cNvPr id="15" name="Text 12"/>
          <p:cNvSpPr txBox="1"/>
          <p:nvPr/>
        </p:nvSpPr>
        <p:spPr>
          <a:xfrm>
            <a:off x="7818120" y="4617720"/>
            <a:ext cx="3749040" cy="411480"/>
          </a:xfrm>
          <a:prstGeom prst="rect">
            <a:avLst/>
          </a:prstGeom>
          <a:noFill/>
          <a:ln/>
        </p:spPr>
        <p:txBody>
          <a:bodyPr wrap="square" rtlCol="0" anchor="ctr"/>
          <a:lstStyle/>
          <a:p>
            <a:pPr marL="0" indent="0" algn="ctr">
              <a:buNone/>
            </a:pPr>
            <a:r>
              <a:rPr lang="en-US" sz="1100" dirty="0">
                <a:solidFill>
                  <a:srgbClr val="9B9690"/>
                </a:solidFill>
                <a:latin typeface="Arial" pitchFamily="34" charset="0"/>
                <a:ea typeface="Arial" pitchFamily="34" charset="-122"/>
                <a:cs typeface="Arial" pitchFamily="34" charset="-120"/>
              </a:rPr>
              <a:t>Every dataset in this course, from here on, is a rectangle.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822960"/>
          </a:xfrm>
          <a:prstGeom prst="rect">
            <a:avLst/>
          </a:prstGeom>
          <a:noFill/>
          <a:ln/>
        </p:spPr>
        <p:txBody>
          <a:bodyPr wrap="square" rtlCol="0" anchor="ctr"/>
          <a:lstStyle/>
          <a:p>
            <a:pPr marL="0" indent="0">
              <a:buNone/>
            </a:pPr>
            <a:r>
              <a:rPr lang="en-US" sz="2200" b="1" dirty="0">
                <a:solidFill>
                  <a:srgbClr val="1C1C1C"/>
                </a:solidFill>
                <a:latin typeface="Arial" pitchFamily="34" charset="0"/>
                <a:ea typeface="Arial" pitchFamily="34" charset="-122"/>
                <a:cs typeface="Arial" pitchFamily="34" charset="-120"/>
              </a:rPr>
              <a:t>Last week was project folders and Git. Today we open the data inside them.</a:t>
            </a:r>
            <a:endParaRPr lang="en-US" sz="2200" dirty="0"/>
          </a:p>
        </p:txBody>
      </p:sp>
      <p:sp>
        <p:nvSpPr>
          <p:cNvPr id="6" name="Text 3"/>
          <p:cNvSpPr txBox="1"/>
          <p:nvPr/>
        </p:nvSpPr>
        <p:spPr>
          <a:xfrm>
            <a:off x="640080" y="1783080"/>
            <a:ext cx="10881360" cy="640080"/>
          </a:xfrm>
          <a:prstGeom prst="rect">
            <a:avLst/>
          </a:prstGeom>
          <a:noFill/>
          <a:ln/>
        </p:spPr>
        <p:txBody>
          <a:bodyPr wrap="square" rtlCol="0" anchor="ctr"/>
          <a:lstStyle/>
          <a:p>
            <a:pPr marL="0" indent="0">
              <a:buNone/>
            </a:pPr>
            <a:r>
              <a:rPr lang="en-US" sz="1400" dirty="0">
                <a:solidFill>
                  <a:srgbClr val="1C1C1C"/>
                </a:solidFill>
                <a:latin typeface="Arial" pitchFamily="34" charset="0"/>
                <a:ea typeface="Arial" pitchFamily="34" charset="-122"/>
                <a:cs typeface="Arial" pitchFamily="34" charset="-120"/>
              </a:rPr>
              <a:t>Session 6 gave you a project folder Git can track and a script that reads a relative path. That script has been reading a CSV the whole time, </a:t>
            </a:r>
            <a:r>
              <a:rPr lang="en-US" sz="1400" b="1" dirty="0">
                <a:solidFill>
                  <a:srgbClr val="1C1C1C"/>
                </a:solidFill>
                <a:latin typeface="Courier New" pitchFamily="34" charset="0"/>
                <a:ea typeface="Courier New" pitchFamily="34" charset="-122"/>
                <a:cs typeface="Courier New" pitchFamily="34" charset="-120"/>
              </a:rPr>
              <a:t>pd.read_csv("data/patients.csv")</a:t>
            </a:r>
            <a:r>
              <a:rPr lang="en-US" sz="1400" dirty="0">
                <a:solidFill>
                  <a:srgbClr val="1C1C1C"/>
                </a:solidFill>
                <a:latin typeface="Arial" pitchFamily="34" charset="0"/>
                <a:ea typeface="Arial" pitchFamily="34" charset="-122"/>
                <a:cs typeface="Arial" pitchFamily="34" charset="-120"/>
              </a:rPr>
              <a:t>, and we never looked at what comes back.</a:t>
            </a:r>
            <a:endParaRPr lang="en-US" sz="1400" dirty="0"/>
          </a:p>
        </p:txBody>
      </p:sp>
      <p:sp>
        <p:nvSpPr>
          <p:cNvPr id="7" name="Text 4"/>
          <p:cNvSpPr txBox="1"/>
          <p:nvPr/>
        </p:nvSpPr>
        <p:spPr>
          <a:xfrm>
            <a:off x="640080" y="2468880"/>
            <a:ext cx="10881360" cy="8686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Today: </a:t>
            </a:r>
            <a:r>
              <a:rPr lang="en-US" sz="1400" dirty="0">
                <a:solidFill>
                  <a:srgbClr val="1C1C1C"/>
                </a:solidFill>
                <a:latin typeface="Arial" pitchFamily="34" charset="0"/>
                <a:ea typeface="Arial" pitchFamily="34" charset="-122"/>
                <a:cs typeface="Arial" pitchFamily="34" charset="-120"/>
              </a:rPr>
              <a:t>what comes back. Almost every dataset in research is a rectangle, with rows as observations and columns as variables. Getting that rectangle into shape usually takes most of a project's time. From here on, pandas and the tidyverse run side by side every week, because your dissertation will touch both.</a:t>
            </a:r>
            <a:endParaRPr lang="en-US" sz="1400" dirty="0"/>
          </a:p>
        </p:txBody>
      </p:sp>
      <p:sp>
        <p:nvSpPr>
          <p:cNvPr id="8" name="Text 5"/>
          <p:cNvSpPr txBox="1"/>
          <p:nvPr/>
        </p:nvSpPr>
        <p:spPr>
          <a:xfrm>
            <a:off x="640080" y="3337560"/>
            <a:ext cx="10881360" cy="320040"/>
          </a:xfrm>
          <a:prstGeom prst="rect">
            <a:avLst/>
          </a:prstGeom>
          <a:noFill/>
          <a:ln/>
        </p:spPr>
        <p:txBody>
          <a:bodyPr wrap="square" rtlCol="0" anchor="ctr"/>
          <a:lstStyle/>
          <a:p>
            <a:pPr marL="0" indent="0">
              <a:buNone/>
            </a:pPr>
            <a:r>
              <a:rPr lang="en-US" sz="1250" dirty="0">
                <a:solidFill>
                  <a:srgbClr val="595959"/>
                </a:solidFill>
                <a:latin typeface="Arial" pitchFamily="34" charset="0"/>
                <a:ea typeface="Arial" pitchFamily="34" charset="-122"/>
                <a:cs typeface="Arial" pitchFamily="34" charset="-120"/>
              </a:rPr>
              <a:t>"Tidy datasets are all alike, but every messy dataset is messy in its own way."  Hadley Wickham</a:t>
            </a:r>
            <a:endParaRPr lang="en-US" sz="1250" dirty="0"/>
          </a:p>
        </p:txBody>
      </p:sp>
      <p:sp>
        <p:nvSpPr>
          <p:cNvPr id="9" name="Text 6"/>
          <p:cNvSpPr txBox="1"/>
          <p:nvPr/>
        </p:nvSpPr>
        <p:spPr>
          <a:xfrm>
            <a:off x="640080" y="3749040"/>
            <a:ext cx="548640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DATA FOR TODAY</a:t>
            </a:r>
            <a:endParaRPr lang="en-US" sz="1100" dirty="0"/>
          </a:p>
        </p:txBody>
      </p:sp>
      <p:sp>
        <p:nvSpPr>
          <p:cNvPr id="10" name="Shape 7"/>
          <p:cNvSpPr/>
          <p:nvPr/>
        </p:nvSpPr>
        <p:spPr>
          <a:xfrm>
            <a:off x="640080" y="4069080"/>
            <a:ext cx="5349240"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11" name="Shape 8"/>
          <p:cNvSpPr/>
          <p:nvPr/>
        </p:nvSpPr>
        <p:spPr>
          <a:xfrm>
            <a:off x="868680" y="4270248"/>
            <a:ext cx="146304" cy="146304"/>
          </a:xfrm>
          <a:prstGeom prst="ellipse">
            <a:avLst/>
          </a:prstGeom>
          <a:solidFill>
            <a:srgbClr val="D64550"/>
          </a:solidFill>
          <a:ln/>
        </p:spPr>
        <p:txBody>
          <a:bodyPr/>
          <a:lstStyle/>
          <a:p>
            <a:endParaRPr lang="en-US"/>
          </a:p>
        </p:txBody>
      </p:sp>
      <p:sp>
        <p:nvSpPr>
          <p:cNvPr id="12" name="Shape 9"/>
          <p:cNvSpPr/>
          <p:nvPr/>
        </p:nvSpPr>
        <p:spPr>
          <a:xfrm>
            <a:off x="1124712" y="4270248"/>
            <a:ext cx="146304" cy="146304"/>
          </a:xfrm>
          <a:prstGeom prst="ellipse">
            <a:avLst/>
          </a:prstGeom>
          <a:solidFill>
            <a:srgbClr val="ECB748"/>
          </a:solidFill>
          <a:ln/>
        </p:spPr>
        <p:txBody>
          <a:bodyPr/>
          <a:lstStyle/>
          <a:p>
            <a:endParaRPr lang="en-US"/>
          </a:p>
        </p:txBody>
      </p:sp>
      <p:sp>
        <p:nvSpPr>
          <p:cNvPr id="13" name="Shape 10"/>
          <p:cNvSpPr/>
          <p:nvPr/>
        </p:nvSpPr>
        <p:spPr>
          <a:xfrm>
            <a:off x="1380744" y="4270248"/>
            <a:ext cx="146304" cy="146304"/>
          </a:xfrm>
          <a:prstGeom prst="ellipse">
            <a:avLst/>
          </a:prstGeom>
          <a:solidFill>
            <a:srgbClr val="6B6B6B"/>
          </a:solidFill>
          <a:ln/>
        </p:spPr>
        <p:txBody>
          <a:bodyPr/>
          <a:lstStyle/>
          <a:p>
            <a:endParaRPr lang="en-US"/>
          </a:p>
        </p:txBody>
      </p:sp>
      <p:sp>
        <p:nvSpPr>
          <p:cNvPr id="14" name="Text 11"/>
          <p:cNvSpPr txBox="1"/>
          <p:nvPr/>
        </p:nvSpPr>
        <p:spPr>
          <a:xfrm>
            <a:off x="1783080" y="42153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penguins  (R package)</a:t>
            </a:r>
            <a:endParaRPr lang="en-US" sz="1050" dirty="0"/>
          </a:p>
        </p:txBody>
      </p:sp>
      <p:sp>
        <p:nvSpPr>
          <p:cNvPr id="15" name="Shape 12"/>
          <p:cNvSpPr/>
          <p:nvPr/>
        </p:nvSpPr>
        <p:spPr>
          <a:xfrm>
            <a:off x="685800" y="4572000"/>
            <a:ext cx="5257800" cy="0"/>
          </a:xfrm>
          <a:prstGeom prst="line">
            <a:avLst/>
          </a:prstGeom>
          <a:noFill/>
          <a:ln w="12700">
            <a:solidFill>
              <a:srgbClr val="444444"/>
            </a:solidFill>
            <a:prstDash val="solid"/>
          </a:ln>
        </p:spPr>
        <p:txBody>
          <a:bodyPr/>
          <a:lstStyle/>
          <a:p>
            <a:endParaRPr lang="en-US"/>
          </a:p>
        </p:txBody>
      </p:sp>
      <p:sp>
        <p:nvSpPr>
          <p:cNvPr id="16" name="Text 13"/>
          <p:cNvSpPr txBox="1"/>
          <p:nvPr/>
        </p:nvSpPr>
        <p:spPr>
          <a:xfrm>
            <a:off x="914400" y="4709160"/>
            <a:ext cx="480060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install.packages(</a:t>
            </a:r>
            <a:r>
              <a:rPr lang="en-US" sz="1300" dirty="0">
                <a:solidFill>
                  <a:srgbClr val="B3C9CD"/>
                </a:solidFill>
                <a:latin typeface="Courier New" pitchFamily="34" charset="0"/>
                <a:ea typeface="Courier New" pitchFamily="34" charset="-122"/>
                <a:cs typeface="Courier New" pitchFamily="34" charset="-120"/>
              </a:rPr>
              <a:t>"palmerpenguins"</a:t>
            </a:r>
            <a:r>
              <a:rPr lang="en-US" sz="1300" dirty="0">
                <a:solidFill>
                  <a:srgbClr val="FFFFFF"/>
                </a:solidFill>
                <a:latin typeface="Courier New" pitchFamily="34" charset="0"/>
                <a:ea typeface="Courier New" pitchFamily="34" charset="-122"/>
                <a:cs typeface="Courier New" pitchFamily="34" charset="-120"/>
              </a:rPr>
              <a:t>)   </a:t>
            </a:r>
            <a:r>
              <a:rPr lang="en-US" sz="1300" dirty="0">
                <a:solidFill>
                  <a:srgbClr val="8A8A82"/>
                </a:solidFill>
                <a:latin typeface="Courier New" pitchFamily="34" charset="0"/>
                <a:ea typeface="Courier New" pitchFamily="34" charset="-122"/>
                <a:cs typeface="Courier New" pitchFamily="34" charset="-120"/>
              </a:rPr>
              <a:t># once</a:t>
            </a:r>
            <a:endParaRPr lang="en-US" sz="1300" dirty="0"/>
          </a:p>
        </p:txBody>
      </p:sp>
      <p:sp>
        <p:nvSpPr>
          <p:cNvPr id="17" name="Text 14"/>
          <p:cNvSpPr txBox="1"/>
          <p:nvPr/>
        </p:nvSpPr>
        <p:spPr>
          <a:xfrm>
            <a:off x="914400" y="5038344"/>
            <a:ext cx="480060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library(palmerpenguins); library(dplyr)</a:t>
            </a:r>
            <a:endParaRPr lang="en-US" sz="1300" dirty="0"/>
          </a:p>
        </p:txBody>
      </p:sp>
      <p:sp>
        <p:nvSpPr>
          <p:cNvPr id="18" name="Text 15"/>
          <p:cNvSpPr txBox="1"/>
          <p:nvPr/>
        </p:nvSpPr>
        <p:spPr>
          <a:xfrm>
            <a:off x="914400" y="5367528"/>
            <a:ext cx="480060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df &lt;- penguins  </a:t>
            </a:r>
            <a:r>
              <a:rPr lang="en-US" sz="1300" dirty="0">
                <a:solidFill>
                  <a:srgbClr val="8A8A82"/>
                </a:solidFill>
                <a:latin typeface="Courier New" pitchFamily="34" charset="0"/>
                <a:ea typeface="Courier New" pitchFamily="34" charset="-122"/>
                <a:cs typeface="Courier New" pitchFamily="34" charset="-120"/>
              </a:rPr>
              <a:t># 344 x 8, adds year</a:t>
            </a:r>
            <a:endParaRPr lang="en-US" sz="1300" dirty="0"/>
          </a:p>
        </p:txBody>
      </p:sp>
      <p:sp>
        <p:nvSpPr>
          <p:cNvPr id="19" name="Text 16"/>
          <p:cNvSpPr txBox="1"/>
          <p:nvPr/>
        </p:nvSpPr>
        <p:spPr>
          <a:xfrm>
            <a:off x="914400" y="5696712"/>
            <a:ext cx="4800600" cy="329184"/>
          </a:xfrm>
          <a:prstGeom prst="rect">
            <a:avLst/>
          </a:prstGeom>
          <a:noFill/>
          <a:ln/>
        </p:spPr>
        <p:txBody>
          <a:bodyPr wrap="square" rtlCol="0" anchor="ctr"/>
          <a:lstStyle/>
          <a:p>
            <a:pPr marL="0" indent="0">
              <a:buNone/>
            </a:pPr>
            <a:r>
              <a:rPr lang="en-US" sz="1300" dirty="0">
                <a:solidFill>
                  <a:srgbClr val="8A8A82"/>
                </a:solidFill>
                <a:latin typeface="Courier New" pitchFamily="34" charset="0"/>
                <a:ea typeface="Courier New" pitchFamily="34" charset="-122"/>
                <a:cs typeface="Courier New" pitchFamily="34" charset="-120"/>
              </a:rPr>
              <a:t># Python: pd.read_csv("penguins.csv")</a:t>
            </a:r>
            <a:endParaRPr lang="en-US" sz="1300" dirty="0"/>
          </a:p>
        </p:txBody>
      </p:sp>
      <p:sp>
        <p:nvSpPr>
          <p:cNvPr id="20" name="Shape 17"/>
          <p:cNvSpPr/>
          <p:nvPr/>
        </p:nvSpPr>
        <p:spPr>
          <a:xfrm>
            <a:off x="6172200" y="4069080"/>
            <a:ext cx="5349240"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21" name="Shape 18"/>
          <p:cNvSpPr/>
          <p:nvPr/>
        </p:nvSpPr>
        <p:spPr>
          <a:xfrm>
            <a:off x="6400800" y="4270248"/>
            <a:ext cx="146304" cy="146304"/>
          </a:xfrm>
          <a:prstGeom prst="ellipse">
            <a:avLst/>
          </a:prstGeom>
          <a:solidFill>
            <a:srgbClr val="D64550"/>
          </a:solidFill>
          <a:ln/>
        </p:spPr>
        <p:txBody>
          <a:bodyPr/>
          <a:lstStyle/>
          <a:p>
            <a:endParaRPr lang="en-US"/>
          </a:p>
        </p:txBody>
      </p:sp>
      <p:sp>
        <p:nvSpPr>
          <p:cNvPr id="22" name="Shape 19"/>
          <p:cNvSpPr/>
          <p:nvPr/>
        </p:nvSpPr>
        <p:spPr>
          <a:xfrm>
            <a:off x="6656832" y="4270248"/>
            <a:ext cx="146304" cy="146304"/>
          </a:xfrm>
          <a:prstGeom prst="ellipse">
            <a:avLst/>
          </a:prstGeom>
          <a:solidFill>
            <a:srgbClr val="ECB748"/>
          </a:solidFill>
          <a:ln/>
        </p:spPr>
        <p:txBody>
          <a:bodyPr/>
          <a:lstStyle/>
          <a:p>
            <a:endParaRPr lang="en-US"/>
          </a:p>
        </p:txBody>
      </p:sp>
      <p:sp>
        <p:nvSpPr>
          <p:cNvPr id="23" name="Shape 20"/>
          <p:cNvSpPr/>
          <p:nvPr/>
        </p:nvSpPr>
        <p:spPr>
          <a:xfrm>
            <a:off x="6912864" y="4270248"/>
            <a:ext cx="146304" cy="146304"/>
          </a:xfrm>
          <a:prstGeom prst="ellipse">
            <a:avLst/>
          </a:prstGeom>
          <a:solidFill>
            <a:srgbClr val="6B6B6B"/>
          </a:solidFill>
          <a:ln/>
        </p:spPr>
        <p:txBody>
          <a:bodyPr/>
          <a:lstStyle/>
          <a:p>
            <a:endParaRPr lang="en-US"/>
          </a:p>
        </p:txBody>
      </p:sp>
      <p:sp>
        <p:nvSpPr>
          <p:cNvPr id="24" name="Text 21"/>
          <p:cNvSpPr txBox="1"/>
          <p:nvPr/>
        </p:nvSpPr>
        <p:spPr>
          <a:xfrm>
            <a:off x="7315200" y="4215384"/>
            <a:ext cx="406908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schools_tibble.csv  (Brightspace)</a:t>
            </a:r>
            <a:endParaRPr lang="en-US" sz="1050" dirty="0"/>
          </a:p>
        </p:txBody>
      </p:sp>
      <p:sp>
        <p:nvSpPr>
          <p:cNvPr id="25" name="Shape 22"/>
          <p:cNvSpPr/>
          <p:nvPr/>
        </p:nvSpPr>
        <p:spPr>
          <a:xfrm>
            <a:off x="6217920" y="4572000"/>
            <a:ext cx="5257800" cy="0"/>
          </a:xfrm>
          <a:prstGeom prst="line">
            <a:avLst/>
          </a:prstGeom>
          <a:noFill/>
          <a:ln w="12700">
            <a:solidFill>
              <a:srgbClr val="444444"/>
            </a:solidFill>
            <a:prstDash val="solid"/>
          </a:ln>
        </p:spPr>
        <p:txBody>
          <a:bodyPr/>
          <a:lstStyle/>
          <a:p>
            <a:endParaRPr lang="en-US"/>
          </a:p>
        </p:txBody>
      </p:sp>
      <p:sp>
        <p:nvSpPr>
          <p:cNvPr id="26" name="Text 23"/>
          <p:cNvSpPr txBox="1"/>
          <p:nvPr/>
        </p:nvSpPr>
        <p:spPr>
          <a:xfrm>
            <a:off x="6446520" y="4709160"/>
            <a:ext cx="4800600" cy="329184"/>
          </a:xfrm>
          <a:prstGeom prst="rect">
            <a:avLst/>
          </a:prstGeom>
          <a:noFill/>
          <a:ln/>
        </p:spPr>
        <p:txBody>
          <a:bodyPr wrap="square" rtlCol="0" anchor="ctr"/>
          <a:lstStyle/>
          <a:p>
            <a:pPr marL="0" indent="0">
              <a:buNone/>
            </a:pPr>
            <a:r>
              <a:rPr lang="en-US" sz="1300" dirty="0">
                <a:solidFill>
                  <a:srgbClr val="8A8A82"/>
                </a:solidFill>
                <a:latin typeface="Courier New" pitchFamily="34" charset="0"/>
                <a:ea typeface="Courier New" pitchFamily="34" charset="-122"/>
                <a:cs typeface="Courier New" pitchFamily="34" charset="-120"/>
              </a:rPr>
              <a:t># download from Brightspace, then</a:t>
            </a:r>
            <a:endParaRPr lang="en-US" sz="1300" dirty="0"/>
          </a:p>
        </p:txBody>
      </p:sp>
      <p:sp>
        <p:nvSpPr>
          <p:cNvPr id="27" name="Text 24"/>
          <p:cNvSpPr txBox="1"/>
          <p:nvPr/>
        </p:nvSpPr>
        <p:spPr>
          <a:xfrm>
            <a:off x="6446520" y="5038344"/>
            <a:ext cx="4800600" cy="329184"/>
          </a:xfrm>
          <a:prstGeom prst="rect">
            <a:avLst/>
          </a:prstGeom>
          <a:noFill/>
          <a:ln/>
        </p:spPr>
        <p:txBody>
          <a:bodyPr wrap="square" rtlCol="0" anchor="ctr"/>
          <a:lstStyle/>
          <a:p>
            <a:pPr marL="0" indent="0">
              <a:buNone/>
            </a:pPr>
            <a:r>
              <a:rPr lang="en-US" sz="1300" dirty="0">
                <a:solidFill>
                  <a:srgbClr val="8A8A82"/>
                </a:solidFill>
                <a:latin typeface="Courier New" pitchFamily="34" charset="0"/>
                <a:ea typeface="Courier New" pitchFamily="34" charset="-122"/>
                <a:cs typeface="Courier New" pitchFamily="34" charset="-120"/>
              </a:rPr>
              <a:t># save it next to your script</a:t>
            </a:r>
            <a:endParaRPr lang="en-US" sz="1300" dirty="0"/>
          </a:p>
        </p:txBody>
      </p:sp>
      <p:sp>
        <p:nvSpPr>
          <p:cNvPr id="28" name="Text 25"/>
          <p:cNvSpPr txBox="1"/>
          <p:nvPr/>
        </p:nvSpPr>
        <p:spPr>
          <a:xfrm>
            <a:off x="6446520" y="5367528"/>
            <a:ext cx="480060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schools &lt;- read_csv(</a:t>
            </a:r>
            <a:r>
              <a:rPr lang="en-US" sz="1300" dirty="0">
                <a:solidFill>
                  <a:srgbClr val="B3C9CD"/>
                </a:solidFill>
                <a:latin typeface="Courier New" pitchFamily="34" charset="0"/>
                <a:ea typeface="Courier New" pitchFamily="34" charset="-122"/>
                <a:cs typeface="Courier New" pitchFamily="34" charset="-120"/>
              </a:rPr>
              <a:t>"schools_tibble.csv"</a:t>
            </a: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29" name="Text 26"/>
          <p:cNvSpPr txBox="1"/>
          <p:nvPr/>
        </p:nvSpPr>
        <p:spPr>
          <a:xfrm>
            <a:off x="6446520" y="5696712"/>
            <a:ext cx="480060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schools = pd.read_csv(</a:t>
            </a:r>
            <a:r>
              <a:rPr lang="en-US" sz="1300" dirty="0">
                <a:solidFill>
                  <a:srgbClr val="ECB748"/>
                </a:solidFill>
                <a:latin typeface="Courier New" pitchFamily="34" charset="0"/>
                <a:ea typeface="Courier New" pitchFamily="34" charset="-122"/>
                <a:cs typeface="Courier New" pitchFamily="34" charset="-120"/>
              </a:rPr>
              <a:t>"schools_tibble.csv"</a:t>
            </a: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30" name="Text 27"/>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6675120" cy="640080"/>
          </a:xfrm>
          <a:prstGeom prst="rect">
            <a:avLst/>
          </a:prstGeom>
          <a:noFill/>
          <a:ln/>
        </p:spPr>
        <p:txBody>
          <a:bodyPr wrap="square" rtlCol="0" anchor="ctr"/>
          <a:lstStyle/>
          <a:p>
            <a:pPr marL="0" indent="0">
              <a:buNone/>
            </a:pPr>
            <a:r>
              <a:rPr lang="en-US" sz="2600" b="1" dirty="0">
                <a:solidFill>
                  <a:srgbClr val="1C1C1C"/>
                </a:solidFill>
                <a:latin typeface="Arial" pitchFamily="34" charset="0"/>
                <a:ea typeface="Arial" pitchFamily="34" charset="-122"/>
                <a:cs typeface="Arial" pitchFamily="34" charset="-120"/>
              </a:rPr>
              <a:t>By the end of today you can…</a:t>
            </a:r>
            <a:endParaRPr lang="en-US" sz="2600" dirty="0"/>
          </a:p>
        </p:txBody>
      </p:sp>
      <p:sp>
        <p:nvSpPr>
          <p:cNvPr id="6" name="Shape 3"/>
          <p:cNvSpPr/>
          <p:nvPr/>
        </p:nvSpPr>
        <p:spPr>
          <a:xfrm>
            <a:off x="640080" y="1691640"/>
            <a:ext cx="365760" cy="365760"/>
          </a:xfrm>
          <a:prstGeom prst="ellipse">
            <a:avLst/>
          </a:prstGeom>
          <a:solidFill>
            <a:srgbClr val="E3E3E3"/>
          </a:solidFill>
          <a:ln/>
        </p:spPr>
        <p:txBody>
          <a:bodyPr/>
          <a:lstStyle/>
          <a:p>
            <a:endParaRPr lang="en-US"/>
          </a:p>
        </p:txBody>
      </p:sp>
      <p:sp>
        <p:nvSpPr>
          <p:cNvPr id="7" name="Text 4"/>
          <p:cNvSpPr txBox="1"/>
          <p:nvPr/>
        </p:nvSpPr>
        <p:spPr>
          <a:xfrm>
            <a:off x="640080" y="1691640"/>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143000" y="1664208"/>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Load a CSV into a pandas DataFrame and an R tibble.</a:t>
            </a:r>
            <a:endParaRPr lang="en-US" sz="1350" dirty="0"/>
          </a:p>
        </p:txBody>
      </p:sp>
      <p:sp>
        <p:nvSpPr>
          <p:cNvPr id="9" name="Shape 6"/>
          <p:cNvSpPr/>
          <p:nvPr/>
        </p:nvSpPr>
        <p:spPr>
          <a:xfrm>
            <a:off x="640080" y="2258568"/>
            <a:ext cx="365760" cy="365760"/>
          </a:xfrm>
          <a:prstGeom prst="ellipse">
            <a:avLst/>
          </a:prstGeom>
          <a:solidFill>
            <a:srgbClr val="E3E3E3"/>
          </a:solidFill>
          <a:ln/>
        </p:spPr>
        <p:txBody>
          <a:bodyPr/>
          <a:lstStyle/>
          <a:p>
            <a:endParaRPr lang="en-US"/>
          </a:p>
        </p:txBody>
      </p:sp>
      <p:sp>
        <p:nvSpPr>
          <p:cNvPr id="10" name="Text 7"/>
          <p:cNvSpPr txBox="1"/>
          <p:nvPr/>
        </p:nvSpPr>
        <p:spPr>
          <a:xfrm>
            <a:off x="640080" y="2258568"/>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2</a:t>
            </a:r>
            <a:endParaRPr lang="en-US" sz="1400" dirty="0"/>
          </a:p>
        </p:txBody>
      </p:sp>
      <p:sp>
        <p:nvSpPr>
          <p:cNvPr id="11" name="Text 8"/>
          <p:cNvSpPr txBox="1"/>
          <p:nvPr/>
        </p:nvSpPr>
        <p:spPr>
          <a:xfrm>
            <a:off x="1143000" y="2231136"/>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Inspect a dataframe: shape, columns, dtypes, head, summary.</a:t>
            </a:r>
            <a:endParaRPr lang="en-US" sz="1350" dirty="0"/>
          </a:p>
        </p:txBody>
      </p:sp>
      <p:sp>
        <p:nvSpPr>
          <p:cNvPr id="12" name="Shape 9"/>
          <p:cNvSpPr/>
          <p:nvPr/>
        </p:nvSpPr>
        <p:spPr>
          <a:xfrm>
            <a:off x="640080" y="2825496"/>
            <a:ext cx="365760" cy="365760"/>
          </a:xfrm>
          <a:prstGeom prst="ellipse">
            <a:avLst/>
          </a:prstGeom>
          <a:solidFill>
            <a:srgbClr val="E3E3E3"/>
          </a:solidFill>
          <a:ln/>
        </p:spPr>
        <p:txBody>
          <a:bodyPr/>
          <a:lstStyle/>
          <a:p>
            <a:endParaRPr lang="en-US"/>
          </a:p>
        </p:txBody>
      </p:sp>
      <p:sp>
        <p:nvSpPr>
          <p:cNvPr id="13" name="Text 10"/>
          <p:cNvSpPr txBox="1"/>
          <p:nvPr/>
        </p:nvSpPr>
        <p:spPr>
          <a:xfrm>
            <a:off x="640080" y="2825496"/>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3</a:t>
            </a:r>
            <a:endParaRPr lang="en-US" sz="1400" dirty="0"/>
          </a:p>
        </p:txBody>
      </p:sp>
      <p:sp>
        <p:nvSpPr>
          <p:cNvPr id="14" name="Text 11"/>
          <p:cNvSpPr txBox="1"/>
          <p:nvPr/>
        </p:nvSpPr>
        <p:spPr>
          <a:xfrm>
            <a:off x="1143000" y="2798064"/>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Pull out a single column, row, cell, and a subset of both.</a:t>
            </a:r>
            <a:endParaRPr lang="en-US" sz="1350" dirty="0"/>
          </a:p>
        </p:txBody>
      </p:sp>
      <p:sp>
        <p:nvSpPr>
          <p:cNvPr id="15" name="Shape 12"/>
          <p:cNvSpPr/>
          <p:nvPr/>
        </p:nvSpPr>
        <p:spPr>
          <a:xfrm>
            <a:off x="640080" y="3392424"/>
            <a:ext cx="365760" cy="365760"/>
          </a:xfrm>
          <a:prstGeom prst="ellipse">
            <a:avLst/>
          </a:prstGeom>
          <a:solidFill>
            <a:srgbClr val="ECB748"/>
          </a:solidFill>
          <a:ln/>
        </p:spPr>
        <p:txBody>
          <a:bodyPr/>
          <a:lstStyle/>
          <a:p>
            <a:endParaRPr lang="en-US"/>
          </a:p>
        </p:txBody>
      </p:sp>
      <p:sp>
        <p:nvSpPr>
          <p:cNvPr id="16" name="Text 13"/>
          <p:cNvSpPr txBox="1"/>
          <p:nvPr/>
        </p:nvSpPr>
        <p:spPr>
          <a:xfrm>
            <a:off x="640080" y="3392424"/>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4</a:t>
            </a:r>
            <a:endParaRPr lang="en-US" sz="1400" dirty="0"/>
          </a:p>
        </p:txBody>
      </p:sp>
      <p:sp>
        <p:nvSpPr>
          <p:cNvPr id="17" name="Text 14"/>
          <p:cNvSpPr txBox="1"/>
          <p:nvPr/>
        </p:nvSpPr>
        <p:spPr>
          <a:xfrm>
            <a:off x="1143000" y="3364992"/>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State the three rules of tidy data, and catch a violation.</a:t>
            </a:r>
            <a:endParaRPr lang="en-US" sz="1350" dirty="0"/>
          </a:p>
        </p:txBody>
      </p:sp>
      <p:sp>
        <p:nvSpPr>
          <p:cNvPr id="18" name="Shape 15"/>
          <p:cNvSpPr/>
          <p:nvPr/>
        </p:nvSpPr>
        <p:spPr>
          <a:xfrm>
            <a:off x="640080" y="3959352"/>
            <a:ext cx="365760" cy="365760"/>
          </a:xfrm>
          <a:prstGeom prst="ellipse">
            <a:avLst/>
          </a:prstGeom>
          <a:solidFill>
            <a:srgbClr val="ECB748"/>
          </a:solidFill>
          <a:ln/>
        </p:spPr>
        <p:txBody>
          <a:bodyPr/>
          <a:lstStyle/>
          <a:p>
            <a:endParaRPr lang="en-US"/>
          </a:p>
        </p:txBody>
      </p:sp>
      <p:sp>
        <p:nvSpPr>
          <p:cNvPr id="19" name="Text 16"/>
          <p:cNvSpPr txBox="1"/>
          <p:nvPr/>
        </p:nvSpPr>
        <p:spPr>
          <a:xfrm>
            <a:off x="640080" y="3959352"/>
            <a:ext cx="365760" cy="365760"/>
          </a:xfrm>
          <a:prstGeom prst="rect">
            <a:avLst/>
          </a:prstGeom>
          <a:noFill/>
          <a:ln/>
        </p:spPr>
        <p:txBody>
          <a:bodyPr wrap="square"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5</a:t>
            </a:r>
            <a:endParaRPr lang="en-US" sz="1400" dirty="0"/>
          </a:p>
        </p:txBody>
      </p:sp>
      <p:sp>
        <p:nvSpPr>
          <p:cNvPr id="20" name="Text 17"/>
          <p:cNvSpPr txBox="1"/>
          <p:nvPr/>
        </p:nvSpPr>
        <p:spPr>
          <a:xfrm>
            <a:off x="1143000" y="3931920"/>
            <a:ext cx="6035040" cy="457200"/>
          </a:xfrm>
          <a:prstGeom prst="rect">
            <a:avLst/>
          </a:prstGeom>
          <a:noFill/>
          <a:ln/>
        </p:spPr>
        <p:txBody>
          <a:bodyPr wrap="square" rtlCol="0" anchor="ctr"/>
          <a:lstStyle/>
          <a:p>
            <a:pPr marL="0" indent="0">
              <a:buNone/>
            </a:pPr>
            <a:r>
              <a:rPr lang="en-US" sz="1350" dirty="0">
                <a:solidFill>
                  <a:srgbClr val="1C1C1C"/>
                </a:solidFill>
                <a:latin typeface="Arial" pitchFamily="34" charset="0"/>
                <a:ea typeface="Arial" pitchFamily="34" charset="-122"/>
                <a:cs typeface="Arial" pitchFamily="34" charset="-120"/>
              </a:rPr>
              <a:t>Recognize how real tables break them: wide columns, packed cells, NA that means "not offered."</a:t>
            </a:r>
            <a:endParaRPr lang="en-US" sz="1350" dirty="0"/>
          </a:p>
        </p:txBody>
      </p:sp>
      <p:sp>
        <p:nvSpPr>
          <p:cNvPr id="21" name="Shape 18"/>
          <p:cNvSpPr/>
          <p:nvPr/>
        </p:nvSpPr>
        <p:spPr>
          <a:xfrm>
            <a:off x="7498080" y="1691640"/>
            <a:ext cx="4023360" cy="2926080"/>
          </a:xfrm>
          <a:prstGeom prst="roundRect">
            <a:avLst>
              <a:gd name="adj" fmla="val 3125"/>
            </a:avLst>
          </a:prstGeom>
          <a:solidFill>
            <a:srgbClr val="F5F3EF"/>
          </a:solidFill>
          <a:ln w="12700">
            <a:solidFill>
              <a:srgbClr val="E3E3E3"/>
            </a:solidFill>
            <a:prstDash val="solid"/>
          </a:ln>
        </p:spPr>
        <p:txBody>
          <a:bodyPr/>
          <a:lstStyle/>
          <a:p>
            <a:endParaRPr lang="en-US"/>
          </a:p>
        </p:txBody>
      </p:sp>
      <p:sp>
        <p:nvSpPr>
          <p:cNvPr id="22" name="Text 19"/>
          <p:cNvSpPr txBox="1"/>
          <p:nvPr/>
        </p:nvSpPr>
        <p:spPr>
          <a:xfrm>
            <a:off x="7772400" y="1920240"/>
            <a:ext cx="3474720" cy="32004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WHY THIS SESSION MATTERS</a:t>
            </a:r>
            <a:endParaRPr lang="en-US" sz="1100" dirty="0"/>
          </a:p>
        </p:txBody>
      </p:sp>
      <p:sp>
        <p:nvSpPr>
          <p:cNvPr id="23" name="Text 20"/>
          <p:cNvSpPr txBox="1"/>
          <p:nvPr/>
        </p:nvSpPr>
        <p:spPr>
          <a:xfrm>
            <a:off x="7772400" y="2286000"/>
            <a:ext cx="3474720" cy="822960"/>
          </a:xfrm>
          <a:prstGeom prst="rect">
            <a:avLst/>
          </a:prstGeom>
          <a:noFill/>
          <a:ln/>
        </p:spPr>
        <p:txBody>
          <a:bodyPr wrap="square" rtlCol="0" anchor="ctr"/>
          <a:lstStyle/>
          <a:p>
            <a:pPr marL="0" indent="0">
              <a:buNone/>
            </a:pPr>
            <a:r>
              <a:rPr lang="en-US" sz="1300" dirty="0">
                <a:solidFill>
                  <a:srgbClr val="1C1C1C"/>
                </a:solidFill>
                <a:latin typeface="Arial" pitchFamily="34" charset="0"/>
                <a:ea typeface="Arial" pitchFamily="34" charset="-122"/>
                <a:cs typeface="Arial" pitchFamily="34" charset="-120"/>
              </a:rPr>
              <a:t>From here the course moves from the language to the tools researchers use, and everything connects to your project dataset.</a:t>
            </a:r>
            <a:endParaRPr lang="en-US" sz="1300" dirty="0"/>
          </a:p>
        </p:txBody>
      </p:sp>
      <p:sp>
        <p:nvSpPr>
          <p:cNvPr id="24" name="Shape 21"/>
          <p:cNvSpPr/>
          <p:nvPr/>
        </p:nvSpPr>
        <p:spPr>
          <a:xfrm>
            <a:off x="7772400" y="3246120"/>
            <a:ext cx="3474720" cy="0"/>
          </a:xfrm>
          <a:prstGeom prst="line">
            <a:avLst/>
          </a:prstGeom>
          <a:noFill/>
          <a:ln w="12700">
            <a:solidFill>
              <a:srgbClr val="E3E3E3"/>
            </a:solidFill>
            <a:prstDash val="solid"/>
          </a:ln>
        </p:spPr>
        <p:txBody>
          <a:bodyPr/>
          <a:lstStyle/>
          <a:p>
            <a:endParaRPr lang="en-US"/>
          </a:p>
        </p:txBody>
      </p:sp>
      <p:sp>
        <p:nvSpPr>
          <p:cNvPr id="25" name="Text 22"/>
          <p:cNvSpPr txBox="1"/>
          <p:nvPr/>
        </p:nvSpPr>
        <p:spPr>
          <a:xfrm>
            <a:off x="7772400" y="3383280"/>
            <a:ext cx="347472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Milestone ahead</a:t>
            </a:r>
            <a:endParaRPr lang="en-US" sz="1100" dirty="0"/>
          </a:p>
        </p:txBody>
      </p:sp>
      <p:sp>
        <p:nvSpPr>
          <p:cNvPr id="26" name="Text 23"/>
          <p:cNvSpPr txBox="1"/>
          <p:nvPr/>
        </p:nvSpPr>
        <p:spPr>
          <a:xfrm>
            <a:off x="7772400" y="3703320"/>
            <a:ext cx="3474720" cy="822960"/>
          </a:xfrm>
          <a:prstGeom prst="rect">
            <a:avLst/>
          </a:prstGeom>
          <a:noFill/>
          <a:ln/>
        </p:spPr>
        <p:txBody>
          <a:bodyPr wrap="square" rtlCol="0" anchor="ctr"/>
          <a:lstStyle/>
          <a:p>
            <a:pPr marL="0" indent="0">
              <a:buNone/>
            </a:pPr>
            <a:r>
              <a:rPr lang="en-US" sz="1300" dirty="0">
                <a:solidFill>
                  <a:srgbClr val="1C1C1C"/>
                </a:solidFill>
                <a:latin typeface="Arial" pitchFamily="34" charset="0"/>
                <a:ea typeface="Arial" pitchFamily="34" charset="-122"/>
                <a:cs typeface="Arial" pitchFamily="34" charset="-120"/>
              </a:rPr>
              <a:t>By Session 9 your project dataset should be cleaned. Sessions 7 and 8 teach the tools for it.</a:t>
            </a:r>
            <a:endParaRPr lang="en-US" sz="1300" dirty="0"/>
          </a:p>
        </p:txBody>
      </p:sp>
      <p:sp>
        <p:nvSpPr>
          <p:cNvPr id="28" name="Text 25"/>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60120"/>
            <a:ext cx="10881360" cy="73152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Same data, two languages: load it, then look at it</a:t>
            </a:r>
            <a:endParaRPr lang="en-US" sz="2600" dirty="0"/>
          </a:p>
        </p:txBody>
      </p:sp>
      <p:sp>
        <p:nvSpPr>
          <p:cNvPr id="6" name="Shape 3"/>
          <p:cNvSpPr/>
          <p:nvPr/>
        </p:nvSpPr>
        <p:spPr>
          <a:xfrm>
            <a:off x="640080" y="1874520"/>
            <a:ext cx="5257800" cy="3017520"/>
          </a:xfrm>
          <a:prstGeom prst="roundRect">
            <a:avLst>
              <a:gd name="adj" fmla="val 3030"/>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2075688"/>
            <a:ext cx="146304" cy="146304"/>
          </a:xfrm>
          <a:prstGeom prst="ellipse">
            <a:avLst/>
          </a:prstGeom>
          <a:solidFill>
            <a:srgbClr val="D64550"/>
          </a:solidFill>
          <a:ln/>
        </p:spPr>
        <p:txBody>
          <a:bodyPr/>
          <a:lstStyle/>
          <a:p>
            <a:endParaRPr lang="en-US"/>
          </a:p>
        </p:txBody>
      </p:sp>
      <p:sp>
        <p:nvSpPr>
          <p:cNvPr id="8" name="Shape 5"/>
          <p:cNvSpPr/>
          <p:nvPr/>
        </p:nvSpPr>
        <p:spPr>
          <a:xfrm>
            <a:off x="1124712" y="2075688"/>
            <a:ext cx="146304" cy="146304"/>
          </a:xfrm>
          <a:prstGeom prst="ellipse">
            <a:avLst/>
          </a:prstGeom>
          <a:solidFill>
            <a:srgbClr val="ECB748"/>
          </a:solidFill>
          <a:ln/>
        </p:spPr>
        <p:txBody>
          <a:bodyPr/>
          <a:lstStyle/>
          <a:p>
            <a:endParaRPr lang="en-US"/>
          </a:p>
        </p:txBody>
      </p:sp>
      <p:sp>
        <p:nvSpPr>
          <p:cNvPr id="9" name="Shape 6"/>
          <p:cNvSpPr/>
          <p:nvPr/>
        </p:nvSpPr>
        <p:spPr>
          <a:xfrm>
            <a:off x="1380744" y="2075688"/>
            <a:ext cx="146304" cy="146304"/>
          </a:xfrm>
          <a:prstGeom prst="ellipse">
            <a:avLst/>
          </a:prstGeom>
          <a:solidFill>
            <a:srgbClr val="6B6B6B"/>
          </a:solidFill>
          <a:ln/>
        </p:spPr>
        <p:txBody>
          <a:bodyPr/>
          <a:lstStyle/>
          <a:p>
            <a:endParaRPr lang="en-US"/>
          </a:p>
        </p:txBody>
      </p:sp>
      <p:sp>
        <p:nvSpPr>
          <p:cNvPr id="10" name="Text 7"/>
          <p:cNvSpPr txBox="1"/>
          <p:nvPr/>
        </p:nvSpPr>
        <p:spPr>
          <a:xfrm>
            <a:off x="1783080" y="202082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peek.py</a:t>
            </a:r>
            <a:endParaRPr lang="en-US" sz="1050" dirty="0"/>
          </a:p>
        </p:txBody>
      </p:sp>
      <p:sp>
        <p:nvSpPr>
          <p:cNvPr id="11" name="Shape 8"/>
          <p:cNvSpPr/>
          <p:nvPr/>
        </p:nvSpPr>
        <p:spPr>
          <a:xfrm>
            <a:off x="685800" y="2377440"/>
            <a:ext cx="5166360" cy="0"/>
          </a:xfrm>
          <a:prstGeom prst="line">
            <a:avLst/>
          </a:prstGeom>
          <a:noFill/>
          <a:ln w="12700">
            <a:solidFill>
              <a:srgbClr val="444444"/>
            </a:solidFill>
            <a:prstDash val="solid"/>
          </a:ln>
        </p:spPr>
        <p:txBody>
          <a:bodyPr/>
          <a:lstStyle/>
          <a:p>
            <a:endParaRPr lang="en-US"/>
          </a:p>
        </p:txBody>
      </p:sp>
      <p:sp>
        <p:nvSpPr>
          <p:cNvPr id="12" name="Text 9"/>
          <p:cNvSpPr txBox="1"/>
          <p:nvPr/>
        </p:nvSpPr>
        <p:spPr>
          <a:xfrm>
            <a:off x="914400" y="251460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import pandas as pd</a:t>
            </a:r>
            <a:endParaRPr lang="en-US" sz="1300" dirty="0"/>
          </a:p>
        </p:txBody>
      </p:sp>
      <p:sp>
        <p:nvSpPr>
          <p:cNvPr id="13" name="Text 10"/>
          <p:cNvSpPr txBox="1"/>
          <p:nvPr/>
        </p:nvSpPr>
        <p:spPr>
          <a:xfrm>
            <a:off x="914400" y="284378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df = pd.read_csv(</a:t>
            </a:r>
            <a:r>
              <a:rPr lang="en-US" sz="1300" dirty="0">
                <a:solidFill>
                  <a:srgbClr val="ECB748"/>
                </a:solidFill>
                <a:latin typeface="Courier New" pitchFamily="34" charset="0"/>
                <a:ea typeface="Courier New" pitchFamily="34" charset="-122"/>
                <a:cs typeface="Courier New" pitchFamily="34" charset="-120"/>
              </a:rPr>
              <a:t>"penguins.csv"</a:t>
            </a: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4" name="Text 11"/>
          <p:cNvSpPr txBox="1"/>
          <p:nvPr/>
        </p:nvSpPr>
        <p:spPr>
          <a:xfrm>
            <a:off x="914400" y="317296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df.shape        </a:t>
            </a:r>
            <a:r>
              <a:rPr lang="en-US" sz="1300" dirty="0">
                <a:solidFill>
                  <a:srgbClr val="8A8A82"/>
                </a:solidFill>
                <a:latin typeface="Courier New" pitchFamily="34" charset="0"/>
                <a:ea typeface="Courier New" pitchFamily="34" charset="-122"/>
                <a:cs typeface="Courier New" pitchFamily="34" charset="-120"/>
              </a:rPr>
              <a:t># (344, 7)</a:t>
            </a:r>
            <a:endParaRPr lang="en-US" sz="1300" dirty="0"/>
          </a:p>
        </p:txBody>
      </p:sp>
      <p:sp>
        <p:nvSpPr>
          <p:cNvPr id="15" name="Text 12"/>
          <p:cNvSpPr txBox="1"/>
          <p:nvPr/>
        </p:nvSpPr>
        <p:spPr>
          <a:xfrm>
            <a:off x="914400" y="350215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df.dtypes       </a:t>
            </a:r>
            <a:r>
              <a:rPr lang="en-US" sz="1300" dirty="0">
                <a:solidFill>
                  <a:srgbClr val="8A8A82"/>
                </a:solidFill>
                <a:latin typeface="Courier New" pitchFamily="34" charset="0"/>
                <a:ea typeface="Courier New" pitchFamily="34" charset="-122"/>
                <a:cs typeface="Courier New" pitchFamily="34" charset="-120"/>
              </a:rPr>
              <a:t># each column's type</a:t>
            </a:r>
            <a:endParaRPr lang="en-US" sz="1300" dirty="0"/>
          </a:p>
        </p:txBody>
      </p:sp>
      <p:sp>
        <p:nvSpPr>
          <p:cNvPr id="16" name="Text 13"/>
          <p:cNvSpPr txBox="1"/>
          <p:nvPr/>
        </p:nvSpPr>
        <p:spPr>
          <a:xfrm>
            <a:off x="914400" y="3831336"/>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df.head()       </a:t>
            </a:r>
            <a:r>
              <a:rPr lang="en-US" sz="1300" dirty="0">
                <a:solidFill>
                  <a:srgbClr val="8A8A82"/>
                </a:solidFill>
                <a:latin typeface="Courier New" pitchFamily="34" charset="0"/>
                <a:ea typeface="Courier New" pitchFamily="34" charset="-122"/>
                <a:cs typeface="Courier New" pitchFamily="34" charset="-120"/>
              </a:rPr>
              <a:t># first 5 rows</a:t>
            </a:r>
            <a:endParaRPr lang="en-US" sz="1300" dirty="0"/>
          </a:p>
        </p:txBody>
      </p:sp>
      <p:sp>
        <p:nvSpPr>
          <p:cNvPr id="17" name="Text 14"/>
          <p:cNvSpPr txBox="1"/>
          <p:nvPr/>
        </p:nvSpPr>
        <p:spPr>
          <a:xfrm>
            <a:off x="914400" y="416052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df.info()       </a:t>
            </a:r>
            <a:r>
              <a:rPr lang="en-US" sz="1300" dirty="0">
                <a:solidFill>
                  <a:srgbClr val="8A8A82"/>
                </a:solidFill>
                <a:latin typeface="Courier New" pitchFamily="34" charset="0"/>
                <a:ea typeface="Courier New" pitchFamily="34" charset="-122"/>
                <a:cs typeface="Courier New" pitchFamily="34" charset="-120"/>
              </a:rPr>
              <a:t># types + missing, one call</a:t>
            </a:r>
            <a:endParaRPr lang="en-US" sz="1300" dirty="0"/>
          </a:p>
        </p:txBody>
      </p:sp>
      <p:sp>
        <p:nvSpPr>
          <p:cNvPr id="18" name="Shape 15"/>
          <p:cNvSpPr/>
          <p:nvPr/>
        </p:nvSpPr>
        <p:spPr>
          <a:xfrm>
            <a:off x="6263640" y="1874520"/>
            <a:ext cx="5257800" cy="3017520"/>
          </a:xfrm>
          <a:prstGeom prst="roundRect">
            <a:avLst>
              <a:gd name="adj" fmla="val 3030"/>
            </a:avLst>
          </a:prstGeom>
          <a:solidFill>
            <a:srgbClr val="2E2E2E"/>
          </a:solidFill>
          <a:ln w="12700">
            <a:solidFill>
              <a:srgbClr val="444444"/>
            </a:solidFill>
            <a:prstDash val="solid"/>
          </a:ln>
        </p:spPr>
        <p:txBody>
          <a:bodyPr/>
          <a:lstStyle/>
          <a:p>
            <a:endParaRPr lang="en-US"/>
          </a:p>
        </p:txBody>
      </p:sp>
      <p:sp>
        <p:nvSpPr>
          <p:cNvPr id="19" name="Shape 16"/>
          <p:cNvSpPr/>
          <p:nvPr/>
        </p:nvSpPr>
        <p:spPr>
          <a:xfrm>
            <a:off x="6492240" y="2075688"/>
            <a:ext cx="146304" cy="146304"/>
          </a:xfrm>
          <a:prstGeom prst="ellipse">
            <a:avLst/>
          </a:prstGeom>
          <a:solidFill>
            <a:srgbClr val="D64550"/>
          </a:solidFill>
          <a:ln/>
        </p:spPr>
        <p:txBody>
          <a:bodyPr/>
          <a:lstStyle/>
          <a:p>
            <a:endParaRPr lang="en-US"/>
          </a:p>
        </p:txBody>
      </p:sp>
      <p:sp>
        <p:nvSpPr>
          <p:cNvPr id="20" name="Shape 17"/>
          <p:cNvSpPr/>
          <p:nvPr/>
        </p:nvSpPr>
        <p:spPr>
          <a:xfrm>
            <a:off x="6748272" y="2075688"/>
            <a:ext cx="146304" cy="146304"/>
          </a:xfrm>
          <a:prstGeom prst="ellipse">
            <a:avLst/>
          </a:prstGeom>
          <a:solidFill>
            <a:srgbClr val="ECB748"/>
          </a:solidFill>
          <a:ln/>
        </p:spPr>
        <p:txBody>
          <a:bodyPr/>
          <a:lstStyle/>
          <a:p>
            <a:endParaRPr lang="en-US"/>
          </a:p>
        </p:txBody>
      </p:sp>
      <p:sp>
        <p:nvSpPr>
          <p:cNvPr id="21" name="Shape 18"/>
          <p:cNvSpPr/>
          <p:nvPr/>
        </p:nvSpPr>
        <p:spPr>
          <a:xfrm>
            <a:off x="7004304" y="2075688"/>
            <a:ext cx="146304" cy="146304"/>
          </a:xfrm>
          <a:prstGeom prst="ellipse">
            <a:avLst/>
          </a:prstGeom>
          <a:solidFill>
            <a:srgbClr val="6B6B6B"/>
          </a:solidFill>
          <a:ln/>
        </p:spPr>
        <p:txBody>
          <a:bodyPr/>
          <a:lstStyle/>
          <a:p>
            <a:endParaRPr lang="en-US"/>
          </a:p>
        </p:txBody>
      </p:sp>
      <p:sp>
        <p:nvSpPr>
          <p:cNvPr id="22" name="Text 19"/>
          <p:cNvSpPr txBox="1"/>
          <p:nvPr/>
        </p:nvSpPr>
        <p:spPr>
          <a:xfrm>
            <a:off x="7406640" y="202082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peek.R</a:t>
            </a:r>
            <a:endParaRPr lang="en-US" sz="1050" dirty="0"/>
          </a:p>
        </p:txBody>
      </p:sp>
      <p:sp>
        <p:nvSpPr>
          <p:cNvPr id="23" name="Shape 20"/>
          <p:cNvSpPr/>
          <p:nvPr/>
        </p:nvSpPr>
        <p:spPr>
          <a:xfrm>
            <a:off x="6309360" y="2377440"/>
            <a:ext cx="5166360" cy="0"/>
          </a:xfrm>
          <a:prstGeom prst="line">
            <a:avLst/>
          </a:prstGeom>
          <a:noFill/>
          <a:ln w="12700">
            <a:solidFill>
              <a:srgbClr val="444444"/>
            </a:solidFill>
            <a:prstDash val="solid"/>
          </a:ln>
        </p:spPr>
        <p:txBody>
          <a:bodyPr/>
          <a:lstStyle/>
          <a:p>
            <a:endParaRPr lang="en-US"/>
          </a:p>
        </p:txBody>
      </p:sp>
      <p:sp>
        <p:nvSpPr>
          <p:cNvPr id="24" name="Text 21"/>
          <p:cNvSpPr txBox="1"/>
          <p:nvPr/>
        </p:nvSpPr>
        <p:spPr>
          <a:xfrm>
            <a:off x="6537960" y="251460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library(palmerpenguins); library(dplyr)</a:t>
            </a:r>
            <a:endParaRPr lang="en-US" sz="1300" dirty="0"/>
          </a:p>
        </p:txBody>
      </p:sp>
      <p:sp>
        <p:nvSpPr>
          <p:cNvPr id="25" name="Text 22"/>
          <p:cNvSpPr txBox="1"/>
          <p:nvPr/>
        </p:nvSpPr>
        <p:spPr>
          <a:xfrm>
            <a:off x="6537960" y="284378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df &lt;- penguins  </a:t>
            </a:r>
            <a:r>
              <a:rPr lang="en-US" sz="1300" dirty="0">
                <a:solidFill>
                  <a:srgbClr val="8A8A82"/>
                </a:solidFill>
                <a:latin typeface="Courier New" pitchFamily="34" charset="0"/>
                <a:ea typeface="Courier New" pitchFamily="34" charset="-122"/>
                <a:cs typeface="Courier New" pitchFamily="34" charset="-120"/>
              </a:rPr>
              <a:t># one extra column: year</a:t>
            </a:r>
            <a:endParaRPr lang="en-US" sz="1300" dirty="0"/>
          </a:p>
        </p:txBody>
      </p:sp>
      <p:sp>
        <p:nvSpPr>
          <p:cNvPr id="26" name="Text 23"/>
          <p:cNvSpPr txBox="1"/>
          <p:nvPr/>
        </p:nvSpPr>
        <p:spPr>
          <a:xfrm>
            <a:off x="6537960" y="317296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dim(df)         </a:t>
            </a:r>
            <a:r>
              <a:rPr lang="en-US" sz="1300" dirty="0">
                <a:solidFill>
                  <a:srgbClr val="8A8A82"/>
                </a:solidFill>
                <a:latin typeface="Courier New" pitchFamily="34" charset="0"/>
                <a:ea typeface="Courier New" pitchFamily="34" charset="-122"/>
                <a:cs typeface="Courier New" pitchFamily="34" charset="-120"/>
              </a:rPr>
              <a:t># 344  8</a:t>
            </a:r>
            <a:endParaRPr lang="en-US" sz="1300" dirty="0"/>
          </a:p>
        </p:txBody>
      </p:sp>
      <p:sp>
        <p:nvSpPr>
          <p:cNvPr id="27" name="Text 24"/>
          <p:cNvSpPr txBox="1"/>
          <p:nvPr/>
        </p:nvSpPr>
        <p:spPr>
          <a:xfrm>
            <a:off x="6537960" y="350215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glimpse(df)     </a:t>
            </a:r>
            <a:r>
              <a:rPr lang="en-US" sz="1300" dirty="0">
                <a:solidFill>
                  <a:srgbClr val="8A8A82"/>
                </a:solidFill>
                <a:latin typeface="Courier New" pitchFamily="34" charset="0"/>
                <a:ea typeface="Courier New" pitchFamily="34" charset="-122"/>
                <a:cs typeface="Courier New" pitchFamily="34" charset="-120"/>
              </a:rPr>
              <a:t># transposed head, use this</a:t>
            </a:r>
            <a:endParaRPr lang="en-US" sz="1300" dirty="0"/>
          </a:p>
        </p:txBody>
      </p:sp>
      <p:sp>
        <p:nvSpPr>
          <p:cNvPr id="28" name="Text 25"/>
          <p:cNvSpPr txBox="1"/>
          <p:nvPr/>
        </p:nvSpPr>
        <p:spPr>
          <a:xfrm>
            <a:off x="6537960" y="3831336"/>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head(df)        </a:t>
            </a:r>
            <a:r>
              <a:rPr lang="en-US" sz="1300" dirty="0">
                <a:solidFill>
                  <a:srgbClr val="8A8A82"/>
                </a:solidFill>
                <a:latin typeface="Courier New" pitchFamily="34" charset="0"/>
                <a:ea typeface="Courier New" pitchFamily="34" charset="-122"/>
                <a:cs typeface="Courier New" pitchFamily="34" charset="-120"/>
              </a:rPr>
              <a:t># first 6 rows</a:t>
            </a:r>
            <a:endParaRPr lang="en-US" sz="1300" dirty="0"/>
          </a:p>
        </p:txBody>
      </p:sp>
      <p:sp>
        <p:nvSpPr>
          <p:cNvPr id="29" name="Text 26"/>
          <p:cNvSpPr txBox="1"/>
          <p:nvPr/>
        </p:nvSpPr>
        <p:spPr>
          <a:xfrm>
            <a:off x="6537960" y="416052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summary(df)     </a:t>
            </a:r>
            <a:r>
              <a:rPr lang="en-US" sz="1300" dirty="0">
                <a:solidFill>
                  <a:srgbClr val="8A8A82"/>
                </a:solidFill>
                <a:latin typeface="Courier New" pitchFamily="34" charset="0"/>
                <a:ea typeface="Courier New" pitchFamily="34" charset="-122"/>
                <a:cs typeface="Courier New" pitchFamily="34" charset="-120"/>
              </a:rPr>
              <a:t># your first EDA pass</a:t>
            </a:r>
            <a:endParaRPr lang="en-US" sz="1300" dirty="0"/>
          </a:p>
        </p:txBody>
      </p:sp>
      <p:sp>
        <p:nvSpPr>
          <p:cNvPr id="30" name="Shape 27"/>
          <p:cNvSpPr/>
          <p:nvPr/>
        </p:nvSpPr>
        <p:spPr>
          <a:xfrm>
            <a:off x="640080" y="5120640"/>
            <a:ext cx="10881360" cy="1005840"/>
          </a:xfrm>
          <a:prstGeom prst="roundRect">
            <a:avLst>
              <a:gd name="adj" fmla="val 7273"/>
            </a:avLst>
          </a:prstGeom>
          <a:solidFill>
            <a:srgbClr val="1C1C1C"/>
          </a:solidFill>
          <a:ln/>
        </p:spPr>
        <p:txBody>
          <a:bodyPr/>
          <a:lstStyle/>
          <a:p>
            <a:endParaRPr lang="en-US"/>
          </a:p>
        </p:txBody>
      </p:sp>
      <p:sp>
        <p:nvSpPr>
          <p:cNvPr id="31" name="Text 28"/>
          <p:cNvSpPr txBox="1"/>
          <p:nvPr/>
        </p:nvSpPr>
        <p:spPr>
          <a:xfrm>
            <a:off x="914400" y="5120640"/>
            <a:ext cx="10332720" cy="1005840"/>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THE HABIT:  </a:t>
            </a:r>
            <a:r>
              <a:rPr lang="en-US" sz="1300" dirty="0">
                <a:solidFill>
                  <a:srgbClr val="E3E3E3"/>
                </a:solidFill>
                <a:latin typeface="Arial" pitchFamily="34" charset="0"/>
                <a:ea typeface="Arial" pitchFamily="34" charset="-122"/>
                <a:cs typeface="Arial" pitchFamily="34" charset="-120"/>
              </a:rPr>
              <a:t>df.head() / head(df) runs before anything else, every week for the rest of the semester. If a numeric column's summary is nonsense (mean is NaN, min is "unknown"), something loaded wrong. You want to know that now, not after you've run a test on it.</a:t>
            </a:r>
            <a:endParaRPr lang="en-US" sz="1300" dirty="0"/>
          </a:p>
        </p:txBody>
      </p:sp>
      <p:sp>
        <p:nvSpPr>
          <p:cNvPr id="32" name="Text 29"/>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85800"/>
          </a:xfrm>
          <a:prstGeom prst="rect">
            <a:avLst/>
          </a:prstGeom>
          <a:noFill/>
          <a:ln/>
        </p:spPr>
        <p:txBody>
          <a:bodyPr wrap="square" rtlCol="0" anchor="ctr"/>
          <a:lstStyle/>
          <a:p>
            <a:pPr marL="0" indent="0">
              <a:buNone/>
            </a:pPr>
            <a:r>
              <a:rPr lang="en-US" sz="2400" b="1" dirty="0">
                <a:solidFill>
                  <a:srgbClr val="1C1C1C"/>
                </a:solidFill>
                <a:latin typeface="Arial" pitchFamily="34" charset="0"/>
                <a:ea typeface="Arial" pitchFamily="34" charset="-122"/>
                <a:cs typeface="Arial" pitchFamily="34" charset="-120"/>
              </a:rPr>
              <a:t>Column, row, cell: the same three questions, every table</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2267712"/>
        </p:xfrm>
        <a:graphic>
          <a:graphicData uri="http://schemas.openxmlformats.org/drawingml/2006/table">
            <a:tbl>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566928">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Ask for</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pandas</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R / tidyverse</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a column</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df["bill_length_mm"]</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df$bill_length_mm</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rows matching a condition</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df[df.species == "Adelie"]</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filter(species == "Adelie")</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566928">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a cell, by name, not position</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df.loc[0, "bill_length_mm"]</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df[1, "bill_length_mm"]</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640080" y="4251960"/>
            <a:ext cx="10881360" cy="1097280"/>
          </a:xfrm>
          <a:prstGeom prst="roundRect">
            <a:avLst>
              <a:gd name="adj" fmla="val 6667"/>
            </a:avLst>
          </a:prstGeom>
          <a:solidFill>
            <a:srgbClr val="F5F3EF"/>
          </a:solidFill>
          <a:ln w="12700">
            <a:solidFill>
              <a:srgbClr val="E3E3E3"/>
            </a:solidFill>
            <a:prstDash val="solid"/>
          </a:ln>
        </p:spPr>
        <p:txBody>
          <a:bodyPr/>
          <a:lstStyle/>
          <a:p>
            <a:endParaRPr lang="en-US"/>
          </a:p>
        </p:txBody>
      </p:sp>
      <p:sp>
        <p:nvSpPr>
          <p:cNvPr id="8" name="Text 4"/>
          <p:cNvSpPr txBox="1"/>
          <p:nvPr/>
        </p:nvSpPr>
        <p:spPr>
          <a:xfrm>
            <a:off x="914400" y="4251960"/>
            <a:ext cx="10332720" cy="109728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WHAT YOU ALREADY KNOW:  </a:t>
            </a:r>
            <a:r>
              <a:rPr lang="en-US" sz="1300" dirty="0">
                <a:solidFill>
                  <a:srgbClr val="595959"/>
                </a:solidFill>
                <a:latin typeface="Arial" pitchFamily="34" charset="0"/>
                <a:ea typeface="Arial" pitchFamily="34" charset="-122"/>
                <a:cs typeface="Arial" pitchFamily="34" charset="-120"/>
              </a:rPr>
              <a:t>df[df.species == "Adelie"] reads as "give me the rows where species equals Adelie." It is bp[bp &gt; 130] from Session 3 and sum(bp_list &gt;= 140) from Session 4: the same boolean mask, now filtering a whole table instead of one list. The rest of the semester leans on it.</a:t>
            </a:r>
            <a:endParaRPr lang="en-US" sz="1300" dirty="0"/>
          </a:p>
        </p:txBody>
      </p:sp>
      <p:sp>
        <p:nvSpPr>
          <p:cNvPr id="9" name="Text 5"/>
          <p:cNvSpPr txBox="1"/>
          <p:nvPr/>
        </p:nvSpPr>
        <p:spPr>
          <a:xfrm>
            <a:off x="640080" y="5532120"/>
            <a:ext cx="10881360" cy="548640"/>
          </a:xfrm>
          <a:prstGeom prst="rect">
            <a:avLst/>
          </a:prstGeom>
          <a:noFill/>
          <a:ln/>
        </p:spPr>
        <p:txBody>
          <a:bodyPr wrap="square" rtlCol="0" anchor="ctr"/>
          <a:lstStyle/>
          <a:p>
            <a:pPr marL="0" indent="0">
              <a:buNone/>
            </a:pPr>
            <a:r>
              <a:rPr lang="en-US" sz="1300" dirty="0">
                <a:solidFill>
                  <a:srgbClr val="595959"/>
                </a:solidFill>
                <a:latin typeface="Arial" pitchFamily="34" charset="0"/>
                <a:ea typeface="Arial" pitchFamily="34" charset="-122"/>
                <a:cs typeface="Arial" pitchFamily="34" charset="-120"/>
              </a:rPr>
              <a:t>Positional access (</a:t>
            </a:r>
            <a:r>
              <a:rPr lang="en-US" sz="1300" b="1" dirty="0">
                <a:solidFill>
                  <a:srgbClr val="595959"/>
                </a:solidFill>
                <a:latin typeface="Courier New" pitchFamily="34" charset="0"/>
                <a:ea typeface="Courier New" pitchFamily="34" charset="-122"/>
                <a:cs typeface="Courier New" pitchFamily="34" charset="-120"/>
              </a:rPr>
              <a:t>df.iloc[0, 2]</a:t>
            </a:r>
            <a:r>
              <a:rPr lang="en-US" sz="1300" dirty="0">
                <a:solidFill>
                  <a:srgbClr val="595959"/>
                </a:solidFill>
                <a:latin typeface="Arial" pitchFamily="34" charset="0"/>
                <a:ea typeface="Arial" pitchFamily="34" charset="-122"/>
                <a:cs typeface="Arial" pitchFamily="34" charset="-120"/>
              </a:rPr>
              <a:t>) breaks the moment you filter, because the row that used to be #0 might now be #40. Named access (</a:t>
            </a:r>
            <a:r>
              <a:rPr lang="en-US" sz="1300" b="1" dirty="0">
                <a:solidFill>
                  <a:srgbClr val="595959"/>
                </a:solidFill>
                <a:latin typeface="Courier New" pitchFamily="34" charset="0"/>
                <a:ea typeface="Courier New" pitchFamily="34" charset="-122"/>
                <a:cs typeface="Courier New" pitchFamily="34" charset="-120"/>
              </a:rPr>
              <a:t>df.loc[0, "col"]</a:t>
            </a:r>
            <a:r>
              <a:rPr lang="en-US" sz="1300" dirty="0">
                <a:solidFill>
                  <a:srgbClr val="595959"/>
                </a:solidFill>
                <a:latin typeface="Arial" pitchFamily="34" charset="0"/>
                <a:ea typeface="Arial" pitchFamily="34" charset="-122"/>
                <a:cs typeface="Arial" pitchFamily="34" charset="-120"/>
              </a:rPr>
              <a:t>) doesn't care.</a:t>
            </a:r>
            <a:endParaRPr lang="en-US" sz="1300" dirty="0"/>
          </a:p>
        </p:txBody>
      </p:sp>
      <p:sp>
        <p:nvSpPr>
          <p:cNvPr id="10" name="Text 6"/>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60120"/>
            <a:ext cx="10881360" cy="6858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What are the variables in this table?</a:t>
            </a:r>
            <a:endParaRPr lang="en-US" sz="2600" dirty="0"/>
          </a:p>
        </p:txBody>
      </p:sp>
      <p:sp>
        <p:nvSpPr>
          <p:cNvPr id="6" name="Shape 3"/>
          <p:cNvSpPr/>
          <p:nvPr/>
        </p:nvSpPr>
        <p:spPr>
          <a:xfrm>
            <a:off x="640080" y="1828800"/>
            <a:ext cx="5212080" cy="2194560"/>
          </a:xfrm>
          <a:prstGeom prst="roundRect">
            <a:avLst>
              <a:gd name="adj" fmla="val 4167"/>
            </a:avLst>
          </a:prstGeom>
          <a:solidFill>
            <a:srgbClr val="2E2E2E"/>
          </a:solidFill>
          <a:ln w="12700">
            <a:solidFill>
              <a:srgbClr val="444444"/>
            </a:solidFill>
            <a:prstDash val="solid"/>
          </a:ln>
        </p:spPr>
        <p:txBody>
          <a:bodyPr/>
          <a:lstStyle/>
          <a:p>
            <a:endParaRPr lang="en-US"/>
          </a:p>
        </p:txBody>
      </p:sp>
      <p:sp>
        <p:nvSpPr>
          <p:cNvPr id="7" name="Text 4"/>
          <p:cNvSpPr txBox="1"/>
          <p:nvPr/>
        </p:nvSpPr>
        <p:spPr>
          <a:xfrm>
            <a:off x="914400" y="2011680"/>
            <a:ext cx="4663440" cy="274320"/>
          </a:xfrm>
          <a:prstGeom prst="rect">
            <a:avLst/>
          </a:prstGeom>
          <a:noFill/>
          <a:ln/>
        </p:spPr>
        <p:txBody>
          <a:bodyPr wrap="square" rtlCol="0" anchor="ctr"/>
          <a:lstStyle/>
          <a:p>
            <a:pPr marL="0" indent="0">
              <a:buNone/>
            </a:pPr>
            <a:r>
              <a:rPr lang="en-US" sz="1100" b="1" kern="0" spc="100" dirty="0">
                <a:solidFill>
                  <a:srgbClr val="9B9690"/>
                </a:solidFill>
                <a:latin typeface="Arial" pitchFamily="34" charset="0"/>
                <a:ea typeface="Arial" pitchFamily="34" charset="-122"/>
                <a:cs typeface="Arial" pitchFamily="34" charset="-120"/>
              </a:rPr>
              <a:t>THE MESSY VERSION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2331720"/>
          <a:ext cx="4663440" cy="768096"/>
        </p:xfrm>
        <a:graphic>
          <a:graphicData uri="http://schemas.openxmlformats.org/drawingml/2006/table">
            <a:tbl>
              <a:tblPr/>
              <a:tblGrid>
                <a:gridCol w="1165860">
                  <a:extLst>
                    <a:ext uri="{9D8B030D-6E8A-4147-A177-3AD203B41FA5}">
                      <a16:colId xmlns:a16="http://schemas.microsoft.com/office/drawing/2014/main" val="20000"/>
                    </a:ext>
                  </a:extLst>
                </a:gridCol>
                <a:gridCol w="1165860">
                  <a:extLst>
                    <a:ext uri="{9D8B030D-6E8A-4147-A177-3AD203B41FA5}">
                      <a16:colId xmlns:a16="http://schemas.microsoft.com/office/drawing/2014/main" val="20001"/>
                    </a:ext>
                  </a:extLst>
                </a:gridCol>
                <a:gridCol w="1165860">
                  <a:extLst>
                    <a:ext uri="{9D8B030D-6E8A-4147-A177-3AD203B41FA5}">
                      <a16:colId xmlns:a16="http://schemas.microsoft.com/office/drawing/2014/main" val="20002"/>
                    </a:ext>
                  </a:extLst>
                </a:gridCol>
                <a:gridCol w="1165860">
                  <a:extLst>
                    <a:ext uri="{9D8B030D-6E8A-4147-A177-3AD203B41FA5}">
                      <a16:colId xmlns:a16="http://schemas.microsoft.com/office/drawing/2014/main" val="20003"/>
                    </a:ext>
                  </a:extLst>
                </a:gridCol>
              </a:tblGrid>
              <a:tr h="384048">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patient_id</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bp_2020</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bp_2021</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bp_2022</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P001</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130</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128</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125</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9" name="Text 5"/>
          <p:cNvSpPr txBox="1"/>
          <p:nvPr/>
        </p:nvSpPr>
        <p:spPr>
          <a:xfrm>
            <a:off x="914400" y="3520440"/>
            <a:ext cx="4663440" cy="365760"/>
          </a:xfrm>
          <a:prstGeom prst="rect">
            <a:avLst/>
          </a:prstGeom>
          <a:noFill/>
          <a:ln/>
        </p:spPr>
        <p:txBody>
          <a:bodyPr wrap="square" rtlCol="0" anchor="ctr"/>
          <a:lstStyle/>
          <a:p>
            <a:pPr marL="0" indent="0">
              <a:buNone/>
            </a:pPr>
            <a:r>
              <a:rPr lang="en-US" sz="1200" dirty="0">
                <a:solidFill>
                  <a:srgbClr val="9B9690"/>
                </a:solidFill>
                <a:latin typeface="Arial" pitchFamily="34" charset="0"/>
                <a:ea typeface="Arial" pitchFamily="34" charset="-122"/>
                <a:cs typeface="Arial" pitchFamily="34" charset="-120"/>
              </a:rPr>
              <a:t>Most rooms say: bp_2020, bp_2021, bp_2022.</a:t>
            </a:r>
            <a:endParaRPr lang="en-US" sz="1200" dirty="0"/>
          </a:p>
        </p:txBody>
      </p:sp>
      <p:sp>
        <p:nvSpPr>
          <p:cNvPr id="10" name="Shape 6"/>
          <p:cNvSpPr/>
          <p:nvPr/>
        </p:nvSpPr>
        <p:spPr>
          <a:xfrm>
            <a:off x="6263640" y="1828800"/>
            <a:ext cx="5257800" cy="2194560"/>
          </a:xfrm>
          <a:prstGeom prst="roundRect">
            <a:avLst>
              <a:gd name="adj" fmla="val 4167"/>
            </a:avLst>
          </a:prstGeom>
          <a:solidFill>
            <a:srgbClr val="ECB748"/>
          </a:solidFill>
          <a:ln/>
        </p:spPr>
        <p:txBody>
          <a:bodyPr/>
          <a:lstStyle/>
          <a:p>
            <a:endParaRPr lang="en-US"/>
          </a:p>
        </p:txBody>
      </p:sp>
      <p:sp>
        <p:nvSpPr>
          <p:cNvPr id="11" name="Text 7"/>
          <p:cNvSpPr txBox="1"/>
          <p:nvPr/>
        </p:nvSpPr>
        <p:spPr>
          <a:xfrm>
            <a:off x="6537960" y="2011680"/>
            <a:ext cx="4709160" cy="274320"/>
          </a:xfrm>
          <a:prstGeom prst="rect">
            <a:avLst/>
          </a:prstGeom>
          <a:noFill/>
          <a:ln/>
        </p:spPr>
        <p:txBody>
          <a:bodyPr wrap="square" rtlCol="0" anchor="ctr"/>
          <a:lstStyle/>
          <a:p>
            <a:pPr marL="0" indent="0">
              <a:buNone/>
            </a:pPr>
            <a:r>
              <a:rPr lang="en-US" sz="1100" b="1" kern="0" spc="100" dirty="0">
                <a:solidFill>
                  <a:srgbClr val="1C1C1C"/>
                </a:solidFill>
                <a:latin typeface="Arial" pitchFamily="34" charset="0"/>
                <a:ea typeface="Arial" pitchFamily="34" charset="-122"/>
                <a:cs typeface="Arial" pitchFamily="34" charset="-120"/>
              </a:rPr>
              <a:t>THE TIDY VERSION</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537960" y="2331720"/>
          <a:ext cx="4709160" cy="1097280"/>
        </p:xfrm>
        <a:graphic>
          <a:graphicData uri="http://schemas.openxmlformats.org/drawingml/2006/table">
            <a:tbl>
              <a:tblPr/>
              <a:tblGrid>
                <a:gridCol w="1569720">
                  <a:extLst>
                    <a:ext uri="{9D8B030D-6E8A-4147-A177-3AD203B41FA5}">
                      <a16:colId xmlns:a16="http://schemas.microsoft.com/office/drawing/2014/main" val="20000"/>
                    </a:ext>
                  </a:extLst>
                </a:gridCol>
                <a:gridCol w="1569720">
                  <a:extLst>
                    <a:ext uri="{9D8B030D-6E8A-4147-A177-3AD203B41FA5}">
                      <a16:colId xmlns:a16="http://schemas.microsoft.com/office/drawing/2014/main" val="20001"/>
                    </a:ext>
                  </a:extLst>
                </a:gridCol>
                <a:gridCol w="1569720">
                  <a:extLst>
                    <a:ext uri="{9D8B030D-6E8A-4147-A177-3AD203B41FA5}">
                      <a16:colId xmlns:a16="http://schemas.microsoft.com/office/drawing/2014/main" val="20002"/>
                    </a:ext>
                  </a:extLst>
                </a:gridCol>
              </a:tblGrid>
              <a:tr h="365760">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patient_id</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year</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bp</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P001</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2020</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130</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P001</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2021</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128</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bl>
          </a:graphicData>
        </a:graphic>
      </p:graphicFrame>
      <p:sp>
        <p:nvSpPr>
          <p:cNvPr id="12" name="Text 8"/>
          <p:cNvSpPr txBox="1"/>
          <p:nvPr/>
        </p:nvSpPr>
        <p:spPr>
          <a:xfrm>
            <a:off x="6537960" y="3520440"/>
            <a:ext cx="4709160" cy="365760"/>
          </a:xfrm>
          <a:prstGeom prst="rect">
            <a:avLst/>
          </a:prstGeom>
          <a:noFill/>
          <a:ln/>
        </p:spPr>
        <p:txBody>
          <a:bodyPr wrap="square" rtlCol="0" anchor="ctr"/>
          <a:lstStyle/>
          <a:p>
            <a:pPr marL="0" indent="0">
              <a:buNone/>
            </a:pPr>
            <a:r>
              <a:rPr lang="en-US" sz="1200" b="1" dirty="0">
                <a:solidFill>
                  <a:srgbClr val="1C1C1C"/>
                </a:solidFill>
                <a:latin typeface="Arial" pitchFamily="34" charset="0"/>
                <a:ea typeface="Arial" pitchFamily="34" charset="-122"/>
                <a:cs typeface="Arial" pitchFamily="34" charset="-120"/>
              </a:rPr>
              <a:t>The variable was year, hiding in the column names.</a:t>
            </a:r>
            <a:endParaRPr lang="en-US" sz="1200" dirty="0"/>
          </a:p>
        </p:txBody>
      </p:sp>
      <p:sp>
        <p:nvSpPr>
          <p:cNvPr id="14" name="Shape 9"/>
          <p:cNvSpPr/>
          <p:nvPr/>
        </p:nvSpPr>
        <p:spPr>
          <a:xfrm>
            <a:off x="640080" y="4297680"/>
            <a:ext cx="10881360" cy="1645920"/>
          </a:xfrm>
          <a:prstGeom prst="roundRect">
            <a:avLst>
              <a:gd name="adj" fmla="val 4444"/>
            </a:avLst>
          </a:prstGeom>
          <a:solidFill>
            <a:srgbClr val="1C1C1C"/>
          </a:solidFill>
          <a:ln/>
        </p:spPr>
        <p:txBody>
          <a:bodyPr/>
          <a:lstStyle/>
          <a:p>
            <a:endParaRPr lang="en-US"/>
          </a:p>
        </p:txBody>
      </p:sp>
      <p:sp>
        <p:nvSpPr>
          <p:cNvPr id="15" name="Text 10"/>
          <p:cNvSpPr txBox="1"/>
          <p:nvPr/>
        </p:nvSpPr>
        <p:spPr>
          <a:xfrm>
            <a:off x="914400" y="4572000"/>
            <a:ext cx="10332720" cy="1645920"/>
          </a:xfrm>
          <a:prstGeom prst="rect">
            <a:avLst/>
          </a:prstGeom>
          <a:noFill/>
          <a:ln/>
        </p:spPr>
        <p:txBody>
          <a:bodyPr wrap="square" rtlCol="0" anchor="ctr"/>
          <a:lstStyle/>
          <a:p>
            <a:pPr marL="0" indent="0">
              <a:buNone/>
            </a:pPr>
            <a:r>
              <a:rPr lang="en-US" sz="1600" b="1" dirty="0">
                <a:solidFill>
                  <a:srgbClr val="ECB748"/>
                </a:solidFill>
                <a:latin typeface="Arial" pitchFamily="34" charset="0"/>
                <a:ea typeface="Arial" pitchFamily="34" charset="-122"/>
                <a:cs typeface="Arial" pitchFamily="34" charset="-120"/>
              </a:rPr>
              <a:t>THE THREE RULES:  </a:t>
            </a:r>
          </a:p>
          <a:p>
            <a:pPr marL="342900" indent="-342900">
              <a:buFont typeface="+mj-lt"/>
              <a:buAutoNum type="arabicPeriod"/>
            </a:pPr>
            <a:r>
              <a:rPr lang="en-US" sz="1600" dirty="0">
                <a:solidFill>
                  <a:srgbClr val="E3E3E3"/>
                </a:solidFill>
                <a:latin typeface="Arial" pitchFamily="34" charset="0"/>
                <a:ea typeface="Arial" pitchFamily="34" charset="-122"/>
                <a:cs typeface="Arial" pitchFamily="34" charset="-120"/>
              </a:rPr>
              <a:t>each variable is a column </a:t>
            </a:r>
          </a:p>
          <a:p>
            <a:pPr marL="342900" indent="-342900">
              <a:buFont typeface="+mj-lt"/>
              <a:buAutoNum type="arabicPeriod"/>
            </a:pPr>
            <a:r>
              <a:rPr lang="en-US" sz="1600" dirty="0">
                <a:solidFill>
                  <a:srgbClr val="E3E3E3"/>
                </a:solidFill>
                <a:latin typeface="Arial" pitchFamily="34" charset="0"/>
                <a:ea typeface="Arial" pitchFamily="34" charset="-122"/>
                <a:cs typeface="Arial" pitchFamily="34" charset="-120"/>
              </a:rPr>
              <a:t>each observation is a row </a:t>
            </a:r>
          </a:p>
          <a:p>
            <a:pPr marL="342900" indent="-342900">
              <a:buFont typeface="+mj-lt"/>
              <a:buAutoNum type="arabicPeriod"/>
            </a:pPr>
            <a:r>
              <a:rPr lang="en-US" sz="1600" dirty="0">
                <a:solidFill>
                  <a:srgbClr val="E3E3E3"/>
                </a:solidFill>
                <a:latin typeface="Arial" pitchFamily="34" charset="0"/>
                <a:ea typeface="Arial" pitchFamily="34" charset="-122"/>
                <a:cs typeface="Arial" pitchFamily="34" charset="-120"/>
              </a:rPr>
              <a:t>each cell holds one value. </a:t>
            </a:r>
          </a:p>
          <a:p>
            <a:endParaRPr lang="en-US" sz="1600" dirty="0">
              <a:solidFill>
                <a:srgbClr val="E3E3E3"/>
              </a:solidFill>
              <a:latin typeface="Arial" pitchFamily="34" charset="0"/>
              <a:ea typeface="Arial" pitchFamily="34" charset="-122"/>
              <a:cs typeface="Arial" pitchFamily="34" charset="-120"/>
            </a:endParaRPr>
          </a:p>
          <a:p>
            <a:r>
              <a:rPr lang="en-US" sz="1600" dirty="0">
                <a:solidFill>
                  <a:srgbClr val="E3E3E3"/>
                </a:solidFill>
                <a:latin typeface="Arial" pitchFamily="34" charset="0"/>
                <a:ea typeface="Arial" pitchFamily="34" charset="-122"/>
                <a:cs typeface="Arial" pitchFamily="34" charset="-120"/>
              </a:rPr>
              <a:t>Tidy data lets the same tools work on any dataset, so every dplyr and pandas verb and every ggplot aesthetic assumes this shape. If a ChatGPT-produced plot isn't working, check whether your data is tidy first. That will often fix it.</a:t>
            </a:r>
            <a:endParaRPr lang="en-US" sz="1600" dirty="0"/>
          </a:p>
        </p:txBody>
      </p:sp>
      <p:sp>
        <p:nvSpPr>
          <p:cNvPr id="16" name="Text 11"/>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5890B0F3-BF2D-F349-8057-7183113A5567}"/>
              </a:ext>
            </a:extLst>
          </p:cNvPr>
          <p:cNvSpPr>
            <a:spLocks noGrp="1"/>
          </p:cNvSpPr>
          <p:nvPr>
            <p:ph type="title" idx="4294967295"/>
          </p:nvPr>
        </p:nvSpPr>
        <p:spPr>
          <a:xfrm>
            <a:off x="455092" y="26597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baseline="0">
                <a:solidFill>
                  <a:schemeClr val="tx1"/>
                </a:solidFill>
                <a:latin typeface="Arial" panose="020B0604020202020204" pitchFamily="34" charset="0"/>
                <a:ea typeface="+mj-ea"/>
                <a:cs typeface="Arial" panose="020B0604020202020204" pitchFamily="34" charset="0"/>
              </a:defRPr>
            </a:lvl1pPr>
          </a:lstStyle>
          <a:p>
            <a:r>
              <a:rPr lang="en-US" sz="4400" b="1" dirty="0"/>
              <a:t>Tidy data</a:t>
            </a:r>
          </a:p>
        </p:txBody>
      </p:sp>
      <p:pic>
        <p:nvPicPr>
          <p:cNvPr id="6" name="Picture 2" descr="See the source image">
            <a:extLst>
              <a:ext uri="{FF2B5EF4-FFF2-40B4-BE49-F238E27FC236}">
                <a16:creationId xmlns:a16="http://schemas.microsoft.com/office/drawing/2014/main" id="{563DEB7C-7465-FD75-6D04-74B5DB57E8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73780"/>
            <a:ext cx="12192000" cy="347472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84C35E2-7F92-2A0E-3B81-2FF4D597A8D3}"/>
              </a:ext>
            </a:extLst>
          </p:cNvPr>
          <p:cNvSpPr txBox="1"/>
          <p:nvPr/>
        </p:nvSpPr>
        <p:spPr>
          <a:xfrm>
            <a:off x="349289" y="1438712"/>
            <a:ext cx="10727206" cy="1990288"/>
          </a:xfrm>
          <a:prstGeom prst="rect">
            <a:avLst/>
          </a:prstGeom>
          <a:noFill/>
        </p:spPr>
        <p:txBody>
          <a:bodyPr wrap="square" lIns="91440" tIns="45720" rIns="91440" bIns="45720" rtlCol="0" anchor="ctr">
            <a:spAutoFit/>
          </a:bodyPr>
          <a:lstStyle/>
          <a:p>
            <a:pPr>
              <a:lnSpc>
                <a:spcPts val="3700"/>
              </a:lnSpc>
            </a:pPr>
            <a:r>
              <a:rPr lang="en-US" sz="3200" dirty="0">
                <a:latin typeface="Arial" panose="020B0604020202020204" pitchFamily="34" charset="0"/>
                <a:ea typeface="Tahoma" panose="020B0604030504040204" pitchFamily="34" charset="0"/>
                <a:cs typeface="Arial" panose="020B0604020202020204" pitchFamily="34" charset="0"/>
              </a:rPr>
              <a:t>There are three fundamental principles of tidy data:</a:t>
            </a:r>
          </a:p>
          <a:p>
            <a:pPr marL="514350" indent="-514350">
              <a:lnSpc>
                <a:spcPts val="3700"/>
              </a:lnSpc>
              <a:buFont typeface="+mj-lt"/>
              <a:buAutoNum type="arabicPeriod"/>
            </a:pPr>
            <a:r>
              <a:rPr lang="en-US" sz="3200" dirty="0">
                <a:latin typeface="Arial" panose="020B0604020202020204" pitchFamily="34" charset="0"/>
                <a:ea typeface="Tahoma" panose="020B0604030504040204" pitchFamily="34" charset="0"/>
                <a:cs typeface="Arial" panose="020B0604020202020204" pitchFamily="34" charset="0"/>
              </a:rPr>
              <a:t>Each </a:t>
            </a:r>
            <a:r>
              <a:rPr lang="en-US" sz="3200" b="1" dirty="0">
                <a:latin typeface="Arial" panose="020B0604020202020204" pitchFamily="34" charset="0"/>
                <a:ea typeface="Tahoma" panose="020B0604030504040204" pitchFamily="34" charset="0"/>
                <a:cs typeface="Arial" panose="020B0604020202020204" pitchFamily="34" charset="0"/>
              </a:rPr>
              <a:t>variable</a:t>
            </a:r>
            <a:r>
              <a:rPr lang="en-US" sz="3200" dirty="0">
                <a:latin typeface="Arial" panose="020B0604020202020204" pitchFamily="34" charset="0"/>
                <a:ea typeface="Tahoma" panose="020B0604030504040204" pitchFamily="34" charset="0"/>
                <a:cs typeface="Arial" panose="020B0604020202020204" pitchFamily="34" charset="0"/>
              </a:rPr>
              <a:t> forms a </a:t>
            </a:r>
            <a:r>
              <a:rPr lang="en-US" sz="3200" b="1" dirty="0">
                <a:latin typeface="Arial" panose="020B0604020202020204" pitchFamily="34" charset="0"/>
                <a:ea typeface="Tahoma" panose="020B0604030504040204" pitchFamily="34" charset="0"/>
                <a:cs typeface="Arial" panose="020B0604020202020204" pitchFamily="34" charset="0"/>
              </a:rPr>
              <a:t>column</a:t>
            </a:r>
          </a:p>
          <a:p>
            <a:pPr marL="514350" indent="-514350">
              <a:lnSpc>
                <a:spcPts val="3700"/>
              </a:lnSpc>
              <a:buFont typeface="+mj-lt"/>
              <a:buAutoNum type="arabicPeriod"/>
            </a:pPr>
            <a:r>
              <a:rPr lang="en-US" sz="3200" dirty="0">
                <a:latin typeface="Arial" panose="020B0604020202020204" pitchFamily="34" charset="0"/>
                <a:ea typeface="Tahoma" panose="020B0604030504040204" pitchFamily="34" charset="0"/>
                <a:cs typeface="Arial" panose="020B0604020202020204" pitchFamily="34" charset="0"/>
              </a:rPr>
              <a:t>Each </a:t>
            </a:r>
            <a:r>
              <a:rPr lang="en-US" sz="3200" b="1" dirty="0">
                <a:latin typeface="Arial" panose="020B0604020202020204" pitchFamily="34" charset="0"/>
                <a:ea typeface="Tahoma" panose="020B0604030504040204" pitchFamily="34" charset="0"/>
                <a:cs typeface="Arial" panose="020B0604020202020204" pitchFamily="34" charset="0"/>
              </a:rPr>
              <a:t>observation</a:t>
            </a:r>
            <a:r>
              <a:rPr lang="en-US" sz="3200" dirty="0">
                <a:latin typeface="Arial" panose="020B0604020202020204" pitchFamily="34" charset="0"/>
                <a:ea typeface="Tahoma" panose="020B0604030504040204" pitchFamily="34" charset="0"/>
                <a:cs typeface="Arial" panose="020B0604020202020204" pitchFamily="34" charset="0"/>
              </a:rPr>
              <a:t> forms a </a:t>
            </a:r>
            <a:r>
              <a:rPr lang="en-US" sz="3200" b="1" dirty="0">
                <a:latin typeface="Arial" panose="020B0604020202020204" pitchFamily="34" charset="0"/>
                <a:ea typeface="Tahoma" panose="020B0604030504040204" pitchFamily="34" charset="0"/>
                <a:cs typeface="Arial" panose="020B0604020202020204" pitchFamily="34" charset="0"/>
              </a:rPr>
              <a:t>row</a:t>
            </a:r>
          </a:p>
          <a:p>
            <a:pPr marL="514350" indent="-514350">
              <a:lnSpc>
                <a:spcPts val="3700"/>
              </a:lnSpc>
              <a:buFont typeface="+mj-lt"/>
              <a:buAutoNum type="arabicPeriod"/>
            </a:pPr>
            <a:r>
              <a:rPr lang="en-US" sz="3200" dirty="0">
                <a:latin typeface="Arial" panose="020B0604020202020204" pitchFamily="34" charset="0"/>
                <a:ea typeface="Tahoma" panose="020B0604030504040204" pitchFamily="34" charset="0"/>
                <a:cs typeface="Arial" panose="020B0604020202020204" pitchFamily="34" charset="0"/>
              </a:rPr>
              <a:t>Each </a:t>
            </a:r>
            <a:r>
              <a:rPr lang="en-US" sz="3200" b="1" dirty="0">
                <a:latin typeface="Arial" panose="020B0604020202020204" pitchFamily="34" charset="0"/>
                <a:ea typeface="Tahoma" panose="020B0604030504040204" pitchFamily="34" charset="0"/>
                <a:cs typeface="Arial" panose="020B0604020202020204" pitchFamily="34" charset="0"/>
              </a:rPr>
              <a:t>cell</a:t>
            </a:r>
            <a:r>
              <a:rPr lang="en-US" sz="3200" dirty="0">
                <a:latin typeface="Arial" panose="020B0604020202020204" pitchFamily="34" charset="0"/>
                <a:ea typeface="Tahoma" panose="020B0604030504040204" pitchFamily="34" charset="0"/>
                <a:cs typeface="Arial" panose="020B0604020202020204" pitchFamily="34" charset="0"/>
              </a:rPr>
              <a:t> is a </a:t>
            </a:r>
            <a:r>
              <a:rPr lang="en-US" sz="3200" b="1" dirty="0">
                <a:latin typeface="Arial" panose="020B0604020202020204" pitchFamily="34" charset="0"/>
                <a:ea typeface="Tahoma" panose="020B0604030504040204" pitchFamily="34" charset="0"/>
                <a:cs typeface="Arial" panose="020B0604020202020204" pitchFamily="34" charset="0"/>
              </a:rPr>
              <a:t>single measurement or value</a:t>
            </a:r>
          </a:p>
        </p:txBody>
      </p:sp>
      <p:sp>
        <p:nvSpPr>
          <p:cNvPr id="2" name="Rectangle 1">
            <a:extLst>
              <a:ext uri="{FF2B5EF4-FFF2-40B4-BE49-F238E27FC236}">
                <a16:creationId xmlns:a16="http://schemas.microsoft.com/office/drawing/2014/main" id="{363181FA-9891-7DB9-574B-A66EBC666406}"/>
              </a:ext>
            </a:extLst>
          </p:cNvPr>
          <p:cNvSpPr/>
          <p:nvPr/>
        </p:nvSpPr>
        <p:spPr>
          <a:xfrm>
            <a:off x="169682" y="3908794"/>
            <a:ext cx="3883844" cy="2859651"/>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E5EE973-3981-8600-E0A2-3B473A95E463}"/>
              </a:ext>
            </a:extLst>
          </p:cNvPr>
          <p:cNvSpPr/>
          <p:nvPr/>
        </p:nvSpPr>
        <p:spPr>
          <a:xfrm>
            <a:off x="4205926" y="3933538"/>
            <a:ext cx="3883844" cy="2859651"/>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BD882C3-552A-69EE-3CD3-66F8A967F62D}"/>
              </a:ext>
            </a:extLst>
          </p:cNvPr>
          <p:cNvSpPr/>
          <p:nvPr/>
        </p:nvSpPr>
        <p:spPr>
          <a:xfrm>
            <a:off x="8138474" y="3933538"/>
            <a:ext cx="3883844" cy="2859651"/>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11"/>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7</a:t>
            </a:r>
            <a:endParaRPr lang="en-US" sz="900" dirty="0"/>
          </a:p>
        </p:txBody>
      </p:sp>
    </p:spTree>
    <p:extLst>
      <p:ext uri="{BB962C8B-B14F-4D97-AF65-F5344CB8AC3E}">
        <p14:creationId xmlns:p14="http://schemas.microsoft.com/office/powerpoint/2010/main" val="217390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40080"/>
          </a:xfrm>
          <a:prstGeom prst="rect">
            <a:avLst/>
          </a:prstGeom>
          <a:noFill/>
          <a:ln/>
        </p:spPr>
        <p:txBody>
          <a:bodyPr wrap="square" rtlCol="0" anchor="ctr"/>
          <a:lstStyle/>
          <a:p>
            <a:pPr marL="0" indent="0">
              <a:buNone/>
            </a:pPr>
            <a:r>
              <a:rPr lang="en-US" sz="2600" b="1" dirty="0">
                <a:solidFill>
                  <a:srgbClr val="1C1C1C"/>
                </a:solidFill>
                <a:latin typeface="Arial" pitchFamily="34" charset="0"/>
                <a:ea typeface="Arial" pitchFamily="34" charset="-122"/>
                <a:cs typeface="Arial" pitchFamily="34" charset="-120"/>
              </a:rPr>
              <a:t>Three ways real tables break the rules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1828800"/>
        </p:xfrm>
        <a:graphic>
          <a:graphicData uri="http://schemas.openxmlformats.org/drawingml/2006/table">
            <a:tbl>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3291840">
                  <a:extLst>
                    <a:ext uri="{9D8B030D-6E8A-4147-A177-3AD203B41FA5}">
                      <a16:colId xmlns:a16="http://schemas.microsoft.com/office/drawing/2014/main" val="20005"/>
                    </a:ext>
                  </a:extLst>
                </a:gridCol>
              </a:tblGrid>
              <a:tr h="365760">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school_name</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grade_9</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grade_10</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grade_11</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grade_12</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mapped_location</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Antioch High School</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474</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476</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544</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462</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(36.04667464, -86.59941833)</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Cane Ridge High School</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395</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480</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439</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422</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(36.03028843, -86.62123021)</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Glencliff High School</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295</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287</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315</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275</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(36.10140068, -86.72746929)</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Hillsboro High</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312</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304</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294</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294</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(36.10706561, -86.81222916)</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640080" y="3520440"/>
            <a:ext cx="10881360" cy="274320"/>
          </a:xfrm>
          <a:prstGeom prst="rect">
            <a:avLst/>
          </a:prstGeom>
          <a:noFill/>
          <a:ln/>
        </p:spPr>
        <p:txBody>
          <a:bodyPr wrap="square" rtlCol="0" anchor="ctr"/>
          <a:lstStyle/>
          <a:p>
            <a:pPr marL="0" indent="0">
              <a:buNone/>
            </a:pPr>
            <a:r>
              <a:rPr lang="en-US" sz="1100" dirty="0">
                <a:solidFill>
                  <a:srgbClr val="595959"/>
                </a:solidFill>
                <a:latin typeface="Arial" pitchFamily="34" charset="0"/>
                <a:ea typeface="Arial" pitchFamily="34" charset="-122"/>
                <a:cs typeface="Arial" pitchFamily="34" charset="-120"/>
              </a:rPr>
              <a:t>schools_tibble.csv: 169 Nashville schools, 2018-19, 35 columns. Four rows and six columns shown.</a:t>
            </a:r>
            <a:endParaRPr lang="en-US" sz="1100" dirty="0"/>
          </a:p>
        </p:txBody>
      </p:sp>
      <p:sp>
        <p:nvSpPr>
          <p:cNvPr id="6" name="Shape 4"/>
          <p:cNvSpPr/>
          <p:nvPr/>
        </p:nvSpPr>
        <p:spPr>
          <a:xfrm>
            <a:off x="640080" y="3931920"/>
            <a:ext cx="3504895" cy="1463040"/>
          </a:xfrm>
          <a:prstGeom prst="roundRect">
            <a:avLst>
              <a:gd name="adj" fmla="val 6250"/>
            </a:avLst>
          </a:prstGeom>
          <a:solidFill>
            <a:srgbClr val="FFFFFF"/>
          </a:solidFill>
          <a:ln w="12700">
            <a:solidFill>
              <a:srgbClr val="E3E3E3"/>
            </a:solidFill>
            <a:prstDash val="solid"/>
          </a:ln>
        </p:spPr>
        <p:txBody>
          <a:bodyPr/>
          <a:lstStyle/>
          <a:p>
            <a:endParaRPr lang="en-US"/>
          </a:p>
        </p:txBody>
      </p:sp>
      <p:sp>
        <p:nvSpPr>
          <p:cNvPr id="9" name="Shape 5"/>
          <p:cNvSpPr/>
          <p:nvPr/>
        </p:nvSpPr>
        <p:spPr>
          <a:xfrm>
            <a:off x="822960" y="4096512"/>
            <a:ext cx="457200" cy="73152"/>
          </a:xfrm>
          <a:prstGeom prst="roundRect">
            <a:avLst/>
          </a:prstGeom>
          <a:solidFill>
            <a:srgbClr val="ECB748"/>
          </a:solidFill>
          <a:ln/>
        </p:spPr>
        <p:txBody>
          <a:bodyPr/>
          <a:lstStyle/>
          <a:p>
            <a:endParaRPr lang="en-US"/>
          </a:p>
        </p:txBody>
      </p:sp>
      <p:sp>
        <p:nvSpPr>
          <p:cNvPr id="10" name="Text 6"/>
          <p:cNvSpPr txBox="1"/>
          <p:nvPr/>
        </p:nvSpPr>
        <p:spPr>
          <a:xfrm>
            <a:off x="822960" y="4187952"/>
            <a:ext cx="3139135" cy="32004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Headers that are values</a:t>
            </a:r>
            <a:endParaRPr lang="en-US" sz="1400" dirty="0"/>
          </a:p>
        </p:txBody>
      </p:sp>
      <p:sp>
        <p:nvSpPr>
          <p:cNvPr id="11" name="Text 7"/>
          <p:cNvSpPr txBox="1"/>
          <p:nvPr/>
        </p:nvSpPr>
        <p:spPr>
          <a:xfrm>
            <a:off x="822960" y="4526280"/>
            <a:ext cx="3139135" cy="822960"/>
          </a:xfrm>
          <a:prstGeom prst="rect">
            <a:avLst/>
          </a:prstGeom>
          <a:noFill/>
          <a:ln/>
        </p:spPr>
        <p:txBody>
          <a:bodyPr wrap="square" rtlCol="0" anchor="t"/>
          <a:lstStyle/>
          <a:p>
            <a:pPr marL="0" indent="0">
              <a:buNone/>
            </a:pPr>
            <a:r>
              <a:rPr lang="en-US" sz="1150" dirty="0">
                <a:solidFill>
                  <a:srgbClr val="595959"/>
                </a:solidFill>
                <a:latin typeface="Arial" pitchFamily="34" charset="0"/>
                <a:ea typeface="Arial" pitchFamily="34" charset="-122"/>
                <a:cs typeface="Arial" pitchFamily="34" charset="-120"/>
              </a:rPr>
              <a:t>grade_9 to grade_12 are values of one variable, grade. All 15 grade columns made long give 868 rows.</a:t>
            </a:r>
            <a:endParaRPr lang="en-US" sz="1150" dirty="0"/>
          </a:p>
        </p:txBody>
      </p:sp>
      <p:sp>
        <p:nvSpPr>
          <p:cNvPr id="12" name="Shape 8"/>
          <p:cNvSpPr/>
          <p:nvPr/>
        </p:nvSpPr>
        <p:spPr>
          <a:xfrm>
            <a:off x="4327855" y="3931920"/>
            <a:ext cx="3504895" cy="1463040"/>
          </a:xfrm>
          <a:prstGeom prst="roundRect">
            <a:avLst>
              <a:gd name="adj" fmla="val 6250"/>
            </a:avLst>
          </a:prstGeom>
          <a:solidFill>
            <a:srgbClr val="FFFFFF"/>
          </a:solidFill>
          <a:ln w="12700">
            <a:solidFill>
              <a:srgbClr val="E3E3E3"/>
            </a:solidFill>
            <a:prstDash val="solid"/>
          </a:ln>
        </p:spPr>
        <p:txBody>
          <a:bodyPr/>
          <a:lstStyle/>
          <a:p>
            <a:endParaRPr lang="en-US"/>
          </a:p>
        </p:txBody>
      </p:sp>
      <p:sp>
        <p:nvSpPr>
          <p:cNvPr id="13" name="Shape 9"/>
          <p:cNvSpPr/>
          <p:nvPr/>
        </p:nvSpPr>
        <p:spPr>
          <a:xfrm>
            <a:off x="4510735" y="4096512"/>
            <a:ext cx="457200" cy="73152"/>
          </a:xfrm>
          <a:prstGeom prst="roundRect">
            <a:avLst/>
          </a:prstGeom>
          <a:solidFill>
            <a:srgbClr val="B3C9CD"/>
          </a:solidFill>
          <a:ln/>
        </p:spPr>
        <p:txBody>
          <a:bodyPr/>
          <a:lstStyle/>
          <a:p>
            <a:endParaRPr lang="en-US"/>
          </a:p>
        </p:txBody>
      </p:sp>
      <p:sp>
        <p:nvSpPr>
          <p:cNvPr id="14" name="Text 10"/>
          <p:cNvSpPr txBox="1"/>
          <p:nvPr/>
        </p:nvSpPr>
        <p:spPr>
          <a:xfrm>
            <a:off x="4510735" y="4187952"/>
            <a:ext cx="3139135" cy="32004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Two values in one cell</a:t>
            </a:r>
            <a:endParaRPr lang="en-US" sz="1400" dirty="0"/>
          </a:p>
        </p:txBody>
      </p:sp>
      <p:sp>
        <p:nvSpPr>
          <p:cNvPr id="15" name="Text 11"/>
          <p:cNvSpPr txBox="1"/>
          <p:nvPr/>
        </p:nvSpPr>
        <p:spPr>
          <a:xfrm>
            <a:off x="4510735" y="4526280"/>
            <a:ext cx="3139135" cy="822960"/>
          </a:xfrm>
          <a:prstGeom prst="rect">
            <a:avLst/>
          </a:prstGeom>
          <a:noFill/>
          <a:ln/>
        </p:spPr>
        <p:txBody>
          <a:bodyPr wrap="square" rtlCol="0" anchor="t"/>
          <a:lstStyle/>
          <a:p>
            <a:pPr marL="0" indent="0">
              <a:buNone/>
            </a:pPr>
            <a:r>
              <a:rPr lang="en-US" sz="1150" dirty="0">
                <a:solidFill>
                  <a:srgbClr val="595959"/>
                </a:solidFill>
                <a:latin typeface="Arial" pitchFamily="34" charset="0"/>
                <a:ea typeface="Arial" pitchFamily="34" charset="-122"/>
                <a:cs typeface="Arial" pitchFamily="34" charset="-120"/>
              </a:rPr>
              <a:t>mapped_location holds latitude and longitude in one string, and both already have their own columns. You can't average a string.</a:t>
            </a:r>
            <a:endParaRPr lang="en-US" sz="1150" dirty="0"/>
          </a:p>
        </p:txBody>
      </p:sp>
      <p:sp>
        <p:nvSpPr>
          <p:cNvPr id="16" name="Shape 12"/>
          <p:cNvSpPr/>
          <p:nvPr/>
        </p:nvSpPr>
        <p:spPr>
          <a:xfrm>
            <a:off x="8015630" y="3931920"/>
            <a:ext cx="3504895" cy="1463040"/>
          </a:xfrm>
          <a:prstGeom prst="roundRect">
            <a:avLst>
              <a:gd name="adj" fmla="val 6250"/>
            </a:avLst>
          </a:prstGeom>
          <a:solidFill>
            <a:srgbClr val="FFFFFF"/>
          </a:solidFill>
          <a:ln w="12700">
            <a:solidFill>
              <a:srgbClr val="E3E3E3"/>
            </a:solidFill>
            <a:prstDash val="solid"/>
          </a:ln>
        </p:spPr>
        <p:txBody>
          <a:bodyPr/>
          <a:lstStyle/>
          <a:p>
            <a:endParaRPr lang="en-US"/>
          </a:p>
        </p:txBody>
      </p:sp>
      <p:sp>
        <p:nvSpPr>
          <p:cNvPr id="17" name="Shape 13"/>
          <p:cNvSpPr/>
          <p:nvPr/>
        </p:nvSpPr>
        <p:spPr>
          <a:xfrm>
            <a:off x="8198510" y="4096512"/>
            <a:ext cx="457200" cy="73152"/>
          </a:xfrm>
          <a:prstGeom prst="roundRect">
            <a:avLst/>
          </a:prstGeom>
          <a:solidFill>
            <a:srgbClr val="ECB748"/>
          </a:solidFill>
          <a:ln/>
        </p:spPr>
        <p:txBody>
          <a:bodyPr/>
          <a:lstStyle/>
          <a:p>
            <a:endParaRPr lang="en-US"/>
          </a:p>
        </p:txBody>
      </p:sp>
      <p:sp>
        <p:nvSpPr>
          <p:cNvPr id="18" name="Text 14"/>
          <p:cNvSpPr txBox="1"/>
          <p:nvPr/>
        </p:nvSpPr>
        <p:spPr>
          <a:xfrm>
            <a:off x="8198510" y="4187952"/>
            <a:ext cx="3139135" cy="32004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NA that means "not offered"</a:t>
            </a:r>
            <a:endParaRPr lang="en-US" sz="1400" dirty="0"/>
          </a:p>
        </p:txBody>
      </p:sp>
      <p:sp>
        <p:nvSpPr>
          <p:cNvPr id="19" name="Text 15"/>
          <p:cNvSpPr txBox="1"/>
          <p:nvPr/>
        </p:nvSpPr>
        <p:spPr>
          <a:xfrm>
            <a:off x="8198510" y="4526280"/>
            <a:ext cx="3139135" cy="822960"/>
          </a:xfrm>
          <a:prstGeom prst="rect">
            <a:avLst/>
          </a:prstGeom>
          <a:noFill/>
          <a:ln/>
        </p:spPr>
        <p:txBody>
          <a:bodyPr wrap="square" rtlCol="0" anchor="t"/>
          <a:lstStyle/>
          <a:p>
            <a:pPr marL="0" indent="0">
              <a:buNone/>
            </a:pPr>
            <a:r>
              <a:rPr lang="en-US" sz="1150" dirty="0">
                <a:solidFill>
                  <a:srgbClr val="595959"/>
                </a:solidFill>
                <a:latin typeface="Arial" pitchFamily="34" charset="0"/>
                <a:ea typeface="Arial" pitchFamily="34" charset="-122"/>
                <a:cs typeface="Arial" pitchFamily="34" charset="-120"/>
              </a:rPr>
              <a:t>130 of 169 schools have NA for grade_pre_k_3yrs, and a middle school has no grade 9. Decide what each NA means before you drop or fill it.</a:t>
            </a:r>
            <a:endParaRPr lang="en-US" sz="1150" dirty="0"/>
          </a:p>
        </p:txBody>
      </p:sp>
      <p:sp>
        <p:nvSpPr>
          <p:cNvPr id="20" name="Shape 16"/>
          <p:cNvSpPr/>
          <p:nvPr/>
        </p:nvSpPr>
        <p:spPr>
          <a:xfrm>
            <a:off x="640080" y="5532120"/>
            <a:ext cx="10881360" cy="777240"/>
          </a:xfrm>
          <a:prstGeom prst="roundRect">
            <a:avLst>
              <a:gd name="adj" fmla="val 9412"/>
            </a:avLst>
          </a:prstGeom>
          <a:solidFill>
            <a:srgbClr val="F5F3EF"/>
          </a:solidFill>
          <a:ln w="12700">
            <a:solidFill>
              <a:srgbClr val="E3E3E3"/>
            </a:solidFill>
            <a:prstDash val="solid"/>
          </a:ln>
        </p:spPr>
        <p:txBody>
          <a:bodyPr/>
          <a:lstStyle/>
          <a:p>
            <a:endParaRPr lang="en-US"/>
          </a:p>
        </p:txBody>
      </p:sp>
      <p:sp>
        <p:nvSpPr>
          <p:cNvPr id="21" name="Text 17"/>
          <p:cNvSpPr txBox="1"/>
          <p:nvPr/>
        </p:nvSpPr>
        <p:spPr>
          <a:xfrm>
            <a:off x="914400" y="5532120"/>
            <a:ext cx="10332720" cy="7772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THE RULE FOR EVERY FIX:  </a:t>
            </a:r>
            <a:r>
              <a:rPr lang="en-US" sz="1300" dirty="0">
                <a:solidFill>
                  <a:srgbClr val="595959"/>
                </a:solidFill>
                <a:latin typeface="Arial" pitchFamily="34" charset="0"/>
                <a:ea typeface="Arial" pitchFamily="34" charset="-122"/>
                <a:cs typeface="Arial" pitchFamily="34" charset="-120"/>
              </a:rPr>
              <a:t>keep the original file as downloaded, write cleaned output to a separate file, and save the script that connects them. Session 8 shows the pivot that fixes the first one.</a:t>
            </a:r>
            <a:endParaRPr lang="en-US" sz="1300" dirty="0"/>
          </a:p>
        </p:txBody>
      </p:sp>
      <p:sp>
        <p:nvSpPr>
          <p:cNvPr id="22" name="Text 18"/>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85800"/>
          </a:xfrm>
          <a:prstGeom prst="rect">
            <a:avLst/>
          </a:prstGeom>
          <a:noFill/>
          <a:ln/>
        </p:spPr>
        <p:txBody>
          <a:bodyPr wrap="square" rtlCol="0" anchor="ctr"/>
          <a:lstStyle/>
          <a:p>
            <a:pPr marL="0" indent="0">
              <a:buNone/>
            </a:pPr>
            <a:r>
              <a:rPr lang="en-US" sz="2200" b="1" dirty="0">
                <a:solidFill>
                  <a:srgbClr val="1C1C1C"/>
                </a:solidFill>
                <a:latin typeface="Arial" pitchFamily="34" charset="0"/>
                <a:ea typeface="Arial" pitchFamily="34" charset="-122"/>
                <a:cs typeface="Arial" pitchFamily="34" charset="-120"/>
              </a:rPr>
              <a:t>Every column has a type, and you have already seen the traps</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5120640" cy="2194560"/>
        </p:xfrm>
        <a:graphic>
          <a:graphicData uri="http://schemas.openxmlformats.org/drawingml/2006/table">
            <a:tbl>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tblGrid>
              <a:tr h="548640">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Type</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pandas</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250" b="1" dirty="0">
                          <a:solidFill>
                            <a:srgbClr val="FFFFFF"/>
                          </a:solidFill>
                          <a:latin typeface="Arial" pitchFamily="34" charset="0"/>
                          <a:ea typeface="Arial" pitchFamily="34" charset="-122"/>
                          <a:cs typeface="Arial" pitchFamily="34" charset="-120"/>
                        </a:rPr>
                        <a:t>R / tibble</a:t>
                      </a:r>
                      <a:endParaRPr lang="en-US" sz="125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54864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Integer</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int64</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&lt;int&gt;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Text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object / string</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&lt;chr&gt;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548640">
                <a:tc>
                  <a:txBody>
                    <a:bodyPr/>
                    <a:lstStyle/>
                    <a:p>
                      <a:pPr marL="0" indent="0" algn="l">
                        <a:buNone/>
                      </a:pPr>
                      <a:r>
                        <a:rPr lang="en-US" sz="1200" dirty="0">
                          <a:solidFill>
                            <a:srgbClr val="1C1C1C"/>
                          </a:solidFill>
                          <a:latin typeface="Arial" pitchFamily="34" charset="0"/>
                          <a:ea typeface="Arial" pitchFamily="34" charset="-122"/>
                          <a:cs typeface="Arial" pitchFamily="34" charset="-120"/>
                        </a:rPr>
                        <a:t>Categorical</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Courier New" pitchFamily="34" charset="0"/>
                          <a:ea typeface="Courier New" pitchFamily="34" charset="-122"/>
                          <a:cs typeface="Courier New" pitchFamily="34" charset="-120"/>
                        </a:rPr>
                        <a:t>category</a:t>
                      </a:r>
                      <a:endParaRPr lang="en-US" sz="1200" dirty="0">
                        <a:latin typeface="Courier New" charset="0"/>
                        <a:ea typeface="Courier New" charset="0"/>
                        <a:cs typeface="Courier New"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&lt;fct&gt; (factor)</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5989320" y="1737360"/>
            <a:ext cx="5532120" cy="2377440"/>
          </a:xfrm>
          <a:prstGeom prst="roundRect">
            <a:avLst>
              <a:gd name="adj" fmla="val 3846"/>
            </a:avLst>
          </a:prstGeom>
          <a:solidFill>
            <a:srgbClr val="FBF0DA"/>
          </a:solidFill>
          <a:ln w="19050">
            <a:solidFill>
              <a:srgbClr val="ECB748"/>
            </a:solidFill>
            <a:prstDash val="solid"/>
          </a:ln>
        </p:spPr>
        <p:txBody>
          <a:bodyPr/>
          <a:lstStyle/>
          <a:p>
            <a:endParaRPr lang="en-US"/>
          </a:p>
        </p:txBody>
      </p:sp>
      <p:sp>
        <p:nvSpPr>
          <p:cNvPr id="8" name="Text 4"/>
          <p:cNvSpPr txBox="1"/>
          <p:nvPr/>
        </p:nvSpPr>
        <p:spPr>
          <a:xfrm>
            <a:off x="6263640" y="1920240"/>
            <a:ext cx="4983480" cy="274320"/>
          </a:xfrm>
          <a:prstGeom prst="rect">
            <a:avLst/>
          </a:prstGeom>
          <a:noFill/>
          <a:ln/>
        </p:spPr>
        <p:txBody>
          <a:bodyPr wrap="square" rtlCol="0" anchor="ctr"/>
          <a:lstStyle/>
          <a:p>
            <a:pPr marL="0" indent="0">
              <a:buNone/>
            </a:pPr>
            <a:r>
              <a:rPr lang="en-US" sz="1100" b="1" kern="0" spc="100" dirty="0">
                <a:solidFill>
                  <a:srgbClr val="1C1C1C"/>
                </a:solidFill>
                <a:latin typeface="Arial" pitchFamily="34" charset="0"/>
                <a:ea typeface="Arial" pitchFamily="34" charset="-122"/>
                <a:cs typeface="Arial" pitchFamily="34" charset="-120"/>
              </a:rPr>
              <a:t>THE SAME TRAPS, IN BOTH DATASETS</a:t>
            </a:r>
            <a:endParaRPr lang="en-US" sz="1100" dirty="0"/>
          </a:p>
        </p:txBody>
      </p:sp>
      <p:sp>
        <p:nvSpPr>
          <p:cNvPr id="6" name="Text 5"/>
          <p:cNvSpPr txBox="1"/>
          <p:nvPr/>
        </p:nvSpPr>
        <p:spPr>
          <a:xfrm>
            <a:off x="6263640" y="2240280"/>
            <a:ext cx="4983480" cy="1783080"/>
          </a:xfrm>
          <a:prstGeom prst="rect">
            <a:avLst/>
          </a:prstGeom>
          <a:noFill/>
          <a:ln/>
        </p:spPr>
        <p:txBody>
          <a:bodyPr wrap="square" rtlCol="0" anchor="ctr"/>
          <a:lstStyle/>
          <a:p>
            <a:pPr marL="0" indent="0">
              <a:lnSpc>
                <a:spcPct val="120000"/>
              </a:lnSpc>
              <a:spcAft>
                <a:spcPts val="600"/>
              </a:spcAft>
              <a:buNone/>
            </a:pPr>
            <a:r>
              <a:rPr lang="en-US" sz="1250" b="1" dirty="0">
                <a:solidFill>
                  <a:srgbClr val="1C1C1C"/>
                </a:solidFill>
                <a:latin typeface="Arial" pitchFamily="34" charset="0"/>
                <a:ea typeface="Arial" pitchFamily="34" charset="-122"/>
                <a:cs typeface="Arial" pitchFamily="34" charset="-120"/>
              </a:rPr>
              <a:t>patients.csv: </a:t>
            </a:r>
            <a:r>
              <a:rPr lang="en-US" sz="1250" b="1" dirty="0">
                <a:solidFill>
                  <a:srgbClr val="1C1C1C"/>
                </a:solidFill>
                <a:latin typeface="Courier New" pitchFamily="34" charset="0"/>
                <a:ea typeface="Courier New" pitchFamily="34" charset="-122"/>
                <a:cs typeface="Courier New" pitchFamily="34" charset="-120"/>
              </a:rPr>
              <a:t>group</a:t>
            </a:r>
            <a:r>
              <a:rPr lang="en-US" sz="1250" dirty="0">
                <a:solidFill>
                  <a:srgbClr val="1C1C1C"/>
                </a:solidFill>
                <a:latin typeface="Arial" pitchFamily="34" charset="0"/>
                <a:ea typeface="Arial" pitchFamily="34" charset="-122"/>
                <a:cs typeface="Arial" pitchFamily="34" charset="-120"/>
              </a:rPr>
              <a:t> is text with a hidden trailing space; </a:t>
            </a:r>
            <a:r>
              <a:rPr lang="en-US" sz="1250" b="1" dirty="0">
                <a:solidFill>
                  <a:srgbClr val="1C1C1C"/>
                </a:solidFill>
                <a:latin typeface="Courier New" pitchFamily="34" charset="0"/>
                <a:ea typeface="Courier New" pitchFamily="34" charset="-122"/>
                <a:cs typeface="Courier New" pitchFamily="34" charset="-120"/>
              </a:rPr>
              <a:t>age</a:t>
            </a:r>
            <a:r>
              <a:rPr lang="en-US" sz="1250" dirty="0">
                <a:solidFill>
                  <a:srgbClr val="1C1C1C"/>
                </a:solidFill>
                <a:latin typeface="Arial" pitchFamily="34" charset="0"/>
                <a:ea typeface="Arial" pitchFamily="34" charset="-122"/>
                <a:cs typeface="Arial" pitchFamily="34" charset="-120"/>
              </a:rPr>
              <a:t> is text because of 6 rows reading "unknown"; </a:t>
            </a:r>
            <a:r>
              <a:rPr lang="en-US" sz="1250" b="1" dirty="0">
                <a:solidFill>
                  <a:srgbClr val="1C1C1C"/>
                </a:solidFill>
                <a:latin typeface="Courier New" pitchFamily="34" charset="0"/>
                <a:ea typeface="Courier New" pitchFamily="34" charset="-122"/>
                <a:cs typeface="Courier New" pitchFamily="34" charset="-120"/>
              </a:rPr>
              <a:t>cholesterol</a:t>
            </a:r>
            <a:r>
              <a:rPr lang="en-US" sz="1250" dirty="0">
                <a:solidFill>
                  <a:srgbClr val="1C1C1C"/>
                </a:solidFill>
                <a:latin typeface="Arial" pitchFamily="34" charset="0"/>
                <a:ea typeface="Arial" pitchFamily="34" charset="-122"/>
                <a:cs typeface="Arial" pitchFamily="34" charset="-120"/>
              </a:rPr>
              <a:t> is 8.8% missing.</a:t>
            </a:r>
            <a:endParaRPr lang="en-US" sz="1250" dirty="0"/>
          </a:p>
          <a:p>
            <a:pPr marL="0" indent="0">
              <a:lnSpc>
                <a:spcPct val="120000"/>
              </a:lnSpc>
              <a:spcAft>
                <a:spcPts val="600"/>
              </a:spcAft>
              <a:buNone/>
            </a:pPr>
            <a:r>
              <a:rPr lang="en-US" sz="1250" b="1" dirty="0">
                <a:solidFill>
                  <a:srgbClr val="1C1C1C"/>
                </a:solidFill>
                <a:latin typeface="Arial" pitchFamily="34" charset="0"/>
                <a:ea typeface="Arial" pitchFamily="34" charset="-122"/>
                <a:cs typeface="Arial" pitchFamily="34" charset="-120"/>
              </a:rPr>
              <a:t>schools_tibble.csv: </a:t>
            </a:r>
            <a:r>
              <a:rPr lang="en-US" sz="1250" b="1" dirty="0">
                <a:solidFill>
                  <a:srgbClr val="1C1C1C"/>
                </a:solidFill>
                <a:latin typeface="Courier New" pitchFamily="34" charset="0"/>
                <a:ea typeface="Courier New" pitchFamily="34" charset="-122"/>
                <a:cs typeface="Courier New" pitchFamily="34" charset="-120"/>
              </a:rPr>
              <a:t>school_level</a:t>
            </a:r>
            <a:r>
              <a:rPr lang="en-US" sz="1250" dirty="0">
                <a:solidFill>
                  <a:srgbClr val="1C1C1C"/>
                </a:solidFill>
                <a:latin typeface="Arial" pitchFamily="34" charset="0"/>
                <a:ea typeface="Arial" pitchFamily="34" charset="-122"/>
                <a:cs typeface="Arial" pitchFamily="34" charset="-120"/>
              </a:rPr>
              <a:t> has both "Non-Traditional" (5 schools) and "Non-Traditional - Hybrid" (2). One category, two labels, the same family as "A " and "A".</a:t>
            </a:r>
            <a:endParaRPr lang="en-US" sz="1250" dirty="0"/>
          </a:p>
        </p:txBody>
      </p:sp>
      <p:sp>
        <p:nvSpPr>
          <p:cNvPr id="10" name="Shape 6"/>
          <p:cNvSpPr/>
          <p:nvPr/>
        </p:nvSpPr>
        <p:spPr>
          <a:xfrm>
            <a:off x="640080" y="4389120"/>
            <a:ext cx="10881360" cy="1600200"/>
          </a:xfrm>
          <a:prstGeom prst="roundRect">
            <a:avLst>
              <a:gd name="adj" fmla="val 4571"/>
            </a:avLst>
          </a:prstGeom>
          <a:solidFill>
            <a:srgbClr val="F5F3EF"/>
          </a:solidFill>
          <a:ln w="12700">
            <a:solidFill>
              <a:srgbClr val="E3E3E3"/>
            </a:solidFill>
            <a:prstDash val="solid"/>
          </a:ln>
        </p:spPr>
        <p:txBody>
          <a:bodyPr/>
          <a:lstStyle/>
          <a:p>
            <a:endParaRPr lang="en-US"/>
          </a:p>
        </p:txBody>
      </p:sp>
      <p:sp>
        <p:nvSpPr>
          <p:cNvPr id="11" name="Text 7"/>
          <p:cNvSpPr txBox="1"/>
          <p:nvPr/>
        </p:nvSpPr>
        <p:spPr>
          <a:xfrm>
            <a:off x="914400" y="4389120"/>
            <a:ext cx="10332720" cy="160020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THE FACTOR GOTCHA:  </a:t>
            </a:r>
            <a:r>
              <a:rPr lang="en-US" sz="1300" dirty="0">
                <a:solidFill>
                  <a:srgbClr val="595959"/>
                </a:solidFill>
                <a:latin typeface="Arial" pitchFamily="34" charset="0"/>
                <a:ea typeface="Arial" pitchFamily="34" charset="-122"/>
                <a:cs typeface="Arial" pitchFamily="34" charset="-120"/>
              </a:rPr>
              <a:t>R sometimes turns a text column into a factor without asking. It looks like a string but is stored as an integer with a labels table underneath, and a model treats a factor with levels "control, treated" differently from a raw string. Factors can also merge labels on purpose: factor(x, levels = ..., labels = ...) maps both Non-Traditional variants to one level. This matters a lot in Session 11. Check types with df.dtypes in pandas and sapply(df, class) in R.</a:t>
            </a:r>
            <a:endParaRPr lang="en-US" sz="1300" dirty="0"/>
          </a:p>
        </p:txBody>
      </p:sp>
      <p:sp>
        <p:nvSpPr>
          <p:cNvPr id="12" name="Text 8"/>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40080"/>
          </a:xfrm>
          <a:prstGeom prst="rect">
            <a:avLst/>
          </a:prstGeom>
          <a:noFill/>
          <a:ln/>
        </p:spPr>
        <p:txBody>
          <a:bodyPr wrap="square" rtlCol="0" anchor="ctr"/>
          <a:lstStyle/>
          <a:p>
            <a:pPr marL="0" indent="0">
              <a:buNone/>
            </a:pPr>
            <a:r>
              <a:rPr lang="en-US" sz="2600" b="1" dirty="0">
                <a:solidFill>
                  <a:srgbClr val="1C1C1C"/>
                </a:solidFill>
                <a:latin typeface="Arial" pitchFamily="34" charset="0"/>
                <a:ea typeface="Arial" pitchFamily="34" charset="-122"/>
                <a:cs typeface="Arial" pitchFamily="34" charset="-120"/>
              </a:rPr>
              <a:t>Vocabulary from today</a:t>
            </a:r>
            <a:endParaRPr lang="en-US" sz="2600" dirty="0"/>
          </a:p>
        </p:txBody>
      </p:sp>
      <p:sp>
        <p:nvSpPr>
          <p:cNvPr id="6" name="Shape 3"/>
          <p:cNvSpPr/>
          <p:nvPr/>
        </p:nvSpPr>
        <p:spPr>
          <a:xfrm>
            <a:off x="640080" y="173736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7" name="Shape 4"/>
          <p:cNvSpPr/>
          <p:nvPr/>
        </p:nvSpPr>
        <p:spPr>
          <a:xfrm>
            <a:off x="822960" y="1920240"/>
            <a:ext cx="457200" cy="73152"/>
          </a:xfrm>
          <a:prstGeom prst="roundRect">
            <a:avLst/>
          </a:prstGeom>
          <a:solidFill>
            <a:srgbClr val="ECB748"/>
          </a:solidFill>
          <a:ln/>
        </p:spPr>
        <p:txBody>
          <a:bodyPr/>
          <a:lstStyle/>
          <a:p>
            <a:endParaRPr lang="en-US"/>
          </a:p>
        </p:txBody>
      </p:sp>
      <p:sp>
        <p:nvSpPr>
          <p:cNvPr id="8" name="Text 5"/>
          <p:cNvSpPr txBox="1"/>
          <p:nvPr/>
        </p:nvSpPr>
        <p:spPr>
          <a:xfrm>
            <a:off x="822960" y="202996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DataFrame / tibble</a:t>
            </a:r>
            <a:endParaRPr lang="en-US" sz="1500" dirty="0"/>
          </a:p>
        </p:txBody>
      </p:sp>
      <p:sp>
        <p:nvSpPr>
          <p:cNvPr id="9" name="Text 6"/>
          <p:cNvSpPr txBox="1"/>
          <p:nvPr/>
        </p:nvSpPr>
        <p:spPr>
          <a:xfrm>
            <a:off x="822960" y="242316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The rectangle: rows are observations, columns are variables.</a:t>
            </a:r>
            <a:endParaRPr lang="en-US" sz="1150" dirty="0"/>
          </a:p>
        </p:txBody>
      </p:sp>
      <p:sp>
        <p:nvSpPr>
          <p:cNvPr id="10" name="Shape 7"/>
          <p:cNvSpPr/>
          <p:nvPr/>
        </p:nvSpPr>
        <p:spPr>
          <a:xfrm>
            <a:off x="4306824" y="173736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11" name="Shape 8"/>
          <p:cNvSpPr/>
          <p:nvPr/>
        </p:nvSpPr>
        <p:spPr>
          <a:xfrm>
            <a:off x="4489704" y="1920240"/>
            <a:ext cx="457200" cy="73152"/>
          </a:xfrm>
          <a:prstGeom prst="roundRect">
            <a:avLst/>
          </a:prstGeom>
          <a:solidFill>
            <a:srgbClr val="B3C9CD"/>
          </a:solidFill>
          <a:ln/>
        </p:spPr>
        <p:txBody>
          <a:bodyPr/>
          <a:lstStyle/>
          <a:p>
            <a:endParaRPr lang="en-US"/>
          </a:p>
        </p:txBody>
      </p:sp>
      <p:sp>
        <p:nvSpPr>
          <p:cNvPr id="12" name="Text 9"/>
          <p:cNvSpPr txBox="1"/>
          <p:nvPr/>
        </p:nvSpPr>
        <p:spPr>
          <a:xfrm>
            <a:off x="4489704" y="202996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Series / vector</a:t>
            </a:r>
            <a:endParaRPr lang="en-US" sz="1500" dirty="0"/>
          </a:p>
        </p:txBody>
      </p:sp>
      <p:sp>
        <p:nvSpPr>
          <p:cNvPr id="13" name="Text 10"/>
          <p:cNvSpPr txBox="1"/>
          <p:nvPr/>
        </p:nvSpPr>
        <p:spPr>
          <a:xfrm>
            <a:off x="4489704" y="242316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A single column, pulled out on its own.</a:t>
            </a:r>
            <a:endParaRPr lang="en-US" sz="1150" dirty="0"/>
          </a:p>
        </p:txBody>
      </p:sp>
      <p:sp>
        <p:nvSpPr>
          <p:cNvPr id="14" name="Shape 11"/>
          <p:cNvSpPr/>
          <p:nvPr/>
        </p:nvSpPr>
        <p:spPr>
          <a:xfrm>
            <a:off x="7973568" y="173736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15" name="Shape 12"/>
          <p:cNvSpPr/>
          <p:nvPr/>
        </p:nvSpPr>
        <p:spPr>
          <a:xfrm>
            <a:off x="8156448" y="1920240"/>
            <a:ext cx="457200" cy="73152"/>
          </a:xfrm>
          <a:prstGeom prst="roundRect">
            <a:avLst/>
          </a:prstGeom>
          <a:solidFill>
            <a:srgbClr val="ECB748"/>
          </a:solidFill>
          <a:ln/>
        </p:spPr>
        <p:txBody>
          <a:bodyPr/>
          <a:lstStyle/>
          <a:p>
            <a:endParaRPr lang="en-US"/>
          </a:p>
        </p:txBody>
      </p:sp>
      <p:sp>
        <p:nvSpPr>
          <p:cNvPr id="16" name="Text 13"/>
          <p:cNvSpPr txBox="1"/>
          <p:nvPr/>
        </p:nvSpPr>
        <p:spPr>
          <a:xfrm>
            <a:off x="8156448" y="202996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Tidy data</a:t>
            </a:r>
            <a:endParaRPr lang="en-US" sz="1500" dirty="0"/>
          </a:p>
        </p:txBody>
      </p:sp>
      <p:sp>
        <p:nvSpPr>
          <p:cNvPr id="17" name="Text 14"/>
          <p:cNvSpPr txBox="1"/>
          <p:nvPr/>
        </p:nvSpPr>
        <p:spPr>
          <a:xfrm>
            <a:off x="8156448" y="242316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One variable per column, one observation per row, one value per cell.</a:t>
            </a:r>
            <a:endParaRPr lang="en-US" sz="1150" dirty="0"/>
          </a:p>
        </p:txBody>
      </p:sp>
      <p:sp>
        <p:nvSpPr>
          <p:cNvPr id="18" name="Shape 15"/>
          <p:cNvSpPr/>
          <p:nvPr/>
        </p:nvSpPr>
        <p:spPr>
          <a:xfrm>
            <a:off x="640080" y="329184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19" name="Shape 16"/>
          <p:cNvSpPr/>
          <p:nvPr/>
        </p:nvSpPr>
        <p:spPr>
          <a:xfrm>
            <a:off x="822960" y="3474720"/>
            <a:ext cx="457200" cy="73152"/>
          </a:xfrm>
          <a:prstGeom prst="roundRect">
            <a:avLst/>
          </a:prstGeom>
          <a:solidFill>
            <a:srgbClr val="B3C9CD"/>
          </a:solidFill>
          <a:ln/>
        </p:spPr>
        <p:txBody>
          <a:bodyPr/>
          <a:lstStyle/>
          <a:p>
            <a:endParaRPr lang="en-US"/>
          </a:p>
        </p:txBody>
      </p:sp>
      <p:sp>
        <p:nvSpPr>
          <p:cNvPr id="20" name="Text 17"/>
          <p:cNvSpPr txBox="1"/>
          <p:nvPr/>
        </p:nvSpPr>
        <p:spPr>
          <a:xfrm>
            <a:off x="822960" y="358444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Long vs. wide</a:t>
            </a:r>
            <a:endParaRPr lang="en-US" sz="1500" dirty="0"/>
          </a:p>
        </p:txBody>
      </p:sp>
      <p:sp>
        <p:nvSpPr>
          <p:cNvPr id="21" name="Text 18"/>
          <p:cNvSpPr txBox="1"/>
          <p:nvPr/>
        </p:nvSpPr>
        <p:spPr>
          <a:xfrm>
            <a:off x="822960" y="397764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Long = tidy. Wide = values spread across column headers.</a:t>
            </a:r>
            <a:endParaRPr lang="en-US" sz="1150" dirty="0"/>
          </a:p>
        </p:txBody>
      </p:sp>
      <p:sp>
        <p:nvSpPr>
          <p:cNvPr id="22" name="Shape 19"/>
          <p:cNvSpPr/>
          <p:nvPr/>
        </p:nvSpPr>
        <p:spPr>
          <a:xfrm>
            <a:off x="4306824" y="329184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23" name="Shape 20"/>
          <p:cNvSpPr/>
          <p:nvPr/>
        </p:nvSpPr>
        <p:spPr>
          <a:xfrm>
            <a:off x="4489704" y="3474720"/>
            <a:ext cx="457200" cy="73152"/>
          </a:xfrm>
          <a:prstGeom prst="roundRect">
            <a:avLst/>
          </a:prstGeom>
          <a:solidFill>
            <a:srgbClr val="ECB748"/>
          </a:solidFill>
          <a:ln/>
        </p:spPr>
        <p:txBody>
          <a:bodyPr/>
          <a:lstStyle/>
          <a:p>
            <a:endParaRPr lang="en-US"/>
          </a:p>
        </p:txBody>
      </p:sp>
      <p:sp>
        <p:nvSpPr>
          <p:cNvPr id="24" name="Text 21"/>
          <p:cNvSpPr txBox="1"/>
          <p:nvPr/>
        </p:nvSpPr>
        <p:spPr>
          <a:xfrm>
            <a:off x="4489704" y="358444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Factor / categorical</a:t>
            </a:r>
            <a:endParaRPr lang="en-US" sz="1500" dirty="0"/>
          </a:p>
        </p:txBody>
      </p:sp>
      <p:sp>
        <p:nvSpPr>
          <p:cNvPr id="25" name="Text 22"/>
          <p:cNvSpPr txBox="1"/>
          <p:nvPr/>
        </p:nvSpPr>
        <p:spPr>
          <a:xfrm>
            <a:off x="4489704" y="397764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A text column with a fixed set of values, used in models.</a:t>
            </a:r>
            <a:endParaRPr lang="en-US" sz="1150" dirty="0"/>
          </a:p>
        </p:txBody>
      </p:sp>
      <p:sp>
        <p:nvSpPr>
          <p:cNvPr id="26" name="Shape 23"/>
          <p:cNvSpPr/>
          <p:nvPr/>
        </p:nvSpPr>
        <p:spPr>
          <a:xfrm>
            <a:off x="7973568" y="3291840"/>
            <a:ext cx="3538728" cy="1371600"/>
          </a:xfrm>
          <a:prstGeom prst="roundRect">
            <a:avLst>
              <a:gd name="adj" fmla="val 6667"/>
            </a:avLst>
          </a:prstGeom>
          <a:solidFill>
            <a:srgbClr val="FFFFFF"/>
          </a:solidFill>
          <a:ln w="12700">
            <a:solidFill>
              <a:srgbClr val="E3E3E3"/>
            </a:solidFill>
            <a:prstDash val="solid"/>
          </a:ln>
        </p:spPr>
        <p:txBody>
          <a:bodyPr/>
          <a:lstStyle/>
          <a:p>
            <a:endParaRPr lang="en-US"/>
          </a:p>
        </p:txBody>
      </p:sp>
      <p:sp>
        <p:nvSpPr>
          <p:cNvPr id="27" name="Shape 24"/>
          <p:cNvSpPr/>
          <p:nvPr/>
        </p:nvSpPr>
        <p:spPr>
          <a:xfrm>
            <a:off x="8156448" y="3474720"/>
            <a:ext cx="457200" cy="73152"/>
          </a:xfrm>
          <a:prstGeom prst="roundRect">
            <a:avLst/>
          </a:prstGeom>
          <a:solidFill>
            <a:srgbClr val="B3C9CD"/>
          </a:solidFill>
          <a:ln/>
        </p:spPr>
        <p:txBody>
          <a:bodyPr/>
          <a:lstStyle/>
          <a:p>
            <a:endParaRPr lang="en-US"/>
          </a:p>
        </p:txBody>
      </p:sp>
      <p:sp>
        <p:nvSpPr>
          <p:cNvPr id="28" name="Text 25"/>
          <p:cNvSpPr txBox="1"/>
          <p:nvPr/>
        </p:nvSpPr>
        <p:spPr>
          <a:xfrm>
            <a:off x="8156448" y="3584448"/>
            <a:ext cx="3172968"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dtype</a:t>
            </a:r>
            <a:endParaRPr lang="en-US" sz="1500" dirty="0"/>
          </a:p>
        </p:txBody>
      </p:sp>
      <p:sp>
        <p:nvSpPr>
          <p:cNvPr id="29" name="Text 26"/>
          <p:cNvSpPr txBox="1"/>
          <p:nvPr/>
        </p:nvSpPr>
        <p:spPr>
          <a:xfrm>
            <a:off x="8156448" y="3977640"/>
            <a:ext cx="3172968" cy="594360"/>
          </a:xfrm>
          <a:prstGeom prst="rect">
            <a:avLst/>
          </a:prstGeom>
          <a:noFill/>
          <a:ln/>
        </p:spPr>
        <p:txBody>
          <a:bodyPr wrap="square" rtlCol="0" anchor="ctr"/>
          <a:lstStyle/>
          <a:p>
            <a:pPr marL="0" indent="0">
              <a:buNone/>
            </a:pPr>
            <a:r>
              <a:rPr lang="en-US" sz="1150" dirty="0">
                <a:solidFill>
                  <a:srgbClr val="595959"/>
                </a:solidFill>
                <a:latin typeface="Arial" pitchFamily="34" charset="0"/>
                <a:ea typeface="Arial" pitchFamily="34" charset="-122"/>
                <a:cs typeface="Arial" pitchFamily="34" charset="-120"/>
              </a:rPr>
              <a:t>The type pandas or R has assigned to a column. Check it first.</a:t>
            </a:r>
            <a:endParaRPr lang="en-US" sz="1150" dirty="0"/>
          </a:p>
        </p:txBody>
      </p:sp>
      <p:sp>
        <p:nvSpPr>
          <p:cNvPr id="30" name="Text 27"/>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worktrees-practical-bhabha-30f69c/250e4720-0954-4187-8930-09caab2cbef2/scratchpad/b7/vu_mark_gold.png"/>
          <p:cNvPicPr>
            <a:picLocks noChangeAspect="1"/>
          </p:cNvPicPr>
          <p:nvPr/>
        </p:nvPicPr>
        <p:blipFill>
          <a:blip r:embed="rId3"/>
          <a:stretch>
            <a:fillRect/>
          </a:stretch>
        </p:blipFill>
        <p:spPr>
          <a:xfrm>
            <a:off x="11231575" y="365760"/>
            <a:ext cx="457200" cy="327660"/>
          </a:xfrm>
          <a:prstGeom prst="rect">
            <a:avLst/>
          </a:prstGeom>
        </p:spPr>
      </p:pic>
      <p:sp>
        <p:nvSpPr>
          <p:cNvPr id="5" name="Text 2"/>
          <p:cNvSpPr txBox="1"/>
          <p:nvPr/>
        </p:nvSpPr>
        <p:spPr>
          <a:xfrm>
            <a:off x="640080" y="914400"/>
            <a:ext cx="10881360" cy="64008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Your activity, and next week</a:t>
            </a:r>
            <a:endParaRPr lang="en-US" sz="2600" dirty="0"/>
          </a:p>
        </p:txBody>
      </p:sp>
      <p:sp>
        <p:nvSpPr>
          <p:cNvPr id="6" name="Shape 3"/>
          <p:cNvSpPr/>
          <p:nvPr/>
        </p:nvSpPr>
        <p:spPr>
          <a:xfrm>
            <a:off x="640080" y="1737360"/>
            <a:ext cx="5212080" cy="3108960"/>
          </a:xfrm>
          <a:prstGeom prst="roundRect">
            <a:avLst>
              <a:gd name="adj" fmla="val 2941"/>
            </a:avLst>
          </a:prstGeom>
          <a:solidFill>
            <a:srgbClr val="ECB748"/>
          </a:solidFill>
          <a:ln/>
        </p:spPr>
        <p:txBody>
          <a:bodyPr/>
          <a:lstStyle/>
          <a:p>
            <a:endParaRPr lang="en-US"/>
          </a:p>
        </p:txBody>
      </p:sp>
      <p:sp>
        <p:nvSpPr>
          <p:cNvPr id="7" name="Text 4"/>
          <p:cNvSpPr txBox="1"/>
          <p:nvPr/>
        </p:nvSpPr>
        <p:spPr>
          <a:xfrm>
            <a:off x="914400" y="1965960"/>
            <a:ext cx="4663440" cy="320040"/>
          </a:xfrm>
          <a:prstGeom prst="rect">
            <a:avLst/>
          </a:prstGeom>
          <a:noFill/>
          <a:ln/>
        </p:spPr>
        <p:txBody>
          <a:bodyPr wrap="square" rtlCol="0" anchor="ctr"/>
          <a:lstStyle/>
          <a:p>
            <a:pPr marL="0" indent="0">
              <a:buNone/>
            </a:pPr>
            <a:r>
              <a:rPr lang="en-US" sz="1200" b="1" kern="0" spc="100" dirty="0">
                <a:solidFill>
                  <a:srgbClr val="1C1C1C"/>
                </a:solidFill>
                <a:latin typeface="Arial" pitchFamily="34" charset="0"/>
                <a:ea typeface="Arial" pitchFamily="34" charset="-122"/>
                <a:cs typeface="Arial" pitchFamily="34" charset="-120"/>
              </a:rPr>
              <a:t>THIS WEEK'S PROBLEM SET</a:t>
            </a:r>
            <a:endParaRPr lang="en-US" sz="1200" dirty="0"/>
          </a:p>
        </p:txBody>
      </p:sp>
      <p:sp>
        <p:nvSpPr>
          <p:cNvPr id="8" name="Text 5"/>
          <p:cNvSpPr txBox="1"/>
          <p:nvPr/>
        </p:nvSpPr>
        <p:spPr>
          <a:xfrm>
            <a:off x="914400" y="2423160"/>
            <a:ext cx="4663440" cy="2286000"/>
          </a:xfrm>
          <a:prstGeom prst="rect">
            <a:avLst/>
          </a:prstGeom>
          <a:noFill/>
          <a:ln/>
        </p:spPr>
        <p:txBody>
          <a:bodyPr wrap="square" rtlCol="0" anchor="ctr"/>
          <a:lstStyle/>
          <a:p>
            <a:pPr>
              <a:lnSpc>
                <a:spcPct val="125000"/>
              </a:lnSpc>
            </a:pPr>
            <a:r>
              <a:rPr lang="en-US" sz="1350" dirty="0">
                <a:solidFill>
                  <a:srgbClr val="1C1C1C"/>
                </a:solidFill>
                <a:latin typeface="Arial" pitchFamily="34" charset="0"/>
                <a:ea typeface="Arial" pitchFamily="34" charset="-122"/>
                <a:cs typeface="Arial" pitchFamily="34" charset="-120"/>
              </a:rPr>
              <a:t>Download </a:t>
            </a:r>
            <a:r>
              <a:rPr lang="en-US" sz="1350" b="1" dirty="0" err="1">
                <a:solidFill>
                  <a:srgbClr val="1C1C1C"/>
                </a:solidFill>
                <a:latin typeface="Courier New" pitchFamily="34" charset="0"/>
                <a:ea typeface="Courier New" pitchFamily="34" charset="-122"/>
                <a:cs typeface="Courier New" pitchFamily="34" charset="-120"/>
              </a:rPr>
              <a:t>penguins.csv</a:t>
            </a:r>
            <a:r>
              <a:rPr lang="en-US" sz="1350" b="1" dirty="0">
                <a:solidFill>
                  <a:srgbClr val="1C1C1C"/>
                </a:solidFill>
                <a:latin typeface="Courier New" pitchFamily="34" charset="0"/>
                <a:ea typeface="Courier New" pitchFamily="34" charset="-122"/>
                <a:cs typeface="Courier New" pitchFamily="34" charset="-120"/>
              </a:rPr>
              <a:t> </a:t>
            </a:r>
            <a:r>
              <a:rPr lang="en-US" sz="1350" dirty="0">
                <a:solidFill>
                  <a:srgbClr val="1C1C1C"/>
                </a:solidFill>
                <a:latin typeface="Arial" pitchFamily="34" charset="0"/>
                <a:ea typeface="Arial" pitchFamily="34" charset="-122"/>
                <a:cs typeface="Arial" pitchFamily="34" charset="-120"/>
              </a:rPr>
              <a:t>and </a:t>
            </a:r>
            <a:r>
              <a:rPr lang="en-US" sz="1350" b="1" dirty="0" err="1">
                <a:solidFill>
                  <a:srgbClr val="1C1C1C"/>
                </a:solidFill>
                <a:latin typeface="Courier New" pitchFamily="34" charset="0"/>
                <a:ea typeface="Courier New" pitchFamily="34" charset="-122"/>
                <a:cs typeface="Courier New" pitchFamily="34" charset="-120"/>
              </a:rPr>
              <a:t>schools_tibble.csv</a:t>
            </a:r>
            <a:r>
              <a:rPr lang="en-US" sz="1350" dirty="0">
                <a:solidFill>
                  <a:srgbClr val="1C1C1C"/>
                </a:solidFill>
                <a:latin typeface="Arial" pitchFamily="34" charset="0"/>
                <a:ea typeface="Arial" pitchFamily="34" charset="-122"/>
                <a:cs typeface="Arial" pitchFamily="34" charset="-120"/>
              </a:rPr>
              <a:t> from Brightspace, open the Course Tutor (</a:t>
            </a:r>
            <a:r>
              <a:rPr lang="en-US" sz="1350" b="1" dirty="0">
                <a:solidFill>
                  <a:srgbClr val="1C1C1C"/>
                </a:solidFill>
                <a:latin typeface="Courier New" pitchFamily="34" charset="0"/>
                <a:ea typeface="Courier New" pitchFamily="34" charset="-122"/>
                <a:cs typeface="Courier New" pitchFamily="34" charset="-120"/>
              </a:rPr>
              <a:t>general_tutor_gpt.md</a:t>
            </a:r>
            <a:r>
              <a:rPr lang="en-US" sz="1350" dirty="0">
                <a:solidFill>
                  <a:srgbClr val="1C1C1C"/>
                </a:solidFill>
                <a:latin typeface="Arial" pitchFamily="34" charset="0"/>
                <a:ea typeface="Arial" pitchFamily="34" charset="-122"/>
                <a:cs typeface="Arial" pitchFamily="34" charset="-120"/>
              </a:rPr>
              <a:t>) and paste in </a:t>
            </a:r>
            <a:r>
              <a:rPr lang="en-US" sz="1350" b="1" dirty="0">
                <a:solidFill>
                  <a:srgbClr val="1C1C1C"/>
                </a:solidFill>
                <a:latin typeface="Courier New" pitchFamily="34" charset="0"/>
                <a:ea typeface="Courier New" pitchFamily="34" charset="-122"/>
                <a:cs typeface="Courier New" pitchFamily="34" charset="-120"/>
              </a:rPr>
              <a:t>07_dataframes_tidy_problems.md</a:t>
            </a:r>
            <a:endParaRPr lang="en-US" sz="1350" dirty="0"/>
          </a:p>
          <a:p>
            <a:pPr marL="0" indent="0">
              <a:lnSpc>
                <a:spcPct val="125000"/>
              </a:lnSpc>
              <a:buNone/>
            </a:pPr>
            <a:r>
              <a:rPr lang="en-US" sz="1350" dirty="0">
                <a:solidFill>
                  <a:srgbClr val="1C1C1C"/>
                </a:solidFill>
                <a:latin typeface="Arial" pitchFamily="34" charset="0"/>
                <a:ea typeface="Arial" pitchFamily="34" charset="-122"/>
                <a:cs typeface="Arial" pitchFamily="34" charset="-120"/>
              </a:rPr>
              <a:t>It will restate the first problem, ask what you expect, then show you the code and walk it through. You run it, tweak it, and save your own copy.</a:t>
            </a:r>
            <a:endParaRPr lang="en-US" sz="1350" dirty="0"/>
          </a:p>
        </p:txBody>
      </p:sp>
      <p:sp>
        <p:nvSpPr>
          <p:cNvPr id="9" name="Shape 6"/>
          <p:cNvSpPr/>
          <p:nvPr/>
        </p:nvSpPr>
        <p:spPr>
          <a:xfrm>
            <a:off x="5989320" y="1737360"/>
            <a:ext cx="5532120" cy="3108960"/>
          </a:xfrm>
          <a:prstGeom prst="roundRect">
            <a:avLst>
              <a:gd name="adj" fmla="val 2941"/>
            </a:avLst>
          </a:prstGeom>
          <a:solidFill>
            <a:srgbClr val="2E2E2E"/>
          </a:solidFill>
          <a:ln/>
        </p:spPr>
        <p:txBody>
          <a:bodyPr/>
          <a:lstStyle/>
          <a:p>
            <a:endParaRPr lang="en-US"/>
          </a:p>
        </p:txBody>
      </p:sp>
      <p:sp>
        <p:nvSpPr>
          <p:cNvPr id="10" name="Text 7"/>
          <p:cNvSpPr txBox="1"/>
          <p:nvPr/>
        </p:nvSpPr>
        <p:spPr>
          <a:xfrm>
            <a:off x="6263640" y="1965960"/>
            <a:ext cx="4983480" cy="320040"/>
          </a:xfrm>
          <a:prstGeom prst="rect">
            <a:avLst/>
          </a:prstGeom>
          <a:noFill/>
          <a:ln/>
        </p:spPr>
        <p:txBody>
          <a:bodyPr wrap="square" rtlCol="0" anchor="ctr"/>
          <a:lstStyle/>
          <a:p>
            <a:pPr marL="0" indent="0">
              <a:buNone/>
            </a:pPr>
            <a:r>
              <a:rPr lang="en-US" sz="1200" b="1" kern="0" spc="100" dirty="0">
                <a:solidFill>
                  <a:srgbClr val="ECB748"/>
                </a:solidFill>
                <a:latin typeface="Arial" pitchFamily="34" charset="0"/>
                <a:ea typeface="Arial" pitchFamily="34" charset="-122"/>
                <a:cs typeface="Arial" pitchFamily="34" charset="-120"/>
              </a:rPr>
              <a:t>NEXT WEEK  ·  SESSION 8</a:t>
            </a:r>
            <a:endParaRPr lang="en-US" sz="1200" dirty="0"/>
          </a:p>
        </p:txBody>
      </p:sp>
      <p:sp>
        <p:nvSpPr>
          <p:cNvPr id="11" name="Text 8"/>
          <p:cNvSpPr txBox="1"/>
          <p:nvPr/>
        </p:nvSpPr>
        <p:spPr>
          <a:xfrm>
            <a:off x="6263640" y="2331720"/>
            <a:ext cx="4983480" cy="41148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Data Wrangling: Cleaning, Joining, Reshaping</a:t>
            </a:r>
            <a:endParaRPr lang="en-US" sz="1700" dirty="0"/>
          </a:p>
        </p:txBody>
      </p:sp>
      <p:sp>
        <p:nvSpPr>
          <p:cNvPr id="12" name="Text 9"/>
          <p:cNvSpPr txBox="1"/>
          <p:nvPr/>
        </p:nvSpPr>
        <p:spPr>
          <a:xfrm>
            <a:off x="6263640" y="2834640"/>
            <a:ext cx="4983480" cy="1005840"/>
          </a:xfrm>
          <a:prstGeom prst="rect">
            <a:avLst/>
          </a:prstGeom>
          <a:noFill/>
          <a:ln/>
        </p:spPr>
        <p:txBody>
          <a:bodyPr wrap="square" rtlCol="0" anchor="ctr"/>
          <a:lstStyle/>
          <a:p>
            <a:pPr marL="0" indent="0">
              <a:buNone/>
            </a:pPr>
            <a:r>
              <a:rPr lang="en-US" sz="1300">
                <a:solidFill>
                  <a:srgbClr val="F5F3EF"/>
                </a:solidFill>
                <a:latin typeface="Arial" pitchFamily="34" charset="0"/>
                <a:ea typeface="Arial" pitchFamily="34" charset="-122"/>
                <a:cs typeface="Arial" pitchFamily="34" charset="-120"/>
              </a:rPr>
              <a:t>Six functions </a:t>
            </a:r>
            <a:r>
              <a:rPr lang="en-US" sz="1300" dirty="0">
                <a:solidFill>
                  <a:srgbClr val="F5F3EF"/>
                </a:solidFill>
                <a:latin typeface="Arial" pitchFamily="34" charset="0"/>
                <a:ea typeface="Arial" pitchFamily="34" charset="-122"/>
                <a:cs typeface="Arial" pitchFamily="34" charset="-120"/>
              </a:rPr>
              <a:t>that cover most everyday cleaning, plus the pivot that fixes the schools grade columns. It's also where patients.csv's group and sex columns get fixed.</a:t>
            </a:r>
            <a:endParaRPr lang="en-US" sz="1300" dirty="0"/>
          </a:p>
        </p:txBody>
      </p:sp>
      <p:sp>
        <p:nvSpPr>
          <p:cNvPr id="13" name="Shape 10"/>
          <p:cNvSpPr/>
          <p:nvPr/>
        </p:nvSpPr>
        <p:spPr>
          <a:xfrm>
            <a:off x="6263640" y="3886200"/>
            <a:ext cx="4983480" cy="0"/>
          </a:xfrm>
          <a:prstGeom prst="line">
            <a:avLst/>
          </a:prstGeom>
          <a:noFill/>
          <a:ln w="12700">
            <a:solidFill>
              <a:srgbClr val="444444"/>
            </a:solidFill>
            <a:prstDash val="solid"/>
          </a:ln>
        </p:spPr>
        <p:txBody>
          <a:bodyPr/>
          <a:lstStyle/>
          <a:p>
            <a:endParaRPr lang="en-US"/>
          </a:p>
        </p:txBody>
      </p:sp>
      <p:sp>
        <p:nvSpPr>
          <p:cNvPr id="14" name="Text 11"/>
          <p:cNvSpPr txBox="1"/>
          <p:nvPr/>
        </p:nvSpPr>
        <p:spPr>
          <a:xfrm>
            <a:off x="6263640" y="4069080"/>
            <a:ext cx="4983480" cy="640080"/>
          </a:xfrm>
          <a:prstGeom prst="rect">
            <a:avLst/>
          </a:prstGeom>
          <a:noFill/>
          <a:ln/>
        </p:spPr>
        <p:txBody>
          <a:bodyPr wrap="square" rtlCol="0" anchor="ctr"/>
          <a:lstStyle/>
          <a:p>
            <a:pPr marL="0" indent="0">
              <a:buNone/>
            </a:pPr>
            <a:r>
              <a:rPr lang="en-US" sz="1200" dirty="0">
                <a:solidFill>
                  <a:srgbClr val="9B9690"/>
                </a:solidFill>
                <a:latin typeface="Arial" pitchFamily="34" charset="0"/>
                <a:ea typeface="Arial" pitchFamily="34" charset="-122"/>
                <a:cs typeface="Arial" pitchFamily="34" charset="-120"/>
              </a:rPr>
              <a:t>Paste your tutor transcript to Brightspace before Session 8. That's your participation credit for this week.</a:t>
            </a:r>
            <a:endParaRPr lang="en-US" sz="1200" dirty="0"/>
          </a:p>
        </p:txBody>
      </p:sp>
      <p:sp>
        <p:nvSpPr>
          <p:cNvPr id="15" name="Text 12"/>
          <p:cNvSpPr txBox="1"/>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69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2721</Words>
  <Application>Microsoft Macintosh PowerPoint</Application>
  <PresentationFormat>Widescreen</PresentationFormat>
  <Paragraphs>223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Courier New</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Tidy data</vt:lpstr>
      <vt:lpstr>PowerPoint Presentation</vt:lpstr>
      <vt:lpstr>PowerPoint Presentation</vt:lpstr>
      <vt:lpstr>PowerPoint Presentation</vt:lpstr>
      <vt:lpstr>PowerPoint Presentation</vt:lpstr>
    </vt:vector>
  </TitlesOfParts>
  <Company>Vanderbilt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CPBP 8306 - Session 7</dc:title>
  <dc:subject>PptxGenJS Presentation</dc:subject>
  <dc:creator>Joshua Borycz &amp; Daniel Genkins</dc:creator>
  <cp:lastModifiedBy>Borycz, Joshua D</cp:lastModifiedBy>
  <cp:revision>11</cp:revision>
  <dcterms:created xsi:type="dcterms:W3CDTF">2026-10-07T18:38:02Z</dcterms:created>
  <dcterms:modified xsi:type="dcterms:W3CDTF">2026-10-08T14:54:55Z</dcterms:modified>
</cp:coreProperties>
</file>