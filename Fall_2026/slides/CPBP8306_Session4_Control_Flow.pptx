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4" r:id="rId4"/>
    <p:sldId id="258" r:id="rId5"/>
    <p:sldId id="265" r:id="rId6"/>
    <p:sldId id="266" r:id="rId7"/>
    <p:sldId id="270" r:id="rId8"/>
    <p:sldId id="261" r:id="rId9"/>
    <p:sldId id="260" r:id="rId10"/>
    <p:sldId id="269" r:id="rId11"/>
    <p:sldId id="267" r:id="rId12"/>
    <p:sldId id="271" r:id="rId13"/>
    <p:sldId id="262" r:id="rId14"/>
    <p:sldId id="263"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0182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before class: demos/04_loops_demo.py in a terminal at the repo root, and an R console alongside.</a:t>
            </a:r>
          </a:p>
          <a:p>
            <a:endParaRPr/>
          </a:p>
          <a:p>
            <a:r>
              <a:t>COLLECT PROJECT DATASET CHOICES TODAY. Have a sign-up sheet or a Brightspace thread open before students arrive, and actually chase the stragglers on the way out — Session 6 registration is a formality if the choice is made now.</a:t>
            </a:r>
          </a:p>
          <a:p>
            <a:endParaRPr/>
          </a:p>
          <a:p>
            <a:r>
              <a:t>The timing comparison at the end of the demo needs to be run LIVE to land. Run it once before class so it is warm and you know your machine's number.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question and genuinely take an answer. Write it on the board exactly as they say it.</a:t>
            </a:r>
          </a:p>
          <a:p>
            <a:endParaRPr/>
          </a:p>
          <a:p>
            <a:r>
              <a:t>Someone will say "a for loop." That is the trap, and it is set on purpose — you are going to do it their way first, then watch most of it disappear. DO NOT SPOIL IT.</a:t>
            </a:r>
          </a:p>
          <a:p>
            <a:endParaRPr/>
          </a:p>
          <a:p>
            <a:r>
              <a:t>If someone says bp[bp &gt; 130] instead, excellent: they were listening last week. Say so, and tell them today is about why that version is better, not just shorter.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 seconds on the objectives. Objectives 3 and 5 are the point of the session; 1 and 2 are the prerequisites.</a:t>
            </a:r>
          </a:p>
          <a:p>
            <a:endParaRPr/>
          </a:p>
          <a:p>
            <a:r>
              <a:t>The right-hand panel is the administrative business: project datasets are due today. Say it now and again at the end — this is the deadline most likely to slip quietly.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Indentation-as-syntax genuinely surprises people coming from other languages. Show the IndentationError live — it is a friendly error and worth normalising early.</a:t>
            </a:r>
          </a:p>
          <a:p>
            <a:endParaRPr/>
          </a:p>
          <a:p>
            <a:r>
              <a:t>Reading order matters: an elif chain is checked top to bottom and stops at the first hit. That is why the 140 test has to come first. Ask what happens if you put the 120 test first (everything above 120 becomes "elevated" and "high" is unreachable) — that sets up the next slide.</a:t>
            </a:r>
          </a:p>
          <a:p>
            <a:endParaRPr/>
          </a:p>
          <a:p>
            <a:r>
              <a:t>The condition must produce a boolean, which is exactly what &gt;= and == give you. Tie it back to Session 2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bp = 145 through the LEFT column line by line, out loud. The overwrite is invisible until you trace it.</a:t>
            </a:r>
          </a:p>
          <a:p>
            <a:endParaRPr/>
          </a:p>
          <a:p>
            <a:r>
              <a:t>Then ask which categories are even reachable in the left version. Answer: "high" is never the final value for anybody. That lands harder than saying "this is wrong."</a:t>
            </a:r>
          </a:p>
          <a:p>
            <a:endParaRPr/>
          </a:p>
          <a:p>
            <a:r>
              <a:t>Say plainly that this is a correctness bug, not a style bug — and that it is exactly what an AI writes when your prompt describes three separate rules instead of one decision. That framing is the week's AI thread starting early.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them read the loop out loud, in pairs, in English. It takes thirty seconds and it is the single best debugging tool for loops.</a:t>
            </a:r>
          </a:p>
          <a:p>
            <a:endParaRPr/>
          </a:p>
          <a:p>
            <a:r>
              <a:t>Emphasise that bp is a NEW variable that takes each value in turn. Beginners reliably think it is the whole list, and that misconception survives for weeks if it is not named.</a:t>
            </a:r>
          </a:p>
          <a:p>
            <a:endParaRPr/>
          </a:p>
          <a:p>
            <a:r>
              <a:t>Run both versions in the two consoles. Say which language you are in each time — same discipline as last week.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parts — initialise before, update inside, use after — are worth saying as a unit, because every accumulator bug is one of the three in the wrong place.</a:t>
            </a:r>
          </a:p>
          <a:p>
            <a:endParaRPr/>
          </a:p>
          <a:p>
            <a:r>
              <a:t>Demo the common bug: put the print INSIDE the loop, run it, let them see five lines, then ask why.</a:t>
            </a:r>
          </a:p>
          <a:p>
            <a:endParaRPr/>
          </a:p>
          <a:p>
            <a:r>
              <a:t>+= is new syntax. Say it means "add to what is already there."</a:t>
            </a:r>
          </a:p>
          <a:p>
            <a:endParaRPr/>
          </a:p>
          <a:p>
            <a:r>
              <a:t>The last line is the setup for the next slide: name the shape, say an AI writes it constantly, and say it is not wrong. Then pause.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 THIS SLIDE. It is the aha of Unit 1 for most students. Give it room.</a:t>
            </a:r>
          </a:p>
          <a:p>
            <a:endParaRPr/>
          </a:p>
          <a:p>
            <a:r>
              <a:t>BUILD IT LIVE IN THREE STEPS, in R, and do not show the one-liner first:</a:t>
            </a:r>
          </a:p>
          <a:p>
            <a:r>
              <a:t>  1. print bp_list &gt;= 140 alone — the mask</a:t>
            </a:r>
          </a:p>
          <a:p>
            <a:r>
              <a:t>  2. wrap it in sum() — the count</a:t>
            </a:r>
          </a:p>
          <a:p>
            <a:r>
              <a:t>  3. collapse to one line</a:t>
            </a:r>
          </a:p>
          <a:p>
            <a:endParaRPr/>
          </a:p>
          <a:p>
            <a:r>
              <a:t>Then say what just happened: booleans-are-numbers from Session 2, plus boolean masks from Session 3, plus operations that broadcast over a whole container — three sessions converging into the way R is designed to be written.</a:t>
            </a:r>
          </a:p>
          <a:p>
            <a:endParaRPr/>
          </a:p>
          <a:p>
            <a:r>
              <a:t>Beat of silence before you advance. This is the slide they should remember from Unit 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[1, 2, 3] &gt;= 2 and show the TypeError. That one line explains the existence of the entire scientific Python stack, and it answers the question students are about to ask.</a:t>
            </a:r>
          </a:p>
          <a:p>
            <a:endParaRPr/>
          </a:p>
          <a:p>
            <a:r>
              <a:t>Do NOT teach numpy properly here. One slide of exposure is the goal; Session 7 does it for real.</a:t>
            </a:r>
          </a:p>
          <a:p>
            <a:endParaRPr/>
          </a:p>
          <a:p>
            <a:r>
              <a:t>The honest framing: R gives you vectorisation in the base language, Python makes you import it. Same concept, different packaging — not one language being better.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reasons, in order, and the order matters: correctness first, speed second, readability third. Students expect speed to be the argument; it is the weakest of the three for a 250-row dataset.</a:t>
            </a:r>
          </a:p>
          <a:p>
            <a:endParaRPr/>
          </a:p>
          <a:p>
            <a:r>
              <a:t>TIME IT LIVE if you can — the timing block at the end of demos/04_loops_demo.py runs loop against vectorised over a few million numbers. The number on screen persuades better than the claim. Run it once before class so it is warm; it takes a few seconds and allocates a large list.</a:t>
            </a:r>
          </a:p>
          <a:p>
            <a:endParaRPr/>
          </a:p>
          <a:p>
            <a:r>
              <a:t>Then be fair to loops. They are correct, clarity beats cleverness, and a loop you understand beats a one-liner you copied. The objection here is narrower than "loops are bad."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PROTECT THIS SLIDE. It is the AI-literacy core of the week.</a:t>
            </a:r>
          </a:p>
          <a:p>
            <a:endParaRPr/>
          </a:p>
          <a:p>
            <a:r>
              <a:t>The key distinction: this is a CODE SMELL, not an error. The loop runs, gives the right answer, and nothing will ever flag it. Compare it explicitly to last week's bp[-1] trap — that one was wrong, this one is merely un-idiomatic, and both are invisible without knowing the language.</a:t>
            </a:r>
          </a:p>
          <a:p>
            <a:endParaRPr/>
          </a:p>
          <a:p>
            <a:r>
              <a:t>Give them the actual push-back sentence to use: "is there a vectorised version of this?" That is a concrete, reusable move, and it is the deliverable of this slide.</a:t>
            </a:r>
          </a:p>
          <a:p>
            <a:endParaRPr/>
          </a:p>
          <a:p>
            <a:r>
              <a:t>If you have a real example of an AI handing you an unnecessary loop, this is the moment.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Genuinely write an infinite loop live and kill it. Students are quietly frightened of this until they have seen it survived once — it takes twenty seconds and removes a real barrier.</a:t>
            </a:r>
          </a:p>
          <a:p>
            <a:endParaRPr/>
          </a:p>
          <a:p>
            <a:r>
              <a:t>Name the legitimate uses so while does not feel forbidden: convergence loops, and paging through an API.</a:t>
            </a:r>
          </a:p>
          <a:p>
            <a:endParaRPr/>
          </a:p>
          <a:p>
            <a:r>
              <a:t>The rule of thumb is the useful part: if you know how many iterations you need, use for. You almost always know.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slide, not a memorisation slide. Say so out loud so nobody starts copying it down in a panic.</a:t>
            </a:r>
          </a:p>
          <a:p>
            <a:endParaRPr/>
          </a:p>
          <a:p>
            <a:r>
              <a:t>ifelse / np.where is the row they will actually need soonest — it is how you recode a variable into categories, which is the first thing they will want for their project.</a:t>
            </a:r>
          </a:p>
          <a:p>
            <a:endParaRPr/>
          </a:p>
          <a:p>
            <a:r>
              <a:t>Foreshadow: from Session 7 these become mutate() in dplyr and df.assign() in pandas. Same idea, applied to a whole column of a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Leave this up during the transition to the activity.</a:t>
            </a:r>
          </a:p>
          <a:p>
            <a:endParaRPr/>
          </a:p>
          <a:p>
            <a:r>
              <a:t>Point at the bottom-right box: the = / == trap has now appeared in three consecutive weeks. Say that explicitly — the repetition is the pedagogy, not an oversight.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activity is in class, minutes 36–55.</a:t>
            </a:r>
          </a:p>
          <a:p>
            <a:endParaRPr/>
          </a:p>
          <a:p>
            <a:r>
              <a:t>Say the rule before they start: the tutor will not move on until you commit to a prediction, and it will not accept a rewrite you cannot explain. Predicting wrong is fine; refusing to predict is not.</a:t>
            </a:r>
          </a:p>
          <a:p>
            <a:endParaRPr/>
          </a:p>
          <a:p>
            <a:r>
              <a:t>From the Session 3 transcripts: the format guidance worked — several submissions came in as clean plain text with labelled turns. Keep asking for it. Also keep telling them to expect all six problems; the ones who finish in ten minutes are stopping early, not finishing.</a:t>
            </a:r>
          </a:p>
          <a:p>
            <a:endParaRPr/>
          </a:p>
          <a:p>
            <a:r>
              <a:t>LAST CALL ON PROJECT DATASETS. Do not let anyone leave without one. Chase the stragglers at the door.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logo_white.png"/>
          <p:cNvPicPr>
            <a:picLocks noChangeAspect="1"/>
          </p:cNvPicPr>
          <p:nvPr/>
        </p:nvPicPr>
        <p:blipFill>
          <a:blip r:embed="rId3"/>
          <a:stretch>
            <a:fillRect/>
          </a:stretch>
        </p:blipFill>
        <p:spPr>
          <a:xfrm>
            <a:off x="640080" y="594360"/>
            <a:ext cx="2377440" cy="516257"/>
          </a:xfrm>
          <a:prstGeom prst="rect">
            <a:avLst/>
          </a:prstGeom>
        </p:spPr>
      </p:pic>
      <p:sp>
        <p:nvSpPr>
          <p:cNvPr id="3" name="Text 0"/>
          <p:cNvSpPr/>
          <p:nvPr/>
        </p:nvSpPr>
        <p:spPr>
          <a:xfrm>
            <a:off x="640080" y="1508760"/>
            <a:ext cx="6675120" cy="365760"/>
          </a:xfrm>
          <a:prstGeom prst="rect">
            <a:avLst/>
          </a:prstGeom>
          <a:noFill/>
          <a:ln/>
        </p:spPr>
        <p:txBody>
          <a:bodyPr wrap="square" rtlCol="0" anchor="ctr"/>
          <a:lstStyle/>
          <a:p>
            <a:pPr marL="0" indent="0">
              <a:buNone/>
            </a:pPr>
            <a:r>
              <a:rPr lang="en-US" sz="1300" b="1" kern="0" spc="200" dirty="0">
                <a:solidFill>
                  <a:srgbClr val="ECB748"/>
                </a:solidFill>
                <a:latin typeface="Arial" pitchFamily="34" charset="0"/>
                <a:ea typeface="Arial" pitchFamily="34" charset="-122"/>
                <a:cs typeface="Arial" pitchFamily="34" charset="-120"/>
              </a:rPr>
              <a:t>SESSION 4  ·  UNIT 1 — FOUNDATIONS</a:t>
            </a:r>
            <a:endParaRPr lang="en-US" sz="1300" dirty="0"/>
          </a:p>
        </p:txBody>
      </p:sp>
      <p:sp>
        <p:nvSpPr>
          <p:cNvPr id="4" name="Text 1"/>
          <p:cNvSpPr/>
          <p:nvPr/>
        </p:nvSpPr>
        <p:spPr>
          <a:xfrm>
            <a:off x="594360" y="1920240"/>
            <a:ext cx="6766560" cy="1600200"/>
          </a:xfrm>
          <a:prstGeom prst="rect">
            <a:avLst/>
          </a:prstGeom>
          <a:noFill/>
          <a:ln/>
        </p:spPr>
        <p:txBody>
          <a:bodyPr wrap="square" rtlCol="0" anchor="ctr"/>
          <a:lstStyle/>
          <a:p>
            <a:pPr marL="0" indent="0">
              <a:lnSpc>
                <a:spcPct val="108000"/>
              </a:lnSpc>
              <a:buNone/>
            </a:pPr>
            <a:r>
              <a:rPr lang="en-US" sz="3600" b="1" dirty="0">
                <a:solidFill>
                  <a:srgbClr val="FFFFFF"/>
                </a:solidFill>
                <a:latin typeface="Arial" pitchFamily="34" charset="0"/>
                <a:ea typeface="Arial" pitchFamily="34" charset="-122"/>
                <a:cs typeface="Arial" pitchFamily="34" charset="-120"/>
              </a:rPr>
              <a:t>Control Flow:</a:t>
            </a:r>
            <a:endParaRPr lang="en-US" sz="3600" dirty="0"/>
          </a:p>
          <a:p>
            <a:pPr marL="0" indent="0">
              <a:lnSpc>
                <a:spcPct val="108000"/>
              </a:lnSpc>
              <a:buNone/>
            </a:pPr>
            <a:r>
              <a:rPr lang="en-US" sz="3600" b="1" dirty="0">
                <a:solidFill>
                  <a:srgbClr val="FFFFFF"/>
                </a:solidFill>
                <a:latin typeface="Arial" pitchFamily="34" charset="0"/>
                <a:ea typeface="Arial" pitchFamily="34" charset="-122"/>
                <a:cs typeface="Arial" pitchFamily="34" charset="-120"/>
              </a:rPr>
              <a:t>Decisions and Repetition</a:t>
            </a:r>
            <a:endParaRPr lang="en-US" sz="3600" dirty="0"/>
          </a:p>
        </p:txBody>
      </p:sp>
      <p:sp>
        <p:nvSpPr>
          <p:cNvPr id="5" name="Text 2"/>
          <p:cNvSpPr/>
          <p:nvPr/>
        </p:nvSpPr>
        <p:spPr>
          <a:xfrm>
            <a:off x="640080" y="3520440"/>
            <a:ext cx="6675120" cy="548640"/>
          </a:xfrm>
          <a:prstGeom prst="rect">
            <a:avLst/>
          </a:prstGeom>
          <a:noFill/>
          <a:ln/>
        </p:spPr>
        <p:txBody>
          <a:bodyPr wrap="square" rtlCol="0" anchor="ctr"/>
          <a:lstStyle/>
          <a:p>
            <a:pPr marL="0" indent="0">
              <a:buNone/>
            </a:pPr>
            <a:r>
              <a:rPr lang="en-US" sz="1600" dirty="0">
                <a:solidFill>
                  <a:srgbClr val="F5F3EF"/>
                </a:solidFill>
                <a:latin typeface="Arial" pitchFamily="34" charset="0"/>
                <a:ea typeface="Arial" pitchFamily="34" charset="-122"/>
                <a:cs typeface="Arial" pitchFamily="34" charset="-120"/>
              </a:rPr>
              <a:t>Where you stop typing commands and start writing programs</a:t>
            </a:r>
            <a:endParaRPr lang="en-US" sz="1600" dirty="0"/>
          </a:p>
        </p:txBody>
      </p:sp>
      <p:sp>
        <p:nvSpPr>
          <p:cNvPr id="6" name="Text 3"/>
          <p:cNvSpPr/>
          <p:nvPr/>
        </p:nvSpPr>
        <p:spPr>
          <a:xfrm>
            <a:off x="640080" y="5349240"/>
            <a:ext cx="6675120" cy="1005840"/>
          </a:xfrm>
          <a:prstGeom prst="rect">
            <a:avLst/>
          </a:prstGeom>
          <a:noFill/>
          <a:ln/>
        </p:spPr>
        <p:txBody>
          <a:bodyPr wrap="square" rtlCol="0" anchor="ctr"/>
          <a:lstStyle/>
          <a:p>
            <a:pPr marL="0" indent="0">
              <a:lnSpc>
                <a:spcPct val="130000"/>
              </a:lnSpc>
              <a:buNone/>
            </a:pPr>
            <a:r>
              <a:rPr lang="en-US" sz="1250" b="1" dirty="0">
                <a:solidFill>
                  <a:srgbClr val="FFFFFF"/>
                </a:solidFill>
                <a:latin typeface="Arial" pitchFamily="34" charset="0"/>
                <a:ea typeface="Arial" pitchFamily="34" charset="-122"/>
                <a:cs typeface="Arial" pitchFamily="34" charset="-120"/>
              </a:rPr>
              <a:t>CPBP 8306 — Coding for Research</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Joshua Borycz  &amp;  Daniel Genkins   |   TA: Peyton Coleman</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Thursdays 10:00–10:55am  ·  Light Hall 439</a:t>
            </a:r>
            <a:endParaRPr lang="en-US" sz="1250" dirty="0"/>
          </a:p>
        </p:txBody>
      </p:sp>
      <p:sp>
        <p:nvSpPr>
          <p:cNvPr id="7" name="Shape 4"/>
          <p:cNvSpPr/>
          <p:nvPr/>
        </p:nvSpPr>
        <p:spPr>
          <a:xfrm>
            <a:off x="8001000" y="2286000"/>
            <a:ext cx="3566160" cy="2651760"/>
          </a:xfrm>
          <a:prstGeom prst="roundRect">
            <a:avLst>
              <a:gd name="adj" fmla="val 4138"/>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229600" y="2514600"/>
            <a:ext cx="146304" cy="146304"/>
          </a:xfrm>
          <a:prstGeom prst="ellipse">
            <a:avLst/>
          </a:prstGeom>
          <a:solidFill>
            <a:srgbClr val="D64550"/>
          </a:solidFill>
          <a:ln/>
        </p:spPr>
        <p:txBody>
          <a:bodyPr/>
          <a:lstStyle/>
          <a:p>
            <a:endParaRPr lang="en-US"/>
          </a:p>
        </p:txBody>
      </p:sp>
      <p:sp>
        <p:nvSpPr>
          <p:cNvPr id="9" name="Shape 6"/>
          <p:cNvSpPr/>
          <p:nvPr/>
        </p:nvSpPr>
        <p:spPr>
          <a:xfrm>
            <a:off x="8485632" y="2514600"/>
            <a:ext cx="146304" cy="146304"/>
          </a:xfrm>
          <a:prstGeom prst="ellipse">
            <a:avLst/>
          </a:prstGeom>
          <a:solidFill>
            <a:srgbClr val="ECB748"/>
          </a:solidFill>
          <a:ln/>
        </p:spPr>
        <p:txBody>
          <a:bodyPr/>
          <a:lstStyle/>
          <a:p>
            <a:endParaRPr lang="en-US"/>
          </a:p>
        </p:txBody>
      </p:sp>
      <p:sp>
        <p:nvSpPr>
          <p:cNvPr id="10" name="Shape 7"/>
          <p:cNvSpPr/>
          <p:nvPr/>
        </p:nvSpPr>
        <p:spPr>
          <a:xfrm>
            <a:off x="8741664" y="2514600"/>
            <a:ext cx="146304" cy="146304"/>
          </a:xfrm>
          <a:prstGeom prst="ellipse">
            <a:avLst/>
          </a:prstGeom>
          <a:solidFill>
            <a:srgbClr val="6B6B6B"/>
          </a:solidFill>
          <a:ln/>
        </p:spPr>
        <p:txBody>
          <a:bodyPr/>
          <a:lstStyle/>
          <a:p>
            <a:endParaRPr lang="en-US"/>
          </a:p>
        </p:txBody>
      </p:sp>
      <p:sp>
        <p:nvSpPr>
          <p:cNvPr id="11" name="Text 8"/>
          <p:cNvSpPr/>
          <p:nvPr/>
        </p:nvSpPr>
        <p:spPr>
          <a:xfrm>
            <a:off x="9189720" y="2450592"/>
            <a:ext cx="2194560" cy="274320"/>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count.R</a:t>
            </a:r>
            <a:endParaRPr lang="en-US" sz="1050" dirty="0"/>
          </a:p>
        </p:txBody>
      </p:sp>
      <p:sp>
        <p:nvSpPr>
          <p:cNvPr id="12" name="Shape 9"/>
          <p:cNvSpPr/>
          <p:nvPr/>
        </p:nvSpPr>
        <p:spPr>
          <a:xfrm>
            <a:off x="8046720" y="2834640"/>
            <a:ext cx="3474720" cy="0"/>
          </a:xfrm>
          <a:prstGeom prst="line">
            <a:avLst/>
          </a:prstGeom>
          <a:noFill/>
          <a:ln w="12700">
            <a:solidFill>
              <a:srgbClr val="444444"/>
            </a:solidFill>
            <a:prstDash val="solid"/>
          </a:ln>
        </p:spPr>
        <p:txBody>
          <a:bodyPr/>
          <a:lstStyle/>
          <a:p>
            <a:endParaRPr lang="en-US"/>
          </a:p>
        </p:txBody>
      </p:sp>
      <p:sp>
        <p:nvSpPr>
          <p:cNvPr id="13" name="Text 10"/>
          <p:cNvSpPr/>
          <p:nvPr/>
        </p:nvSpPr>
        <p:spPr>
          <a:xfrm>
            <a:off x="8275320" y="3063240"/>
            <a:ext cx="3017520" cy="365760"/>
          </a:xfrm>
          <a:prstGeom prst="rect">
            <a:avLst/>
          </a:prstGeom>
          <a:noFill/>
          <a:ln/>
        </p:spPr>
        <p:txBody>
          <a:bodyPr wrap="square" rtlCol="0" anchor="ctr"/>
          <a:lstStyle/>
          <a:p>
            <a:pPr marL="0" indent="0">
              <a:buNone/>
            </a:pPr>
            <a:r>
              <a:rPr lang="en-US" sz="1350" dirty="0">
                <a:solidFill>
                  <a:srgbClr val="F5F3EF"/>
                </a:solidFill>
                <a:latin typeface="Courier New" pitchFamily="34" charset="0"/>
                <a:ea typeface="Courier New" pitchFamily="34" charset="-122"/>
                <a:cs typeface="Courier New" pitchFamily="34" charset="-120"/>
              </a:rPr>
              <a:t>sum(bp &gt;= 140)</a:t>
            </a:r>
            <a:endParaRPr lang="en-US" sz="1350" dirty="0"/>
          </a:p>
        </p:txBody>
      </p:sp>
      <p:sp>
        <p:nvSpPr>
          <p:cNvPr id="14" name="Text 11"/>
          <p:cNvSpPr/>
          <p:nvPr/>
        </p:nvSpPr>
        <p:spPr>
          <a:xfrm>
            <a:off x="8275320" y="3520440"/>
            <a:ext cx="3017520" cy="365760"/>
          </a:xfrm>
          <a:prstGeom prst="rect">
            <a:avLst/>
          </a:prstGeom>
          <a:noFill/>
          <a:ln/>
        </p:spPr>
        <p:txBody>
          <a:bodyPr wrap="square" rtlCol="0" anchor="ctr"/>
          <a:lstStyle/>
          <a:p>
            <a:pPr marL="0" indent="0">
              <a:buNone/>
            </a:pPr>
            <a:r>
              <a:rPr lang="en-US" sz="1400" dirty="0">
                <a:solidFill>
                  <a:srgbClr val="F5F3EF"/>
                </a:solidFill>
                <a:latin typeface="Courier New" pitchFamily="34" charset="0"/>
                <a:ea typeface="Courier New" pitchFamily="34" charset="-122"/>
                <a:cs typeface="Courier New" pitchFamily="34" charset="-120"/>
              </a:rPr>
              <a:t># 1</a:t>
            </a:r>
            <a:endParaRPr lang="en-US" sz="1400" dirty="0"/>
          </a:p>
        </p:txBody>
      </p:sp>
      <p:sp>
        <p:nvSpPr>
          <p:cNvPr id="15" name="Text 12"/>
          <p:cNvSpPr/>
          <p:nvPr/>
        </p:nvSpPr>
        <p:spPr>
          <a:xfrm>
            <a:off x="8275320" y="3977640"/>
            <a:ext cx="3017520" cy="365760"/>
          </a:xfrm>
          <a:prstGeom prst="rect">
            <a:avLst/>
          </a:prstGeom>
          <a:noFill/>
          <a:ln/>
        </p:spPr>
        <p:txBody>
          <a:bodyPr wrap="square" rtlCol="0" anchor="ctr"/>
          <a:lstStyle/>
          <a:p>
            <a:pPr marL="0" indent="0">
              <a:buNone/>
            </a:pPr>
            <a:endParaRPr lang="en-US" sz="1300" dirty="0"/>
          </a:p>
        </p:txBody>
      </p:sp>
      <p:sp>
        <p:nvSpPr>
          <p:cNvPr id="16" name="Text 13"/>
          <p:cNvSpPr/>
          <p:nvPr/>
        </p:nvSpPr>
        <p:spPr>
          <a:xfrm>
            <a:off x="8001000" y="5074920"/>
            <a:ext cx="3566160" cy="365760"/>
          </a:xfrm>
          <a:prstGeom prst="rect">
            <a:avLst/>
          </a:prstGeom>
          <a:noFill/>
          <a:ln/>
        </p:spPr>
        <p:txBody>
          <a:bodyPr wrap="square" rtlCol="0" anchor="ctr"/>
          <a:lstStyle/>
          <a:p>
            <a:pPr marL="0" indent="0" algn="ctr">
              <a:buNone/>
            </a:pPr>
            <a:r>
              <a:rPr lang="en-US" sz="1100" i="1" dirty="0">
                <a:solidFill>
                  <a:srgbClr val="9B9690"/>
                </a:solidFill>
                <a:latin typeface="Arial" pitchFamily="34" charset="0"/>
                <a:ea typeface="Arial" pitchFamily="34" charset="-122"/>
                <a:cs typeface="Arial" pitchFamily="34" charset="-120"/>
              </a:rPr>
              <a:t>One line. No loop. By the end of today you will know why that matters.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0–4 MIN  ·  RECAP</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A question, and a trap I am setting on purpose</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Last week: bp[bp &gt; 130] kept the elements of bp that were over 130. Boolean masks, and the idea that a condition can apply to a whole container at once.</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Today: how do you get every element of bp that is above 140 — and count them?</a:t>
            </a:r>
            <a:endParaRPr lang="en-US" sz="16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HOLD THAT THOUGHT</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"a for loop"</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Most rooms say this, and it is not wrong. We are going to do it that way first — and then watch most of it disappear.</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ROADMAP</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By the end of today you can…</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1.  Write an if / elif / else that branches on a condition.</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2.  Write a for loop over a list or a vector.</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3.  Explain vectorisation — and spot a loop that should not exist.</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4.  Recognise an infinite loop, and stop one without panicking.</a:t>
            </a: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5.  Push back when an AI hands you a loop you do not need.</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txBody>
          <a:bodyPr/>
          <a:lstStyle/>
          <a:p>
            <a:endParaRPr lang="en-US"/>
          </a:p>
        </p:txBody>
      </p:sp>
      <p:sp>
        <p:nvSpPr>
          <p:cNvPr id="9" name="Text 6"/>
          <p:cNvSpPr/>
          <p:nvPr/>
        </p:nvSpPr>
        <p:spPr>
          <a:xfrm>
            <a:off x="868680" y="4663440"/>
            <a:ext cx="5852160" cy="10058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Objectives 3 and 5 are the point of the session. 1 and 2 are the prerequisites.</a:t>
            </a: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START THINKING ABOUT</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Your project dataset</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Project outlined in syllabus, but the basic idea is to find some data that is interesting to you and/or relevant to your work.</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870862"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870862"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4–10 MIN  ·  SEGMENT 2</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Conditionals — run this only if</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triage.py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if bp &gt;= 140:</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print("high")</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ECB748"/>
                </a:solidFill>
                <a:latin typeface="Courier New" pitchFamily="34" charset="0"/>
                <a:ea typeface="Courier New" pitchFamily="34" charset="-122"/>
                <a:cs typeface="Courier New" pitchFamily="34" charset="-120"/>
              </a:rPr>
              <a:t>elif bp &gt;= 120: ...  else: ...</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16" name="Shape 13"/>
          <p:cNvSpPr/>
          <p:nvPr/>
        </p:nvSpPr>
        <p:spPr>
          <a:xfrm>
            <a:off x="6492240" y="1801368"/>
            <a:ext cx="146304" cy="146304"/>
          </a:xfrm>
          <a:prstGeom prst="ellipse">
            <a:avLst/>
          </a:prstGeom>
          <a:solidFill>
            <a:srgbClr val="D64550"/>
          </a:solidFill>
          <a:ln/>
        </p:spPr>
        <p:txBody>
          <a:bodyPr/>
          <a:lstStyle/>
          <a:p>
            <a:endParaRPr lang="en-US"/>
          </a:p>
        </p:txBody>
      </p:sp>
      <p:sp>
        <p:nvSpPr>
          <p:cNvPr id="17" name="Shape 14"/>
          <p:cNvSpPr/>
          <p:nvPr/>
        </p:nvSpPr>
        <p:spPr>
          <a:xfrm>
            <a:off x="6748272" y="1801368"/>
            <a:ext cx="146304" cy="146304"/>
          </a:xfrm>
          <a:prstGeom prst="ellipse">
            <a:avLst/>
          </a:prstGeom>
          <a:solidFill>
            <a:srgbClr val="ECB748"/>
          </a:solidFill>
          <a:ln/>
        </p:spPr>
        <p:txBody>
          <a:bodyPr/>
          <a:lstStyle/>
          <a:p>
            <a:endParaRPr lang="en-US"/>
          </a:p>
        </p:txBody>
      </p:sp>
      <p:sp>
        <p:nvSpPr>
          <p:cNvPr id="18" name="Shape 15"/>
          <p:cNvSpPr/>
          <p:nvPr/>
        </p:nvSpPr>
        <p:spPr>
          <a:xfrm>
            <a:off x="7004304" y="1801368"/>
            <a:ext cx="146304" cy="146304"/>
          </a:xfrm>
          <a:prstGeom prst="ellipse">
            <a:avLst/>
          </a:prstGeom>
          <a:solidFill>
            <a:srgbClr val="6B6B6B"/>
          </a:solidFill>
          <a:ln/>
        </p:spPr>
        <p:txBody>
          <a:bodyPr/>
          <a:lstStyle/>
          <a:p>
            <a:endParaRPr lang="en-US"/>
          </a:p>
        </p:txBody>
      </p:sp>
      <p:sp>
        <p:nvSpPr>
          <p:cNvPr id="19" name="Text 16"/>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triage.R</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1" name="Text 18"/>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if (bp &gt;= 140) {</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print("high")</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B3C9CD"/>
                </a:solidFill>
                <a:latin typeface="Courier New" pitchFamily="34" charset="0"/>
                <a:ea typeface="Courier New" pitchFamily="34" charset="-122"/>
                <a:cs typeface="Courier New" pitchFamily="34" charset="-120"/>
              </a:rPr>
              <a:t>} else if (bp &gt;= 120) { ... }</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1. Python marks the body with indentation.  Four spaces, consistently. Mixing tabs and spaces is a real error, not a style complaint.</a:t>
            </a: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2. R uses curly braces and ignores whitespace.  Indent anyway — for the humans.</a:t>
            </a: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txBody>
          <a:bodyPr/>
          <a:lstStyle/>
          <a:p>
            <a:endParaRPr lang="en-US"/>
          </a:p>
        </p:txBody>
      </p:sp>
      <p:sp>
        <p:nvSpPr>
          <p:cNvPr id="27" name="Text 24"/>
          <p:cNvSpPr/>
          <p:nvPr/>
        </p:nvSpPr>
        <p:spPr>
          <a:xfrm>
            <a:off x="960120" y="4754880"/>
            <a:ext cx="1024128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THE CONDITION MUST PRODUCE A BOOLEAN</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marL="0" indent="0">
              <a:buNone/>
            </a:pPr>
            <a:r>
              <a:rPr lang="en-US" sz="1500" b="1" dirty="0">
                <a:solidFill>
                  <a:srgbClr val="1C1C1C"/>
                </a:solidFill>
                <a:latin typeface="Courier New" pitchFamily="34" charset="0"/>
                <a:ea typeface="Courier New" pitchFamily="34" charset="-122"/>
                <a:cs typeface="Courier New" pitchFamily="34" charset="-120"/>
              </a:rPr>
              <a:t>which is exactly what  &gt;=  and  ==  give you — the same booleans from Session 2</a:t>
            </a: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marL="0" indent="0">
              <a:buNone/>
            </a:pPr>
            <a:r>
              <a:rPr lang="en-US" sz="1250" i="1" dirty="0">
                <a:solidFill>
                  <a:srgbClr val="1C1C1C"/>
                </a:solidFill>
                <a:latin typeface="Arial" pitchFamily="34" charset="0"/>
                <a:ea typeface="Arial" pitchFamily="34" charset="-122"/>
                <a:cs typeface="Arial" pitchFamily="34" charset="-120"/>
              </a:rPr>
              <a:t>An elif chain is checked top to bottom and stops at the first hit. That is why the 140 test has to come first.</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430475"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430475"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10–13 MIN  ·  A CORRECTNESS BUG</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elif is not the same as another if</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three independent tests</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if bp &gt;= 140:  cat = "high"</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if bp &gt;= 120:  cat = "elevated"</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ECB748"/>
                </a:solidFill>
                <a:latin typeface="Courier New" pitchFamily="34" charset="0"/>
                <a:ea typeface="Courier New" pitchFamily="34" charset="-122"/>
                <a:cs typeface="Courier New" pitchFamily="34" charset="-120"/>
              </a:rPr>
              <a:t>if bp &lt; 120:   cat = "normal"</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16" name="Shape 13"/>
          <p:cNvSpPr/>
          <p:nvPr/>
        </p:nvSpPr>
        <p:spPr>
          <a:xfrm>
            <a:off x="6492240" y="1801368"/>
            <a:ext cx="146304" cy="146304"/>
          </a:xfrm>
          <a:prstGeom prst="ellipse">
            <a:avLst/>
          </a:prstGeom>
          <a:solidFill>
            <a:srgbClr val="D64550"/>
          </a:solidFill>
          <a:ln/>
        </p:spPr>
        <p:txBody>
          <a:bodyPr/>
          <a:lstStyle/>
          <a:p>
            <a:endParaRPr lang="en-US"/>
          </a:p>
        </p:txBody>
      </p:sp>
      <p:sp>
        <p:nvSpPr>
          <p:cNvPr id="17" name="Shape 14"/>
          <p:cNvSpPr/>
          <p:nvPr/>
        </p:nvSpPr>
        <p:spPr>
          <a:xfrm>
            <a:off x="6748272" y="1801368"/>
            <a:ext cx="146304" cy="146304"/>
          </a:xfrm>
          <a:prstGeom prst="ellipse">
            <a:avLst/>
          </a:prstGeom>
          <a:solidFill>
            <a:srgbClr val="ECB748"/>
          </a:solidFill>
          <a:ln/>
        </p:spPr>
        <p:txBody>
          <a:bodyPr/>
          <a:lstStyle/>
          <a:p>
            <a:endParaRPr lang="en-US"/>
          </a:p>
        </p:txBody>
      </p:sp>
      <p:sp>
        <p:nvSpPr>
          <p:cNvPr id="18" name="Shape 15"/>
          <p:cNvSpPr/>
          <p:nvPr/>
        </p:nvSpPr>
        <p:spPr>
          <a:xfrm>
            <a:off x="7004304" y="1801368"/>
            <a:ext cx="146304" cy="146304"/>
          </a:xfrm>
          <a:prstGeom prst="ellipse">
            <a:avLst/>
          </a:prstGeom>
          <a:solidFill>
            <a:srgbClr val="6B6B6B"/>
          </a:solidFill>
          <a:ln/>
        </p:spPr>
        <p:txBody>
          <a:bodyPr/>
          <a:lstStyle/>
          <a:p>
            <a:endParaRPr lang="en-US"/>
          </a:p>
        </p:txBody>
      </p:sp>
      <p:sp>
        <p:nvSpPr>
          <p:cNvPr id="19" name="Text 16"/>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one decision</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1" name="Text 18"/>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if bp &gt;= 140:    cat = "high"</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elif bp &gt;= 120:  cat = "elevated"</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B3C9CD"/>
                </a:solidFill>
                <a:latin typeface="Courier New" pitchFamily="34" charset="0"/>
                <a:ea typeface="Courier New" pitchFamily="34" charset="-122"/>
                <a:cs typeface="Courier New" pitchFamily="34" charset="-120"/>
              </a:rPr>
              <a:t>else:            cat = "normal"</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Left, with bp = 145:  sets "high" — then overwrites it with "elevated". Wrong answer, no error.</a:t>
            </a: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Right, with bp = 145:  gives "high" and stops. elif means "only check this if the previous one did not fire."</a:t>
            </a: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txBody>
          <a:bodyPr/>
          <a:lstStyle/>
          <a:p>
            <a:endParaRPr lang="en-US"/>
          </a:p>
        </p:txBody>
      </p:sp>
      <p:sp>
        <p:nvSpPr>
          <p:cNvPr id="27" name="Text 24"/>
          <p:cNvSpPr/>
          <p:nvPr/>
        </p:nvSpPr>
        <p:spPr>
          <a:xfrm>
            <a:off x="960120" y="4754880"/>
            <a:ext cx="1024128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THIS IS A CORRECTNESS BUG, NOT A STYLE BUG</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marL="0" indent="0">
              <a:buNone/>
            </a:pPr>
            <a:r>
              <a:rPr lang="en-US" sz="1500" b="1" dirty="0">
                <a:solidFill>
                  <a:srgbClr val="1C1C1C"/>
                </a:solidFill>
                <a:latin typeface="Courier New" pitchFamily="34" charset="0"/>
                <a:ea typeface="Courier New" pitchFamily="34" charset="-122"/>
                <a:cs typeface="Courier New" pitchFamily="34" charset="-120"/>
              </a:rPr>
              <a:t>In the left version, "high" is never the final answer for anybody</a:t>
            </a: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marL="0" indent="0">
              <a:buNone/>
            </a:pPr>
            <a:r>
              <a:rPr lang="en-US" sz="1250" i="1" dirty="0">
                <a:solidFill>
                  <a:srgbClr val="1C1C1C"/>
                </a:solidFill>
                <a:latin typeface="Arial" pitchFamily="34" charset="0"/>
                <a:ea typeface="Arial" pitchFamily="34" charset="-122"/>
                <a:cs typeface="Arial" pitchFamily="34" charset="-120"/>
              </a:rPr>
              <a:t>And it is exactly what an AI writes when your prompt describes three separate rules instead of one decision.</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13–18 MIN  ·  SEGMENT 3</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For loops — do this once per element</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loop.py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for bp in bp_list:</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if bp &gt;= 140:</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print(bp, "is high")</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loop.R</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for (bp in bp_list) {</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if (bp &gt;= 140) {</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print(bp)</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 }</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READ EVERY LOOP OUT LOUD, IN ENGLISH</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"For each blood pressure in the list: if it is at least 140, print it."</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If you cannot say a loop in one English sentence, you do not understand it yet — and neither will the person reviewing your paper. Note that bp is a new variable taking each value in turn; it is not the whole list. That trips up almost everybody once.</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554833"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554833"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18–21 MIN  ·  THE SHAPE AI WRITES</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The accumulator pattern</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count.py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count_high = 0      # initialise</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for bp in bp_list:</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if bp &gt;= 140:</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count_high += 1   # update</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the three parts</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1. initialise   BEFORE the loop</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2. update       INSIDE the loop</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3. use          AFTER the loop</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miss #1 and you get a NameError</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RECOGNISE THIS SHAPE</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This is what an AI writes when you ask it to count, sum, or collect something</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It is not wrong. But put the "use" step inside the loop and you print five times instead of once — and in a moment we will see that the language already knows how to do all of this.</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492654"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492654"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21–26 MIN  ·  THE POINT OF TODAY</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Vectorisation — the same job, no loop</a:t>
            </a:r>
            <a:endParaRPr lang="en-US" sz="2800" dirty="0"/>
          </a:p>
        </p:txBody>
      </p:sp>
      <p:sp>
        <p:nvSpPr>
          <p:cNvPr id="6" name="Text 3"/>
          <p:cNvSpPr/>
          <p:nvPr/>
        </p:nvSpPr>
        <p:spPr>
          <a:xfrm>
            <a:off x="640080" y="1417320"/>
            <a:ext cx="10881360" cy="457200"/>
          </a:xfrm>
          <a:prstGeom prst="rect">
            <a:avLst/>
          </a:prstGeom>
          <a:noFill/>
          <a:ln/>
        </p:spPr>
        <p:txBody>
          <a:bodyPr wrap="square" rtlCol="0" anchor="ctr"/>
          <a:lstStyle/>
          <a:p>
            <a:pPr marL="0" indent="0">
              <a:buNone/>
            </a:pPr>
            <a:r>
              <a:rPr lang="en-US" sz="1400" i="1" dirty="0">
                <a:solidFill>
                  <a:srgbClr val="595959"/>
                </a:solidFill>
                <a:latin typeface="Arial" pitchFamily="34" charset="0"/>
                <a:ea typeface="Arial" pitchFamily="34" charset="-122"/>
                <a:cs typeface="Arial" pitchFamily="34" charset="-120"/>
              </a:rPr>
              <a:t>Watch how much of that disappears. Build it in three steps and do not show the one-liner first.</a:t>
            </a:r>
            <a:endParaRPr lang="en-US" sz="1400" dirty="0"/>
          </a:p>
        </p:txBody>
      </p:sp>
      <p:sp>
        <p:nvSpPr>
          <p:cNvPr id="7" name="Shape 4"/>
          <p:cNvSpPr/>
          <p:nvPr/>
        </p:nvSpPr>
        <p:spPr>
          <a:xfrm>
            <a:off x="640080" y="2011680"/>
            <a:ext cx="5257800" cy="2286000"/>
          </a:xfrm>
          <a:prstGeom prst="roundRect">
            <a:avLst>
              <a:gd name="adj" fmla="val 4000"/>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68680" y="2212848"/>
            <a:ext cx="146304" cy="146304"/>
          </a:xfrm>
          <a:prstGeom prst="ellipse">
            <a:avLst/>
          </a:prstGeom>
          <a:solidFill>
            <a:srgbClr val="D64550"/>
          </a:solidFill>
          <a:ln/>
        </p:spPr>
        <p:txBody>
          <a:bodyPr/>
          <a:lstStyle/>
          <a:p>
            <a:endParaRPr lang="en-US"/>
          </a:p>
        </p:txBody>
      </p:sp>
      <p:sp>
        <p:nvSpPr>
          <p:cNvPr id="9" name="Shape 6"/>
          <p:cNvSpPr/>
          <p:nvPr/>
        </p:nvSpPr>
        <p:spPr>
          <a:xfrm>
            <a:off x="1124712" y="2212848"/>
            <a:ext cx="146304" cy="146304"/>
          </a:xfrm>
          <a:prstGeom prst="ellipse">
            <a:avLst/>
          </a:prstGeom>
          <a:solidFill>
            <a:srgbClr val="ECB748"/>
          </a:solidFill>
          <a:ln/>
        </p:spPr>
        <p:txBody>
          <a:bodyPr/>
          <a:lstStyle/>
          <a:p>
            <a:endParaRPr lang="en-US"/>
          </a:p>
        </p:txBody>
      </p:sp>
      <p:sp>
        <p:nvSpPr>
          <p:cNvPr id="10" name="Shape 7"/>
          <p:cNvSpPr/>
          <p:nvPr/>
        </p:nvSpPr>
        <p:spPr>
          <a:xfrm>
            <a:off x="1380744" y="2212848"/>
            <a:ext cx="146304" cy="146304"/>
          </a:xfrm>
          <a:prstGeom prst="ellipse">
            <a:avLst/>
          </a:prstGeom>
          <a:solidFill>
            <a:srgbClr val="6B6B6B"/>
          </a:solidFill>
          <a:ln/>
        </p:spPr>
        <p:txBody>
          <a:bodyPr/>
          <a:lstStyle/>
          <a:p>
            <a:endParaRPr lang="en-US"/>
          </a:p>
        </p:txBody>
      </p:sp>
      <p:sp>
        <p:nvSpPr>
          <p:cNvPr id="11" name="Text 8"/>
          <p:cNvSpPr/>
          <p:nvPr/>
        </p:nvSpPr>
        <p:spPr>
          <a:xfrm>
            <a:off x="1783080" y="215798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vectorised.R</a:t>
            </a:r>
            <a:endParaRPr lang="en-US" sz="1050" dirty="0"/>
          </a:p>
        </p:txBody>
      </p:sp>
      <p:sp>
        <p:nvSpPr>
          <p:cNvPr id="12" name="Shape 9"/>
          <p:cNvSpPr/>
          <p:nvPr/>
        </p:nvSpPr>
        <p:spPr>
          <a:xfrm>
            <a:off x="685800" y="2514600"/>
            <a:ext cx="5166360" cy="0"/>
          </a:xfrm>
          <a:prstGeom prst="line">
            <a:avLst/>
          </a:prstGeom>
          <a:noFill/>
          <a:ln w="12700">
            <a:solidFill>
              <a:srgbClr val="444444"/>
            </a:solidFill>
            <a:prstDash val="solid"/>
          </a:ln>
        </p:spPr>
        <p:txBody>
          <a:bodyPr/>
          <a:lstStyle/>
          <a:p>
            <a:endParaRPr lang="en-US"/>
          </a:p>
        </p:txBody>
      </p:sp>
      <p:sp>
        <p:nvSpPr>
          <p:cNvPr id="13" name="Text 10"/>
          <p:cNvSpPr/>
          <p:nvPr/>
        </p:nvSpPr>
        <p:spPr>
          <a:xfrm>
            <a:off x="914400" y="265176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bp_list &gt;= 140   # F F T F F  &lt;- the mask</a:t>
            </a:r>
            <a:endParaRPr lang="en-US" sz="1300" dirty="0"/>
          </a:p>
        </p:txBody>
      </p:sp>
      <p:sp>
        <p:nvSpPr>
          <p:cNvPr id="14" name="Text 11"/>
          <p:cNvSpPr/>
          <p:nvPr/>
        </p:nvSpPr>
        <p:spPr>
          <a:xfrm>
            <a:off x="914400" y="298094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sum(bp_list &gt;= 140)</a:t>
            </a:r>
            <a:endParaRPr lang="en-US" sz="1300" dirty="0"/>
          </a:p>
        </p:txBody>
      </p:sp>
      <p:sp>
        <p:nvSpPr>
          <p:cNvPr id="15" name="Text 12"/>
          <p:cNvSpPr/>
          <p:nvPr/>
        </p:nvSpPr>
        <p:spPr>
          <a:xfrm>
            <a:off x="914400" y="3310128"/>
            <a:ext cx="4709160" cy="329184"/>
          </a:xfrm>
          <a:prstGeom prst="rect">
            <a:avLst/>
          </a:prstGeom>
          <a:noFill/>
          <a:ln/>
        </p:spPr>
        <p:txBody>
          <a:bodyPr wrap="square" rtlCol="0" anchor="ctr"/>
          <a:lstStyle/>
          <a:p>
            <a:pPr marL="0" indent="0">
              <a:buNone/>
            </a:pPr>
            <a:r>
              <a:rPr lang="en-US" sz="1300" dirty="0">
                <a:solidFill>
                  <a:srgbClr val="8A8A82"/>
                </a:solidFill>
                <a:latin typeface="Courier New" pitchFamily="34" charset="0"/>
                <a:ea typeface="Courier New" pitchFamily="34" charset="-122"/>
                <a:cs typeface="Courier New" pitchFamily="34" charset="-120"/>
              </a:rPr>
              <a:t># 1              &lt;- the whole program</a:t>
            </a:r>
            <a:endParaRPr lang="en-US" sz="1300" dirty="0"/>
          </a:p>
        </p:txBody>
      </p:sp>
      <p:sp>
        <p:nvSpPr>
          <p:cNvPr id="16" name="Shape 13"/>
          <p:cNvSpPr/>
          <p:nvPr/>
        </p:nvSpPr>
        <p:spPr>
          <a:xfrm>
            <a:off x="6263640" y="2011680"/>
            <a:ext cx="5257800" cy="2286000"/>
          </a:xfrm>
          <a:prstGeom prst="roundRect">
            <a:avLst>
              <a:gd name="adj" fmla="val 4000"/>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2212848"/>
            <a:ext cx="146304" cy="146304"/>
          </a:xfrm>
          <a:prstGeom prst="ellipse">
            <a:avLst/>
          </a:prstGeom>
          <a:solidFill>
            <a:srgbClr val="D64550"/>
          </a:solidFill>
          <a:ln/>
        </p:spPr>
        <p:txBody>
          <a:bodyPr/>
          <a:lstStyle/>
          <a:p>
            <a:endParaRPr lang="en-US"/>
          </a:p>
        </p:txBody>
      </p:sp>
      <p:sp>
        <p:nvSpPr>
          <p:cNvPr id="18" name="Shape 15"/>
          <p:cNvSpPr/>
          <p:nvPr/>
        </p:nvSpPr>
        <p:spPr>
          <a:xfrm>
            <a:off x="6748272" y="2212848"/>
            <a:ext cx="146304" cy="146304"/>
          </a:xfrm>
          <a:prstGeom prst="ellipse">
            <a:avLst/>
          </a:prstGeom>
          <a:solidFill>
            <a:srgbClr val="ECB748"/>
          </a:solidFill>
          <a:ln/>
        </p:spPr>
        <p:txBody>
          <a:bodyPr/>
          <a:lstStyle/>
          <a:p>
            <a:endParaRPr lang="en-US"/>
          </a:p>
        </p:txBody>
      </p:sp>
      <p:sp>
        <p:nvSpPr>
          <p:cNvPr id="19" name="Shape 16"/>
          <p:cNvSpPr/>
          <p:nvPr/>
        </p:nvSpPr>
        <p:spPr>
          <a:xfrm>
            <a:off x="7004304" y="2212848"/>
            <a:ext cx="146304" cy="146304"/>
          </a:xfrm>
          <a:prstGeom prst="ellipse">
            <a:avLst/>
          </a:prstGeom>
          <a:solidFill>
            <a:srgbClr val="6B6B6B"/>
          </a:solidFill>
          <a:ln/>
        </p:spPr>
        <p:txBody>
          <a:bodyPr/>
          <a:lstStyle/>
          <a:p>
            <a:endParaRPr lang="en-US"/>
          </a:p>
        </p:txBody>
      </p:sp>
      <p:sp>
        <p:nvSpPr>
          <p:cNvPr id="20" name="Text 17"/>
          <p:cNvSpPr/>
          <p:nvPr/>
        </p:nvSpPr>
        <p:spPr>
          <a:xfrm>
            <a:off x="7406640" y="215798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why it works</a:t>
            </a:r>
            <a:endParaRPr lang="en-US" sz="1050" dirty="0"/>
          </a:p>
        </p:txBody>
      </p:sp>
      <p:sp>
        <p:nvSpPr>
          <p:cNvPr id="21" name="Shape 18"/>
          <p:cNvSpPr/>
          <p:nvPr/>
        </p:nvSpPr>
        <p:spPr>
          <a:xfrm>
            <a:off x="6309360" y="251460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65176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&gt;= applies element-wise to the whole</a:t>
            </a:r>
            <a:endParaRPr lang="en-US" sz="1300" dirty="0"/>
          </a:p>
        </p:txBody>
      </p:sp>
      <p:sp>
        <p:nvSpPr>
          <p:cNvPr id="23" name="Text 20"/>
          <p:cNvSpPr/>
          <p:nvPr/>
        </p:nvSpPr>
        <p:spPr>
          <a:xfrm>
            <a:off x="6537960" y="298094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vector, not to a single number.</a:t>
            </a:r>
            <a:endParaRPr lang="en-US" sz="1300" dirty="0"/>
          </a:p>
        </p:txBody>
      </p:sp>
      <p:sp>
        <p:nvSpPr>
          <p:cNvPr id="24" name="Text 21"/>
          <p:cNvSpPr/>
          <p:nvPr/>
        </p:nvSpPr>
        <p:spPr>
          <a:xfrm>
            <a:off x="6537960" y="331012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sum() on booleans counts the TRUEs,</a:t>
            </a:r>
            <a:endParaRPr lang="en-US" sz="1300" dirty="0"/>
          </a:p>
        </p:txBody>
      </p:sp>
      <p:sp>
        <p:nvSpPr>
          <p:cNvPr id="25" name="Text 22"/>
          <p:cNvSpPr/>
          <p:nvPr/>
        </p:nvSpPr>
        <p:spPr>
          <a:xfrm>
            <a:off x="6537960" y="363931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because booleans are numbers (S2).</a:t>
            </a:r>
            <a:endParaRPr lang="en-US" sz="1300" dirty="0"/>
          </a:p>
        </p:txBody>
      </p:sp>
      <p:sp>
        <p:nvSpPr>
          <p:cNvPr id="26" name="Shape 23"/>
          <p:cNvSpPr/>
          <p:nvPr/>
        </p:nvSpPr>
        <p:spPr>
          <a:xfrm>
            <a:off x="640080" y="4572000"/>
            <a:ext cx="10881360" cy="1463040"/>
          </a:xfrm>
          <a:prstGeom prst="roundRect">
            <a:avLst>
              <a:gd name="adj" fmla="val 6250"/>
            </a:avLst>
          </a:prstGeom>
          <a:solidFill>
            <a:srgbClr val="FBF0DA"/>
          </a:solidFill>
          <a:ln w="19050">
            <a:solidFill>
              <a:srgbClr val="ECB748"/>
            </a:solidFill>
            <a:prstDash val="solid"/>
          </a:ln>
        </p:spPr>
        <p:txBody>
          <a:bodyPr/>
          <a:lstStyle/>
          <a:p>
            <a:endParaRPr lang="en-US"/>
          </a:p>
        </p:txBody>
      </p:sp>
      <p:sp>
        <p:nvSpPr>
          <p:cNvPr id="27" name="Text 24"/>
          <p:cNvSpPr/>
          <p:nvPr/>
        </p:nvSpPr>
        <p:spPr>
          <a:xfrm>
            <a:off x="914400" y="4754880"/>
            <a:ext cx="10332720" cy="457200"/>
          </a:xfrm>
          <a:prstGeom prst="rect">
            <a:avLst/>
          </a:prstGeom>
          <a:noFill/>
          <a:ln/>
        </p:spPr>
        <p:txBody>
          <a:bodyPr wrap="square" rtlCol="0" anchor="ctr"/>
          <a:lstStyle/>
          <a:p>
            <a:pPr marL="0" indent="0">
              <a:buNone/>
            </a:pPr>
            <a:r>
              <a:rPr lang="en-US" sz="1800" b="1" dirty="0">
                <a:solidFill>
                  <a:srgbClr val="1C1C1C"/>
                </a:solidFill>
                <a:latin typeface="Courier New" pitchFamily="34" charset="0"/>
                <a:ea typeface="Courier New" pitchFamily="34" charset="-122"/>
                <a:cs typeface="Courier New" pitchFamily="34" charset="-120"/>
              </a:rPr>
              <a:t>sum(bp_list &gt;= 140)</a:t>
            </a:r>
            <a:endParaRPr lang="en-US" sz="1800" dirty="0"/>
          </a:p>
        </p:txBody>
      </p:sp>
      <p:sp>
        <p:nvSpPr>
          <p:cNvPr id="28" name="Text 25"/>
          <p:cNvSpPr/>
          <p:nvPr/>
        </p:nvSpPr>
        <p:spPr>
          <a:xfrm>
            <a:off x="914400" y="5257800"/>
            <a:ext cx="10332720" cy="6400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Three sessions converging: booleans-are-numbers (S2) + boolean masks (S3) + operations that broadcast over a container (today) = the way R was designed to be written.</a:t>
            </a:r>
            <a:endParaRPr lang="en-US" sz="1400" dirty="0"/>
          </a:p>
        </p:txBody>
      </p:sp>
      <p:sp>
        <p:nvSpPr>
          <p:cNvPr id="29" name="Text 26"/>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746504"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746504"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26–29 MIN  ·  PYTHON</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Python — same idea, two ways</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comprehension</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count_high = sum(</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bp &gt;= 140 for bp in bp_list)</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a loop in a nicer coat — but idiomatic</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numpy</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import numpy as np</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arr = np.array(bp_list)</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(arr &gt;= 140).sum()</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genuinely vectorised</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PLAIN PYTHON LISTS ARE NOT VECTORISED</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[1, 2, 3] &gt;= 2      -&gt;      TypeError</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That one line explains the existence of the entire scientific Python stack. R gives you vectorisation in the base language; Python makes you import it. Same concept, different packaging — and it is why Session 7 starts with pandas.</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2243937"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2243937"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29–31 MIN  ·  WHY IT MATTERS</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Three reasons, in order</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1. Correctness.  One line has one place to put a bug; six lines have six. The loop version has an off-by-one waiting to happen. The vectorised version does not.</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2. Speed.  Ten to a thousand times faster on real data. At a million rows that is 0.01 seconds against 10 — per operation, in a script you run fifty times.</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txBody>
          <a:bodyPr/>
          <a:lstStyle/>
          <a:p>
            <a:endParaRPr lang="en-US"/>
          </a:p>
        </p:txBody>
      </p:sp>
      <p:sp>
        <p:nvSpPr>
          <p:cNvPr id="9" name="Text 6"/>
          <p:cNvSpPr/>
          <p:nvPr/>
        </p:nvSpPr>
        <p:spPr>
          <a:xfrm>
            <a:off x="868680" y="4663440"/>
            <a:ext cx="5852160" cy="10058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3. Readability.  sum(bp &gt; 140) says what it means. A reviewer reads it in one second; a loop takes thirty and a careful eye.</a:t>
            </a: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BE FAIR TO LOOPS</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They are correct.</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Clarity beats cleverness, and a loop you understand beats a one-liner you copied. The objection here is narrower: in this case the vectorised form is also the clearer one.</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05740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05740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31–34 MIN  ·  THE AI TRAP</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When an AI hands you a loop you do not need</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what you asked</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"how do I count patients</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with high BP in R?"</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a perfectly reasonable question</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what you may get back</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count &lt;- 0</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for (bp in bp_list) {</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if (bp &gt;= 140) count &lt;- count + 1</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A LOOP IN R IS A CODE SMELL — NOT AN ERROR</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Push back:  "is there a vectorised version?"      Answer:  sum(bp_list &gt;= 140)</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That loop runs and gives the right answer, so no error will ever tell you. The tell is that it does not look like the language. Knowing the idiom is the only thing that catches it — exactly like the bp[-1] trap last week.</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34–36 MIN  ·  WHILE</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while — and how to stop one</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countdown.py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i = 0</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while i &lt; 5:</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print(i)</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i = i + 1   # forget this -&gt; forever</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how to stop it</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Terminal          Ctrl-C</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VS Code           the stop button</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RStudio           the red stop sign</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nothing breaks. it just stops.</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WHEN TO USE ONE — RARELY</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for runs a known number of times.   while runs until something becomes false.</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Ask yourself: do I genuinely not know how many iterations I need? Usually you do, and a for is safer. The real exceptions are convergence loops and paging through an API.</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REFERENCE</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The vectorised vocabulary to carry forward</a:t>
            </a:r>
            <a:endParaRPr lang="en-US" sz="3000" dirty="0"/>
          </a:p>
        </p:txBody>
      </p:sp>
      <p:sp>
        <p:nvSpPr>
          <p:cNvPr id="6" name="Shape 3"/>
          <p:cNvSpPr/>
          <p:nvPr/>
        </p:nvSpPr>
        <p:spPr>
          <a:xfrm>
            <a:off x="640080" y="1600200"/>
            <a:ext cx="5257800" cy="2331720"/>
          </a:xfrm>
          <a:prstGeom prst="roundRect">
            <a:avLst>
              <a:gd name="adj" fmla="val 3922"/>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recode.R</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ifelse(bp &gt;= 140,</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"high",</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"normal")</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the one you will need soonest</a:t>
            </a:r>
            <a:endParaRPr lang="en-US" sz="1300" dirty="0"/>
          </a:p>
        </p:txBody>
      </p:sp>
      <p:sp>
        <p:nvSpPr>
          <p:cNvPr id="16" name="Shape 13"/>
          <p:cNvSpPr/>
          <p:nvPr/>
        </p:nvSpPr>
        <p:spPr>
          <a:xfrm>
            <a:off x="6263640" y="1600200"/>
            <a:ext cx="5257800" cy="2331720"/>
          </a:xfrm>
          <a:prstGeom prst="roundRect">
            <a:avLst>
              <a:gd name="adj" fmla="val 3922"/>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recode.py</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np.where(arr &gt;= 140,</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"high",</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"normal")</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same idea, numpy spelling</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4160520"/>
          <a:ext cx="10881360" cy="2011680"/>
        </p:xfrm>
        <a:graphic>
          <a:graphicData uri="http://schemas.openxmlformats.org/drawingml/2006/table">
            <a:tbl>
              <a:tblPr/>
              <a:tblGrid>
                <a:gridCol w="4352544">
                  <a:extLst>
                    <a:ext uri="{9D8B030D-6E8A-4147-A177-3AD203B41FA5}">
                      <a16:colId xmlns:a16="http://schemas.microsoft.com/office/drawing/2014/main" val="20000"/>
                    </a:ext>
                  </a:extLst>
                </a:gridCol>
                <a:gridCol w="3264408">
                  <a:extLst>
                    <a:ext uri="{9D8B030D-6E8A-4147-A177-3AD203B41FA5}">
                      <a16:colId xmlns:a16="http://schemas.microsoft.com/office/drawing/2014/main" val="20001"/>
                    </a:ext>
                  </a:extLst>
                </a:gridCol>
                <a:gridCol w="3264408">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Job</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Python</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R</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Transform every element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arr * 2</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xs * 2</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Choose per element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np.where(cond, a, b)</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ifelse(cond, a, b)</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Keep matching elements</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arr[arr &gt; 140]</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xs[xs &gt; 140]</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Count or total</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(arr &gt; 140).sum()</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sum(xs &gt; 140)</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bl>
          </a:graphicData>
        </a:graphic>
      </p:graphicFrame>
      <p:sp>
        <p:nvSpPr>
          <p:cNvPr id="27" name="Text 23"/>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Text 0"/>
          <p:cNvSpPr/>
          <p:nvPr/>
        </p:nvSpPr>
        <p:spPr>
          <a:xfrm>
            <a:off x="640080" y="502920"/>
            <a:ext cx="5486400" cy="320040"/>
          </a:xfrm>
          <a:prstGeom prst="rect">
            <a:avLst/>
          </a:prstGeom>
          <a:noFill/>
          <a:ln/>
        </p:spPr>
        <p:txBody>
          <a:bodyPr wrap="square" rtlCol="0" anchor="ctr"/>
          <a:lstStyle/>
          <a:p>
            <a:pPr marL="0" indent="0">
              <a:buNone/>
            </a:pPr>
            <a:r>
              <a:rPr lang="en-US" sz="1200" b="1" kern="0" spc="200" dirty="0">
                <a:solidFill>
                  <a:srgbClr val="ECB748"/>
                </a:solidFill>
                <a:latin typeface="Arial" pitchFamily="34" charset="0"/>
                <a:ea typeface="Arial" pitchFamily="34" charset="-122"/>
                <a:cs typeface="Arial" pitchFamily="34" charset="-120"/>
              </a:rPr>
              <a:t>REFERENCE</a:t>
            </a:r>
            <a:endParaRPr lang="en-US" sz="1200" dirty="0"/>
          </a:p>
        </p:txBody>
      </p:sp>
      <p:sp>
        <p:nvSpPr>
          <p:cNvPr id="4" name="Text 1"/>
          <p:cNvSpPr/>
          <p:nvPr/>
        </p:nvSpPr>
        <p:spPr>
          <a:xfrm>
            <a:off x="594360" y="822960"/>
            <a:ext cx="91440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Vocabulary and traps</a:t>
            </a:r>
            <a:endParaRPr lang="en-US" sz="2800" dirty="0"/>
          </a:p>
        </p:txBody>
      </p:sp>
      <p:sp>
        <p:nvSpPr>
          <p:cNvPr id="5" name="Shape 2"/>
          <p:cNvSpPr/>
          <p:nvPr/>
        </p:nvSpPr>
        <p:spPr>
          <a:xfrm>
            <a:off x="640080" y="1600200"/>
            <a:ext cx="3538728" cy="960120"/>
          </a:xfrm>
          <a:prstGeom prst="roundRect">
            <a:avLst>
              <a:gd name="adj" fmla="val 9524"/>
            </a:avLst>
          </a:prstGeom>
          <a:solidFill>
            <a:srgbClr val="2E2E2E"/>
          </a:solidFill>
          <a:ln/>
        </p:spPr>
        <p:txBody>
          <a:bodyPr/>
          <a:lstStyle/>
          <a:p>
            <a:endParaRPr lang="en-US"/>
          </a:p>
        </p:txBody>
      </p:sp>
      <p:sp>
        <p:nvSpPr>
          <p:cNvPr id="6" name="Text 3"/>
          <p:cNvSpPr/>
          <p:nvPr/>
        </p:nvSpPr>
        <p:spPr>
          <a:xfrm>
            <a:off x="822960" y="170992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Conditional / branch</a:t>
            </a:r>
            <a:endParaRPr lang="en-US" sz="1300" dirty="0"/>
          </a:p>
        </p:txBody>
      </p:sp>
      <p:sp>
        <p:nvSpPr>
          <p:cNvPr id="7" name="Text 4"/>
          <p:cNvSpPr/>
          <p:nvPr/>
        </p:nvSpPr>
        <p:spPr>
          <a:xfrm>
            <a:off x="822960" y="201168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Code that runs only if something is true.</a:t>
            </a:r>
            <a:endParaRPr lang="en-US" sz="1050" dirty="0"/>
          </a:p>
        </p:txBody>
      </p:sp>
      <p:sp>
        <p:nvSpPr>
          <p:cNvPr id="8" name="Shape 5"/>
          <p:cNvSpPr/>
          <p:nvPr/>
        </p:nvSpPr>
        <p:spPr>
          <a:xfrm>
            <a:off x="4306824" y="1600200"/>
            <a:ext cx="3538728" cy="960120"/>
          </a:xfrm>
          <a:prstGeom prst="roundRect">
            <a:avLst>
              <a:gd name="adj" fmla="val 9524"/>
            </a:avLst>
          </a:prstGeom>
          <a:solidFill>
            <a:srgbClr val="2E2E2E"/>
          </a:solidFill>
          <a:ln/>
        </p:spPr>
        <p:txBody>
          <a:bodyPr/>
          <a:lstStyle/>
          <a:p>
            <a:endParaRPr lang="en-US"/>
          </a:p>
        </p:txBody>
      </p:sp>
      <p:sp>
        <p:nvSpPr>
          <p:cNvPr id="9" name="Text 6"/>
          <p:cNvSpPr/>
          <p:nvPr/>
        </p:nvSpPr>
        <p:spPr>
          <a:xfrm>
            <a:off x="4489704" y="170992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Loop / iteration</a:t>
            </a:r>
            <a:endParaRPr lang="en-US" sz="1300" dirty="0"/>
          </a:p>
        </p:txBody>
      </p:sp>
      <p:sp>
        <p:nvSpPr>
          <p:cNvPr id="10" name="Text 7"/>
          <p:cNvSpPr/>
          <p:nvPr/>
        </p:nvSpPr>
        <p:spPr>
          <a:xfrm>
            <a:off x="4489704" y="201168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The same code, once per element.</a:t>
            </a:r>
            <a:endParaRPr lang="en-US" sz="1050" dirty="0"/>
          </a:p>
        </p:txBody>
      </p:sp>
      <p:sp>
        <p:nvSpPr>
          <p:cNvPr id="11" name="Shape 8"/>
          <p:cNvSpPr/>
          <p:nvPr/>
        </p:nvSpPr>
        <p:spPr>
          <a:xfrm>
            <a:off x="7973568" y="1600200"/>
            <a:ext cx="3538728" cy="960120"/>
          </a:xfrm>
          <a:prstGeom prst="roundRect">
            <a:avLst>
              <a:gd name="adj" fmla="val 9524"/>
            </a:avLst>
          </a:prstGeom>
          <a:solidFill>
            <a:srgbClr val="2E2E2E"/>
          </a:solidFill>
          <a:ln/>
        </p:spPr>
        <p:txBody>
          <a:bodyPr/>
          <a:lstStyle/>
          <a:p>
            <a:endParaRPr lang="en-US"/>
          </a:p>
        </p:txBody>
      </p:sp>
      <p:sp>
        <p:nvSpPr>
          <p:cNvPr id="12" name="Text 9"/>
          <p:cNvSpPr/>
          <p:nvPr/>
        </p:nvSpPr>
        <p:spPr>
          <a:xfrm>
            <a:off x="8156448" y="170992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Iterable</a:t>
            </a:r>
            <a:endParaRPr lang="en-US" sz="1300" dirty="0"/>
          </a:p>
        </p:txBody>
      </p:sp>
      <p:sp>
        <p:nvSpPr>
          <p:cNvPr id="13" name="Text 10"/>
          <p:cNvSpPr/>
          <p:nvPr/>
        </p:nvSpPr>
        <p:spPr>
          <a:xfrm>
            <a:off x="8156448" y="201168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Anything you can loop over.</a:t>
            </a:r>
            <a:endParaRPr lang="en-US" sz="1050" dirty="0"/>
          </a:p>
        </p:txBody>
      </p:sp>
      <p:sp>
        <p:nvSpPr>
          <p:cNvPr id="14" name="Shape 11"/>
          <p:cNvSpPr/>
          <p:nvPr/>
        </p:nvSpPr>
        <p:spPr>
          <a:xfrm>
            <a:off x="640080" y="2697480"/>
            <a:ext cx="3538728" cy="960120"/>
          </a:xfrm>
          <a:prstGeom prst="roundRect">
            <a:avLst>
              <a:gd name="adj" fmla="val 9524"/>
            </a:avLst>
          </a:prstGeom>
          <a:solidFill>
            <a:srgbClr val="2E2E2E"/>
          </a:solidFill>
          <a:ln/>
        </p:spPr>
        <p:txBody>
          <a:bodyPr/>
          <a:lstStyle/>
          <a:p>
            <a:endParaRPr lang="en-US"/>
          </a:p>
        </p:txBody>
      </p:sp>
      <p:sp>
        <p:nvSpPr>
          <p:cNvPr id="15" name="Text 12"/>
          <p:cNvSpPr/>
          <p:nvPr/>
        </p:nvSpPr>
        <p:spPr>
          <a:xfrm>
            <a:off x="822960" y="280720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Vectorisation</a:t>
            </a:r>
            <a:endParaRPr lang="en-US" sz="1300" dirty="0"/>
          </a:p>
        </p:txBody>
      </p:sp>
      <p:sp>
        <p:nvSpPr>
          <p:cNvPr id="16" name="Text 13"/>
          <p:cNvSpPr/>
          <p:nvPr/>
        </p:nvSpPr>
        <p:spPr>
          <a:xfrm>
            <a:off x="822960" y="310896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Operating on a whole container at once.</a:t>
            </a:r>
            <a:endParaRPr lang="en-US" sz="1050" dirty="0"/>
          </a:p>
        </p:txBody>
      </p:sp>
      <p:sp>
        <p:nvSpPr>
          <p:cNvPr id="17" name="Shape 14"/>
          <p:cNvSpPr/>
          <p:nvPr/>
        </p:nvSpPr>
        <p:spPr>
          <a:xfrm>
            <a:off x="4306824" y="2697480"/>
            <a:ext cx="3538728" cy="960120"/>
          </a:xfrm>
          <a:prstGeom prst="roundRect">
            <a:avLst>
              <a:gd name="adj" fmla="val 9524"/>
            </a:avLst>
          </a:prstGeom>
          <a:solidFill>
            <a:srgbClr val="2E2E2E"/>
          </a:solidFill>
          <a:ln/>
        </p:spPr>
        <p:txBody>
          <a:bodyPr/>
          <a:lstStyle/>
          <a:p>
            <a:endParaRPr lang="en-US"/>
          </a:p>
        </p:txBody>
      </p:sp>
      <p:sp>
        <p:nvSpPr>
          <p:cNvPr id="18" name="Text 15"/>
          <p:cNvSpPr/>
          <p:nvPr/>
        </p:nvSpPr>
        <p:spPr>
          <a:xfrm>
            <a:off x="4489704" y="280720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Comprehension</a:t>
            </a:r>
            <a:endParaRPr lang="en-US" sz="1300" dirty="0"/>
          </a:p>
        </p:txBody>
      </p:sp>
      <p:sp>
        <p:nvSpPr>
          <p:cNvPr id="19" name="Text 16"/>
          <p:cNvSpPr/>
          <p:nvPr/>
        </p:nvSpPr>
        <p:spPr>
          <a:xfrm>
            <a:off x="4489704" y="310896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Python's [expr for x in xs].</a:t>
            </a:r>
            <a:endParaRPr lang="en-US" sz="1050" dirty="0"/>
          </a:p>
        </p:txBody>
      </p:sp>
      <p:sp>
        <p:nvSpPr>
          <p:cNvPr id="20" name="Shape 17"/>
          <p:cNvSpPr/>
          <p:nvPr/>
        </p:nvSpPr>
        <p:spPr>
          <a:xfrm>
            <a:off x="7973568" y="2697480"/>
            <a:ext cx="3538728" cy="960120"/>
          </a:xfrm>
          <a:prstGeom prst="roundRect">
            <a:avLst>
              <a:gd name="adj" fmla="val 9524"/>
            </a:avLst>
          </a:prstGeom>
          <a:solidFill>
            <a:srgbClr val="2E2E2E"/>
          </a:solidFill>
          <a:ln/>
        </p:spPr>
        <p:txBody>
          <a:bodyPr/>
          <a:lstStyle/>
          <a:p>
            <a:endParaRPr lang="en-US"/>
          </a:p>
        </p:txBody>
      </p:sp>
      <p:sp>
        <p:nvSpPr>
          <p:cNvPr id="21" name="Text 18"/>
          <p:cNvSpPr/>
          <p:nvPr/>
        </p:nvSpPr>
        <p:spPr>
          <a:xfrm>
            <a:off x="8156448" y="2807208"/>
            <a:ext cx="3172968" cy="292608"/>
          </a:xfrm>
          <a:prstGeom prst="rect">
            <a:avLst/>
          </a:prstGeom>
          <a:noFill/>
          <a:ln/>
        </p:spPr>
        <p:txBody>
          <a:bodyPr wrap="square" rtlCol="0" anchor="ctr"/>
          <a:lstStyle/>
          <a:p>
            <a:pPr marL="0" indent="0">
              <a:buNone/>
            </a:pPr>
            <a:r>
              <a:rPr lang="en-US" sz="1300" b="1" dirty="0">
                <a:solidFill>
                  <a:srgbClr val="ECB748"/>
                </a:solidFill>
                <a:latin typeface="Arial" pitchFamily="34" charset="0"/>
                <a:ea typeface="Arial" pitchFamily="34" charset="-122"/>
                <a:cs typeface="Arial" pitchFamily="34" charset="-120"/>
              </a:rPr>
              <a:t>Accumulator</a:t>
            </a:r>
            <a:endParaRPr lang="en-US" sz="1300" dirty="0"/>
          </a:p>
        </p:txBody>
      </p:sp>
      <p:sp>
        <p:nvSpPr>
          <p:cNvPr id="22" name="Text 19"/>
          <p:cNvSpPr/>
          <p:nvPr/>
        </p:nvSpPr>
        <p:spPr>
          <a:xfrm>
            <a:off x="8156448" y="3108960"/>
            <a:ext cx="3172968" cy="502920"/>
          </a:xfrm>
          <a:prstGeom prst="rect">
            <a:avLst/>
          </a:prstGeom>
          <a:noFill/>
          <a:ln/>
        </p:spPr>
        <p:txBody>
          <a:bodyPr wrap="square" rtlCol="0" anchor="ctr"/>
          <a:lstStyle/>
          <a:p>
            <a:pPr marL="0" indent="0">
              <a:buNone/>
            </a:pPr>
            <a:r>
              <a:rPr lang="en-US" sz="1050" dirty="0">
                <a:solidFill>
                  <a:srgbClr val="F5F3EF"/>
                </a:solidFill>
                <a:latin typeface="Arial" pitchFamily="34" charset="0"/>
                <a:ea typeface="Arial" pitchFamily="34" charset="-122"/>
                <a:cs typeface="Arial" pitchFamily="34" charset="-120"/>
              </a:rPr>
              <a:t>A variable built up inside a loop.</a:t>
            </a:r>
            <a:endParaRPr lang="en-US" sz="1050" dirty="0"/>
          </a:p>
        </p:txBody>
      </p:sp>
      <p:sp>
        <p:nvSpPr>
          <p:cNvPr id="23" name="Shape 20"/>
          <p:cNvSpPr/>
          <p:nvPr/>
        </p:nvSpPr>
        <p:spPr>
          <a:xfrm>
            <a:off x="640080" y="3840480"/>
            <a:ext cx="5212080" cy="2606040"/>
          </a:xfrm>
          <a:prstGeom prst="roundRect">
            <a:avLst>
              <a:gd name="adj" fmla="val 3509"/>
            </a:avLst>
          </a:prstGeom>
          <a:solidFill>
            <a:srgbClr val="2E2E2E"/>
          </a:solidFill>
          <a:ln/>
        </p:spPr>
        <p:txBody>
          <a:bodyPr/>
          <a:lstStyle/>
          <a:p>
            <a:endParaRPr lang="en-US"/>
          </a:p>
        </p:txBody>
      </p:sp>
      <p:sp>
        <p:nvSpPr>
          <p:cNvPr id="24" name="Text 21"/>
          <p:cNvSpPr/>
          <p:nvPr/>
        </p:nvSpPr>
        <p:spPr>
          <a:xfrm>
            <a:off x="960120" y="4069080"/>
            <a:ext cx="4572000" cy="365760"/>
          </a:xfrm>
          <a:prstGeom prst="rect">
            <a:avLst/>
          </a:prstGeom>
          <a:noFill/>
          <a:ln/>
        </p:spPr>
        <p:txBody>
          <a:bodyPr wrap="square" rtlCol="0" anchor="ctr"/>
          <a:lstStyle/>
          <a:p>
            <a:pPr marL="0" indent="0">
              <a:buNone/>
            </a:pPr>
            <a:r>
              <a:rPr lang="en-US" sz="1500" b="1" dirty="0">
                <a:solidFill>
                  <a:srgbClr val="B3C9CD"/>
                </a:solidFill>
                <a:latin typeface="Arial" pitchFamily="34" charset="0"/>
                <a:ea typeface="Arial" pitchFamily="34" charset="-122"/>
                <a:cs typeface="Arial" pitchFamily="34" charset="-120"/>
              </a:rPr>
              <a:t>Traps we saw today</a:t>
            </a:r>
            <a:endParaRPr lang="en-US" sz="1500" dirty="0"/>
          </a:p>
        </p:txBody>
      </p:sp>
      <p:sp>
        <p:nvSpPr>
          <p:cNvPr id="25" name="Text 22"/>
          <p:cNvSpPr/>
          <p:nvPr/>
        </p:nvSpPr>
        <p:spPr>
          <a:xfrm>
            <a:off x="960120" y="4526280"/>
            <a:ext cx="4572000" cy="1691640"/>
          </a:xfrm>
          <a:prstGeom prst="rect">
            <a:avLst/>
          </a:prstGeom>
          <a:noFill/>
          <a:ln/>
        </p:spPr>
        <p:txBody>
          <a:bodyPr wrap="square" rtlCol="0" anchor="t"/>
          <a:lstStyle/>
          <a:p>
            <a:pPr marL="342900" indent="-342900">
              <a:spcAft>
                <a:spcPts val="800"/>
              </a:spcAft>
              <a:buSzPct val="100000"/>
              <a:buChar char="●"/>
            </a:pPr>
            <a:r>
              <a:rPr lang="en-US" sz="1200" dirty="0">
                <a:solidFill>
                  <a:srgbClr val="F5F3EF"/>
                </a:solidFill>
                <a:latin typeface="Arial" pitchFamily="34" charset="0"/>
                <a:ea typeface="Arial" pitchFamily="34" charset="-122"/>
                <a:cs typeface="Arial" pitchFamily="34" charset="-120"/>
              </a:rPr>
              <a:t>Writing a loop where a vectorised primitive already exists
Separate ifs where you meant elif
Forgetting to update the while variable
Forgetting to initialise the accumulator</a:t>
            </a:r>
            <a:endParaRPr lang="en-US" sz="1200" dirty="0"/>
          </a:p>
        </p:txBody>
      </p:sp>
      <p:sp>
        <p:nvSpPr>
          <p:cNvPr id="26" name="Shape 23"/>
          <p:cNvSpPr/>
          <p:nvPr/>
        </p:nvSpPr>
        <p:spPr>
          <a:xfrm>
            <a:off x="5989320" y="3840480"/>
            <a:ext cx="5577840" cy="2606040"/>
          </a:xfrm>
          <a:prstGeom prst="roundRect">
            <a:avLst>
              <a:gd name="adj" fmla="val 3509"/>
            </a:avLst>
          </a:prstGeom>
          <a:solidFill>
            <a:srgbClr val="ECB748"/>
          </a:solidFill>
          <a:ln/>
        </p:spPr>
        <p:txBody>
          <a:bodyPr/>
          <a:lstStyle/>
          <a:p>
            <a:endParaRPr lang="en-US"/>
          </a:p>
        </p:txBody>
      </p:sp>
      <p:sp>
        <p:nvSpPr>
          <p:cNvPr id="27" name="Text 24"/>
          <p:cNvSpPr/>
          <p:nvPr/>
        </p:nvSpPr>
        <p:spPr>
          <a:xfrm>
            <a:off x="6309360" y="4069080"/>
            <a:ext cx="4937760" cy="365760"/>
          </a:xfrm>
          <a:prstGeom prst="rect">
            <a:avLst/>
          </a:prstGeom>
          <a:noFill/>
          <a:ln/>
        </p:spPr>
        <p:txBody>
          <a:bodyPr wrap="square" rtlCol="0" anchor="ctr"/>
          <a:lstStyle/>
          <a:p>
            <a:pPr marL="0" indent="0">
              <a:buNone/>
            </a:pPr>
            <a:r>
              <a:rPr lang="en-US" sz="1500" b="1" dirty="0">
                <a:solidFill>
                  <a:srgbClr val="1C1C1C"/>
                </a:solidFill>
                <a:latin typeface="Arial" pitchFamily="34" charset="0"/>
                <a:ea typeface="Arial" pitchFamily="34" charset="-122"/>
                <a:cs typeface="Arial" pitchFamily="34" charset="-120"/>
              </a:rPr>
              <a:t>And one that will not go away</a:t>
            </a:r>
            <a:endParaRPr lang="en-US" sz="1500" dirty="0"/>
          </a:p>
        </p:txBody>
      </p:sp>
      <p:sp>
        <p:nvSpPr>
          <p:cNvPr id="28" name="Text 25"/>
          <p:cNvSpPr/>
          <p:nvPr/>
        </p:nvSpPr>
        <p:spPr>
          <a:xfrm>
            <a:off x="6309360" y="4498848"/>
            <a:ext cx="4937760" cy="1691640"/>
          </a:xfrm>
          <a:prstGeom prst="rect">
            <a:avLst/>
          </a:prstGeom>
          <a:noFill/>
          <a:ln/>
        </p:spPr>
        <p:txBody>
          <a:bodyPr wrap="square" rtlCol="0" anchor="t"/>
          <a:lstStyle/>
          <a:p>
            <a:pPr marL="0" indent="0">
              <a:lnSpc>
                <a:spcPct val="125000"/>
              </a:lnSpc>
              <a:buNone/>
            </a:pPr>
            <a:r>
              <a:rPr lang="en-US" sz="1250" dirty="0">
                <a:solidFill>
                  <a:srgbClr val="1C1C1C"/>
                </a:solidFill>
                <a:latin typeface="Arial" pitchFamily="34" charset="0"/>
                <a:ea typeface="Arial" pitchFamily="34" charset="-122"/>
                <a:cs typeface="Arial" pitchFamily="34" charset="-120"/>
              </a:rPr>
              <a:t>=  instead of  ==  — still.
That trap has now appeared in three consecutive weeks.
The repetition is the pedagogy.</a:t>
            </a:r>
            <a:endParaRPr lang="en-US" sz="1250" dirty="0"/>
          </a:p>
        </p:txBody>
      </p:sp>
      <p:sp>
        <p:nvSpPr>
          <p:cNvPr id="29"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808683"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808683"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36–55 MIN  ·  HANDOFF</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Your activity, and next week</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Six problems, about nineteen minutes. You will be handed loop-heavy code of the kind an AI produces and asked to rewrite it in vectorised form — then say why the rewrite is better.</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Predict first, as always. The tutor will not move on until you commit to an answer, and it will not accept a rewrite you cannot explain.</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txBody>
          <a:bodyPr/>
          <a:lstStyle/>
          <a:p>
            <a:endParaRPr lang="en-US"/>
          </a:p>
        </p:txBody>
      </p:sp>
      <p:sp>
        <p:nvSpPr>
          <p:cNvPr id="9" name="Text 6"/>
          <p:cNvSpPr/>
          <p:nvPr/>
        </p:nvSpPr>
        <p:spPr>
          <a:xfrm>
            <a:off x="868680" y="4663440"/>
            <a:ext cx="5852160" cy="10058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Paste your transcript to Brightspace as plain text before you leave. Label who said what if the copy loses the formatting.</a:t>
            </a: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NEXT WEEK  ·  SESSION 5</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Functions</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Naming behaviour so you can reuse it, test it, and hand exactly one well-scoped piece to an AI at a time.   And before you leave today: your project dataset. If it is not chosen, see me or the TA.</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3519</Words>
  <Application>Microsoft Office PowerPoint</Application>
  <PresentationFormat>Widescreen</PresentationFormat>
  <Paragraphs>309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Vanderbilt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CPBP 8306 — Session 3</dc:title>
  <dc:subject>PptxGenJS Presentation</dc:subject>
  <dc:creator>Joshua Borycz &amp; Daniel Genkins</dc:creator>
  <cp:lastModifiedBy>Daniel Genkins</cp:lastModifiedBy>
  <cp:revision>2</cp:revision>
  <dcterms:created xsi:type="dcterms:W3CDTF">2026-07-27T21:40:15Z</dcterms:created>
  <dcterms:modified xsi:type="dcterms:W3CDTF">2026-09-16T22:18:29Z</dcterms:modified>
</cp:coreProperties>
</file>