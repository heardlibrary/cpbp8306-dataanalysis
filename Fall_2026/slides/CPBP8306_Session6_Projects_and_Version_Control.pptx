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64" r:id="rId4"/>
    <p:sldId id="258" r:id="rId5"/>
    <p:sldId id="274" r:id="rId22"/>
    <p:sldId id="266" r:id="rId6"/>
    <p:sldId id="270" r:id="rId7"/>
    <p:sldId id="261" r:id="rId8"/>
    <p:sldId id="260" r:id="rId9"/>
    <p:sldId id="267" r:id="rId10"/>
    <p:sldId id="265" r:id="rId11"/>
    <p:sldId id="271" r:id="rId12"/>
    <p:sldId id="272" r:id="rId13"/>
    <p:sldId id="273" r:id="rId14"/>
    <p:sldId id="262" r:id="rId15"/>
    <p:sldId id="268"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2" d="100"/>
          <a:sy n="162" d="100"/>
        </p:scale>
        <p:origin x="204" y="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0182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HIGHEST-RISK SESSION OF THE UNIT for tech problems. Budget for it.</a:t>
            </a:r>
          </a:p>
          <a:p/>
          <a:p>
            <a:r>
              <a:t>Before class: confirm by email that everyone has a GitHub account already created and verified, and that `git --version` works. Signup plus email verification eats ten minutes of a 55-minute session if you leave it to today.</a:t>
            </a:r>
          </a:p>
          <a:p/>
          <a:p>
            <a:r>
              <a:t>Have a THROWAWAY demo repo ready to break and restore live. Do not improvise this on your real repo.</a:t>
            </a:r>
          </a:p>
          <a:p/>
          <a:p>
            <a:r>
              <a:t>If half the room cannot authenticate to GitHub, do not fight it from the front — slide 14 is a reference slide pointing at the written walkthrough on Brightspace, and the TA runs auth triage during the problem set.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you have a field-specific example — a retraction, a failed replication, a figure nobody could reproduce — this is the moment for thirty seconds of it. It lands far harder than the abstract version.</a:t>
            </a:r>
          </a:p>
          <a:p>
            <a:endParaRPr/>
          </a:p>
          <a:p>
            <a:r>
              <a:t>The sentence on the slide is the whole framing. Say it slowly: somebody lost track of which version of the code produced which figure.</a:t>
            </a:r>
          </a:p>
          <a:p>
            <a:endParaRPr/>
          </a:p>
          <a:p>
            <a:r>
              <a:t>Then the reassurance: neither half of today's fix takes more than fifteen minutes to set up once.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Fifteen seconds on the objectives. Objective 5 — recovering a file after an AI broke it — is the one that sells Git to this audience. If attention is flagging, lead with it rather than working down the list.</a:t>
            </a:r>
          </a:p>
          <a:p>
            <a:endParaRPr/>
          </a:p>
          <a:p>
            <a:r>
              <a:t>The right-hand panel is today's milestone and it is not optional: a repo URL posted before they leave. Say it now so it is not a surprise at minute 50.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Load the course patients.csv live. It has the deliberately messy age column — let them see `object` in pandas or `chr` in R where they expected a number.</a:t>
            </a:r>
          </a:p>
          <a:p>
            <a:endParaRPr/>
          </a:p>
          <a:p>
            <a:r>
              <a:t>DO NOT FIX IT TODAY. That is Session 8. Today you are only proving that the check is worth running.</a:t>
            </a:r>
          </a:p>
          <a:p>
            <a:endParaRPr/>
          </a:p>
          <a:p>
            <a:r>
              <a:t>This is Session 2's habit arriving on real data, and it is the first time the payoff is visible. Say the callback explicitly.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VS Code footnote resolves a support question you will otherwise field ten times: VS Code sets the working directory to the folder you opened, which is why a path "randomly" stops working when students open a single file instead of the project folder.</a:t>
            </a:r>
          </a:p>
          <a:p>
            <a:endParaRPr/>
          </a:p>
          <a:p>
            <a:r>
              <a:t>The practical rule is the deliverable: if a path fails, print the working directory FIRST. Always. Before changing anything.</a:t>
            </a:r>
          </a:p>
          <a:p>
            <a:endParaRPr/>
          </a:p>
          <a:p>
            <a:r>
              <a:t>RStudio .Rproj files handle this for you, which is a genuine argument for using them.</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Tell them to build this folder TODAY, during the problem set, for their actual project. Structure invented later never happens.</a:t>
            </a:r>
          </a:p>
          <a:p>
            <a:endParaRPr/>
          </a:p>
          <a:p>
            <a:r>
              <a:t>This layout is a convention, not a law — but conventions are what let a stranger find things in ten seconds.</a:t>
            </a:r>
          </a:p>
          <a:p>
            <a:endParaRPr/>
          </a:p>
          <a:p>
            <a:r>
              <a:t>Rule 1 is the one students violate: never edit anything in data/raw/. Cleaning produces a NEW file in processed/.</a:t>
            </a:r>
          </a:p>
          <a:p>
            <a:endParaRPr/>
          </a:p>
          <a:p>
            <a:r>
              <a:t>Rule 4 is a test, not advice. Delete your figures folder and re-run. If you cannot rebuild it, the analysis is not reproducible — and you just found out cheaply.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DRAW THE FOUR BOXES ON THE BOARD and physically point along them as you demo. Students who never get staging are usually the ones who never saw it as a separate place.</a:t>
            </a:r>
          </a:p>
          <a:p>
            <a:endParaRPr/>
          </a:p>
          <a:p>
            <a:r>
              <a:t>The Git/GitHub distinction is genuinely confusing and worth ten seconds of explicit correction. Git is the version-control system; GitHub is a website that stores a copy. You can use Git with no internet at all.</a:t>
            </a:r>
          </a:p>
          <a:p>
            <a:endParaRPr/>
          </a:p>
          <a:p>
            <a:r>
              <a:t>Keep this to four minutes — the demo is where the understanding actually happens.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footnote matters more than the commands. Students who have heard Git is hard need explicit permission to learn four commands and stop. Branches, rebasing and merge conflicts are real, useful, and not their problem this semester.</a:t>
            </a:r>
          </a:p>
          <a:p>
            <a:endParaRPr/>
          </a:p>
          <a:p>
            <a:r>
              <a:t>Note that `git add .` stages everything that changed — which is exactly why .gitignore matters so much, two slides on.</a:t>
            </a:r>
          </a:p>
          <a:p>
            <a:endParaRPr/>
          </a:p>
          <a:p>
            <a:r>
              <a:t>Say the loop out loud as a loop: status, add, commit, push. They will run it several times per work session.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EMOTIONAL CORE OF THE SESSION. Break it visibly — delete a whole function, save the file — then restore it and let them watch the file come back.</a:t>
            </a:r>
          </a:p>
          <a:p>
            <a:endParaRPr/>
          </a:p>
          <a:p>
            <a:r>
              <a:t>If you are short on time, skip the setup commands (they can read them) and do only the break-and-undo.</a:t>
            </a:r>
          </a:p>
          <a:p>
            <a:endParaRPr/>
          </a:p>
          <a:p>
            <a:r>
              <a:t>Flag the restore / checkout equivalence explicitly. Students will meet both spellings and conclude they are different tools. `git checkout -- &lt;file&gt;` is what older tutorials show and what appears on the final quiz.</a:t>
            </a:r>
          </a:p>
          <a:p>
            <a:endParaRPr/>
          </a:p>
          <a:p>
            <a:r>
              <a:t>Follow along in a throwaway folder only if Git is installed. Do not stall the room on installs here.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PROTECT THIS SLIDE. It is the most practical slide in the deck for this cohort, and it is the AI thread of the week. Say it twice.</a:t>
            </a:r>
          </a:p>
          <a:p>
            <a:endParaRPr/>
          </a:p>
          <a:p>
            <a:r>
              <a:t>Ask the room: who has lost work to an AI edit they could not undo? Hands will go up, and that is the entire argument for this session.</a:t>
            </a:r>
          </a:p>
          <a:p>
            <a:endParaRPr/>
          </a:p>
          <a:p>
            <a:r>
              <a:t>The framing that matters: Git turns a rewrite you cannot evaluate into a rewrite you can throw away. That is what makes it safe to accept AI help at all.</a:t>
            </a:r>
          </a:p>
          <a:p>
            <a:endParaRPr/>
          </a:p>
          <a:p>
            <a:r>
              <a:t>One command, before any AI edit touching more than a few lines. Commit first.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"note to yourself in three months" framing is what makes students write real messages instead of "update". Use it.</a:t>
            </a:r>
          </a:p>
          <a:p>
            <a:endParaRPr/>
          </a:p>
          <a:p>
            <a:r>
              <a:t>The imperative mood reads oddly at first — the reason is that a commit message describes what applying the commit does, not what you did.</a:t>
            </a:r>
          </a:p>
          <a:p>
            <a:endParaRPr/>
          </a:p>
          <a:p>
            <a:r>
              <a:t>3–10 commits per productive hour, not one per week. Students systematically under-commit because they think a commit should be an achievement.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SOFTEN THE WARNING. This is the one mistake in the deck with consequences outside the course.</a:t>
            </a:r>
          </a:p>
          <a:p>
            <a:endParaRPr/>
          </a:p>
          <a:p>
            <a:r>
              <a:t>Deleting a file in a later commit does not remove it from history. Commit an API key and push it, and it is permanently exposed: rotate the key, tell your PI. Cleaning history properly is genuinely hard.</a:t>
            </a:r>
          </a:p>
          <a:p>
            <a:endParaRPr/>
          </a:p>
          <a:p>
            <a:r>
              <a:t>Practical advice: write .gitignore FIRST, before the first commit.</a:t>
            </a:r>
          </a:p>
          <a:p>
            <a:endParaRPr/>
          </a:p>
          <a:p>
            <a:r>
              <a:t>If anyone's project involves real PHI, they should talk to you before creating any repo — public or private. Say that out loud; someone in the room has clinical data.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 SLIDE — do not teach from it live. The written walkthrough is on Brightspace and that is what students should follow.</a:t>
            </a:r>
          </a:p>
          <a:p>
            <a:endParaRPr/>
          </a:p>
          <a:p>
            <a:r>
              <a:t>Authentication is where this session dies. Their account password will be rejected; recommend `gh auth login` over personal access tokens, which are far fiddlier for beginners.</a:t>
            </a:r>
          </a:p>
          <a:p>
            <a:endParaRPr/>
          </a:p>
          <a:p>
            <a:r>
              <a:t>The "do not add a README" instruction prevents a conflict that is confusing to diagnose on day one.</a:t>
            </a:r>
          </a:p>
          <a:p>
            <a:endParaRPr/>
          </a:p>
          <a:p>
            <a:r>
              <a:t>If more than a third of the room is stuck here, stop, hand it to the TA, and move to the Unit 1 recap.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SPEND A FULL MINUTE HERE. Students arrive at Session 7 feeling like the course restarted; this slide is the inoculation.</a:t>
            </a:r>
          </a:p>
          <a:p>
            <a:endParaRPr/>
          </a:p>
          <a:p>
            <a:r>
              <a:t>Point at each row of the table and name the session it came from. A dataframe column is a vector — Session 3. Filtering is a boolean mask — Session 3. mutate is vectorisation — Session 4. A row is a dict — Session 3.</a:t>
            </a:r>
          </a:p>
          <a:p>
            <a:endParaRPr/>
          </a:p>
          <a:p>
            <a:r>
              <a:t>They already know all the pieces. Unit 2 just makes them bigger. That sentence is worth saying twice.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FORMAT: the second half is Problem Set 06, worked through with the general Course Tutor — not a session-specific tutor.</a:t>
            </a:r>
          </a:p>
          <a:p>
            <a:endParaRPr/>
          </a:p>
          <a:p>
            <a:r>
              <a:t>Seven problems, 20–25 minutes. Tell them to work in ORDER and expect to reach all seven.</a:t>
            </a:r>
          </a:p>
          <a:p>
            <a:endParaRPr/>
          </a:p>
          <a:p>
            <a:r>
              <a:t>Problems 2 and 3 are worth actually DOING in a throwaway folder if Git is installed, rather than just discussing — say so.</a:t>
            </a:r>
          </a:p>
          <a:p>
            <a:endParaRPr/>
          </a:p>
          <a:p>
            <a:r>
              <a:t>THE MILESTONE IS THE REAL BUSINESS OF THIS BLOCK. Do not let anyone leave without a repo URL posted to Brightspace. Chasing this later costs far more than fifteen minutes now. Work the room in the last five minutes and check names off a list.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sibling of the previous slide, and the half people forget. Two minutes — it fits inside the 3–8 segment, so nothing later shifts.</a:t>
            </a:r>
          </a:p>
          <a:p/>
          <a:p>
            <a:r>
              <a:t>index=False is the concrete takeaway. Without it pandas writes the index as an extra unnamed column, and next time you read the file you get a mystery "Unnamed: 0" column. Students hit this constantly and cannot explain where it came from. R's write_csv has no equivalent trap.</a:t>
            </a:r>
          </a:p>
          <a:p/>
          <a:p>
            <a:r>
              <a:t>The bottom bar is the point: writing is the dangerous direction. Reading a file cannot hurt you; to_csv happily overwrites whatever is already there, with no prompt and no undo.</a:t>
            </a:r>
          </a:p>
          <a:p/>
          <a:p>
            <a:r>
              <a:t>Connect it forward to both of the next two slides — outputs go in data/processed/ and figures/ (the folder rules), and they belong in .gitignore because they change every run.</a:t>
            </a:r>
          </a:p>
          <a:p/>
          <a:p>
            <a:r>
              <a:t>If you are short of time, say the index=False line and the overwrite line and move 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C1C"/>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logo_white.png"/>
          <p:cNvPicPr>
            <a:picLocks noChangeAspect="1"/>
          </p:cNvPicPr>
          <p:nvPr/>
        </p:nvPicPr>
        <p:blipFill>
          <a:blip r:embed="rId3"/>
          <a:stretch>
            <a:fillRect/>
          </a:stretch>
        </p:blipFill>
        <p:spPr>
          <a:xfrm>
            <a:off x="640080" y="594360"/>
            <a:ext cx="2377440" cy="516257"/>
          </a:xfrm>
          <a:prstGeom prst="rect">
            <a:avLst/>
          </a:prstGeom>
        </p:spPr>
      </p:pic>
      <p:sp>
        <p:nvSpPr>
          <p:cNvPr id="3" name="Text 0"/>
          <p:cNvSpPr/>
          <p:nvPr/>
        </p:nvSpPr>
        <p:spPr>
          <a:xfrm>
            <a:off x="640080" y="1508760"/>
            <a:ext cx="6675120" cy="365760"/>
          </a:xfrm>
          <a:prstGeom prst="rect">
            <a:avLst/>
          </a:prstGeom>
          <a:noFill/>
          <a:ln/>
        </p:spPr>
        <p:txBody>
          <a:bodyPr wrap="square" rtlCol="0" anchor="ctr"/>
          <a:lstStyle/>
          <a:p>
            <a:pPr marL="0" indent="0">
              <a:buNone/>
            </a:pPr>
            <a:r>
              <a:rPr lang="en-US" sz="1300" b="1" kern="0" spc="200" dirty="0">
                <a:solidFill>
                  <a:srgbClr val="ECB748"/>
                </a:solidFill>
                <a:latin typeface="Arial" pitchFamily="34" charset="0"/>
                <a:ea typeface="Arial" pitchFamily="34" charset="-122"/>
                <a:cs typeface="Arial" pitchFamily="34" charset="-120"/>
              </a:rPr>
              <a:t>SESSION 6  ·  LAST OF UNIT 1</a:t>
            </a:r>
            <a:endParaRPr lang="en-US" sz="1300" dirty="0"/>
          </a:p>
        </p:txBody>
      </p:sp>
      <p:sp>
        <p:nvSpPr>
          <p:cNvPr id="4" name="Text 1"/>
          <p:cNvSpPr/>
          <p:nvPr/>
        </p:nvSpPr>
        <p:spPr>
          <a:xfrm>
            <a:off x="594360" y="1920240"/>
            <a:ext cx="6766560" cy="1600200"/>
          </a:xfrm>
          <a:prstGeom prst="rect">
            <a:avLst/>
          </a:prstGeom>
          <a:noFill/>
          <a:ln/>
        </p:spPr>
        <p:txBody>
          <a:bodyPr wrap="square" rtlCol="0" anchor="ctr"/>
          <a:lstStyle/>
          <a:p>
            <a:pPr marL="0" indent="0">
              <a:lnSpc>
                <a:spcPct val="108000"/>
              </a:lnSpc>
              <a:buNone/>
            </a:pPr>
            <a:r>
              <a:rPr lang="en-US" sz="3600" b="1" dirty="0">
                <a:solidFill>
                  <a:srgbClr val="FFFFFF"/>
                </a:solidFill>
                <a:latin typeface="Arial" pitchFamily="34" charset="0"/>
                <a:ea typeface="Arial" pitchFamily="34" charset="-122"/>
                <a:cs typeface="Arial" pitchFamily="34" charset="-120"/>
              </a:rPr>
              <a:t>Projects, Files,</a:t>
            </a:r>
            <a:endParaRPr lang="en-US" sz="3600" dirty="0"/>
          </a:p>
          <a:p>
            <a:pPr marL="0" indent="0">
              <a:lnSpc>
                <a:spcPct val="108000"/>
              </a:lnSpc>
              <a:buNone/>
            </a:pPr>
            <a:r>
              <a:rPr lang="en-US" sz="3600" b="1" dirty="0">
                <a:solidFill>
                  <a:srgbClr val="FFFFFF"/>
                </a:solidFill>
                <a:latin typeface="Arial" pitchFamily="34" charset="0"/>
                <a:ea typeface="Arial" pitchFamily="34" charset="-122"/>
                <a:cs typeface="Arial" pitchFamily="34" charset="-120"/>
              </a:rPr>
              <a:t>and Version Control</a:t>
            </a:r>
            <a:endParaRPr lang="en-US" sz="3600" dirty="0"/>
          </a:p>
        </p:txBody>
      </p:sp>
      <p:sp>
        <p:nvSpPr>
          <p:cNvPr id="5" name="Text 2"/>
          <p:cNvSpPr/>
          <p:nvPr/>
        </p:nvSpPr>
        <p:spPr>
          <a:xfrm>
            <a:off x="640080" y="3520440"/>
            <a:ext cx="6675120" cy="548640"/>
          </a:xfrm>
          <a:prstGeom prst="rect">
            <a:avLst/>
          </a:prstGeom>
          <a:noFill/>
          <a:ln/>
        </p:spPr>
        <p:txBody>
          <a:bodyPr wrap="square" rtlCol="0" anchor="ctr"/>
          <a:lstStyle/>
          <a:p>
            <a:pPr marL="0" indent="0">
              <a:buNone/>
            </a:pPr>
            <a:r>
              <a:rPr lang="en-US" sz="1600" dirty="0">
                <a:solidFill>
                  <a:srgbClr val="F5F3EF"/>
                </a:solidFill>
                <a:latin typeface="Arial" pitchFamily="34" charset="0"/>
                <a:ea typeface="Arial" pitchFamily="34" charset="-122"/>
                <a:cs typeface="Arial" pitchFamily="34" charset="-120"/>
              </a:rPr>
              <a:t>Where your code lives — and your undo button for AI</a:t>
            </a:r>
            <a:endParaRPr lang="en-US" sz="1600" dirty="0"/>
          </a:p>
        </p:txBody>
      </p:sp>
      <p:sp>
        <p:nvSpPr>
          <p:cNvPr id="6" name="Text 3"/>
          <p:cNvSpPr/>
          <p:nvPr/>
        </p:nvSpPr>
        <p:spPr>
          <a:xfrm>
            <a:off x="640080" y="5349240"/>
            <a:ext cx="6675120" cy="1005840"/>
          </a:xfrm>
          <a:prstGeom prst="rect">
            <a:avLst/>
          </a:prstGeom>
          <a:noFill/>
          <a:ln/>
        </p:spPr>
        <p:txBody>
          <a:bodyPr wrap="square" rtlCol="0" anchor="ctr"/>
          <a:lstStyle/>
          <a:p>
            <a:pPr marL="0" indent="0">
              <a:lnSpc>
                <a:spcPct val="130000"/>
              </a:lnSpc>
              <a:buNone/>
            </a:pPr>
            <a:r>
              <a:rPr lang="en-US" sz="1250" b="1" dirty="0">
                <a:solidFill>
                  <a:srgbClr val="FFFFFF"/>
                </a:solidFill>
                <a:latin typeface="Arial" pitchFamily="34" charset="0"/>
                <a:ea typeface="Arial" pitchFamily="34" charset="-122"/>
                <a:cs typeface="Arial" pitchFamily="34" charset="-120"/>
              </a:rPr>
              <a:t>CPBP 8306 — Coding for Research</a:t>
            </a:r>
            <a:endParaRPr lang="en-US" sz="1250" dirty="0"/>
          </a:p>
          <a:p>
            <a:pPr marL="0" indent="0">
              <a:lnSpc>
                <a:spcPct val="130000"/>
              </a:lnSpc>
              <a:buNone/>
            </a:pPr>
            <a:r>
              <a:rPr lang="en-US" sz="1250" dirty="0">
                <a:solidFill>
                  <a:srgbClr val="9B9690"/>
                </a:solidFill>
                <a:latin typeface="Arial" pitchFamily="34" charset="0"/>
                <a:ea typeface="Arial" pitchFamily="34" charset="-122"/>
                <a:cs typeface="Arial" pitchFamily="34" charset="-120"/>
              </a:rPr>
              <a:t>Joshua Borycz  &amp;  Daniel Genkins   |   TA: Peyton Coleman</a:t>
            </a:r>
            <a:endParaRPr lang="en-US" sz="1250" dirty="0"/>
          </a:p>
          <a:p>
            <a:pPr marL="0" indent="0">
              <a:lnSpc>
                <a:spcPct val="130000"/>
              </a:lnSpc>
              <a:buNone/>
            </a:pPr>
            <a:r>
              <a:rPr lang="en-US" sz="1250" dirty="0">
                <a:solidFill>
                  <a:srgbClr val="9B9690"/>
                </a:solidFill>
                <a:latin typeface="Arial" pitchFamily="34" charset="0"/>
                <a:ea typeface="Arial" pitchFamily="34" charset="-122"/>
                <a:cs typeface="Arial" pitchFamily="34" charset="-120"/>
              </a:rPr>
              <a:t>Thursdays 10:00–10:55am  ·  Light Hall 439</a:t>
            </a:r>
            <a:endParaRPr lang="en-US" sz="1250" dirty="0"/>
          </a:p>
        </p:txBody>
      </p:sp>
      <p:sp>
        <p:nvSpPr>
          <p:cNvPr id="7" name="Shape 4"/>
          <p:cNvSpPr/>
          <p:nvPr/>
        </p:nvSpPr>
        <p:spPr>
          <a:xfrm>
            <a:off x="8001000" y="2286000"/>
            <a:ext cx="3566160" cy="2651760"/>
          </a:xfrm>
          <a:prstGeom prst="roundRect">
            <a:avLst>
              <a:gd name="adj" fmla="val 4138"/>
            </a:avLst>
          </a:prstGeom>
          <a:solidFill>
            <a:srgbClr val="2E2E2E"/>
          </a:solidFill>
          <a:ln w="12700">
            <a:solidFill>
              <a:srgbClr val="444444"/>
            </a:solidFill>
            <a:prstDash val="solid"/>
          </a:ln>
        </p:spPr>
        <p:txBody>
          <a:bodyPr/>
          <a:lstStyle/>
          <a:p>
            <a:endParaRPr lang="en-US"/>
          </a:p>
        </p:txBody>
      </p:sp>
      <p:sp>
        <p:nvSpPr>
          <p:cNvPr id="8" name="Shape 5"/>
          <p:cNvSpPr/>
          <p:nvPr/>
        </p:nvSpPr>
        <p:spPr>
          <a:xfrm>
            <a:off x="8229600" y="2514600"/>
            <a:ext cx="146304" cy="146304"/>
          </a:xfrm>
          <a:prstGeom prst="ellipse">
            <a:avLst/>
          </a:prstGeom>
          <a:solidFill>
            <a:srgbClr val="D64550"/>
          </a:solidFill>
          <a:ln/>
        </p:spPr>
        <p:txBody>
          <a:bodyPr/>
          <a:lstStyle/>
          <a:p>
            <a:endParaRPr lang="en-US"/>
          </a:p>
        </p:txBody>
      </p:sp>
      <p:sp>
        <p:nvSpPr>
          <p:cNvPr id="9" name="Shape 6"/>
          <p:cNvSpPr/>
          <p:nvPr/>
        </p:nvSpPr>
        <p:spPr>
          <a:xfrm>
            <a:off x="8485632" y="2514600"/>
            <a:ext cx="146304" cy="146304"/>
          </a:xfrm>
          <a:prstGeom prst="ellipse">
            <a:avLst/>
          </a:prstGeom>
          <a:solidFill>
            <a:srgbClr val="ECB748"/>
          </a:solidFill>
          <a:ln/>
        </p:spPr>
        <p:txBody>
          <a:bodyPr/>
          <a:lstStyle/>
          <a:p>
            <a:endParaRPr lang="en-US"/>
          </a:p>
        </p:txBody>
      </p:sp>
      <p:sp>
        <p:nvSpPr>
          <p:cNvPr id="10" name="Shape 7"/>
          <p:cNvSpPr/>
          <p:nvPr/>
        </p:nvSpPr>
        <p:spPr>
          <a:xfrm>
            <a:off x="8741664" y="2514600"/>
            <a:ext cx="146304" cy="146304"/>
          </a:xfrm>
          <a:prstGeom prst="ellipse">
            <a:avLst/>
          </a:prstGeom>
          <a:solidFill>
            <a:srgbClr val="6B6B6B"/>
          </a:solidFill>
          <a:ln/>
        </p:spPr>
        <p:txBody>
          <a:bodyPr/>
          <a:lstStyle/>
          <a:p>
            <a:endParaRPr lang="en-US"/>
          </a:p>
        </p:txBody>
      </p:sp>
      <p:sp>
        <p:nvSpPr>
          <p:cNvPr id="11" name="Text 8"/>
          <p:cNvSpPr/>
          <p:nvPr/>
        </p:nvSpPr>
        <p:spPr>
          <a:xfrm>
            <a:off x="9189720" y="2450592"/>
            <a:ext cx="2194560" cy="274320"/>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terminal</a:t>
            </a:r>
            <a:endParaRPr lang="en-US" sz="1050" dirty="0"/>
          </a:p>
        </p:txBody>
      </p:sp>
      <p:sp>
        <p:nvSpPr>
          <p:cNvPr id="12" name="Shape 9"/>
          <p:cNvSpPr/>
          <p:nvPr/>
        </p:nvSpPr>
        <p:spPr>
          <a:xfrm>
            <a:off x="8046720" y="2834640"/>
            <a:ext cx="3474720" cy="0"/>
          </a:xfrm>
          <a:prstGeom prst="line">
            <a:avLst/>
          </a:prstGeom>
          <a:noFill/>
          <a:ln w="12700">
            <a:solidFill>
              <a:srgbClr val="444444"/>
            </a:solidFill>
            <a:prstDash val="solid"/>
          </a:ln>
        </p:spPr>
        <p:txBody>
          <a:bodyPr/>
          <a:lstStyle/>
          <a:p>
            <a:endParaRPr lang="en-US"/>
          </a:p>
        </p:txBody>
      </p:sp>
      <p:sp>
        <p:nvSpPr>
          <p:cNvPr id="13" name="Text 10"/>
          <p:cNvSpPr/>
          <p:nvPr/>
        </p:nvSpPr>
        <p:spPr>
          <a:xfrm>
            <a:off x="8275320" y="3063240"/>
            <a:ext cx="3017520" cy="365760"/>
          </a:xfrm>
          <a:prstGeom prst="rect">
            <a:avLst/>
          </a:prstGeom>
          <a:noFill/>
          <a:ln/>
        </p:spPr>
        <p:txBody>
          <a:bodyPr wrap="square" rtlCol="0" anchor="ctr"/>
          <a:lstStyle/>
          <a:p>
            <a:pPr marL="0" indent="0">
              <a:buNone/>
            </a:pPr>
            <a:r>
              <a:rPr lang="en-US" sz="1350" dirty="0">
                <a:solidFill>
                  <a:srgbClr val="F5F3EF"/>
                </a:solidFill>
                <a:latin typeface="Courier New" pitchFamily="34" charset="0"/>
                <a:ea typeface="Courier New" pitchFamily="34" charset="-122"/>
                <a:cs typeface="Courier New" pitchFamily="34" charset="-120"/>
              </a:rPr>
              <a:t>git restore scripts/01_clean.py</a:t>
            </a:r>
            <a:endParaRPr lang="en-US" sz="1350" dirty="0"/>
          </a:p>
        </p:txBody>
      </p:sp>
      <p:sp>
        <p:nvSpPr>
          <p:cNvPr id="14" name="Text 11"/>
          <p:cNvSpPr/>
          <p:nvPr/>
        </p:nvSpPr>
        <p:spPr>
          <a:xfrm>
            <a:off x="8275320" y="3520440"/>
            <a:ext cx="3017520" cy="365760"/>
          </a:xfrm>
          <a:prstGeom prst="rect">
            <a:avLst/>
          </a:prstGeom>
          <a:noFill/>
          <a:ln/>
        </p:spPr>
        <p:txBody>
          <a:bodyPr wrap="square" rtlCol="0" anchor="ctr"/>
          <a:lstStyle/>
          <a:p>
            <a:pPr marL="0" indent="0">
              <a:buNone/>
            </a:pPr>
            <a:endParaRPr lang="en-US" sz="1400" dirty="0"/>
          </a:p>
        </p:txBody>
      </p:sp>
      <p:sp>
        <p:nvSpPr>
          <p:cNvPr id="15" name="Text 12"/>
          <p:cNvSpPr/>
          <p:nvPr/>
        </p:nvSpPr>
        <p:spPr>
          <a:xfrm>
            <a:off x="8275320" y="3977640"/>
            <a:ext cx="3017520" cy="365760"/>
          </a:xfrm>
          <a:prstGeom prst="rect">
            <a:avLst/>
          </a:prstGeom>
          <a:noFill/>
          <a:ln/>
        </p:spPr>
        <p:txBody>
          <a:bodyPr wrap="square" rtlCol="0" anchor="ctr"/>
          <a:lstStyle/>
          <a:p>
            <a:pPr marL="0" indent="0">
              <a:buNone/>
            </a:pPr>
            <a:r>
              <a:t># undone.</a:t>
            </a:r>
            <a:endParaRPr lang="en-US" sz="1300" dirty="0"/>
          </a:p>
        </p:txBody>
      </p:sp>
      <p:sp>
        <p:nvSpPr>
          <p:cNvPr id="16" name="Text 13"/>
          <p:cNvSpPr/>
          <p:nvPr/>
        </p:nvSpPr>
        <p:spPr>
          <a:xfrm>
            <a:off x="8001000" y="5074920"/>
            <a:ext cx="3566160" cy="365760"/>
          </a:xfrm>
          <a:prstGeom prst="rect">
            <a:avLst/>
          </a:prstGeom>
          <a:noFill/>
          <a:ln/>
        </p:spPr>
        <p:txBody>
          <a:bodyPr wrap="square" rtlCol="0" anchor="ctr"/>
          <a:lstStyle/>
          <a:p>
            <a:pPr marL="0" indent="0" algn="ctr">
              <a:buNone/>
            </a:pPr>
            <a:r>
              <a:rPr lang="en-US" sz="1100" i="1" dirty="0">
                <a:solidFill>
                  <a:srgbClr val="9B9690"/>
                </a:solidFill>
                <a:latin typeface="Arial" pitchFamily="34" charset="0"/>
                <a:ea typeface="Arial" pitchFamily="34" charset="-122"/>
                <a:cs typeface="Arial" pitchFamily="34" charset="-120"/>
              </a:rPr>
              <a:t>One command. Total, instant, guaranteed undo — if you committed first.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502920"/>
            <a:ext cx="1737360"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502920"/>
            <a:ext cx="1737360"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0–3 MIN  ·  FRAMING</a:t>
            </a:r>
            <a:endParaRPr lang="en-US" sz="1100" dirty="0"/>
          </a:p>
        </p:txBody>
      </p:sp>
      <p:sp>
        <p:nvSpPr>
          <p:cNvPr id="5" name="Text 2"/>
          <p:cNvSpPr/>
          <p:nvPr/>
        </p:nvSpPr>
        <p:spPr>
          <a:xfrm>
            <a:off x="640080" y="868680"/>
            <a:ext cx="9144000" cy="640080"/>
          </a:xfrm>
          <a:prstGeom prst="rect">
            <a:avLst/>
          </a:prstGeom>
          <a:noFill/>
          <a:ln/>
        </p:spPr>
        <p:txBody>
          <a:bodyPr wrap="square" rtlCol="0" anchor="ctr"/>
          <a:lstStyle/>
          <a:p>
            <a:pPr marL="0" indent="0">
              <a:buNone/>
            </a:pPr>
            <a:r>
              <a:rPr lang="en-US" sz="3200" b="1" dirty="0">
                <a:solidFill>
                  <a:srgbClr val="1C1C1C"/>
                </a:solidFill>
                <a:latin typeface="Arial" pitchFamily="34" charset="0"/>
                <a:ea typeface="Arial" pitchFamily="34" charset="-122"/>
                <a:cs typeface="Arial" pitchFamily="34" charset="-120"/>
              </a:rPr>
              <a:t>Every reproducibility crisis comes down to one sentence</a:t>
            </a:r>
            <a:endParaRPr lang="en-US" sz="3200" dirty="0"/>
          </a:p>
        </p:txBody>
      </p:sp>
      <p:sp>
        <p:nvSpPr>
          <p:cNvPr id="6" name="Text 3"/>
          <p:cNvSpPr/>
          <p:nvPr/>
        </p:nvSpPr>
        <p:spPr>
          <a:xfrm>
            <a:off x="640080" y="1783080"/>
            <a:ext cx="6309360" cy="914400"/>
          </a:xfrm>
          <a:prstGeom prst="rect">
            <a:avLst/>
          </a:prstGeom>
          <a:noFill/>
          <a:ln/>
        </p:spPr>
        <p:txBody>
          <a:bodyPr wrap="square" rtlCol="0" anchor="ctr"/>
          <a:lstStyle/>
          <a:p>
            <a:pPr marL="0" indent="0">
              <a:lnSpc>
                <a:spcPct val="125000"/>
              </a:lnSpc>
              <a:buNone/>
            </a:pPr>
            <a:r>
              <a:rPr lang="en-US" sz="1600" b="1" dirty="0">
                <a:solidFill>
                  <a:srgbClr val="1C1C1C"/>
                </a:solidFill>
                <a:latin typeface="Arial" pitchFamily="34" charset="0"/>
                <a:ea typeface="Arial" pitchFamily="34" charset="-122"/>
                <a:cs typeface="Arial" pitchFamily="34" charset="-120"/>
              </a:rPr>
              <a:t>Somebody lost track of which version of the code produced which figure.</a:t>
            </a:r>
            <a:endParaRPr lang="en-US" sz="1600" dirty="0"/>
          </a:p>
        </p:txBody>
      </p:sp>
      <p:sp>
        <p:nvSpPr>
          <p:cNvPr id="7" name="Text 4"/>
          <p:cNvSpPr/>
          <p:nvPr/>
        </p:nvSpPr>
        <p:spPr>
          <a:xfrm>
            <a:off x="640080" y="2743200"/>
            <a:ext cx="6309360" cy="1554480"/>
          </a:xfrm>
          <a:prstGeom prst="rect">
            <a:avLst/>
          </a:prstGeom>
          <a:noFill/>
          <a:ln/>
        </p:spPr>
        <p:txBody>
          <a:bodyPr wrap="square" rtlCol="0" anchor="ctr"/>
          <a:lstStyle/>
          <a:p>
            <a:pPr marL="0" indent="0">
              <a:lnSpc>
                <a:spcPct val="125000"/>
              </a:lnSpc>
              <a:buNone/>
            </a:pPr>
            <a:r>
              <a:rPr lang="en-US" sz="1600" dirty="0">
                <a:solidFill>
                  <a:srgbClr val="1C1C1C"/>
                </a:solidFill>
                <a:latin typeface="Arial" pitchFamily="34" charset="0"/>
                <a:ea typeface="Arial" pitchFamily="34" charset="-122"/>
                <a:cs typeface="Arial" pitchFamily="34" charset="-120"/>
              </a:rPr>
              <a:t>Not fraud. Not incompetence. Just a folder with analysis_final_v3_REAL.py in it and no way to tell which run made the plot in the paper.</a:t>
            </a:r>
            <a:endParaRPr lang="en-US" sz="1600" dirty="0"/>
          </a:p>
          <a:p>
            <a:pPr marL="0" indent="0">
              <a:lnSpc>
                <a:spcPct val="125000"/>
              </a:lnSpc>
              <a:buNone/>
            </a:pPr>
            <a:endParaRPr lang="en-US" sz="1600" dirty="0"/>
          </a:p>
          <a:p>
            <a:pPr marL="0" indent="0">
              <a:lnSpc>
                <a:spcPct val="125000"/>
              </a:lnSpc>
              <a:buNone/>
            </a:pPr>
            <a:r>
              <a:rPr lang="en-US" sz="1600" dirty="0">
                <a:solidFill>
                  <a:srgbClr val="1C1C1C"/>
                </a:solidFill>
                <a:latin typeface="Arial" pitchFamily="34" charset="0"/>
                <a:ea typeface="Arial" pitchFamily="34" charset="-122"/>
                <a:cs typeface="Arial" pitchFamily="34" charset="-120"/>
              </a:rPr>
              <a:t>Today we make sure that person is not you.</a:t>
            </a:r>
            <a:endParaRPr lang="en-US" sz="1600" dirty="0"/>
          </a:p>
        </p:txBody>
      </p:sp>
      <p:sp>
        <p:nvSpPr>
          <p:cNvPr id="10" name="Shape 7"/>
          <p:cNvSpPr/>
          <p:nvPr/>
        </p:nvSpPr>
        <p:spPr>
          <a:xfrm>
            <a:off x="7223760" y="1783080"/>
            <a:ext cx="4297680" cy="3886200"/>
          </a:xfrm>
          <a:prstGeom prst="roundRect">
            <a:avLst>
              <a:gd name="adj" fmla="val 2353"/>
            </a:avLst>
          </a:prstGeom>
          <a:solidFill>
            <a:srgbClr val="1C1C1C"/>
          </a:solidFill>
          <a:ln/>
        </p:spPr>
        <p:txBody>
          <a:bodyPr/>
          <a:lstStyle/>
          <a:p>
            <a:endParaRPr lang="en-US"/>
          </a:p>
        </p:txBody>
      </p:sp>
      <p:sp>
        <p:nvSpPr>
          <p:cNvPr id="11" name="Text 8"/>
          <p:cNvSpPr/>
          <p:nvPr/>
        </p:nvSpPr>
        <p:spPr>
          <a:xfrm>
            <a:off x="7589520" y="2103120"/>
            <a:ext cx="3566160" cy="320040"/>
          </a:xfrm>
          <a:prstGeom prst="rect">
            <a:avLst/>
          </a:prstGeom>
          <a:noFill/>
          <a:ln/>
        </p:spPr>
        <p:txBody>
          <a:bodyPr wrap="square" rtlCol="0" anchor="ctr"/>
          <a:lstStyle/>
          <a:p>
            <a:pPr marL="0" indent="0">
              <a:buNone/>
            </a:pPr>
            <a:r>
              <a:rPr lang="en-US" sz="1100" b="1" kern="0" spc="200" dirty="0">
                <a:solidFill>
                  <a:srgbClr val="ECB748"/>
                </a:solidFill>
                <a:latin typeface="Arial" pitchFamily="34" charset="0"/>
                <a:ea typeface="Arial" pitchFamily="34" charset="-122"/>
                <a:cs typeface="Arial" pitchFamily="34" charset="-120"/>
              </a:rPr>
              <a:t>TODAY IS THE INSURANCE</a:t>
            </a:r>
            <a:endParaRPr lang="en-US" sz="1100" dirty="0"/>
          </a:p>
        </p:txBody>
      </p:sp>
      <p:sp>
        <p:nvSpPr>
          <p:cNvPr id="12" name="Text 9"/>
          <p:cNvSpPr/>
          <p:nvPr/>
        </p:nvSpPr>
        <p:spPr>
          <a:xfrm>
            <a:off x="7589520" y="2606040"/>
            <a:ext cx="3566160" cy="1097280"/>
          </a:xfrm>
          <a:prstGeom prst="rect">
            <a:avLst/>
          </a:prstGeom>
          <a:noFill/>
          <a:ln/>
        </p:spPr>
        <p:txBody>
          <a:bodyPr wrap="square" rtlCol="0" anchor="ctr"/>
          <a:lstStyle/>
          <a:p>
            <a:pPr marL="0" indent="0">
              <a:buNone/>
            </a:pPr>
            <a:r>
              <a:rPr lang="en-US" sz="2000" b="1" dirty="0">
                <a:solidFill>
                  <a:srgbClr val="B3C9CD"/>
                </a:solidFill>
                <a:latin typeface="Courier New" pitchFamily="34" charset="0"/>
                <a:ea typeface="Courier New" pitchFamily="34" charset="-122"/>
                <a:cs typeface="Courier New" pitchFamily="34" charset="-120"/>
              </a:rPr>
              <a:t>Two things.</a:t>
            </a:r>
            <a:endParaRPr lang="en-US" sz="2000" dirty="0"/>
          </a:p>
        </p:txBody>
      </p:sp>
      <p:sp>
        <p:nvSpPr>
          <p:cNvPr id="13" name="Shape 10"/>
          <p:cNvSpPr/>
          <p:nvPr/>
        </p:nvSpPr>
        <p:spPr>
          <a:xfrm>
            <a:off x="7589520" y="3931920"/>
            <a:ext cx="3566160" cy="0"/>
          </a:xfrm>
          <a:prstGeom prst="line">
            <a:avLst/>
          </a:prstGeom>
          <a:noFill/>
          <a:ln w="12700">
            <a:solidFill>
              <a:srgbClr val="444444"/>
            </a:solidFill>
            <a:prstDash val="solid"/>
          </a:ln>
        </p:spPr>
        <p:txBody>
          <a:bodyPr/>
          <a:lstStyle/>
          <a:p>
            <a:endParaRPr lang="en-US"/>
          </a:p>
        </p:txBody>
      </p:sp>
      <p:sp>
        <p:nvSpPr>
          <p:cNvPr id="14" name="Text 11"/>
          <p:cNvSpPr/>
          <p:nvPr/>
        </p:nvSpPr>
        <p:spPr>
          <a:xfrm>
            <a:off x="7589520" y="4160520"/>
            <a:ext cx="3566160" cy="1280160"/>
          </a:xfrm>
          <a:prstGeom prst="rect">
            <a:avLst/>
          </a:prstGeom>
          <a:noFill/>
          <a:ln/>
        </p:spPr>
        <p:txBody>
          <a:bodyPr wrap="square" rtlCol="0" anchor="ctr"/>
          <a:lstStyle/>
          <a:p>
            <a:pPr marL="0" indent="0">
              <a:lnSpc>
                <a:spcPct val="130000"/>
              </a:lnSpc>
              <a:buNone/>
            </a:pPr>
            <a:r>
              <a:rPr lang="en-US" sz="1350" dirty="0">
                <a:solidFill>
                  <a:srgbClr val="F5F3EF"/>
                </a:solidFill>
                <a:latin typeface="Arial" pitchFamily="34" charset="0"/>
                <a:ea typeface="Arial" pitchFamily="34" charset="-122"/>
                <a:cs typeface="Arial" pitchFamily="34" charset="-120"/>
              </a:rPr>
              <a:t>A folder layout a stranger can navigate, and a history you can rewind. Neither takes more than fifteen minutes to set up once.</a:t>
            </a:r>
            <a:endParaRPr lang="en-US" sz="1350" dirty="0"/>
          </a:p>
        </p:txBody>
      </p:sp>
      <p:sp>
        <p:nvSpPr>
          <p:cNvPr id="15" name="Text 12"/>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502920"/>
            <a:ext cx="1737360"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502920"/>
            <a:ext cx="1737360"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ROADMAP</a:t>
            </a:r>
            <a:endParaRPr lang="en-US" sz="1100" dirty="0"/>
          </a:p>
        </p:txBody>
      </p:sp>
      <p:sp>
        <p:nvSpPr>
          <p:cNvPr id="5" name="Text 2"/>
          <p:cNvSpPr/>
          <p:nvPr/>
        </p:nvSpPr>
        <p:spPr>
          <a:xfrm>
            <a:off x="640080" y="868680"/>
            <a:ext cx="9144000" cy="640080"/>
          </a:xfrm>
          <a:prstGeom prst="rect">
            <a:avLst/>
          </a:prstGeom>
          <a:noFill/>
          <a:ln/>
        </p:spPr>
        <p:txBody>
          <a:bodyPr wrap="square" rtlCol="0" anchor="ctr"/>
          <a:lstStyle/>
          <a:p>
            <a:pPr marL="0" indent="0">
              <a:buNone/>
            </a:pPr>
            <a:r>
              <a:rPr lang="en-US" sz="3200" b="1" dirty="0">
                <a:solidFill>
                  <a:srgbClr val="1C1C1C"/>
                </a:solidFill>
                <a:latin typeface="Arial" pitchFamily="34" charset="0"/>
                <a:ea typeface="Arial" pitchFamily="34" charset="-122"/>
                <a:cs typeface="Arial" pitchFamily="34" charset="-120"/>
              </a:rPr>
              <a:t>By the end of today you can…</a:t>
            </a:r>
            <a:endParaRPr lang="en-US" sz="3200" dirty="0"/>
          </a:p>
        </p:txBody>
      </p:sp>
      <p:sp>
        <p:nvSpPr>
          <p:cNvPr id="6" name="Text 3"/>
          <p:cNvSpPr/>
          <p:nvPr/>
        </p:nvSpPr>
        <p:spPr>
          <a:xfrm>
            <a:off x="640080" y="1783080"/>
            <a:ext cx="6309360" cy="914400"/>
          </a:xfrm>
          <a:prstGeom prst="rect">
            <a:avLst/>
          </a:prstGeom>
          <a:noFill/>
          <a:ln/>
        </p:spPr>
        <p:txBody>
          <a:bodyPr wrap="square" rtlCol="0" anchor="ctr"/>
          <a:lstStyle/>
          <a:p>
            <a:pPr marL="0" indent="0">
              <a:lnSpc>
                <a:spcPct val="125000"/>
              </a:lnSpc>
              <a:buNone/>
            </a:pPr>
            <a:r>
              <a:rPr lang="en-US" sz="1600" b="1" dirty="0">
                <a:solidFill>
                  <a:srgbClr val="1C1C1C"/>
                </a:solidFill>
                <a:latin typeface="Arial" pitchFamily="34" charset="0"/>
                <a:ea typeface="Arial" pitchFamily="34" charset="-122"/>
                <a:cs typeface="Arial" pitchFamily="34" charset="-120"/>
              </a:rPr>
              <a:t>1.  Read a CSV into Python and into R — and check the types.</a:t>
            </a:r>
            <a:endParaRPr lang="en-US" sz="1600" dirty="0"/>
          </a:p>
          <a:p>
            <a:pPr marL="0" indent="0">
              <a:lnSpc>
                <a:spcPct val="125000"/>
              </a:lnSpc>
              <a:buNone/>
            </a:pPr>
            <a:r>
              <a:rPr lang="en-US" sz="1600" b="1" dirty="0">
                <a:solidFill>
                  <a:srgbClr val="1C1C1C"/>
                </a:solidFill>
                <a:latin typeface="Arial" pitchFamily="34" charset="0"/>
                <a:ea typeface="Arial" pitchFamily="34" charset="-122"/>
                <a:cs typeface="Arial" pitchFamily="34" charset="-120"/>
              </a:rPr>
              <a:t>2.  Explain the working directory, and why relative paths beat absolute ones.</a:t>
            </a:r>
            <a:endParaRPr lang="en-US" sz="1600" dirty="0"/>
          </a:p>
          <a:p>
            <a:pPr marL="0" indent="0">
              <a:lnSpc>
                <a:spcPct val="125000"/>
              </a:lnSpc>
              <a:buNone/>
            </a:pPr>
            <a:r>
              <a:rPr lang="en-US" sz="1600" b="1" dirty="0">
                <a:solidFill>
                  <a:srgbClr val="1C1C1C"/>
                </a:solidFill>
                <a:latin typeface="Arial" pitchFamily="34" charset="0"/>
                <a:ea typeface="Arial" pitchFamily="34" charset="-122"/>
                <a:cs typeface="Arial" pitchFamily="34" charset="-120"/>
              </a:rPr>
              <a:t>3.  Lay out a project folder another human can navigate.</a:t>
            </a:r>
            <a:endParaRPr lang="en-US" sz="1600" dirty="0"/>
          </a:p>
        </p:txBody>
      </p:sp>
      <p:sp>
        <p:nvSpPr>
          <p:cNvPr id="7" name="Text 4"/>
          <p:cNvSpPr/>
          <p:nvPr/>
        </p:nvSpPr>
        <p:spPr>
          <a:xfrm>
            <a:off x="640080" y="2743200"/>
            <a:ext cx="6309360" cy="1554480"/>
          </a:xfrm>
          <a:prstGeom prst="rect">
            <a:avLst/>
          </a:prstGeom>
          <a:noFill/>
          <a:ln/>
        </p:spPr>
        <p:txBody>
          <a:bodyPr wrap="square" rtlCol="0" anchor="ctr"/>
          <a:lstStyle/>
          <a:p>
            <a:pPr marL="0" indent="0">
              <a:lnSpc>
                <a:spcPct val="125000"/>
              </a:lnSpc>
              <a:buNone/>
            </a:pPr>
            <a:r>
              <a:rPr lang="en-US" sz="1600" dirty="0">
                <a:solidFill>
                  <a:srgbClr val="1C1C1C"/>
                </a:solidFill>
                <a:latin typeface="Arial" pitchFamily="34" charset="0"/>
                <a:ea typeface="Arial" pitchFamily="34" charset="-122"/>
                <a:cs typeface="Arial" pitchFamily="34" charset="-120"/>
              </a:rPr>
              <a:t>4.  Init, stage, commit, and push — and read git log.</a:t>
            </a:r>
            <a:endParaRPr lang="en-US" sz="1600" dirty="0"/>
          </a:p>
          <a:p>
            <a:pPr marL="0" indent="0">
              <a:lnSpc>
                <a:spcPct val="125000"/>
              </a:lnSpc>
              <a:buNone/>
            </a:pPr>
            <a:r>
              <a:rPr lang="en-US" sz="1600" dirty="0">
                <a:solidFill>
                  <a:srgbClr val="1C1C1C"/>
                </a:solidFill>
                <a:latin typeface="Arial" pitchFamily="34" charset="0"/>
                <a:ea typeface="Arial" pitchFamily="34" charset="-122"/>
                <a:cs typeface="Arial" pitchFamily="34" charset="-120"/>
              </a:rPr>
              <a:t>5.  Recover a file after an AI rewrote it and broke everything.</a:t>
            </a:r>
            <a:endParaRPr lang="en-US" sz="1600" dirty="0"/>
          </a:p>
        </p:txBody>
      </p:sp>
      <p:sp>
        <p:nvSpPr>
          <p:cNvPr id="8" name="Shape 5"/>
          <p:cNvSpPr/>
          <p:nvPr/>
        </p:nvSpPr>
        <p:spPr>
          <a:xfrm>
            <a:off x="640080" y="4663440"/>
            <a:ext cx="6309360" cy="1005840"/>
          </a:xfrm>
          <a:prstGeom prst="roundRect">
            <a:avLst>
              <a:gd name="adj" fmla="val 7273"/>
            </a:avLst>
          </a:prstGeom>
          <a:solidFill>
            <a:srgbClr val="F5F3EF"/>
          </a:solidFill>
          <a:ln w="12700">
            <a:solidFill>
              <a:srgbClr val="E3E3E3"/>
            </a:solidFill>
            <a:prstDash val="solid"/>
          </a:ln>
        </p:spPr>
        <p:txBody>
          <a:bodyPr/>
          <a:lstStyle/>
          <a:p>
            <a:endParaRPr lang="en-US"/>
          </a:p>
        </p:txBody>
      </p:sp>
      <p:sp>
        <p:nvSpPr>
          <p:cNvPr id="9" name="Text 6"/>
          <p:cNvSpPr/>
          <p:nvPr/>
        </p:nvSpPr>
        <p:spPr>
          <a:xfrm>
            <a:off x="868680" y="4663440"/>
            <a:ext cx="5852160" cy="1005840"/>
          </a:xfrm>
          <a:prstGeom prst="rect">
            <a:avLst/>
          </a:prstGeom>
          <a:noFill/>
          <a:ln/>
        </p:spPr>
        <p:txBody>
          <a:bodyPr wrap="square" rtlCol="0" anchor="ctr"/>
          <a:lstStyle/>
          <a:p>
            <a:pPr marL="0" indent="0">
              <a:buNone/>
            </a:pPr>
            <a:r>
              <a:rPr lang="en-US" sz="1300" b="1" dirty="0">
                <a:solidFill>
                  <a:srgbClr val="1C1C1C"/>
                </a:solidFill>
                <a:latin typeface="Arial" pitchFamily="34" charset="0"/>
                <a:ea typeface="Arial" pitchFamily="34" charset="-122"/>
                <a:cs typeface="Arial" pitchFamily="34" charset="-120"/>
              </a:rPr>
              <a:t>Objective 5 is the one that sells Git to this audience. Lead with it if attention flags.</a:t>
            </a:r>
            <a:endParaRPr lang="en-US" sz="1300" dirty="0"/>
          </a:p>
        </p:txBody>
      </p:sp>
      <p:sp>
        <p:nvSpPr>
          <p:cNvPr id="15" name="Text 12"/>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457200"/>
            <a:ext cx="1808683"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1808683"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3–8 MIN  ·  SEGMENT 2</a:t>
            </a:r>
            <a:endParaRPr lang="en-US" sz="1100" dirty="0"/>
          </a:p>
        </p:txBody>
      </p:sp>
      <p:sp>
        <p:nvSpPr>
          <p:cNvPr id="5" name="Text 2"/>
          <p:cNvSpPr/>
          <p:nvPr/>
        </p:nvSpPr>
        <p:spPr>
          <a:xfrm>
            <a:off x="640080" y="822960"/>
            <a:ext cx="9144000" cy="594360"/>
          </a:xfrm>
          <a:prstGeom prst="rect">
            <a:avLst/>
          </a:prstGeom>
          <a:noFill/>
          <a:ln/>
        </p:spPr>
        <p:txBody>
          <a:bodyPr wrap="square" rtlCol="0" anchor="ctr"/>
          <a:lstStyle/>
          <a:p>
            <a:pPr marL="0" indent="0">
              <a:buNone/>
            </a:pPr>
            <a:r>
              <a:rPr lang="en-US" sz="3000" b="1" dirty="0">
                <a:solidFill>
                  <a:srgbClr val="1C1C1C"/>
                </a:solidFill>
                <a:latin typeface="Arial" pitchFamily="34" charset="0"/>
                <a:ea typeface="Arial" pitchFamily="34" charset="-122"/>
                <a:cs typeface="Arial" pitchFamily="34" charset="-120"/>
              </a:rPr>
              <a:t>Reading a file — and checking what you got</a:t>
            </a:r>
            <a:endParaRPr lang="en-US" sz="3000" dirty="0"/>
          </a:p>
        </p:txBody>
      </p:sp>
      <p:sp>
        <p:nvSpPr>
          <p:cNvPr id="6" name="Shape 3"/>
          <p:cNvSpPr/>
          <p:nvPr/>
        </p:nvSpPr>
        <p:spPr>
          <a:xfrm>
            <a:off x="640080" y="1600200"/>
            <a:ext cx="5257800" cy="1737360"/>
          </a:xfrm>
          <a:prstGeom prst="roundRect">
            <a:avLst>
              <a:gd name="adj" fmla="val 5263"/>
            </a:avLst>
          </a:prstGeom>
          <a:solidFill>
            <a:srgbClr val="2E2E2E"/>
          </a:solidFill>
          <a:ln w="12700">
            <a:solidFill>
              <a:srgbClr val="444444"/>
            </a:solidFill>
            <a:prstDash val="solid"/>
          </a:ln>
        </p:spPr>
        <p:txBody>
          <a:bodyPr/>
          <a:lstStyle/>
          <a:p>
            <a:endParaRPr lang="en-US"/>
          </a:p>
        </p:txBody>
      </p:sp>
      <p:sp>
        <p:nvSpPr>
          <p:cNvPr id="7" name="Shape 4"/>
          <p:cNvSpPr/>
          <p:nvPr/>
        </p:nvSpPr>
        <p:spPr>
          <a:xfrm>
            <a:off x="868680" y="1801368"/>
            <a:ext cx="146304" cy="146304"/>
          </a:xfrm>
          <a:prstGeom prst="ellipse">
            <a:avLst/>
          </a:prstGeom>
          <a:solidFill>
            <a:srgbClr val="D64550"/>
          </a:solidFill>
          <a:ln/>
        </p:spPr>
        <p:txBody>
          <a:bodyPr/>
          <a:lstStyle/>
          <a:p>
            <a:endParaRPr lang="en-US"/>
          </a:p>
        </p:txBody>
      </p:sp>
      <p:sp>
        <p:nvSpPr>
          <p:cNvPr id="8" name="Shape 5"/>
          <p:cNvSpPr/>
          <p:nvPr/>
        </p:nvSpPr>
        <p:spPr>
          <a:xfrm>
            <a:off x="1124712" y="1801368"/>
            <a:ext cx="146304" cy="146304"/>
          </a:xfrm>
          <a:prstGeom prst="ellipse">
            <a:avLst/>
          </a:prstGeom>
          <a:solidFill>
            <a:srgbClr val="ECB748"/>
          </a:solidFill>
          <a:ln/>
        </p:spPr>
        <p:txBody>
          <a:bodyPr/>
          <a:lstStyle/>
          <a:p>
            <a:endParaRPr lang="en-US"/>
          </a:p>
        </p:txBody>
      </p:sp>
      <p:sp>
        <p:nvSpPr>
          <p:cNvPr id="9" name="Shape 6"/>
          <p:cNvSpPr/>
          <p:nvPr/>
        </p:nvSpPr>
        <p:spPr>
          <a:xfrm>
            <a:off x="1380744" y="1801368"/>
            <a:ext cx="146304" cy="146304"/>
          </a:xfrm>
          <a:prstGeom prst="ellipse">
            <a:avLst/>
          </a:prstGeom>
          <a:solidFill>
            <a:srgbClr val="6B6B6B"/>
          </a:solidFill>
          <a:ln/>
        </p:spPr>
        <p:txBody>
          <a:bodyPr/>
          <a:lstStyle/>
          <a:p>
            <a:endParaRPr lang="en-US"/>
          </a:p>
        </p:txBody>
      </p:sp>
      <p:sp>
        <p:nvSpPr>
          <p:cNvPr id="10" name="Text 7"/>
          <p:cNvSpPr/>
          <p:nvPr/>
        </p:nvSpPr>
        <p:spPr>
          <a:xfrm>
            <a:off x="178308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load.py</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txBody>
          <a:bodyPr/>
          <a:lstStyle/>
          <a:p>
            <a:endParaRPr lang="en-US"/>
          </a:p>
        </p:txBody>
      </p:sp>
      <p:sp>
        <p:nvSpPr>
          <p:cNvPr id="12" name="Text 9"/>
          <p:cNvSpPr/>
          <p:nvPr/>
        </p:nvSpPr>
        <p:spPr>
          <a:xfrm>
            <a:off x="914400" y="2240280"/>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import pandas as pd</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df = pd.read_csv("data/raw/patients.csv")</a:t>
            </a: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marL="0" indent="0">
              <a:buNone/>
            </a:pPr>
            <a:r>
              <a:rPr lang="en-US" sz="1300" dirty="0">
                <a:solidFill>
                  <a:srgbClr val="ECB748"/>
                </a:solidFill>
                <a:latin typeface="Courier New" pitchFamily="34" charset="0"/>
                <a:ea typeface="Courier New" pitchFamily="34" charset="-122"/>
                <a:cs typeface="Courier New" pitchFamily="34" charset="-120"/>
              </a:rPr>
              <a:t>df.dtypes      # &lt;- check the types!</a:t>
            </a:r>
            <a:endParaRPr lang="en-US" sz="1300" dirty="0"/>
          </a:p>
        </p:txBody>
      </p:sp>
      <p:sp>
        <p:nvSpPr>
          <p:cNvPr id="15" name="Shape 12"/>
          <p:cNvSpPr/>
          <p:nvPr/>
        </p:nvSpPr>
        <p:spPr>
          <a:xfrm>
            <a:off x="6263640" y="1600200"/>
            <a:ext cx="5257800" cy="1737360"/>
          </a:xfrm>
          <a:prstGeom prst="roundRect">
            <a:avLst>
              <a:gd name="adj" fmla="val 5263"/>
            </a:avLst>
          </a:prstGeom>
          <a:solidFill>
            <a:srgbClr val="2E2E2E"/>
          </a:solidFill>
          <a:ln w="12700">
            <a:solidFill>
              <a:srgbClr val="444444"/>
            </a:solidFill>
            <a:prstDash val="solid"/>
          </a:ln>
        </p:spPr>
        <p:txBody>
          <a:bodyPr/>
          <a:lstStyle/>
          <a:p>
            <a:endParaRPr lang="en-US"/>
          </a:p>
        </p:txBody>
      </p:sp>
      <p:sp>
        <p:nvSpPr>
          <p:cNvPr id="16" name="Shape 13"/>
          <p:cNvSpPr/>
          <p:nvPr/>
        </p:nvSpPr>
        <p:spPr>
          <a:xfrm>
            <a:off x="6492240" y="1801368"/>
            <a:ext cx="146304" cy="146304"/>
          </a:xfrm>
          <a:prstGeom prst="ellipse">
            <a:avLst/>
          </a:prstGeom>
          <a:solidFill>
            <a:srgbClr val="D64550"/>
          </a:solidFill>
          <a:ln/>
        </p:spPr>
        <p:txBody>
          <a:bodyPr/>
          <a:lstStyle/>
          <a:p>
            <a:endParaRPr lang="en-US"/>
          </a:p>
        </p:txBody>
      </p:sp>
      <p:sp>
        <p:nvSpPr>
          <p:cNvPr id="17" name="Shape 14"/>
          <p:cNvSpPr/>
          <p:nvPr/>
        </p:nvSpPr>
        <p:spPr>
          <a:xfrm>
            <a:off x="6748272" y="1801368"/>
            <a:ext cx="146304" cy="146304"/>
          </a:xfrm>
          <a:prstGeom prst="ellipse">
            <a:avLst/>
          </a:prstGeom>
          <a:solidFill>
            <a:srgbClr val="ECB748"/>
          </a:solidFill>
          <a:ln/>
        </p:spPr>
        <p:txBody>
          <a:bodyPr/>
          <a:lstStyle/>
          <a:p>
            <a:endParaRPr lang="en-US"/>
          </a:p>
        </p:txBody>
      </p:sp>
      <p:sp>
        <p:nvSpPr>
          <p:cNvPr id="18" name="Shape 15"/>
          <p:cNvSpPr/>
          <p:nvPr/>
        </p:nvSpPr>
        <p:spPr>
          <a:xfrm>
            <a:off x="7004304" y="1801368"/>
            <a:ext cx="146304" cy="146304"/>
          </a:xfrm>
          <a:prstGeom prst="ellipse">
            <a:avLst/>
          </a:prstGeom>
          <a:solidFill>
            <a:srgbClr val="6B6B6B"/>
          </a:solidFill>
          <a:ln/>
        </p:spPr>
        <p:txBody>
          <a:bodyPr/>
          <a:lstStyle/>
          <a:p>
            <a:endParaRPr lang="en-US"/>
          </a:p>
        </p:txBody>
      </p:sp>
      <p:sp>
        <p:nvSpPr>
          <p:cNvPr id="19" name="Text 16"/>
          <p:cNvSpPr/>
          <p:nvPr/>
        </p:nvSpPr>
        <p:spPr>
          <a:xfrm>
            <a:off x="740664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load.R</a:t>
            </a:r>
            <a:endParaRPr lang="en-US" sz="1050" dirty="0"/>
          </a:p>
        </p:txBody>
      </p:sp>
      <p:sp>
        <p:nvSpPr>
          <p:cNvPr id="20" name="Shape 17"/>
          <p:cNvSpPr/>
          <p:nvPr/>
        </p:nvSpPr>
        <p:spPr>
          <a:xfrm>
            <a:off x="6309360" y="2103120"/>
            <a:ext cx="5166360" cy="0"/>
          </a:xfrm>
          <a:prstGeom prst="line">
            <a:avLst/>
          </a:prstGeom>
          <a:noFill/>
          <a:ln w="12700">
            <a:solidFill>
              <a:srgbClr val="444444"/>
            </a:solidFill>
            <a:prstDash val="solid"/>
          </a:ln>
        </p:spPr>
        <p:txBody>
          <a:bodyPr/>
          <a:lstStyle/>
          <a:p>
            <a:endParaRPr lang="en-US"/>
          </a:p>
        </p:txBody>
      </p:sp>
      <p:sp>
        <p:nvSpPr>
          <p:cNvPr id="21" name="Text 18"/>
          <p:cNvSpPr/>
          <p:nvPr/>
        </p:nvSpPr>
        <p:spPr>
          <a:xfrm>
            <a:off x="6537960" y="2240280"/>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library(readr)</a:t>
            </a:r>
            <a:endParaRPr lang="en-US" sz="1300" dirty="0"/>
          </a:p>
        </p:txBody>
      </p:sp>
      <p:sp>
        <p:nvSpPr>
          <p:cNvPr id="22" name="Text 19"/>
          <p:cNvSpPr/>
          <p:nvPr/>
        </p:nvSpPr>
        <p:spPr>
          <a:xfrm>
            <a:off x="6537960" y="2569464"/>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df &lt;- read_csv("data/raw/patients.csv")</a:t>
            </a:r>
            <a:endParaRPr lang="en-US" sz="1300" dirty="0"/>
          </a:p>
        </p:txBody>
      </p:sp>
      <p:sp>
        <p:nvSpPr>
          <p:cNvPr id="23" name="Text 20"/>
          <p:cNvSpPr/>
          <p:nvPr/>
        </p:nvSpPr>
        <p:spPr>
          <a:xfrm>
            <a:off x="6537960" y="2898648"/>
            <a:ext cx="4709160" cy="329184"/>
          </a:xfrm>
          <a:prstGeom prst="rect">
            <a:avLst/>
          </a:prstGeom>
          <a:noFill/>
          <a:ln/>
        </p:spPr>
        <p:txBody>
          <a:bodyPr wrap="square" rtlCol="0" anchor="ctr"/>
          <a:lstStyle/>
          <a:p>
            <a:pPr marL="0" indent="0">
              <a:buNone/>
            </a:pPr>
            <a:r>
              <a:rPr lang="en-US" sz="1300" dirty="0">
                <a:solidFill>
                  <a:srgbClr val="B3C9CD"/>
                </a:solidFill>
                <a:latin typeface="Courier New" pitchFamily="34" charset="0"/>
                <a:ea typeface="Courier New" pitchFamily="34" charset="-122"/>
                <a:cs typeface="Courier New" pitchFamily="34" charset="-120"/>
              </a:rPr>
              <a:t>str(df)        # &lt;- check the types!</a:t>
            </a:r>
            <a:endParaRPr lang="en-US" sz="1300" dirty="0"/>
          </a:p>
        </p:txBody>
      </p:sp>
      <p:sp>
        <p:nvSpPr>
          <p:cNvPr id="24" name="Text 21"/>
          <p:cNvSpPr/>
          <p:nvPr/>
        </p:nvSpPr>
        <p:spPr>
          <a:xfrm>
            <a:off x="640080" y="3566160"/>
            <a:ext cx="10881360" cy="411480"/>
          </a:xfrm>
          <a:prstGeom prst="rect">
            <a:avLst/>
          </a:prstGeom>
          <a:noFill/>
          <a:ln/>
        </p:spPr>
        <p:txBody>
          <a:bodyPr wrap="square" rtlCol="0" anchor="ctr"/>
          <a:lstStyle/>
          <a:p>
            <a:pPr marL="0" indent="0">
              <a:buNone/>
            </a:pPr>
            <a:r>
              <a:rPr lang="en-US" sz="1400" b="1" dirty="0">
                <a:solidFill>
                  <a:srgbClr val="1C1C1C"/>
                </a:solidFill>
                <a:latin typeface="Arial" pitchFamily="34" charset="0"/>
                <a:ea typeface="Arial" pitchFamily="34" charset="-122"/>
                <a:cs typeface="Arial" pitchFamily="34" charset="-120"/>
              </a:rPr>
              <a:t>1. Session 2's habit, now on real data.  df.dtypes and str(df) are where you catch the age column that loaded as text, before it poisons everything downstream.</a:t>
            </a:r>
            <a:endParaRPr lang="en-US" sz="1400" dirty="0"/>
          </a:p>
        </p:txBody>
      </p:sp>
      <p:sp>
        <p:nvSpPr>
          <p:cNvPr id="25" name="Text 22"/>
          <p:cNvSpPr/>
          <p:nvPr/>
        </p:nvSpPr>
        <p:spPr>
          <a:xfrm>
            <a:off x="640080" y="4023360"/>
            <a:ext cx="10881360" cy="411480"/>
          </a:xfrm>
          <a:prstGeom prst="rect">
            <a:avLst/>
          </a:prstGeom>
          <a:noFill/>
          <a:ln/>
        </p:spPr>
        <p:txBody>
          <a:bodyPr wrap="square" rtlCol="0" anchor="ctr"/>
          <a:lstStyle/>
          <a:p>
            <a:pPr marL="0" indent="0">
              <a:buNone/>
            </a:pPr>
            <a:r>
              <a:rPr lang="en-US" sz="1400" b="1" dirty="0">
                <a:solidFill>
                  <a:srgbClr val="1C1C1C"/>
                </a:solidFill>
                <a:latin typeface="Arial" pitchFamily="34" charset="0"/>
                <a:ea typeface="Arial" pitchFamily="34" charset="-122"/>
                <a:cs typeface="Arial" pitchFamily="34" charset="-120"/>
              </a:rPr>
              <a:t>2. Run it every single time you load a file.  It costs three seconds and it is the answer surprisingly often.</a:t>
            </a:r>
            <a:endParaRPr lang="en-US" sz="1400" dirty="0"/>
          </a:p>
        </p:txBody>
      </p:sp>
      <p:sp>
        <p:nvSpPr>
          <p:cNvPr id="26" name="Shape 23"/>
          <p:cNvSpPr/>
          <p:nvPr/>
        </p:nvSpPr>
        <p:spPr>
          <a:xfrm>
            <a:off x="640080" y="4572000"/>
            <a:ext cx="10881360" cy="1600200"/>
          </a:xfrm>
          <a:prstGeom prst="roundRect">
            <a:avLst>
              <a:gd name="adj" fmla="val 5714"/>
            </a:avLst>
          </a:prstGeom>
          <a:solidFill>
            <a:srgbClr val="EAF0F1"/>
          </a:solidFill>
          <a:ln w="19050">
            <a:solidFill>
              <a:srgbClr val="B3C9CD"/>
            </a:solidFill>
            <a:prstDash val="solid"/>
          </a:ln>
        </p:spPr>
        <p:txBody>
          <a:bodyPr/>
          <a:lstStyle/>
          <a:p>
            <a:endParaRPr lang="en-US"/>
          </a:p>
        </p:txBody>
      </p:sp>
      <p:sp>
        <p:nvSpPr>
          <p:cNvPr id="27" name="Text 24"/>
          <p:cNvSpPr/>
          <p:nvPr/>
        </p:nvSpPr>
        <p:spPr>
          <a:xfrm>
            <a:off x="960120" y="4754880"/>
            <a:ext cx="10241280" cy="274320"/>
          </a:xfrm>
          <a:prstGeom prst="rect">
            <a:avLst/>
          </a:prstGeom>
          <a:noFill/>
          <a:ln/>
        </p:spPr>
        <p:txBody>
          <a:bodyPr wrap="square" rtlCol="0" anchor="ctr"/>
          <a:lstStyle/>
          <a:p>
            <a:pPr marL="0" indent="0">
              <a:buNone/>
            </a:pPr>
            <a:r>
              <a:rPr lang="en-US" sz="1100" b="1" kern="0" spc="100" dirty="0">
                <a:solidFill>
                  <a:srgbClr val="595959"/>
                </a:solidFill>
                <a:latin typeface="Arial" pitchFamily="34" charset="0"/>
                <a:ea typeface="Arial" pitchFamily="34" charset="-122"/>
                <a:cs typeface="Arial" pitchFamily="34" charset="-120"/>
              </a:rPr>
              <a:t>WATCH WHAT HAPPENS ON THE REAL FILE</a:t>
            </a:r>
            <a:endParaRPr lang="en-US" sz="1100" dirty="0"/>
          </a:p>
        </p:txBody>
      </p:sp>
      <p:sp>
        <p:nvSpPr>
          <p:cNvPr id="28" name="Text 25"/>
          <p:cNvSpPr/>
          <p:nvPr/>
        </p:nvSpPr>
        <p:spPr>
          <a:xfrm>
            <a:off x="960120" y="5074920"/>
            <a:ext cx="10241280" cy="457200"/>
          </a:xfrm>
          <a:prstGeom prst="rect">
            <a:avLst/>
          </a:prstGeom>
          <a:noFill/>
          <a:ln/>
        </p:spPr>
        <p:txBody>
          <a:bodyPr wrap="square" rtlCol="0" anchor="ctr"/>
          <a:lstStyle/>
          <a:p>
            <a:pPr marL="0" indent="0">
              <a:buNone/>
            </a:pPr>
            <a:r>
              <a:rPr lang="en-US" sz="1500" b="1" dirty="0">
                <a:solidFill>
                  <a:srgbClr val="1C1C1C"/>
                </a:solidFill>
                <a:latin typeface="Courier New" pitchFamily="34" charset="0"/>
                <a:ea typeface="Courier New" pitchFamily="34" charset="-122"/>
                <a:cs typeface="Courier New" pitchFamily="34" charset="-120"/>
              </a:rPr>
              <a:t>patients.csv has six rows where age says "unknown" — so the whole column arrives as text</a:t>
            </a:r>
            <a:endParaRPr lang="en-US" sz="1500" dirty="0"/>
          </a:p>
        </p:txBody>
      </p:sp>
      <p:sp>
        <p:nvSpPr>
          <p:cNvPr id="29" name="Text 26"/>
          <p:cNvSpPr/>
          <p:nvPr/>
        </p:nvSpPr>
        <p:spPr>
          <a:xfrm>
            <a:off x="960120" y="5577840"/>
            <a:ext cx="10241280" cy="502920"/>
          </a:xfrm>
          <a:prstGeom prst="rect">
            <a:avLst/>
          </a:prstGeom>
          <a:noFill/>
          <a:ln/>
        </p:spPr>
        <p:txBody>
          <a:bodyPr wrap="square" rtlCol="0" anchor="ctr"/>
          <a:lstStyle/>
          <a:p>
            <a:pPr marL="0" indent="0">
              <a:buNone/>
            </a:pPr>
            <a:r>
              <a:rPr lang="en-US" sz="1250" i="1" dirty="0">
                <a:solidFill>
                  <a:srgbClr val="1C1C1C"/>
                </a:solidFill>
                <a:latin typeface="Arial" pitchFamily="34" charset="0"/>
                <a:ea typeface="Arial" pitchFamily="34" charset="-122"/>
                <a:cs typeface="Arial" pitchFamily="34" charset="-120"/>
              </a:rPr>
              <a:t>We are not fixing it today; that is Session 8. Today we only prove the check is worth running.</a:t>
            </a:r>
            <a:endParaRPr lang="en-US" sz="1250" dirty="0"/>
          </a:p>
        </p:txBody>
      </p:sp>
      <p:sp>
        <p:nvSpPr>
          <p:cNvPr id="30" name="Text 27"/>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457200"/>
            <a:ext cx="1737360"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1737360"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8–12 MIN  ·  PATHS</a:t>
            </a:r>
            <a:endParaRPr lang="en-US" sz="1100" dirty="0"/>
          </a:p>
        </p:txBody>
      </p:sp>
      <p:sp>
        <p:nvSpPr>
          <p:cNvPr id="5" name="Text 2"/>
          <p:cNvSpPr/>
          <p:nvPr/>
        </p:nvSpPr>
        <p:spPr>
          <a:xfrm>
            <a:off x="640080" y="822960"/>
            <a:ext cx="10058400" cy="594360"/>
          </a:xfrm>
          <a:prstGeom prst="rect">
            <a:avLst/>
          </a:prstGeom>
          <a:noFill/>
          <a:ln/>
        </p:spPr>
        <p:txBody>
          <a:bodyPr wrap="square" rtlCol="0" anchor="ctr"/>
          <a:lstStyle/>
          <a:p>
            <a:pPr marL="0" indent="0">
              <a:buNone/>
            </a:pPr>
            <a:r>
              <a:rPr lang="en-US" sz="2800" b="1" dirty="0">
                <a:solidFill>
                  <a:srgbClr val="1C1C1C"/>
                </a:solidFill>
                <a:latin typeface="Arial" pitchFamily="34" charset="0"/>
                <a:ea typeface="Arial" pitchFamily="34" charset="-122"/>
                <a:cs typeface="Arial" pitchFamily="34" charset="-120"/>
              </a:rPr>
              <a:t>Relative paths, always</a:t>
            </a:r>
            <a:endParaRPr lang="en-US" sz="2800" dirty="0"/>
          </a:p>
        </p:txBody>
      </p:sp>
      <p:sp>
        <p:nvSpPr>
          <p:cNvPr id="6" name="Shape 3"/>
          <p:cNvSpPr/>
          <p:nvPr/>
        </p:nvSpPr>
        <p:spPr>
          <a:xfrm>
            <a:off x="64008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7" name="Shape 4"/>
          <p:cNvSpPr/>
          <p:nvPr/>
        </p:nvSpPr>
        <p:spPr>
          <a:xfrm>
            <a:off x="868680" y="1801368"/>
            <a:ext cx="146304" cy="146304"/>
          </a:xfrm>
          <a:prstGeom prst="ellipse">
            <a:avLst/>
          </a:prstGeom>
          <a:solidFill>
            <a:srgbClr val="D64550"/>
          </a:solidFill>
          <a:ln/>
        </p:spPr>
        <p:txBody>
          <a:bodyPr/>
          <a:lstStyle/>
          <a:p>
            <a:endParaRPr lang="en-US"/>
          </a:p>
        </p:txBody>
      </p:sp>
      <p:sp>
        <p:nvSpPr>
          <p:cNvPr id="8" name="Shape 5"/>
          <p:cNvSpPr/>
          <p:nvPr/>
        </p:nvSpPr>
        <p:spPr>
          <a:xfrm>
            <a:off x="1124712" y="1801368"/>
            <a:ext cx="146304" cy="146304"/>
          </a:xfrm>
          <a:prstGeom prst="ellipse">
            <a:avLst/>
          </a:prstGeom>
          <a:solidFill>
            <a:srgbClr val="ECB748"/>
          </a:solidFill>
          <a:ln/>
        </p:spPr>
        <p:txBody>
          <a:bodyPr/>
          <a:lstStyle/>
          <a:p>
            <a:endParaRPr lang="en-US"/>
          </a:p>
        </p:txBody>
      </p:sp>
      <p:sp>
        <p:nvSpPr>
          <p:cNvPr id="9" name="Shape 6"/>
          <p:cNvSpPr/>
          <p:nvPr/>
        </p:nvSpPr>
        <p:spPr>
          <a:xfrm>
            <a:off x="1380744" y="1801368"/>
            <a:ext cx="146304" cy="146304"/>
          </a:xfrm>
          <a:prstGeom prst="ellipse">
            <a:avLst/>
          </a:prstGeom>
          <a:solidFill>
            <a:srgbClr val="6B6B6B"/>
          </a:solidFill>
          <a:ln/>
        </p:spPr>
        <p:txBody>
          <a:bodyPr/>
          <a:lstStyle/>
          <a:p>
            <a:endParaRPr lang="en-US"/>
          </a:p>
        </p:txBody>
      </p:sp>
      <p:sp>
        <p:nvSpPr>
          <p:cNvPr id="10" name="Text 7"/>
          <p:cNvSpPr/>
          <p:nvPr/>
        </p:nvSpPr>
        <p:spPr>
          <a:xfrm>
            <a:off x="178308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absolute — breaks everywhere else</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txBody>
          <a:bodyPr/>
          <a:lstStyle/>
          <a:p>
            <a:endParaRPr lang="en-US"/>
          </a:p>
        </p:txBody>
      </p:sp>
      <p:sp>
        <p:nvSpPr>
          <p:cNvPr id="12" name="Text 9"/>
          <p:cNvSpPr/>
          <p:nvPr/>
        </p:nvSpPr>
        <p:spPr>
          <a:xfrm>
            <a:off x="91440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"/Users/josh/Desktop/CPBP/</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data/patients.csv"</a:t>
            </a: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marL="0" indent="0">
              <a:buNone/>
            </a:pPr>
            <a:endParaRPr lang="en-US" sz="1300" dirty="0"/>
          </a:p>
        </p:txBody>
      </p:sp>
      <p:sp>
        <p:nvSpPr>
          <p:cNvPr id="15" name="Text 12"/>
          <p:cNvSpPr/>
          <p:nvPr/>
        </p:nvSpPr>
        <p:spPr>
          <a:xfrm>
            <a:off x="914400" y="3227832"/>
            <a:ext cx="4709160" cy="329184"/>
          </a:xfrm>
          <a:prstGeom prst="rect">
            <a:avLst/>
          </a:prstGeom>
          <a:noFill/>
          <a:ln/>
        </p:spPr>
        <p:txBody>
          <a:bodyPr wrap="square" rtlCol="0" anchor="ctr"/>
          <a:lstStyle/>
          <a:p>
            <a:pPr marL="0" indent="0">
              <a:buNone/>
            </a:pPr>
            <a:r>
              <a:rPr dirty="0">
                <a:solidFill>
                  <a:schemeClr val="bg1"/>
                </a:solidFill>
              </a:rPr>
              <a:t>"C:\Users\dan\Documents\..."</a:t>
            </a:r>
            <a:endParaRPr lang="en-US" sz="1300" dirty="0">
              <a:solidFill>
                <a:schemeClr val="bg1"/>
              </a:solidFill>
            </a:endParaRPr>
          </a:p>
        </p:txBody>
      </p:sp>
      <p:sp>
        <p:nvSpPr>
          <p:cNvPr id="16" name="Shape 13"/>
          <p:cNvSpPr/>
          <p:nvPr/>
        </p:nvSpPr>
        <p:spPr>
          <a:xfrm>
            <a:off x="626364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17" name="Shape 14"/>
          <p:cNvSpPr/>
          <p:nvPr/>
        </p:nvSpPr>
        <p:spPr>
          <a:xfrm>
            <a:off x="6492240" y="1801368"/>
            <a:ext cx="146304" cy="146304"/>
          </a:xfrm>
          <a:prstGeom prst="ellipse">
            <a:avLst/>
          </a:prstGeom>
          <a:solidFill>
            <a:srgbClr val="D64550"/>
          </a:solidFill>
          <a:ln/>
        </p:spPr>
        <p:txBody>
          <a:bodyPr/>
          <a:lstStyle/>
          <a:p>
            <a:endParaRPr lang="en-US"/>
          </a:p>
        </p:txBody>
      </p:sp>
      <p:sp>
        <p:nvSpPr>
          <p:cNvPr id="18" name="Shape 15"/>
          <p:cNvSpPr/>
          <p:nvPr/>
        </p:nvSpPr>
        <p:spPr>
          <a:xfrm>
            <a:off x="6748272" y="1801368"/>
            <a:ext cx="146304" cy="146304"/>
          </a:xfrm>
          <a:prstGeom prst="ellipse">
            <a:avLst/>
          </a:prstGeom>
          <a:solidFill>
            <a:srgbClr val="ECB748"/>
          </a:solidFill>
          <a:ln/>
        </p:spPr>
        <p:txBody>
          <a:bodyPr/>
          <a:lstStyle/>
          <a:p>
            <a:endParaRPr lang="en-US"/>
          </a:p>
        </p:txBody>
      </p:sp>
      <p:sp>
        <p:nvSpPr>
          <p:cNvPr id="19" name="Shape 16"/>
          <p:cNvSpPr/>
          <p:nvPr/>
        </p:nvSpPr>
        <p:spPr>
          <a:xfrm>
            <a:off x="7004304" y="1801368"/>
            <a:ext cx="146304" cy="146304"/>
          </a:xfrm>
          <a:prstGeom prst="ellipse">
            <a:avLst/>
          </a:prstGeom>
          <a:solidFill>
            <a:srgbClr val="6B6B6B"/>
          </a:solidFill>
          <a:ln/>
        </p:spPr>
        <p:txBody>
          <a:bodyPr/>
          <a:lstStyle/>
          <a:p>
            <a:endParaRPr lang="en-US"/>
          </a:p>
        </p:txBody>
      </p:sp>
      <p:sp>
        <p:nvSpPr>
          <p:cNvPr id="20" name="Text 17"/>
          <p:cNvSpPr/>
          <p:nvPr/>
        </p:nvSpPr>
        <p:spPr>
          <a:xfrm>
            <a:off x="740664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relative — travels with the project</a:t>
            </a:r>
            <a:endParaRPr lang="en-US" sz="1050" dirty="0"/>
          </a:p>
        </p:txBody>
      </p:sp>
      <p:sp>
        <p:nvSpPr>
          <p:cNvPr id="21" name="Shape 18"/>
          <p:cNvSpPr/>
          <p:nvPr/>
        </p:nvSpPr>
        <p:spPr>
          <a:xfrm>
            <a:off x="6309360" y="2103120"/>
            <a:ext cx="5166360" cy="0"/>
          </a:xfrm>
          <a:prstGeom prst="line">
            <a:avLst/>
          </a:prstGeom>
          <a:noFill/>
          <a:ln w="12700">
            <a:solidFill>
              <a:srgbClr val="444444"/>
            </a:solidFill>
            <a:prstDash val="solid"/>
          </a:ln>
        </p:spPr>
        <p:txBody>
          <a:bodyPr/>
          <a:lstStyle/>
          <a:p>
            <a:endParaRPr lang="en-US"/>
          </a:p>
        </p:txBody>
      </p:sp>
      <p:sp>
        <p:nvSpPr>
          <p:cNvPr id="22" name="Text 19"/>
          <p:cNvSpPr/>
          <p:nvPr/>
        </p:nvSpPr>
        <p:spPr>
          <a:xfrm>
            <a:off x="653796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"data/raw/patients.csv"</a:t>
            </a:r>
            <a:endParaRPr lang="en-US" sz="1300" dirty="0"/>
          </a:p>
        </p:txBody>
      </p:sp>
      <p:sp>
        <p:nvSpPr>
          <p:cNvPr id="23" name="Text 20"/>
          <p:cNvSpPr/>
          <p:nvPr/>
        </p:nvSpPr>
        <p:spPr>
          <a:xfrm>
            <a:off x="6537960" y="2569464"/>
            <a:ext cx="4709160" cy="329184"/>
          </a:xfrm>
          <a:prstGeom prst="rect">
            <a:avLst/>
          </a:prstGeom>
          <a:noFill/>
          <a:ln/>
        </p:spPr>
        <p:txBody>
          <a:bodyPr wrap="square" rtlCol="0" anchor="ctr"/>
          <a:lstStyle/>
          <a:p>
            <a:pPr marL="0" indent="0">
              <a:buNone/>
            </a:pPr>
            <a:endParaRPr lang="en-US" sz="1300" dirty="0"/>
          </a:p>
        </p:txBody>
      </p:sp>
      <p:sp>
        <p:nvSpPr>
          <p:cNvPr id="24" name="Text 21"/>
          <p:cNvSpPr/>
          <p:nvPr/>
        </p:nvSpPr>
        <p:spPr>
          <a:xfrm>
            <a:off x="6537960" y="289864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from wherever this is running,</a:t>
            </a:r>
            <a:endParaRPr lang="en-US" sz="1300" dirty="0"/>
          </a:p>
        </p:txBody>
      </p:sp>
      <p:sp>
        <p:nvSpPr>
          <p:cNvPr id="25" name="Text 22"/>
          <p:cNvSpPr/>
          <p:nvPr/>
        </p:nvSpPr>
        <p:spPr>
          <a:xfrm>
            <a:off x="6537960" y="3227832"/>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 go into data, then raw</a:t>
            </a:r>
            <a:endParaRPr lang="en-US" sz="1300" dirty="0"/>
          </a:p>
        </p:txBody>
      </p:sp>
      <p:sp>
        <p:nvSpPr>
          <p:cNvPr id="26" name="Shape 23"/>
          <p:cNvSpPr/>
          <p:nvPr/>
        </p:nvSpPr>
        <p:spPr>
          <a:xfrm>
            <a:off x="640080" y="3977640"/>
            <a:ext cx="10881360" cy="2423160"/>
          </a:xfrm>
          <a:prstGeom prst="roundRect">
            <a:avLst>
              <a:gd name="adj" fmla="val 3774"/>
            </a:avLst>
          </a:prstGeom>
          <a:solidFill>
            <a:srgbClr val="1C1C1C"/>
          </a:solidFill>
          <a:ln/>
        </p:spPr>
        <p:txBody>
          <a:bodyPr/>
          <a:lstStyle/>
          <a:p>
            <a:endParaRPr lang="en-US"/>
          </a:p>
        </p:txBody>
      </p:sp>
      <p:sp>
        <p:nvSpPr>
          <p:cNvPr id="27" name="Text 24"/>
          <p:cNvSpPr/>
          <p:nvPr/>
        </p:nvSpPr>
        <p:spPr>
          <a:xfrm>
            <a:off x="1005840" y="4251960"/>
            <a:ext cx="10149840" cy="320040"/>
          </a:xfrm>
          <a:prstGeom prst="rect">
            <a:avLst/>
          </a:prstGeom>
          <a:noFill/>
          <a:ln/>
        </p:spPr>
        <p:txBody>
          <a:bodyPr wrap="square" rtlCol="0" anchor="ctr"/>
          <a:lstStyle/>
          <a:p>
            <a:pPr marL="0" indent="0">
              <a:buNone/>
            </a:pPr>
            <a:r>
              <a:rPr lang="en-US" sz="1100" b="1" kern="0" spc="200" dirty="0">
                <a:solidFill>
                  <a:srgbClr val="ECB748"/>
                </a:solidFill>
                <a:latin typeface="Arial" pitchFamily="34" charset="0"/>
                <a:ea typeface="Arial" pitchFamily="34" charset="-122"/>
                <a:cs typeface="Arial" pitchFamily="34" charset="-120"/>
              </a:rPr>
              <a:t>IF A PATH FAILS, PRINT THE WORKING DIRECTORY FIRST</a:t>
            </a:r>
            <a:endParaRPr lang="en-US" sz="1100" dirty="0"/>
          </a:p>
        </p:txBody>
      </p:sp>
      <p:sp>
        <p:nvSpPr>
          <p:cNvPr id="28" name="Text 25"/>
          <p:cNvSpPr/>
          <p:nvPr/>
        </p:nvSpPr>
        <p:spPr>
          <a:xfrm>
            <a:off x="1005840" y="4709160"/>
            <a:ext cx="10149840" cy="640080"/>
          </a:xfrm>
          <a:prstGeom prst="rect">
            <a:avLst/>
          </a:prstGeom>
          <a:noFill/>
          <a:ln/>
        </p:spPr>
        <p:txBody>
          <a:bodyPr wrap="square" rtlCol="0" anchor="ctr"/>
          <a:lstStyle/>
          <a:p>
            <a:pPr marL="0" indent="0">
              <a:buNone/>
            </a:pPr>
            <a:r>
              <a:rPr lang="en-US" sz="1600" b="1" dirty="0">
                <a:solidFill>
                  <a:srgbClr val="FFFFFF"/>
                </a:solidFill>
                <a:latin typeface="Courier New" pitchFamily="34" charset="0"/>
                <a:ea typeface="Courier New" pitchFamily="34" charset="-122"/>
                <a:cs typeface="Courier New" pitchFamily="34" charset="-120"/>
              </a:rPr>
              <a:t>os.getcwd()   in Python          getwd()   in R</a:t>
            </a:r>
            <a:endParaRPr lang="en-US" sz="1600" dirty="0"/>
          </a:p>
        </p:txBody>
      </p:sp>
      <p:sp>
        <p:nvSpPr>
          <p:cNvPr id="29" name="Shape 26"/>
          <p:cNvSpPr/>
          <p:nvPr/>
        </p:nvSpPr>
        <p:spPr>
          <a:xfrm>
            <a:off x="1005840" y="5486400"/>
            <a:ext cx="10149840" cy="0"/>
          </a:xfrm>
          <a:prstGeom prst="line">
            <a:avLst/>
          </a:prstGeom>
          <a:noFill/>
          <a:ln w="12700">
            <a:solidFill>
              <a:srgbClr val="444444"/>
            </a:solidFill>
            <a:prstDash val="solid"/>
          </a:ln>
        </p:spPr>
        <p:txBody>
          <a:bodyPr/>
          <a:lstStyle/>
          <a:p>
            <a:endParaRPr lang="en-US"/>
          </a:p>
        </p:txBody>
      </p:sp>
      <p:sp>
        <p:nvSpPr>
          <p:cNvPr id="30" name="Text 27"/>
          <p:cNvSpPr/>
          <p:nvPr/>
        </p:nvSpPr>
        <p:spPr>
          <a:xfrm>
            <a:off x="1005840" y="5669280"/>
            <a:ext cx="10149840" cy="640080"/>
          </a:xfrm>
          <a:prstGeom prst="rect">
            <a:avLst/>
          </a:prstGeom>
          <a:noFill/>
          <a:ln/>
        </p:spPr>
        <p:txBody>
          <a:bodyPr wrap="square" rtlCol="0" anchor="ctr"/>
          <a:lstStyle/>
          <a:p>
            <a:pPr marL="0" indent="0">
              <a:lnSpc>
                <a:spcPct val="130000"/>
              </a:lnSpc>
              <a:buNone/>
            </a:pPr>
            <a:r>
              <a:rPr lang="en-US" sz="1350" dirty="0">
                <a:solidFill>
                  <a:srgbClr val="F5F3EF"/>
                </a:solidFill>
                <a:latin typeface="Arial" pitchFamily="34" charset="0"/>
                <a:ea typeface="Arial" pitchFamily="34" charset="-122"/>
                <a:cs typeface="Arial" pitchFamily="34" charset="-120"/>
              </a:rPr>
              <a:t>"Wherever this is running" is the working directory. RStudio .Rproj files set it for you; Jupyter uses the notebook's own folder; VS Code sometimes uses the folder you opened — which is why your path "randomly" stops working.</a:t>
            </a:r>
            <a:endParaRPr lang="en-US" sz="1350" dirty="0"/>
          </a:p>
        </p:txBody>
      </p:sp>
      <p:sp>
        <p:nvSpPr>
          <p:cNvPr id="31" name="Text 28"/>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457200"/>
            <a:ext cx="1933041"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1933041"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12–16 MIN  ·  SEGMENT 3</a:t>
            </a:r>
            <a:endParaRPr lang="en-US" sz="1100" dirty="0"/>
          </a:p>
        </p:txBody>
      </p:sp>
      <p:sp>
        <p:nvSpPr>
          <p:cNvPr id="5" name="Text 2"/>
          <p:cNvSpPr/>
          <p:nvPr/>
        </p:nvSpPr>
        <p:spPr>
          <a:xfrm>
            <a:off x="640080" y="822960"/>
            <a:ext cx="10058400" cy="594360"/>
          </a:xfrm>
          <a:prstGeom prst="rect">
            <a:avLst/>
          </a:prstGeom>
          <a:noFill/>
          <a:ln/>
        </p:spPr>
        <p:txBody>
          <a:bodyPr wrap="square" rtlCol="0" anchor="ctr"/>
          <a:lstStyle/>
          <a:p>
            <a:pPr marL="0" indent="0">
              <a:buNone/>
            </a:pPr>
            <a:r>
              <a:rPr lang="en-US" sz="2800" b="1" dirty="0">
                <a:solidFill>
                  <a:srgbClr val="1C1C1C"/>
                </a:solidFill>
                <a:latin typeface="Arial" pitchFamily="34" charset="0"/>
                <a:ea typeface="Arial" pitchFamily="34" charset="-122"/>
                <a:cs typeface="Arial" pitchFamily="34" charset="-120"/>
              </a:rPr>
              <a:t>A project folder someone else can read</a:t>
            </a:r>
            <a:endParaRPr lang="en-US" sz="2800" dirty="0"/>
          </a:p>
        </p:txBody>
      </p:sp>
      <p:sp>
        <p:nvSpPr>
          <p:cNvPr id="6" name="Shape 3"/>
          <p:cNvSpPr/>
          <p:nvPr/>
        </p:nvSpPr>
        <p:spPr>
          <a:xfrm>
            <a:off x="64008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7" name="Shape 4"/>
          <p:cNvSpPr/>
          <p:nvPr/>
        </p:nvSpPr>
        <p:spPr>
          <a:xfrm>
            <a:off x="868680" y="1801368"/>
            <a:ext cx="146304" cy="146304"/>
          </a:xfrm>
          <a:prstGeom prst="ellipse">
            <a:avLst/>
          </a:prstGeom>
          <a:solidFill>
            <a:srgbClr val="D64550"/>
          </a:solidFill>
          <a:ln/>
        </p:spPr>
        <p:txBody>
          <a:bodyPr/>
          <a:lstStyle/>
          <a:p>
            <a:endParaRPr lang="en-US"/>
          </a:p>
        </p:txBody>
      </p:sp>
      <p:sp>
        <p:nvSpPr>
          <p:cNvPr id="8" name="Shape 5"/>
          <p:cNvSpPr/>
          <p:nvPr/>
        </p:nvSpPr>
        <p:spPr>
          <a:xfrm>
            <a:off x="1124712" y="1801368"/>
            <a:ext cx="146304" cy="146304"/>
          </a:xfrm>
          <a:prstGeom prst="ellipse">
            <a:avLst/>
          </a:prstGeom>
          <a:solidFill>
            <a:srgbClr val="ECB748"/>
          </a:solidFill>
          <a:ln/>
        </p:spPr>
        <p:txBody>
          <a:bodyPr/>
          <a:lstStyle/>
          <a:p>
            <a:endParaRPr lang="en-US"/>
          </a:p>
        </p:txBody>
      </p:sp>
      <p:sp>
        <p:nvSpPr>
          <p:cNvPr id="9" name="Shape 6"/>
          <p:cNvSpPr/>
          <p:nvPr/>
        </p:nvSpPr>
        <p:spPr>
          <a:xfrm>
            <a:off x="1380744" y="1801368"/>
            <a:ext cx="146304" cy="146304"/>
          </a:xfrm>
          <a:prstGeom prst="ellipse">
            <a:avLst/>
          </a:prstGeom>
          <a:solidFill>
            <a:srgbClr val="6B6B6B"/>
          </a:solidFill>
          <a:ln/>
        </p:spPr>
        <p:txBody>
          <a:bodyPr/>
          <a:lstStyle/>
          <a:p>
            <a:endParaRPr lang="en-US"/>
          </a:p>
        </p:txBody>
      </p:sp>
      <p:sp>
        <p:nvSpPr>
          <p:cNvPr id="10" name="Text 7"/>
          <p:cNvSpPr/>
          <p:nvPr/>
        </p:nvSpPr>
        <p:spPr>
          <a:xfrm>
            <a:off x="178308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your-project/</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txBody>
          <a:bodyPr/>
          <a:lstStyle/>
          <a:p>
            <a:endParaRPr lang="en-US"/>
          </a:p>
        </p:txBody>
      </p:sp>
      <p:sp>
        <p:nvSpPr>
          <p:cNvPr id="12" name="Text 9"/>
          <p:cNvSpPr/>
          <p:nvPr/>
        </p:nvSpPr>
        <p:spPr>
          <a:xfrm>
            <a:off x="91440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README.md      .gitignore</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data/raw/      &lt;- NEVER edited</a:t>
            </a: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data/processed/  scripts/</a:t>
            </a:r>
            <a:endParaRPr lang="en-US" sz="1300" dirty="0"/>
          </a:p>
        </p:txBody>
      </p:sp>
      <p:sp>
        <p:nvSpPr>
          <p:cNvPr id="15" name="Text 12"/>
          <p:cNvSpPr/>
          <p:nvPr/>
        </p:nvSpPr>
        <p:spPr>
          <a:xfrm>
            <a:off x="914400" y="3227832"/>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figures/   output/   notebooks/</a:t>
            </a:r>
            <a:endParaRPr lang="en-US" sz="1300" dirty="0"/>
          </a:p>
        </p:txBody>
      </p:sp>
      <p:sp>
        <p:nvSpPr>
          <p:cNvPr id="16" name="Shape 13"/>
          <p:cNvSpPr/>
          <p:nvPr/>
        </p:nvSpPr>
        <p:spPr>
          <a:xfrm>
            <a:off x="626364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17" name="Shape 14"/>
          <p:cNvSpPr/>
          <p:nvPr/>
        </p:nvSpPr>
        <p:spPr>
          <a:xfrm>
            <a:off x="6492240" y="1801368"/>
            <a:ext cx="146304" cy="146304"/>
          </a:xfrm>
          <a:prstGeom prst="ellipse">
            <a:avLst/>
          </a:prstGeom>
          <a:solidFill>
            <a:srgbClr val="D64550"/>
          </a:solidFill>
          <a:ln/>
        </p:spPr>
        <p:txBody>
          <a:bodyPr/>
          <a:lstStyle/>
          <a:p>
            <a:endParaRPr lang="en-US"/>
          </a:p>
        </p:txBody>
      </p:sp>
      <p:sp>
        <p:nvSpPr>
          <p:cNvPr id="18" name="Shape 15"/>
          <p:cNvSpPr/>
          <p:nvPr/>
        </p:nvSpPr>
        <p:spPr>
          <a:xfrm>
            <a:off x="6748272" y="1801368"/>
            <a:ext cx="146304" cy="146304"/>
          </a:xfrm>
          <a:prstGeom prst="ellipse">
            <a:avLst/>
          </a:prstGeom>
          <a:solidFill>
            <a:srgbClr val="ECB748"/>
          </a:solidFill>
          <a:ln/>
        </p:spPr>
        <p:txBody>
          <a:bodyPr/>
          <a:lstStyle/>
          <a:p>
            <a:endParaRPr lang="en-US"/>
          </a:p>
        </p:txBody>
      </p:sp>
      <p:sp>
        <p:nvSpPr>
          <p:cNvPr id="19" name="Shape 16"/>
          <p:cNvSpPr/>
          <p:nvPr/>
        </p:nvSpPr>
        <p:spPr>
          <a:xfrm>
            <a:off x="7004304" y="1801368"/>
            <a:ext cx="146304" cy="146304"/>
          </a:xfrm>
          <a:prstGeom prst="ellipse">
            <a:avLst/>
          </a:prstGeom>
          <a:solidFill>
            <a:srgbClr val="6B6B6B"/>
          </a:solidFill>
          <a:ln/>
        </p:spPr>
        <p:txBody>
          <a:bodyPr/>
          <a:lstStyle/>
          <a:p>
            <a:endParaRPr lang="en-US"/>
          </a:p>
        </p:txBody>
      </p:sp>
      <p:sp>
        <p:nvSpPr>
          <p:cNvPr id="20" name="Text 17"/>
          <p:cNvSpPr/>
          <p:nvPr/>
        </p:nvSpPr>
        <p:spPr>
          <a:xfrm>
            <a:off x="740664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four rules, stated out loud</a:t>
            </a:r>
            <a:endParaRPr lang="en-US" sz="1050" dirty="0"/>
          </a:p>
        </p:txBody>
      </p:sp>
      <p:sp>
        <p:nvSpPr>
          <p:cNvPr id="21" name="Shape 18"/>
          <p:cNvSpPr/>
          <p:nvPr/>
        </p:nvSpPr>
        <p:spPr>
          <a:xfrm>
            <a:off x="6309360" y="2103120"/>
            <a:ext cx="5166360" cy="0"/>
          </a:xfrm>
          <a:prstGeom prst="line">
            <a:avLst/>
          </a:prstGeom>
          <a:noFill/>
          <a:ln w="12700">
            <a:solidFill>
              <a:srgbClr val="444444"/>
            </a:solidFill>
            <a:prstDash val="solid"/>
          </a:ln>
        </p:spPr>
        <p:txBody>
          <a:bodyPr/>
          <a:lstStyle/>
          <a:p>
            <a:endParaRPr lang="en-US"/>
          </a:p>
        </p:txBody>
      </p:sp>
      <p:sp>
        <p:nvSpPr>
          <p:cNvPr id="22" name="Text 19"/>
          <p:cNvSpPr/>
          <p:nvPr/>
        </p:nvSpPr>
        <p:spPr>
          <a:xfrm>
            <a:off x="653796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1. Never edit data/raw/. Ever.</a:t>
            </a:r>
            <a:endParaRPr lang="en-US" sz="1300" dirty="0"/>
          </a:p>
        </p:txBody>
      </p:sp>
      <p:sp>
        <p:nvSpPr>
          <p:cNvPr id="23" name="Text 20"/>
          <p:cNvSpPr/>
          <p:nvPr/>
        </p:nvSpPr>
        <p:spPr>
          <a:xfrm>
            <a:off x="653796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2. Number scripts that run in order.</a:t>
            </a:r>
            <a:endParaRPr lang="en-US" sz="1300" dirty="0"/>
          </a:p>
        </p:txBody>
      </p:sp>
      <p:sp>
        <p:nvSpPr>
          <p:cNvPr id="24" name="Text 21"/>
          <p:cNvSpPr/>
          <p:nvPr/>
        </p:nvSpPr>
        <p:spPr>
          <a:xfrm>
            <a:off x="6537960" y="289864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3. A README is not optional.</a:t>
            </a:r>
            <a:endParaRPr lang="en-US" sz="1300" dirty="0"/>
          </a:p>
        </p:txBody>
      </p:sp>
      <p:sp>
        <p:nvSpPr>
          <p:cNvPr id="25" name="Text 22"/>
          <p:cNvSpPr/>
          <p:nvPr/>
        </p:nvSpPr>
        <p:spPr>
          <a:xfrm>
            <a:off x="6537960" y="3227832"/>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4. Figures and outputs are derived.</a:t>
            </a:r>
            <a:endParaRPr lang="en-US" sz="1300" dirty="0"/>
          </a:p>
        </p:txBody>
      </p:sp>
      <p:sp>
        <p:nvSpPr>
          <p:cNvPr id="26" name="Shape 23"/>
          <p:cNvSpPr/>
          <p:nvPr/>
        </p:nvSpPr>
        <p:spPr>
          <a:xfrm>
            <a:off x="640080" y="3977640"/>
            <a:ext cx="10881360" cy="2423160"/>
          </a:xfrm>
          <a:prstGeom prst="roundRect">
            <a:avLst>
              <a:gd name="adj" fmla="val 3774"/>
            </a:avLst>
          </a:prstGeom>
          <a:solidFill>
            <a:srgbClr val="1C1C1C"/>
          </a:solidFill>
          <a:ln/>
        </p:spPr>
        <p:txBody>
          <a:bodyPr/>
          <a:lstStyle/>
          <a:p>
            <a:endParaRPr lang="en-US"/>
          </a:p>
        </p:txBody>
      </p:sp>
      <p:sp>
        <p:nvSpPr>
          <p:cNvPr id="27" name="Text 24"/>
          <p:cNvSpPr/>
          <p:nvPr/>
        </p:nvSpPr>
        <p:spPr>
          <a:xfrm>
            <a:off x="1005840" y="4251960"/>
            <a:ext cx="10149840" cy="320040"/>
          </a:xfrm>
          <a:prstGeom prst="rect">
            <a:avLst/>
          </a:prstGeom>
          <a:noFill/>
          <a:ln/>
        </p:spPr>
        <p:txBody>
          <a:bodyPr wrap="square" rtlCol="0" anchor="ctr"/>
          <a:lstStyle/>
          <a:p>
            <a:pPr marL="0" indent="0">
              <a:buNone/>
            </a:pPr>
            <a:r>
              <a:rPr lang="en-US" sz="1100" b="1" kern="0" spc="200" dirty="0">
                <a:solidFill>
                  <a:srgbClr val="ECB748"/>
                </a:solidFill>
                <a:latin typeface="Arial" pitchFamily="34" charset="0"/>
                <a:ea typeface="Arial" pitchFamily="34" charset="-122"/>
                <a:cs typeface="Arial" pitchFamily="34" charset="-120"/>
              </a:rPr>
              <a:t>RULE 4 IS A TEST, NOT ADVICE</a:t>
            </a:r>
            <a:endParaRPr lang="en-US" sz="1100" dirty="0"/>
          </a:p>
        </p:txBody>
      </p:sp>
      <p:sp>
        <p:nvSpPr>
          <p:cNvPr id="28" name="Text 25"/>
          <p:cNvSpPr/>
          <p:nvPr/>
        </p:nvSpPr>
        <p:spPr>
          <a:xfrm>
            <a:off x="1005840" y="4709160"/>
            <a:ext cx="10149840" cy="640080"/>
          </a:xfrm>
          <a:prstGeom prst="rect">
            <a:avLst/>
          </a:prstGeom>
          <a:noFill/>
          <a:ln/>
        </p:spPr>
        <p:txBody>
          <a:bodyPr wrap="square" rtlCol="0" anchor="ctr"/>
          <a:lstStyle/>
          <a:p>
            <a:pPr marL="0" indent="0">
              <a:buNone/>
            </a:pPr>
            <a:r>
              <a:rPr lang="en-US" sz="1600" b="1" dirty="0">
                <a:solidFill>
                  <a:srgbClr val="FFFFFF"/>
                </a:solidFill>
                <a:latin typeface="Courier New" pitchFamily="34" charset="0"/>
                <a:ea typeface="Courier New" pitchFamily="34" charset="-122"/>
                <a:cs typeface="Courier New" pitchFamily="34" charset="-120"/>
              </a:rPr>
              <a:t>Delete your figures folder and re-run. If you cannot rebuild it, your analysis is not reproducible yet.</a:t>
            </a:r>
            <a:endParaRPr lang="en-US" sz="1600" dirty="0"/>
          </a:p>
        </p:txBody>
      </p:sp>
      <p:sp>
        <p:nvSpPr>
          <p:cNvPr id="29" name="Shape 26"/>
          <p:cNvSpPr/>
          <p:nvPr/>
        </p:nvSpPr>
        <p:spPr>
          <a:xfrm>
            <a:off x="1005840" y="5486400"/>
            <a:ext cx="10149840" cy="0"/>
          </a:xfrm>
          <a:prstGeom prst="line">
            <a:avLst/>
          </a:prstGeom>
          <a:noFill/>
          <a:ln w="12700">
            <a:solidFill>
              <a:srgbClr val="444444"/>
            </a:solidFill>
            <a:prstDash val="solid"/>
          </a:ln>
        </p:spPr>
        <p:txBody>
          <a:bodyPr/>
          <a:lstStyle/>
          <a:p>
            <a:endParaRPr lang="en-US"/>
          </a:p>
        </p:txBody>
      </p:sp>
      <p:sp>
        <p:nvSpPr>
          <p:cNvPr id="30" name="Text 27"/>
          <p:cNvSpPr/>
          <p:nvPr/>
        </p:nvSpPr>
        <p:spPr>
          <a:xfrm>
            <a:off x="1005840" y="5669280"/>
            <a:ext cx="10149840" cy="640080"/>
          </a:xfrm>
          <a:prstGeom prst="rect">
            <a:avLst/>
          </a:prstGeom>
          <a:noFill/>
          <a:ln/>
        </p:spPr>
        <p:txBody>
          <a:bodyPr wrap="square" rtlCol="0" anchor="ctr"/>
          <a:lstStyle/>
          <a:p>
            <a:pPr marL="0" indent="0">
              <a:lnSpc>
                <a:spcPct val="130000"/>
              </a:lnSpc>
              <a:buNone/>
            </a:pPr>
            <a:r>
              <a:rPr lang="en-US" sz="1350" dirty="0">
                <a:solidFill>
                  <a:srgbClr val="F5F3EF"/>
                </a:solidFill>
                <a:latin typeface="Arial" pitchFamily="34" charset="0"/>
                <a:ea typeface="Arial" pitchFamily="34" charset="-122"/>
                <a:cs typeface="Arial" pitchFamily="34" charset="-120"/>
              </a:rPr>
              <a:t>You have just found that out cheaply, instead of during peer review. Build this folder today, for your actual project — structure invented later never happens.</a:t>
            </a:r>
            <a:endParaRPr lang="en-US" sz="1350" dirty="0"/>
          </a:p>
        </p:txBody>
      </p:sp>
      <p:sp>
        <p:nvSpPr>
          <p:cNvPr id="31" name="Text 28"/>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457200"/>
            <a:ext cx="1933041"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1933041"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16–20 MIN  ·  SEGMENT 4</a:t>
            </a:r>
            <a:endParaRPr lang="en-US" sz="1100" dirty="0"/>
          </a:p>
        </p:txBody>
      </p:sp>
      <p:sp>
        <p:nvSpPr>
          <p:cNvPr id="5" name="Text 2"/>
          <p:cNvSpPr/>
          <p:nvPr/>
        </p:nvSpPr>
        <p:spPr>
          <a:xfrm>
            <a:off x="640080" y="822960"/>
            <a:ext cx="10058400" cy="594360"/>
          </a:xfrm>
          <a:prstGeom prst="rect">
            <a:avLst/>
          </a:prstGeom>
          <a:noFill/>
          <a:ln/>
        </p:spPr>
        <p:txBody>
          <a:bodyPr wrap="square" rtlCol="0" anchor="ctr"/>
          <a:lstStyle/>
          <a:p>
            <a:pPr marL="0" indent="0">
              <a:buNone/>
            </a:pPr>
            <a:r>
              <a:rPr lang="en-US" sz="2800" b="1" dirty="0">
                <a:solidFill>
                  <a:srgbClr val="1C1C1C"/>
                </a:solidFill>
                <a:latin typeface="Arial" pitchFamily="34" charset="0"/>
                <a:ea typeface="Arial" pitchFamily="34" charset="-122"/>
                <a:cs typeface="Arial" pitchFamily="34" charset="-120"/>
              </a:rPr>
              <a:t>Git's mental model — four places, three commands</a:t>
            </a:r>
            <a:endParaRPr lang="en-US" sz="2800" dirty="0"/>
          </a:p>
        </p:txBody>
      </p:sp>
      <p:sp>
        <p:nvSpPr>
          <p:cNvPr id="6" name="Text 3"/>
          <p:cNvSpPr/>
          <p:nvPr/>
        </p:nvSpPr>
        <p:spPr>
          <a:xfrm>
            <a:off x="640080" y="1417320"/>
            <a:ext cx="10881360" cy="457200"/>
          </a:xfrm>
          <a:prstGeom prst="rect">
            <a:avLst/>
          </a:prstGeom>
          <a:noFill/>
          <a:ln/>
        </p:spPr>
        <p:txBody>
          <a:bodyPr wrap="square" rtlCol="0" anchor="ctr"/>
          <a:lstStyle/>
          <a:p>
            <a:pPr marL="0" indent="0">
              <a:buNone/>
            </a:pPr>
            <a:r>
              <a:rPr lang="en-US" sz="1400" i="1" dirty="0">
                <a:solidFill>
                  <a:srgbClr val="595959"/>
                </a:solidFill>
                <a:latin typeface="Arial" pitchFamily="34" charset="0"/>
                <a:ea typeface="Arial" pitchFamily="34" charset="-122"/>
                <a:cs typeface="Arial" pitchFamily="34" charset="-120"/>
              </a:rPr>
              <a:t>Every Git command moves your work from one of these places to the next. If staging feels mysterious, it is because nobody told you it was a separate place.</a:t>
            </a:r>
            <a:endParaRPr lang="en-US" sz="1400" dirty="0"/>
          </a:p>
        </p:txBody>
      </p:sp>
      <p:sp>
        <p:nvSpPr>
          <p:cNvPr id="7" name="Shape 4"/>
          <p:cNvSpPr/>
          <p:nvPr/>
        </p:nvSpPr>
        <p:spPr>
          <a:xfrm>
            <a:off x="640080" y="2011680"/>
            <a:ext cx="5257800" cy="2286000"/>
          </a:xfrm>
          <a:prstGeom prst="roundRect">
            <a:avLst>
              <a:gd name="adj" fmla="val 4000"/>
            </a:avLst>
          </a:prstGeom>
          <a:solidFill>
            <a:srgbClr val="2E2E2E"/>
          </a:solidFill>
          <a:ln w="12700">
            <a:solidFill>
              <a:srgbClr val="444444"/>
            </a:solidFill>
            <a:prstDash val="solid"/>
          </a:ln>
        </p:spPr>
        <p:txBody>
          <a:bodyPr/>
          <a:lstStyle/>
          <a:p>
            <a:endParaRPr lang="en-US"/>
          </a:p>
        </p:txBody>
      </p:sp>
      <p:sp>
        <p:nvSpPr>
          <p:cNvPr id="8" name="Shape 5"/>
          <p:cNvSpPr/>
          <p:nvPr/>
        </p:nvSpPr>
        <p:spPr>
          <a:xfrm>
            <a:off x="868680" y="2212848"/>
            <a:ext cx="146304" cy="146304"/>
          </a:xfrm>
          <a:prstGeom prst="ellipse">
            <a:avLst/>
          </a:prstGeom>
          <a:solidFill>
            <a:srgbClr val="D64550"/>
          </a:solidFill>
          <a:ln/>
        </p:spPr>
        <p:txBody>
          <a:bodyPr/>
          <a:lstStyle/>
          <a:p>
            <a:endParaRPr lang="en-US"/>
          </a:p>
        </p:txBody>
      </p:sp>
      <p:sp>
        <p:nvSpPr>
          <p:cNvPr id="9" name="Shape 6"/>
          <p:cNvSpPr/>
          <p:nvPr/>
        </p:nvSpPr>
        <p:spPr>
          <a:xfrm>
            <a:off x="1124712" y="2212848"/>
            <a:ext cx="146304" cy="146304"/>
          </a:xfrm>
          <a:prstGeom prst="ellipse">
            <a:avLst/>
          </a:prstGeom>
          <a:solidFill>
            <a:srgbClr val="ECB748"/>
          </a:solidFill>
          <a:ln/>
        </p:spPr>
        <p:txBody>
          <a:bodyPr/>
          <a:lstStyle/>
          <a:p>
            <a:endParaRPr lang="en-US"/>
          </a:p>
        </p:txBody>
      </p:sp>
      <p:sp>
        <p:nvSpPr>
          <p:cNvPr id="10" name="Shape 7"/>
          <p:cNvSpPr/>
          <p:nvPr/>
        </p:nvSpPr>
        <p:spPr>
          <a:xfrm>
            <a:off x="1380744" y="2212848"/>
            <a:ext cx="146304" cy="146304"/>
          </a:xfrm>
          <a:prstGeom prst="ellipse">
            <a:avLst/>
          </a:prstGeom>
          <a:solidFill>
            <a:srgbClr val="6B6B6B"/>
          </a:solidFill>
          <a:ln/>
        </p:spPr>
        <p:txBody>
          <a:bodyPr/>
          <a:lstStyle/>
          <a:p>
            <a:endParaRPr lang="en-US"/>
          </a:p>
        </p:txBody>
      </p:sp>
      <p:sp>
        <p:nvSpPr>
          <p:cNvPr id="11" name="Text 8"/>
          <p:cNvSpPr/>
          <p:nvPr/>
        </p:nvSpPr>
        <p:spPr>
          <a:xfrm>
            <a:off x="1783080" y="215798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the four places</a:t>
            </a:r>
            <a:endParaRPr lang="en-US" sz="1050" dirty="0"/>
          </a:p>
        </p:txBody>
      </p:sp>
      <p:sp>
        <p:nvSpPr>
          <p:cNvPr id="12" name="Shape 9"/>
          <p:cNvSpPr/>
          <p:nvPr/>
        </p:nvSpPr>
        <p:spPr>
          <a:xfrm>
            <a:off x="685800" y="2514600"/>
            <a:ext cx="5166360" cy="0"/>
          </a:xfrm>
          <a:prstGeom prst="line">
            <a:avLst/>
          </a:prstGeom>
          <a:noFill/>
          <a:ln w="12700">
            <a:solidFill>
              <a:srgbClr val="444444"/>
            </a:solidFill>
            <a:prstDash val="solid"/>
          </a:ln>
        </p:spPr>
        <p:txBody>
          <a:bodyPr/>
          <a:lstStyle/>
          <a:p>
            <a:endParaRPr lang="en-US"/>
          </a:p>
        </p:txBody>
      </p:sp>
      <p:sp>
        <p:nvSpPr>
          <p:cNvPr id="13" name="Text 10"/>
          <p:cNvSpPr/>
          <p:nvPr/>
        </p:nvSpPr>
        <p:spPr>
          <a:xfrm>
            <a:off x="914400" y="2651760"/>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working dir   your files, right now</a:t>
            </a:r>
            <a:endParaRPr lang="en-US" sz="1300" dirty="0"/>
          </a:p>
        </p:txBody>
      </p:sp>
      <p:sp>
        <p:nvSpPr>
          <p:cNvPr id="14" name="Text 11"/>
          <p:cNvSpPr/>
          <p:nvPr/>
        </p:nvSpPr>
        <p:spPr>
          <a:xfrm>
            <a:off x="914400" y="298094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staging       what goes in next snapshot</a:t>
            </a:r>
            <a:endParaRPr lang="en-US" sz="1300" dirty="0"/>
          </a:p>
        </p:txBody>
      </p:sp>
      <p:sp>
        <p:nvSpPr>
          <p:cNvPr id="15" name="Text 12"/>
          <p:cNvSpPr/>
          <p:nvPr/>
        </p:nvSpPr>
        <p:spPr>
          <a:xfrm>
            <a:off x="914400" y="3310128"/>
            <a:ext cx="4709160" cy="329184"/>
          </a:xfrm>
          <a:prstGeom prst="rect">
            <a:avLst/>
          </a:prstGeom>
          <a:noFill/>
          <a:ln/>
        </p:spPr>
        <p:txBody>
          <a:bodyPr wrap="square" rtlCol="0" anchor="ctr"/>
          <a:lstStyle/>
          <a:p>
            <a:pPr marL="0" indent="0">
              <a:buNone/>
            </a:pPr>
            <a:r>
              <a:rPr lang="en-US" sz="1300" dirty="0">
                <a:solidFill>
                  <a:srgbClr val="8A8A82"/>
                </a:solidFill>
                <a:latin typeface="Courier New" pitchFamily="34" charset="0"/>
                <a:ea typeface="Courier New" pitchFamily="34" charset="-122"/>
                <a:cs typeface="Courier New" pitchFamily="34" charset="-120"/>
              </a:rPr>
              <a:t>local repo    permanent named snapshot</a:t>
            </a:r>
            <a:endParaRPr lang="en-US" sz="1300" dirty="0"/>
          </a:p>
        </p:txBody>
      </p:sp>
      <p:sp>
        <p:nvSpPr>
          <p:cNvPr id="16" name="Shape 13"/>
          <p:cNvSpPr/>
          <p:nvPr/>
        </p:nvSpPr>
        <p:spPr>
          <a:xfrm>
            <a:off x="6263640" y="2011680"/>
            <a:ext cx="5257800" cy="2286000"/>
          </a:xfrm>
          <a:prstGeom prst="roundRect">
            <a:avLst>
              <a:gd name="adj" fmla="val 4000"/>
            </a:avLst>
          </a:prstGeom>
          <a:solidFill>
            <a:srgbClr val="2E2E2E"/>
          </a:solidFill>
          <a:ln w="12700">
            <a:solidFill>
              <a:srgbClr val="444444"/>
            </a:solidFill>
            <a:prstDash val="solid"/>
          </a:ln>
        </p:spPr>
        <p:txBody>
          <a:bodyPr/>
          <a:lstStyle/>
          <a:p>
            <a:endParaRPr lang="en-US"/>
          </a:p>
        </p:txBody>
      </p:sp>
      <p:sp>
        <p:nvSpPr>
          <p:cNvPr id="17" name="Shape 14"/>
          <p:cNvSpPr/>
          <p:nvPr/>
        </p:nvSpPr>
        <p:spPr>
          <a:xfrm>
            <a:off x="6492240" y="2212848"/>
            <a:ext cx="146304" cy="146304"/>
          </a:xfrm>
          <a:prstGeom prst="ellipse">
            <a:avLst/>
          </a:prstGeom>
          <a:solidFill>
            <a:srgbClr val="D64550"/>
          </a:solidFill>
          <a:ln/>
        </p:spPr>
        <p:txBody>
          <a:bodyPr/>
          <a:lstStyle/>
          <a:p>
            <a:endParaRPr lang="en-US"/>
          </a:p>
        </p:txBody>
      </p:sp>
      <p:sp>
        <p:nvSpPr>
          <p:cNvPr id="18" name="Shape 15"/>
          <p:cNvSpPr/>
          <p:nvPr/>
        </p:nvSpPr>
        <p:spPr>
          <a:xfrm>
            <a:off x="6748272" y="2212848"/>
            <a:ext cx="146304" cy="146304"/>
          </a:xfrm>
          <a:prstGeom prst="ellipse">
            <a:avLst/>
          </a:prstGeom>
          <a:solidFill>
            <a:srgbClr val="ECB748"/>
          </a:solidFill>
          <a:ln/>
        </p:spPr>
        <p:txBody>
          <a:bodyPr/>
          <a:lstStyle/>
          <a:p>
            <a:endParaRPr lang="en-US"/>
          </a:p>
        </p:txBody>
      </p:sp>
      <p:sp>
        <p:nvSpPr>
          <p:cNvPr id="19" name="Shape 16"/>
          <p:cNvSpPr/>
          <p:nvPr/>
        </p:nvSpPr>
        <p:spPr>
          <a:xfrm>
            <a:off x="7004304" y="2212848"/>
            <a:ext cx="146304" cy="146304"/>
          </a:xfrm>
          <a:prstGeom prst="ellipse">
            <a:avLst/>
          </a:prstGeom>
          <a:solidFill>
            <a:srgbClr val="6B6B6B"/>
          </a:solidFill>
          <a:ln/>
        </p:spPr>
        <p:txBody>
          <a:bodyPr/>
          <a:lstStyle/>
          <a:p>
            <a:endParaRPr lang="en-US"/>
          </a:p>
        </p:txBody>
      </p:sp>
      <p:sp>
        <p:nvSpPr>
          <p:cNvPr id="20" name="Text 17"/>
          <p:cNvSpPr/>
          <p:nvPr/>
        </p:nvSpPr>
        <p:spPr>
          <a:xfrm>
            <a:off x="7406640" y="215798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and the moves</a:t>
            </a:r>
            <a:endParaRPr lang="en-US" sz="1050" dirty="0"/>
          </a:p>
        </p:txBody>
      </p:sp>
      <p:sp>
        <p:nvSpPr>
          <p:cNvPr id="21" name="Shape 18"/>
          <p:cNvSpPr/>
          <p:nvPr/>
        </p:nvSpPr>
        <p:spPr>
          <a:xfrm>
            <a:off x="6309360" y="2514600"/>
            <a:ext cx="5166360" cy="0"/>
          </a:xfrm>
          <a:prstGeom prst="line">
            <a:avLst/>
          </a:prstGeom>
          <a:noFill/>
          <a:ln w="12700">
            <a:solidFill>
              <a:srgbClr val="444444"/>
            </a:solidFill>
            <a:prstDash val="solid"/>
          </a:ln>
        </p:spPr>
        <p:txBody>
          <a:bodyPr/>
          <a:lstStyle/>
          <a:p>
            <a:endParaRPr lang="en-US"/>
          </a:p>
        </p:txBody>
      </p:sp>
      <p:sp>
        <p:nvSpPr>
          <p:cNvPr id="22" name="Text 19"/>
          <p:cNvSpPr/>
          <p:nvPr/>
        </p:nvSpPr>
        <p:spPr>
          <a:xfrm>
            <a:off x="6537960" y="2651760"/>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git add      working dir -&gt; staging</a:t>
            </a:r>
            <a:endParaRPr lang="en-US" sz="1300" dirty="0"/>
          </a:p>
        </p:txBody>
      </p:sp>
      <p:sp>
        <p:nvSpPr>
          <p:cNvPr id="23" name="Text 20"/>
          <p:cNvSpPr/>
          <p:nvPr/>
        </p:nvSpPr>
        <p:spPr>
          <a:xfrm>
            <a:off x="6537960" y="298094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git commit   staging -&gt; local repo</a:t>
            </a:r>
            <a:endParaRPr lang="en-US" sz="1300" dirty="0"/>
          </a:p>
        </p:txBody>
      </p:sp>
      <p:sp>
        <p:nvSpPr>
          <p:cNvPr id="24" name="Text 21"/>
          <p:cNvSpPr/>
          <p:nvPr/>
        </p:nvSpPr>
        <p:spPr>
          <a:xfrm>
            <a:off x="6537960" y="331012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git push     local repo -&gt; GitHub</a:t>
            </a:r>
            <a:endParaRPr lang="en-US" sz="1300" dirty="0"/>
          </a:p>
        </p:txBody>
      </p:sp>
      <p:sp>
        <p:nvSpPr>
          <p:cNvPr id="25" name="Text 22"/>
          <p:cNvSpPr/>
          <p:nvPr/>
        </p:nvSpPr>
        <p:spPr>
          <a:xfrm>
            <a:off x="6537960" y="3639312"/>
            <a:ext cx="4709160" cy="329184"/>
          </a:xfrm>
          <a:prstGeom prst="rect">
            <a:avLst/>
          </a:prstGeom>
          <a:noFill/>
          <a:ln/>
        </p:spPr>
        <p:txBody>
          <a:bodyPr wrap="square" rtlCol="0" anchor="ctr"/>
          <a:lstStyle/>
          <a:p>
            <a:pPr marL="0" indent="0">
              <a:buNone/>
            </a:pPr>
            <a:endParaRPr lang="en-US" sz="1300" dirty="0"/>
          </a:p>
        </p:txBody>
      </p:sp>
      <p:sp>
        <p:nvSpPr>
          <p:cNvPr id="26" name="Shape 23"/>
          <p:cNvSpPr/>
          <p:nvPr/>
        </p:nvSpPr>
        <p:spPr>
          <a:xfrm>
            <a:off x="640080" y="4572000"/>
            <a:ext cx="10881360" cy="1463040"/>
          </a:xfrm>
          <a:prstGeom prst="roundRect">
            <a:avLst>
              <a:gd name="adj" fmla="val 6250"/>
            </a:avLst>
          </a:prstGeom>
          <a:solidFill>
            <a:srgbClr val="FBF0DA"/>
          </a:solidFill>
          <a:ln w="19050">
            <a:solidFill>
              <a:srgbClr val="ECB748"/>
            </a:solidFill>
            <a:prstDash val="solid"/>
          </a:ln>
        </p:spPr>
        <p:txBody>
          <a:bodyPr/>
          <a:lstStyle/>
          <a:p>
            <a:endParaRPr lang="en-US"/>
          </a:p>
        </p:txBody>
      </p:sp>
      <p:sp>
        <p:nvSpPr>
          <p:cNvPr id="27" name="Text 24"/>
          <p:cNvSpPr/>
          <p:nvPr/>
        </p:nvSpPr>
        <p:spPr>
          <a:xfrm>
            <a:off x="914400" y="4754880"/>
            <a:ext cx="10332720" cy="457200"/>
          </a:xfrm>
          <a:prstGeom prst="rect">
            <a:avLst/>
          </a:prstGeom>
          <a:noFill/>
          <a:ln/>
        </p:spPr>
        <p:txBody>
          <a:bodyPr wrap="square" rtlCol="0" anchor="ctr"/>
          <a:lstStyle/>
          <a:p>
            <a:pPr marL="0" indent="0">
              <a:buNone/>
            </a:pPr>
            <a:r>
              <a:rPr lang="en-US" sz="1800" b="1" dirty="0">
                <a:solidFill>
                  <a:srgbClr val="1C1C1C"/>
                </a:solidFill>
                <a:latin typeface="Courier New" pitchFamily="34" charset="0"/>
                <a:ea typeface="Courier New" pitchFamily="34" charset="-122"/>
                <a:cs typeface="Courier New" pitchFamily="34" charset="-120"/>
              </a:rPr>
              <a:t>Git is the version-control system. GitHub is a website that stores a copy.</a:t>
            </a:r>
            <a:endParaRPr lang="en-US" sz="1800" dirty="0"/>
          </a:p>
        </p:txBody>
      </p:sp>
      <p:sp>
        <p:nvSpPr>
          <p:cNvPr id="28" name="Text 25"/>
          <p:cNvSpPr/>
          <p:nvPr/>
        </p:nvSpPr>
        <p:spPr>
          <a:xfrm>
            <a:off x="914400" y="5257800"/>
            <a:ext cx="10332720" cy="640080"/>
          </a:xfrm>
          <a:prstGeom prst="rect">
            <a:avLst/>
          </a:prstGeom>
          <a:noFill/>
          <a:ln/>
        </p:spPr>
        <p:txBody>
          <a:bodyPr wrap="square" rtlCol="0" anchor="ctr"/>
          <a:lstStyle/>
          <a:p>
            <a:pPr marL="0" indent="0">
              <a:buNone/>
            </a:pPr>
            <a:r>
              <a:rPr lang="en-US" sz="1400" b="1" dirty="0">
                <a:solidFill>
                  <a:srgbClr val="1C1C1C"/>
                </a:solidFill>
                <a:latin typeface="Arial" pitchFamily="34" charset="0"/>
                <a:ea typeface="Arial" pitchFamily="34" charset="-122"/>
                <a:cs typeface="Arial" pitchFamily="34" charset="-120"/>
              </a:rPr>
              <a:t>They are not the same thing, and you can use Git with no internet at all. That distinction is genuinely confusing and worth correcting out loud.</a:t>
            </a:r>
            <a:endParaRPr lang="en-US" sz="1400" dirty="0"/>
          </a:p>
        </p:txBody>
      </p:sp>
      <p:sp>
        <p:nvSpPr>
          <p:cNvPr id="29" name="Text 26"/>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457200"/>
            <a:ext cx="1870862"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1870862"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20–24 MIN  ·  THE LOOP</a:t>
            </a:r>
            <a:endParaRPr lang="en-US" sz="1100" dirty="0"/>
          </a:p>
        </p:txBody>
      </p:sp>
      <p:sp>
        <p:nvSpPr>
          <p:cNvPr id="5" name="Text 2"/>
          <p:cNvSpPr/>
          <p:nvPr/>
        </p:nvSpPr>
        <p:spPr>
          <a:xfrm>
            <a:off x="640080" y="822960"/>
            <a:ext cx="10058400" cy="594360"/>
          </a:xfrm>
          <a:prstGeom prst="rect">
            <a:avLst/>
          </a:prstGeom>
          <a:noFill/>
          <a:ln/>
        </p:spPr>
        <p:txBody>
          <a:bodyPr wrap="square" rtlCol="0" anchor="ctr"/>
          <a:lstStyle/>
          <a:p>
            <a:pPr marL="0" indent="0">
              <a:buNone/>
            </a:pPr>
            <a:r>
              <a:rPr lang="en-US" sz="2800" b="1" dirty="0">
                <a:solidFill>
                  <a:srgbClr val="1C1C1C"/>
                </a:solidFill>
                <a:latin typeface="Arial" pitchFamily="34" charset="0"/>
                <a:ea typeface="Arial" pitchFamily="34" charset="-122"/>
                <a:cs typeface="Arial" pitchFamily="34" charset="-120"/>
              </a:rPr>
              <a:t>The four commands that cover 90% of this course</a:t>
            </a:r>
            <a:endParaRPr lang="en-US" sz="2800" dirty="0"/>
          </a:p>
        </p:txBody>
      </p:sp>
      <p:sp>
        <p:nvSpPr>
          <p:cNvPr id="6" name="Shape 3"/>
          <p:cNvSpPr/>
          <p:nvPr/>
        </p:nvSpPr>
        <p:spPr>
          <a:xfrm>
            <a:off x="64008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7" name="Shape 4"/>
          <p:cNvSpPr/>
          <p:nvPr/>
        </p:nvSpPr>
        <p:spPr>
          <a:xfrm>
            <a:off x="868680" y="1801368"/>
            <a:ext cx="146304" cy="146304"/>
          </a:xfrm>
          <a:prstGeom prst="ellipse">
            <a:avLst/>
          </a:prstGeom>
          <a:solidFill>
            <a:srgbClr val="D64550"/>
          </a:solidFill>
          <a:ln/>
        </p:spPr>
        <p:txBody>
          <a:bodyPr/>
          <a:lstStyle/>
          <a:p>
            <a:endParaRPr lang="en-US"/>
          </a:p>
        </p:txBody>
      </p:sp>
      <p:sp>
        <p:nvSpPr>
          <p:cNvPr id="8" name="Shape 5"/>
          <p:cNvSpPr/>
          <p:nvPr/>
        </p:nvSpPr>
        <p:spPr>
          <a:xfrm>
            <a:off x="1124712" y="1801368"/>
            <a:ext cx="146304" cy="146304"/>
          </a:xfrm>
          <a:prstGeom prst="ellipse">
            <a:avLst/>
          </a:prstGeom>
          <a:solidFill>
            <a:srgbClr val="ECB748"/>
          </a:solidFill>
          <a:ln/>
        </p:spPr>
        <p:txBody>
          <a:bodyPr/>
          <a:lstStyle/>
          <a:p>
            <a:endParaRPr lang="en-US"/>
          </a:p>
        </p:txBody>
      </p:sp>
      <p:sp>
        <p:nvSpPr>
          <p:cNvPr id="9" name="Shape 6"/>
          <p:cNvSpPr/>
          <p:nvPr/>
        </p:nvSpPr>
        <p:spPr>
          <a:xfrm>
            <a:off x="1380744" y="1801368"/>
            <a:ext cx="146304" cy="146304"/>
          </a:xfrm>
          <a:prstGeom prst="ellipse">
            <a:avLst/>
          </a:prstGeom>
          <a:solidFill>
            <a:srgbClr val="6B6B6B"/>
          </a:solidFill>
          <a:ln/>
        </p:spPr>
        <p:txBody>
          <a:bodyPr/>
          <a:lstStyle/>
          <a:p>
            <a:endParaRPr lang="en-US"/>
          </a:p>
        </p:txBody>
      </p:sp>
      <p:sp>
        <p:nvSpPr>
          <p:cNvPr id="10" name="Text 7"/>
          <p:cNvSpPr/>
          <p:nvPr/>
        </p:nvSpPr>
        <p:spPr>
          <a:xfrm>
            <a:off x="178308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the loop</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txBody>
          <a:bodyPr/>
          <a:lstStyle/>
          <a:p>
            <a:endParaRPr lang="en-US"/>
          </a:p>
        </p:txBody>
      </p:sp>
      <p:sp>
        <p:nvSpPr>
          <p:cNvPr id="12" name="Text 9"/>
          <p:cNvSpPr/>
          <p:nvPr/>
        </p:nvSpPr>
        <p:spPr>
          <a:xfrm>
            <a:off x="91440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git status</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git add .</a:t>
            </a: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marL="0" indent="0">
              <a:buNone/>
            </a:pPr>
            <a:r>
              <a:rPr sz="1300" dirty="0">
                <a:solidFill>
                  <a:schemeClr val="bg1"/>
                </a:solidFill>
                <a:latin typeface="Courier New" panose="02070309020205020404" pitchFamily="49" charset="0"/>
                <a:cs typeface="Courier New" panose="02070309020205020404" pitchFamily="49" charset="0"/>
              </a:rPr>
              <a:t>git commit -m "add outlier filter"</a:t>
            </a:r>
            <a:endParaRPr lang="en-US" sz="1300" dirty="0">
              <a:solidFill>
                <a:schemeClr val="bg1"/>
              </a:solidFill>
              <a:latin typeface="Courier New" panose="02070309020205020404" pitchFamily="49" charset="0"/>
              <a:cs typeface="Courier New" panose="02070309020205020404" pitchFamily="49" charset="0"/>
            </a:endParaRPr>
          </a:p>
        </p:txBody>
      </p:sp>
      <p:sp>
        <p:nvSpPr>
          <p:cNvPr id="15" name="Text 12"/>
          <p:cNvSpPr/>
          <p:nvPr/>
        </p:nvSpPr>
        <p:spPr>
          <a:xfrm>
            <a:off x="914400" y="3227832"/>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git push</a:t>
            </a:r>
            <a:endParaRPr lang="en-US" sz="1300" dirty="0"/>
          </a:p>
        </p:txBody>
      </p:sp>
      <p:sp>
        <p:nvSpPr>
          <p:cNvPr id="16" name="Shape 13"/>
          <p:cNvSpPr/>
          <p:nvPr/>
        </p:nvSpPr>
        <p:spPr>
          <a:xfrm>
            <a:off x="626364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17" name="Shape 14"/>
          <p:cNvSpPr/>
          <p:nvPr/>
        </p:nvSpPr>
        <p:spPr>
          <a:xfrm>
            <a:off x="6492240" y="1801368"/>
            <a:ext cx="146304" cy="146304"/>
          </a:xfrm>
          <a:prstGeom prst="ellipse">
            <a:avLst/>
          </a:prstGeom>
          <a:solidFill>
            <a:srgbClr val="D64550"/>
          </a:solidFill>
          <a:ln/>
        </p:spPr>
        <p:txBody>
          <a:bodyPr/>
          <a:lstStyle/>
          <a:p>
            <a:endParaRPr lang="en-US"/>
          </a:p>
        </p:txBody>
      </p:sp>
      <p:sp>
        <p:nvSpPr>
          <p:cNvPr id="18" name="Shape 15"/>
          <p:cNvSpPr/>
          <p:nvPr/>
        </p:nvSpPr>
        <p:spPr>
          <a:xfrm>
            <a:off x="6748272" y="1801368"/>
            <a:ext cx="146304" cy="146304"/>
          </a:xfrm>
          <a:prstGeom prst="ellipse">
            <a:avLst/>
          </a:prstGeom>
          <a:solidFill>
            <a:srgbClr val="ECB748"/>
          </a:solidFill>
          <a:ln/>
        </p:spPr>
        <p:txBody>
          <a:bodyPr/>
          <a:lstStyle/>
          <a:p>
            <a:endParaRPr lang="en-US"/>
          </a:p>
        </p:txBody>
      </p:sp>
      <p:sp>
        <p:nvSpPr>
          <p:cNvPr id="19" name="Shape 16"/>
          <p:cNvSpPr/>
          <p:nvPr/>
        </p:nvSpPr>
        <p:spPr>
          <a:xfrm>
            <a:off x="7004304" y="1801368"/>
            <a:ext cx="146304" cy="146304"/>
          </a:xfrm>
          <a:prstGeom prst="ellipse">
            <a:avLst/>
          </a:prstGeom>
          <a:solidFill>
            <a:srgbClr val="6B6B6B"/>
          </a:solidFill>
          <a:ln/>
        </p:spPr>
        <p:txBody>
          <a:bodyPr/>
          <a:lstStyle/>
          <a:p>
            <a:endParaRPr lang="en-US"/>
          </a:p>
        </p:txBody>
      </p:sp>
      <p:sp>
        <p:nvSpPr>
          <p:cNvPr id="20" name="Text 17"/>
          <p:cNvSpPr/>
          <p:nvPr/>
        </p:nvSpPr>
        <p:spPr>
          <a:xfrm>
            <a:off x="740664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what each one does</a:t>
            </a:r>
            <a:endParaRPr lang="en-US" sz="1050" dirty="0"/>
          </a:p>
        </p:txBody>
      </p:sp>
      <p:sp>
        <p:nvSpPr>
          <p:cNvPr id="21" name="Shape 18"/>
          <p:cNvSpPr/>
          <p:nvPr/>
        </p:nvSpPr>
        <p:spPr>
          <a:xfrm>
            <a:off x="6309360" y="2103120"/>
            <a:ext cx="5166360" cy="0"/>
          </a:xfrm>
          <a:prstGeom prst="line">
            <a:avLst/>
          </a:prstGeom>
          <a:noFill/>
          <a:ln w="12700">
            <a:solidFill>
              <a:srgbClr val="444444"/>
            </a:solidFill>
            <a:prstDash val="solid"/>
          </a:ln>
        </p:spPr>
        <p:txBody>
          <a:bodyPr/>
          <a:lstStyle/>
          <a:p>
            <a:endParaRPr lang="en-US"/>
          </a:p>
        </p:txBody>
      </p:sp>
      <p:sp>
        <p:nvSpPr>
          <p:cNvPr id="22" name="Text 19"/>
          <p:cNvSpPr/>
          <p:nvPr/>
        </p:nvSpPr>
        <p:spPr>
          <a:xfrm>
            <a:off x="653796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what changed since last commit?</a:t>
            </a:r>
            <a:endParaRPr lang="en-US" sz="1300" dirty="0"/>
          </a:p>
        </p:txBody>
      </p:sp>
      <p:sp>
        <p:nvSpPr>
          <p:cNvPr id="23" name="Text 20"/>
          <p:cNvSpPr/>
          <p:nvPr/>
        </p:nvSpPr>
        <p:spPr>
          <a:xfrm>
            <a:off x="653796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stage everything that changed</a:t>
            </a:r>
            <a:endParaRPr lang="en-US" sz="1300" dirty="0"/>
          </a:p>
        </p:txBody>
      </p:sp>
      <p:sp>
        <p:nvSpPr>
          <p:cNvPr id="24" name="Text 21"/>
          <p:cNvSpPr/>
          <p:nvPr/>
        </p:nvSpPr>
        <p:spPr>
          <a:xfrm>
            <a:off x="6537960" y="289864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snapshot it, with a message</a:t>
            </a:r>
            <a:endParaRPr lang="en-US" sz="1300" dirty="0"/>
          </a:p>
        </p:txBody>
      </p:sp>
      <p:sp>
        <p:nvSpPr>
          <p:cNvPr id="25" name="Text 22"/>
          <p:cNvSpPr/>
          <p:nvPr/>
        </p:nvSpPr>
        <p:spPr>
          <a:xfrm>
            <a:off x="6537960" y="3227832"/>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send it to GitHub</a:t>
            </a:r>
            <a:endParaRPr lang="en-US" sz="1300" dirty="0"/>
          </a:p>
        </p:txBody>
      </p:sp>
      <p:sp>
        <p:nvSpPr>
          <p:cNvPr id="26" name="Shape 23"/>
          <p:cNvSpPr/>
          <p:nvPr/>
        </p:nvSpPr>
        <p:spPr>
          <a:xfrm>
            <a:off x="640080" y="3977640"/>
            <a:ext cx="10881360" cy="2423160"/>
          </a:xfrm>
          <a:prstGeom prst="roundRect">
            <a:avLst>
              <a:gd name="adj" fmla="val 3774"/>
            </a:avLst>
          </a:prstGeom>
          <a:solidFill>
            <a:srgbClr val="1C1C1C"/>
          </a:solidFill>
          <a:ln/>
        </p:spPr>
        <p:txBody>
          <a:bodyPr/>
          <a:lstStyle/>
          <a:p>
            <a:endParaRPr lang="en-US"/>
          </a:p>
        </p:txBody>
      </p:sp>
      <p:sp>
        <p:nvSpPr>
          <p:cNvPr id="27" name="Text 24"/>
          <p:cNvSpPr/>
          <p:nvPr/>
        </p:nvSpPr>
        <p:spPr>
          <a:xfrm>
            <a:off x="1005840" y="4251960"/>
            <a:ext cx="10149840" cy="320040"/>
          </a:xfrm>
          <a:prstGeom prst="rect">
            <a:avLst/>
          </a:prstGeom>
          <a:noFill/>
          <a:ln/>
        </p:spPr>
        <p:txBody>
          <a:bodyPr wrap="square" rtlCol="0" anchor="ctr"/>
          <a:lstStyle/>
          <a:p>
            <a:pPr marL="0" indent="0">
              <a:buNone/>
            </a:pPr>
            <a:r>
              <a:rPr lang="en-US" sz="1100" b="1" kern="0" spc="200" dirty="0">
                <a:solidFill>
                  <a:srgbClr val="ECB748"/>
                </a:solidFill>
                <a:latin typeface="Arial" pitchFamily="34" charset="0"/>
                <a:ea typeface="Arial" pitchFamily="34" charset="-122"/>
                <a:cs typeface="Arial" pitchFamily="34" charset="-120"/>
              </a:rPr>
              <a:t>YOU WILL RUN THIS SEVERAL TIMES PER WORK SESSION</a:t>
            </a:r>
            <a:endParaRPr lang="en-US" sz="1100" dirty="0"/>
          </a:p>
        </p:txBody>
      </p:sp>
      <p:sp>
        <p:nvSpPr>
          <p:cNvPr id="28" name="Text 25"/>
          <p:cNvSpPr/>
          <p:nvPr/>
        </p:nvSpPr>
        <p:spPr>
          <a:xfrm>
            <a:off x="1005840" y="4709160"/>
            <a:ext cx="10149840" cy="640080"/>
          </a:xfrm>
          <a:prstGeom prst="rect">
            <a:avLst/>
          </a:prstGeom>
          <a:noFill/>
          <a:ln/>
        </p:spPr>
        <p:txBody>
          <a:bodyPr wrap="square" rtlCol="0" anchor="ctr"/>
          <a:lstStyle/>
          <a:p>
            <a:pPr marL="0" indent="0">
              <a:buNone/>
            </a:pPr>
            <a:r>
              <a:rPr lang="en-US" sz="1600" b="1" dirty="0">
                <a:solidFill>
                  <a:srgbClr val="FFFFFF"/>
                </a:solidFill>
                <a:latin typeface="Courier New" pitchFamily="34" charset="0"/>
                <a:ea typeface="Courier New" pitchFamily="34" charset="-122"/>
                <a:cs typeface="Courier New" pitchFamily="34" charset="-120"/>
              </a:rPr>
              <a:t>Everything else in Git — branches, rebasing, merge conflicts — is real, useful, and not your problem this semester.</a:t>
            </a:r>
            <a:endParaRPr lang="en-US" sz="1600" dirty="0"/>
          </a:p>
        </p:txBody>
      </p:sp>
      <p:sp>
        <p:nvSpPr>
          <p:cNvPr id="29" name="Shape 26"/>
          <p:cNvSpPr/>
          <p:nvPr/>
        </p:nvSpPr>
        <p:spPr>
          <a:xfrm>
            <a:off x="1005840" y="5486400"/>
            <a:ext cx="10149840" cy="0"/>
          </a:xfrm>
          <a:prstGeom prst="line">
            <a:avLst/>
          </a:prstGeom>
          <a:noFill/>
          <a:ln w="12700">
            <a:solidFill>
              <a:srgbClr val="444444"/>
            </a:solidFill>
            <a:prstDash val="solid"/>
          </a:ln>
        </p:spPr>
        <p:txBody>
          <a:bodyPr/>
          <a:lstStyle/>
          <a:p>
            <a:endParaRPr lang="en-US"/>
          </a:p>
        </p:txBody>
      </p:sp>
      <p:sp>
        <p:nvSpPr>
          <p:cNvPr id="30" name="Text 27"/>
          <p:cNvSpPr/>
          <p:nvPr/>
        </p:nvSpPr>
        <p:spPr>
          <a:xfrm>
            <a:off x="1005840" y="5669280"/>
            <a:ext cx="10149840" cy="640080"/>
          </a:xfrm>
          <a:prstGeom prst="rect">
            <a:avLst/>
          </a:prstGeom>
          <a:noFill/>
          <a:ln/>
        </p:spPr>
        <p:txBody>
          <a:bodyPr wrap="square" rtlCol="0" anchor="ctr"/>
          <a:lstStyle/>
          <a:p>
            <a:pPr marL="0" indent="0">
              <a:lnSpc>
                <a:spcPct val="130000"/>
              </a:lnSpc>
              <a:buNone/>
            </a:pPr>
            <a:r>
              <a:rPr lang="en-US" sz="1350" dirty="0">
                <a:solidFill>
                  <a:srgbClr val="F5F3EF"/>
                </a:solidFill>
                <a:latin typeface="Arial" pitchFamily="34" charset="0"/>
                <a:ea typeface="Arial" pitchFamily="34" charset="-122"/>
                <a:cs typeface="Arial" pitchFamily="34" charset="-120"/>
              </a:rPr>
              <a:t>If you have heard Git is hard, this is your permission to learn four commands and stop. Note that git add . stages everything that changed, which is exactly why .gitignore matters so much.</a:t>
            </a:r>
            <a:endParaRPr lang="en-US" sz="1350" dirty="0"/>
          </a:p>
        </p:txBody>
      </p:sp>
      <p:sp>
        <p:nvSpPr>
          <p:cNvPr id="31" name="Text 28"/>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457200"/>
            <a:ext cx="1933041"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1933041"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24–29 MIN  ·  LIVE DEMO</a:t>
            </a:r>
            <a:endParaRPr lang="en-US" sz="1100" dirty="0"/>
          </a:p>
        </p:txBody>
      </p:sp>
      <p:sp>
        <p:nvSpPr>
          <p:cNvPr id="5" name="Text 2"/>
          <p:cNvSpPr/>
          <p:nvPr/>
        </p:nvSpPr>
        <p:spPr>
          <a:xfrm>
            <a:off x="640080" y="822960"/>
            <a:ext cx="10058400" cy="594360"/>
          </a:xfrm>
          <a:prstGeom prst="rect">
            <a:avLst/>
          </a:prstGeom>
          <a:noFill/>
          <a:ln/>
        </p:spPr>
        <p:txBody>
          <a:bodyPr wrap="square" rtlCol="0" anchor="ctr"/>
          <a:lstStyle/>
          <a:p>
            <a:pPr marL="0" indent="0">
              <a:buNone/>
            </a:pPr>
            <a:r>
              <a:rPr lang="en-US" sz="2800" b="1" dirty="0">
                <a:solidFill>
                  <a:srgbClr val="1C1C1C"/>
                </a:solidFill>
                <a:latin typeface="Arial" pitchFamily="34" charset="0"/>
                <a:ea typeface="Arial" pitchFamily="34" charset="-122"/>
                <a:cs typeface="Arial" pitchFamily="34" charset="-120"/>
              </a:rPr>
              <a:t>Break it on purpose, then undo it</a:t>
            </a:r>
            <a:endParaRPr lang="en-US" sz="2800" dirty="0"/>
          </a:p>
        </p:txBody>
      </p:sp>
      <p:sp>
        <p:nvSpPr>
          <p:cNvPr id="6" name="Shape 3"/>
          <p:cNvSpPr/>
          <p:nvPr/>
        </p:nvSpPr>
        <p:spPr>
          <a:xfrm>
            <a:off x="64008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7" name="Shape 4"/>
          <p:cNvSpPr/>
          <p:nvPr/>
        </p:nvSpPr>
        <p:spPr>
          <a:xfrm>
            <a:off x="868680" y="1801368"/>
            <a:ext cx="146304" cy="146304"/>
          </a:xfrm>
          <a:prstGeom prst="ellipse">
            <a:avLst/>
          </a:prstGeom>
          <a:solidFill>
            <a:srgbClr val="D64550"/>
          </a:solidFill>
          <a:ln/>
        </p:spPr>
        <p:txBody>
          <a:bodyPr/>
          <a:lstStyle/>
          <a:p>
            <a:endParaRPr lang="en-US"/>
          </a:p>
        </p:txBody>
      </p:sp>
      <p:sp>
        <p:nvSpPr>
          <p:cNvPr id="8" name="Shape 5"/>
          <p:cNvSpPr/>
          <p:nvPr/>
        </p:nvSpPr>
        <p:spPr>
          <a:xfrm>
            <a:off x="1124712" y="1801368"/>
            <a:ext cx="146304" cy="146304"/>
          </a:xfrm>
          <a:prstGeom prst="ellipse">
            <a:avLst/>
          </a:prstGeom>
          <a:solidFill>
            <a:srgbClr val="ECB748"/>
          </a:solidFill>
          <a:ln/>
        </p:spPr>
        <p:txBody>
          <a:bodyPr/>
          <a:lstStyle/>
          <a:p>
            <a:endParaRPr lang="en-US"/>
          </a:p>
        </p:txBody>
      </p:sp>
      <p:sp>
        <p:nvSpPr>
          <p:cNvPr id="9" name="Shape 6"/>
          <p:cNvSpPr/>
          <p:nvPr/>
        </p:nvSpPr>
        <p:spPr>
          <a:xfrm>
            <a:off x="1380744" y="1801368"/>
            <a:ext cx="146304" cy="146304"/>
          </a:xfrm>
          <a:prstGeom prst="ellipse">
            <a:avLst/>
          </a:prstGeom>
          <a:solidFill>
            <a:srgbClr val="6B6B6B"/>
          </a:solidFill>
          <a:ln/>
        </p:spPr>
        <p:txBody>
          <a:bodyPr/>
          <a:lstStyle/>
          <a:p>
            <a:endParaRPr lang="en-US"/>
          </a:p>
        </p:txBody>
      </p:sp>
      <p:sp>
        <p:nvSpPr>
          <p:cNvPr id="10" name="Text 7"/>
          <p:cNvSpPr/>
          <p:nvPr/>
        </p:nvSpPr>
        <p:spPr>
          <a:xfrm>
            <a:off x="178308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set up</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txBody>
          <a:bodyPr/>
          <a:lstStyle/>
          <a:p>
            <a:endParaRPr lang="en-US"/>
          </a:p>
        </p:txBody>
      </p:sp>
      <p:sp>
        <p:nvSpPr>
          <p:cNvPr id="12" name="Text 9"/>
          <p:cNvSpPr/>
          <p:nvPr/>
        </p:nvSpPr>
        <p:spPr>
          <a:xfrm>
            <a:off x="91440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git init</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git add scripts/01_clean.py</a:t>
            </a: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marL="0" indent="0">
              <a:buNone/>
            </a:pPr>
            <a:r>
              <a:rPr sz="1300" dirty="0">
                <a:solidFill>
                  <a:schemeClr val="bg1"/>
                </a:solidFill>
                <a:latin typeface="Courier New" panose="02070309020205020404" pitchFamily="49" charset="0"/>
                <a:cs typeface="Courier New" panose="02070309020205020404" pitchFamily="49" charset="0"/>
              </a:rPr>
              <a:t>git commit -m "add outlier filter"</a:t>
            </a:r>
            <a:endParaRPr lang="en-US" sz="1300" dirty="0">
              <a:solidFill>
                <a:schemeClr val="bg1"/>
              </a:solidFill>
              <a:latin typeface="Courier New" panose="02070309020205020404" pitchFamily="49" charset="0"/>
              <a:cs typeface="Courier New" panose="02070309020205020404" pitchFamily="49" charset="0"/>
            </a:endParaRPr>
          </a:p>
        </p:txBody>
      </p:sp>
      <p:sp>
        <p:nvSpPr>
          <p:cNvPr id="15" name="Text 12"/>
          <p:cNvSpPr/>
          <p:nvPr/>
        </p:nvSpPr>
        <p:spPr>
          <a:xfrm>
            <a:off x="914400" y="3227832"/>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git log --oneline</a:t>
            </a:r>
            <a:endParaRPr lang="en-US" sz="1300" dirty="0"/>
          </a:p>
        </p:txBody>
      </p:sp>
      <p:sp>
        <p:nvSpPr>
          <p:cNvPr id="16" name="Shape 13"/>
          <p:cNvSpPr/>
          <p:nvPr/>
        </p:nvSpPr>
        <p:spPr>
          <a:xfrm>
            <a:off x="626364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17" name="Shape 14"/>
          <p:cNvSpPr/>
          <p:nvPr/>
        </p:nvSpPr>
        <p:spPr>
          <a:xfrm>
            <a:off x="6492240" y="1801368"/>
            <a:ext cx="146304" cy="146304"/>
          </a:xfrm>
          <a:prstGeom prst="ellipse">
            <a:avLst/>
          </a:prstGeom>
          <a:solidFill>
            <a:srgbClr val="D64550"/>
          </a:solidFill>
          <a:ln/>
        </p:spPr>
        <p:txBody>
          <a:bodyPr/>
          <a:lstStyle/>
          <a:p>
            <a:endParaRPr lang="en-US"/>
          </a:p>
        </p:txBody>
      </p:sp>
      <p:sp>
        <p:nvSpPr>
          <p:cNvPr id="18" name="Shape 15"/>
          <p:cNvSpPr/>
          <p:nvPr/>
        </p:nvSpPr>
        <p:spPr>
          <a:xfrm>
            <a:off x="6748272" y="1801368"/>
            <a:ext cx="146304" cy="146304"/>
          </a:xfrm>
          <a:prstGeom prst="ellipse">
            <a:avLst/>
          </a:prstGeom>
          <a:solidFill>
            <a:srgbClr val="ECB748"/>
          </a:solidFill>
          <a:ln/>
        </p:spPr>
        <p:txBody>
          <a:bodyPr/>
          <a:lstStyle/>
          <a:p>
            <a:endParaRPr lang="en-US"/>
          </a:p>
        </p:txBody>
      </p:sp>
      <p:sp>
        <p:nvSpPr>
          <p:cNvPr id="19" name="Shape 16"/>
          <p:cNvSpPr/>
          <p:nvPr/>
        </p:nvSpPr>
        <p:spPr>
          <a:xfrm>
            <a:off x="7004304" y="1801368"/>
            <a:ext cx="146304" cy="146304"/>
          </a:xfrm>
          <a:prstGeom prst="ellipse">
            <a:avLst/>
          </a:prstGeom>
          <a:solidFill>
            <a:srgbClr val="6B6B6B"/>
          </a:solidFill>
          <a:ln/>
        </p:spPr>
        <p:txBody>
          <a:bodyPr/>
          <a:lstStyle/>
          <a:p>
            <a:endParaRPr lang="en-US"/>
          </a:p>
        </p:txBody>
      </p:sp>
      <p:sp>
        <p:nvSpPr>
          <p:cNvPr id="20" name="Text 17"/>
          <p:cNvSpPr/>
          <p:nvPr/>
        </p:nvSpPr>
        <p:spPr>
          <a:xfrm>
            <a:off x="740664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break it, then undo it</a:t>
            </a:r>
            <a:endParaRPr lang="en-US" sz="1050" dirty="0"/>
          </a:p>
        </p:txBody>
      </p:sp>
      <p:sp>
        <p:nvSpPr>
          <p:cNvPr id="21" name="Shape 18"/>
          <p:cNvSpPr/>
          <p:nvPr/>
        </p:nvSpPr>
        <p:spPr>
          <a:xfrm>
            <a:off x="6309360" y="2103120"/>
            <a:ext cx="5166360" cy="0"/>
          </a:xfrm>
          <a:prstGeom prst="line">
            <a:avLst/>
          </a:prstGeom>
          <a:noFill/>
          <a:ln w="12700">
            <a:solidFill>
              <a:srgbClr val="444444"/>
            </a:solidFill>
            <a:prstDash val="solid"/>
          </a:ln>
        </p:spPr>
        <p:txBody>
          <a:bodyPr/>
          <a:lstStyle/>
          <a:p>
            <a:endParaRPr lang="en-US"/>
          </a:p>
        </p:txBody>
      </p:sp>
      <p:sp>
        <p:nvSpPr>
          <p:cNvPr id="22" name="Text 19"/>
          <p:cNvSpPr/>
          <p:nvPr/>
        </p:nvSpPr>
        <p:spPr>
          <a:xfrm>
            <a:off x="653796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delete half the file, save</a:t>
            </a:r>
            <a:endParaRPr lang="en-US" sz="1300" dirty="0"/>
          </a:p>
        </p:txBody>
      </p:sp>
      <p:sp>
        <p:nvSpPr>
          <p:cNvPr id="23" name="Text 20"/>
          <p:cNvSpPr/>
          <p:nvPr/>
        </p:nvSpPr>
        <p:spPr>
          <a:xfrm>
            <a:off x="653796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git diff        # what changed</a:t>
            </a:r>
            <a:endParaRPr lang="en-US" sz="1300" dirty="0"/>
          </a:p>
        </p:txBody>
      </p:sp>
      <p:sp>
        <p:nvSpPr>
          <p:cNvPr id="24" name="Text 21"/>
          <p:cNvSpPr/>
          <p:nvPr/>
        </p:nvSpPr>
        <p:spPr>
          <a:xfrm>
            <a:off x="6537960" y="289864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git restore scripts/01_clean.py</a:t>
            </a:r>
            <a:endParaRPr lang="en-US" sz="1300" dirty="0"/>
          </a:p>
        </p:txBody>
      </p:sp>
      <p:sp>
        <p:nvSpPr>
          <p:cNvPr id="25" name="Text 22"/>
          <p:cNvSpPr/>
          <p:nvPr/>
        </p:nvSpPr>
        <p:spPr>
          <a:xfrm>
            <a:off x="6537960" y="3227832"/>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 ...it is back.</a:t>
            </a:r>
            <a:endParaRPr lang="en-US" sz="1300" dirty="0"/>
          </a:p>
        </p:txBody>
      </p:sp>
      <p:sp>
        <p:nvSpPr>
          <p:cNvPr id="26" name="Shape 23"/>
          <p:cNvSpPr/>
          <p:nvPr/>
        </p:nvSpPr>
        <p:spPr>
          <a:xfrm>
            <a:off x="640080" y="3977640"/>
            <a:ext cx="10881360" cy="2423160"/>
          </a:xfrm>
          <a:prstGeom prst="roundRect">
            <a:avLst>
              <a:gd name="adj" fmla="val 3774"/>
            </a:avLst>
          </a:prstGeom>
          <a:solidFill>
            <a:srgbClr val="1C1C1C"/>
          </a:solidFill>
          <a:ln/>
        </p:spPr>
        <p:txBody>
          <a:bodyPr/>
          <a:lstStyle/>
          <a:p>
            <a:endParaRPr lang="en-US"/>
          </a:p>
        </p:txBody>
      </p:sp>
      <p:sp>
        <p:nvSpPr>
          <p:cNvPr id="27" name="Text 24"/>
          <p:cNvSpPr/>
          <p:nvPr/>
        </p:nvSpPr>
        <p:spPr>
          <a:xfrm>
            <a:off x="1005840" y="4251960"/>
            <a:ext cx="10149840" cy="320040"/>
          </a:xfrm>
          <a:prstGeom prst="rect">
            <a:avLst/>
          </a:prstGeom>
          <a:noFill/>
          <a:ln/>
        </p:spPr>
        <p:txBody>
          <a:bodyPr wrap="square" rtlCol="0" anchor="ctr"/>
          <a:lstStyle/>
          <a:p>
            <a:pPr marL="0" indent="0">
              <a:buNone/>
            </a:pPr>
            <a:r>
              <a:rPr lang="en-US" sz="1100" b="1" kern="0" spc="200" dirty="0">
                <a:solidFill>
                  <a:srgbClr val="ECB748"/>
                </a:solidFill>
                <a:latin typeface="Arial" pitchFamily="34" charset="0"/>
                <a:ea typeface="Arial" pitchFamily="34" charset="-122"/>
                <a:cs typeface="Arial" pitchFamily="34" charset="-120"/>
              </a:rPr>
              <a:t>TWO SPELLINGS, ONE COMMAND</a:t>
            </a:r>
            <a:endParaRPr lang="en-US" sz="1100" dirty="0"/>
          </a:p>
        </p:txBody>
      </p:sp>
      <p:sp>
        <p:nvSpPr>
          <p:cNvPr id="28" name="Text 25"/>
          <p:cNvSpPr/>
          <p:nvPr/>
        </p:nvSpPr>
        <p:spPr>
          <a:xfrm>
            <a:off x="1005840" y="4709160"/>
            <a:ext cx="10149840" cy="640080"/>
          </a:xfrm>
          <a:prstGeom prst="rect">
            <a:avLst/>
          </a:prstGeom>
          <a:noFill/>
          <a:ln/>
        </p:spPr>
        <p:txBody>
          <a:bodyPr wrap="square" rtlCol="0" anchor="ctr"/>
          <a:lstStyle/>
          <a:p>
            <a:pPr marL="0" indent="0">
              <a:buNone/>
            </a:pPr>
            <a:r>
              <a:rPr lang="en-US" sz="1600" b="1" dirty="0">
                <a:solidFill>
                  <a:srgbClr val="FFFFFF"/>
                </a:solidFill>
                <a:latin typeface="Courier New" pitchFamily="34" charset="0"/>
                <a:ea typeface="Courier New" pitchFamily="34" charset="-122"/>
                <a:cs typeface="Courier New" pitchFamily="34" charset="-120"/>
              </a:rPr>
              <a:t>git restore &lt;file&gt;   is modern.    git checkout -- &lt;file&gt;   is what older tutorials show.</a:t>
            </a:r>
            <a:endParaRPr lang="en-US" sz="1600" dirty="0"/>
          </a:p>
        </p:txBody>
      </p:sp>
      <p:sp>
        <p:nvSpPr>
          <p:cNvPr id="29" name="Shape 26"/>
          <p:cNvSpPr/>
          <p:nvPr/>
        </p:nvSpPr>
        <p:spPr>
          <a:xfrm>
            <a:off x="1005840" y="5486400"/>
            <a:ext cx="10149840" cy="0"/>
          </a:xfrm>
          <a:prstGeom prst="line">
            <a:avLst/>
          </a:prstGeom>
          <a:noFill/>
          <a:ln w="12700">
            <a:solidFill>
              <a:srgbClr val="444444"/>
            </a:solidFill>
            <a:prstDash val="solid"/>
          </a:ln>
        </p:spPr>
        <p:txBody>
          <a:bodyPr/>
          <a:lstStyle/>
          <a:p>
            <a:endParaRPr lang="en-US"/>
          </a:p>
        </p:txBody>
      </p:sp>
      <p:sp>
        <p:nvSpPr>
          <p:cNvPr id="30" name="Text 27"/>
          <p:cNvSpPr/>
          <p:nvPr/>
        </p:nvSpPr>
        <p:spPr>
          <a:xfrm>
            <a:off x="1005840" y="5669280"/>
            <a:ext cx="10149840" cy="640080"/>
          </a:xfrm>
          <a:prstGeom prst="rect">
            <a:avLst/>
          </a:prstGeom>
          <a:noFill/>
          <a:ln/>
        </p:spPr>
        <p:txBody>
          <a:bodyPr wrap="square" rtlCol="0" anchor="ctr"/>
          <a:lstStyle/>
          <a:p>
            <a:pPr marL="0" indent="0">
              <a:lnSpc>
                <a:spcPct val="130000"/>
              </a:lnSpc>
              <a:buNone/>
            </a:pPr>
            <a:r>
              <a:rPr lang="en-US" sz="1350" dirty="0">
                <a:solidFill>
                  <a:srgbClr val="F5F3EF"/>
                </a:solidFill>
                <a:latin typeface="Arial" pitchFamily="34" charset="0"/>
                <a:ea typeface="Arial" pitchFamily="34" charset="-122"/>
                <a:cs typeface="Arial" pitchFamily="34" charset="-120"/>
              </a:rPr>
              <a:t>They do the same thing here, and you will meet both — so do not assume they are different tools. Follow along in a throwaway folder if Git is installed.</a:t>
            </a:r>
            <a:endParaRPr lang="en-US" sz="1350" dirty="0"/>
          </a:p>
        </p:txBody>
      </p:sp>
      <p:sp>
        <p:nvSpPr>
          <p:cNvPr id="31" name="Text 28"/>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457200"/>
            <a:ext cx="2119579"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2119579"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29–31 MIN  ·  THE AI SLIDE</a:t>
            </a:r>
            <a:endParaRPr lang="en-US" sz="1100" dirty="0"/>
          </a:p>
        </p:txBody>
      </p:sp>
      <p:sp>
        <p:nvSpPr>
          <p:cNvPr id="5" name="Text 2"/>
          <p:cNvSpPr/>
          <p:nvPr/>
        </p:nvSpPr>
        <p:spPr>
          <a:xfrm>
            <a:off x="640080" y="822960"/>
            <a:ext cx="9144000" cy="594360"/>
          </a:xfrm>
          <a:prstGeom prst="rect">
            <a:avLst/>
          </a:prstGeom>
          <a:noFill/>
          <a:ln/>
        </p:spPr>
        <p:txBody>
          <a:bodyPr wrap="square" rtlCol="0" anchor="ctr"/>
          <a:lstStyle/>
          <a:p>
            <a:pPr marL="0" indent="0">
              <a:buNone/>
            </a:pPr>
            <a:r>
              <a:rPr lang="en-US" sz="3000" b="1" dirty="0">
                <a:solidFill>
                  <a:srgbClr val="1C1C1C"/>
                </a:solidFill>
                <a:latin typeface="Arial" pitchFamily="34" charset="0"/>
                <a:ea typeface="Arial" pitchFamily="34" charset="-122"/>
                <a:cs typeface="Arial" pitchFamily="34" charset="-120"/>
              </a:rPr>
              <a:t>Commit BEFORE you paste AI-generated code</a:t>
            </a:r>
            <a:endParaRPr lang="en-US" sz="3000" dirty="0"/>
          </a:p>
        </p:txBody>
      </p:sp>
      <p:sp>
        <p:nvSpPr>
          <p:cNvPr id="6" name="Shape 3"/>
          <p:cNvSpPr/>
          <p:nvPr/>
        </p:nvSpPr>
        <p:spPr>
          <a:xfrm>
            <a:off x="640080" y="1600200"/>
            <a:ext cx="5257800" cy="1737360"/>
          </a:xfrm>
          <a:prstGeom prst="roundRect">
            <a:avLst>
              <a:gd name="adj" fmla="val 5263"/>
            </a:avLst>
          </a:prstGeom>
          <a:solidFill>
            <a:srgbClr val="2E2E2E"/>
          </a:solidFill>
          <a:ln w="12700">
            <a:solidFill>
              <a:srgbClr val="444444"/>
            </a:solidFill>
            <a:prstDash val="solid"/>
          </a:ln>
        </p:spPr>
        <p:txBody>
          <a:bodyPr/>
          <a:lstStyle/>
          <a:p>
            <a:endParaRPr lang="en-US"/>
          </a:p>
        </p:txBody>
      </p:sp>
      <p:sp>
        <p:nvSpPr>
          <p:cNvPr id="7" name="Shape 4"/>
          <p:cNvSpPr/>
          <p:nvPr/>
        </p:nvSpPr>
        <p:spPr>
          <a:xfrm>
            <a:off x="868680" y="1801368"/>
            <a:ext cx="146304" cy="146304"/>
          </a:xfrm>
          <a:prstGeom prst="ellipse">
            <a:avLst/>
          </a:prstGeom>
          <a:solidFill>
            <a:srgbClr val="D64550"/>
          </a:solidFill>
          <a:ln/>
        </p:spPr>
        <p:txBody>
          <a:bodyPr/>
          <a:lstStyle/>
          <a:p>
            <a:endParaRPr lang="en-US"/>
          </a:p>
        </p:txBody>
      </p:sp>
      <p:sp>
        <p:nvSpPr>
          <p:cNvPr id="8" name="Shape 5"/>
          <p:cNvSpPr/>
          <p:nvPr/>
        </p:nvSpPr>
        <p:spPr>
          <a:xfrm>
            <a:off x="1124712" y="1801368"/>
            <a:ext cx="146304" cy="146304"/>
          </a:xfrm>
          <a:prstGeom prst="ellipse">
            <a:avLst/>
          </a:prstGeom>
          <a:solidFill>
            <a:srgbClr val="ECB748"/>
          </a:solidFill>
          <a:ln/>
        </p:spPr>
        <p:txBody>
          <a:bodyPr/>
          <a:lstStyle/>
          <a:p>
            <a:endParaRPr lang="en-US"/>
          </a:p>
        </p:txBody>
      </p:sp>
      <p:sp>
        <p:nvSpPr>
          <p:cNvPr id="9" name="Shape 6"/>
          <p:cNvSpPr/>
          <p:nvPr/>
        </p:nvSpPr>
        <p:spPr>
          <a:xfrm>
            <a:off x="1380744" y="1801368"/>
            <a:ext cx="146304" cy="146304"/>
          </a:xfrm>
          <a:prstGeom prst="ellipse">
            <a:avLst/>
          </a:prstGeom>
          <a:solidFill>
            <a:srgbClr val="6B6B6B"/>
          </a:solidFill>
          <a:ln/>
        </p:spPr>
        <p:txBody>
          <a:bodyPr/>
          <a:lstStyle/>
          <a:p>
            <a:endParaRPr lang="en-US"/>
          </a:p>
        </p:txBody>
      </p:sp>
      <p:sp>
        <p:nvSpPr>
          <p:cNvPr id="10" name="Text 7"/>
          <p:cNvSpPr/>
          <p:nvPr/>
        </p:nvSpPr>
        <p:spPr>
          <a:xfrm>
            <a:off x="178308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without a commit</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txBody>
          <a:bodyPr/>
          <a:lstStyle/>
          <a:p>
            <a:endParaRPr lang="en-US"/>
          </a:p>
        </p:txBody>
      </p:sp>
      <p:sp>
        <p:nvSpPr>
          <p:cNvPr id="12" name="Text 9"/>
          <p:cNvSpPr/>
          <p:nvPr/>
        </p:nvSpPr>
        <p:spPr>
          <a:xfrm>
            <a:off x="914400" y="2240280"/>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 AI rewrites half the script</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 it stops working</a:t>
            </a: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marL="0" indent="0">
              <a:buNone/>
            </a:pPr>
            <a:r>
              <a:rPr lang="en-US" sz="1300" dirty="0">
                <a:solidFill>
                  <a:srgbClr val="ECB748"/>
                </a:solidFill>
                <a:latin typeface="Courier New" pitchFamily="34" charset="0"/>
                <a:ea typeface="Courier New" pitchFamily="34" charset="-122"/>
                <a:cs typeface="Courier New" pitchFamily="34" charset="-120"/>
              </a:rPr>
              <a:t># your undo is Ctrl-Z and memory</a:t>
            </a:r>
            <a:endParaRPr lang="en-US" sz="1300" dirty="0"/>
          </a:p>
        </p:txBody>
      </p:sp>
      <p:sp>
        <p:nvSpPr>
          <p:cNvPr id="15" name="Shape 12"/>
          <p:cNvSpPr/>
          <p:nvPr/>
        </p:nvSpPr>
        <p:spPr>
          <a:xfrm>
            <a:off x="6263640" y="1600200"/>
            <a:ext cx="5257800" cy="1737360"/>
          </a:xfrm>
          <a:prstGeom prst="roundRect">
            <a:avLst>
              <a:gd name="adj" fmla="val 5263"/>
            </a:avLst>
          </a:prstGeom>
          <a:solidFill>
            <a:srgbClr val="2E2E2E"/>
          </a:solidFill>
          <a:ln w="12700">
            <a:solidFill>
              <a:srgbClr val="444444"/>
            </a:solidFill>
            <a:prstDash val="solid"/>
          </a:ln>
        </p:spPr>
        <p:txBody>
          <a:bodyPr/>
          <a:lstStyle/>
          <a:p>
            <a:endParaRPr lang="en-US"/>
          </a:p>
        </p:txBody>
      </p:sp>
      <p:sp>
        <p:nvSpPr>
          <p:cNvPr id="16" name="Shape 13"/>
          <p:cNvSpPr/>
          <p:nvPr/>
        </p:nvSpPr>
        <p:spPr>
          <a:xfrm>
            <a:off x="6492240" y="1801368"/>
            <a:ext cx="146304" cy="146304"/>
          </a:xfrm>
          <a:prstGeom prst="ellipse">
            <a:avLst/>
          </a:prstGeom>
          <a:solidFill>
            <a:srgbClr val="D64550"/>
          </a:solidFill>
          <a:ln/>
        </p:spPr>
        <p:txBody>
          <a:bodyPr/>
          <a:lstStyle/>
          <a:p>
            <a:endParaRPr lang="en-US"/>
          </a:p>
        </p:txBody>
      </p:sp>
      <p:sp>
        <p:nvSpPr>
          <p:cNvPr id="17" name="Shape 14"/>
          <p:cNvSpPr/>
          <p:nvPr/>
        </p:nvSpPr>
        <p:spPr>
          <a:xfrm>
            <a:off x="6748272" y="1801368"/>
            <a:ext cx="146304" cy="146304"/>
          </a:xfrm>
          <a:prstGeom prst="ellipse">
            <a:avLst/>
          </a:prstGeom>
          <a:solidFill>
            <a:srgbClr val="ECB748"/>
          </a:solidFill>
          <a:ln/>
        </p:spPr>
        <p:txBody>
          <a:bodyPr/>
          <a:lstStyle/>
          <a:p>
            <a:endParaRPr lang="en-US"/>
          </a:p>
        </p:txBody>
      </p:sp>
      <p:sp>
        <p:nvSpPr>
          <p:cNvPr id="18" name="Shape 15"/>
          <p:cNvSpPr/>
          <p:nvPr/>
        </p:nvSpPr>
        <p:spPr>
          <a:xfrm>
            <a:off x="7004304" y="1801368"/>
            <a:ext cx="146304" cy="146304"/>
          </a:xfrm>
          <a:prstGeom prst="ellipse">
            <a:avLst/>
          </a:prstGeom>
          <a:solidFill>
            <a:srgbClr val="6B6B6B"/>
          </a:solidFill>
          <a:ln/>
        </p:spPr>
        <p:txBody>
          <a:bodyPr/>
          <a:lstStyle/>
          <a:p>
            <a:endParaRPr lang="en-US"/>
          </a:p>
        </p:txBody>
      </p:sp>
      <p:sp>
        <p:nvSpPr>
          <p:cNvPr id="19" name="Text 16"/>
          <p:cNvSpPr/>
          <p:nvPr/>
        </p:nvSpPr>
        <p:spPr>
          <a:xfrm>
            <a:off x="740664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with a commit</a:t>
            </a:r>
            <a:endParaRPr lang="en-US" sz="1050" dirty="0"/>
          </a:p>
        </p:txBody>
      </p:sp>
      <p:sp>
        <p:nvSpPr>
          <p:cNvPr id="20" name="Shape 17"/>
          <p:cNvSpPr/>
          <p:nvPr/>
        </p:nvSpPr>
        <p:spPr>
          <a:xfrm>
            <a:off x="6309360" y="2103120"/>
            <a:ext cx="5166360" cy="0"/>
          </a:xfrm>
          <a:prstGeom prst="line">
            <a:avLst/>
          </a:prstGeom>
          <a:noFill/>
          <a:ln w="12700">
            <a:solidFill>
              <a:srgbClr val="444444"/>
            </a:solidFill>
            <a:prstDash val="solid"/>
          </a:ln>
        </p:spPr>
        <p:txBody>
          <a:bodyPr/>
          <a:lstStyle/>
          <a:p>
            <a:endParaRPr lang="en-US"/>
          </a:p>
        </p:txBody>
      </p:sp>
      <p:sp>
        <p:nvSpPr>
          <p:cNvPr id="21" name="Text 18"/>
          <p:cNvSpPr/>
          <p:nvPr/>
        </p:nvSpPr>
        <p:spPr>
          <a:xfrm>
            <a:off x="6537960" y="2240280"/>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 AI rewrites half the script</a:t>
            </a:r>
            <a:endParaRPr lang="en-US" sz="1300" dirty="0"/>
          </a:p>
        </p:txBody>
      </p:sp>
      <p:sp>
        <p:nvSpPr>
          <p:cNvPr id="22" name="Text 19"/>
          <p:cNvSpPr/>
          <p:nvPr/>
        </p:nvSpPr>
        <p:spPr>
          <a:xfrm>
            <a:off x="6537960" y="2569464"/>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 it stops working</a:t>
            </a:r>
            <a:endParaRPr lang="en-US" sz="1300" dirty="0"/>
          </a:p>
        </p:txBody>
      </p:sp>
      <p:sp>
        <p:nvSpPr>
          <p:cNvPr id="23" name="Text 20"/>
          <p:cNvSpPr/>
          <p:nvPr/>
        </p:nvSpPr>
        <p:spPr>
          <a:xfrm>
            <a:off x="6537960" y="2898648"/>
            <a:ext cx="4709160" cy="329184"/>
          </a:xfrm>
          <a:prstGeom prst="rect">
            <a:avLst/>
          </a:prstGeom>
          <a:noFill/>
          <a:ln/>
        </p:spPr>
        <p:txBody>
          <a:bodyPr wrap="square" rtlCol="0" anchor="ctr"/>
          <a:lstStyle/>
          <a:p>
            <a:pPr marL="0" indent="0">
              <a:buNone/>
            </a:pPr>
            <a:r>
              <a:rPr lang="en-US" sz="1300" dirty="0">
                <a:solidFill>
                  <a:srgbClr val="B3C9CD"/>
                </a:solidFill>
                <a:latin typeface="Courier New" pitchFamily="34" charset="0"/>
                <a:ea typeface="Courier New" pitchFamily="34" charset="-122"/>
                <a:cs typeface="Courier New" pitchFamily="34" charset="-120"/>
              </a:rPr>
              <a:t>git restore .   # total undo</a:t>
            </a:r>
            <a:endParaRPr lang="en-US" sz="1300" dirty="0"/>
          </a:p>
        </p:txBody>
      </p:sp>
      <p:sp>
        <p:nvSpPr>
          <p:cNvPr id="24" name="Text 21"/>
          <p:cNvSpPr/>
          <p:nvPr/>
        </p:nvSpPr>
        <p:spPr>
          <a:xfrm>
            <a:off x="640080" y="3566160"/>
            <a:ext cx="10881360" cy="411480"/>
          </a:xfrm>
          <a:prstGeom prst="rect">
            <a:avLst/>
          </a:prstGeom>
          <a:noFill/>
          <a:ln/>
        </p:spPr>
        <p:txBody>
          <a:bodyPr wrap="square" rtlCol="0" anchor="ctr"/>
          <a:lstStyle/>
          <a:p>
            <a:pPr marL="0" indent="0">
              <a:buNone/>
            </a:pPr>
            <a:r>
              <a:rPr lang="en-US" sz="1400" b="1" dirty="0">
                <a:solidFill>
                  <a:srgbClr val="1C1C1C"/>
                </a:solidFill>
                <a:latin typeface="Arial" pitchFamily="34" charset="0"/>
                <a:ea typeface="Arial" pitchFamily="34" charset="-122"/>
                <a:cs typeface="Arial" pitchFamily="34" charset="-120"/>
              </a:rPr>
              <a:t>1. This is the single most practical slide in the deck for this cohort.  Say it twice.</a:t>
            </a:r>
            <a:endParaRPr lang="en-US" sz="1400" dirty="0"/>
          </a:p>
        </p:txBody>
      </p:sp>
      <p:sp>
        <p:nvSpPr>
          <p:cNvPr id="25" name="Text 22"/>
          <p:cNvSpPr/>
          <p:nvPr/>
        </p:nvSpPr>
        <p:spPr>
          <a:xfrm>
            <a:off x="640080" y="4023360"/>
            <a:ext cx="10881360" cy="411480"/>
          </a:xfrm>
          <a:prstGeom prst="rect">
            <a:avLst/>
          </a:prstGeom>
          <a:noFill/>
          <a:ln/>
        </p:spPr>
        <p:txBody>
          <a:bodyPr wrap="square" rtlCol="0" anchor="ctr"/>
          <a:lstStyle/>
          <a:p>
            <a:pPr marL="0" indent="0">
              <a:buNone/>
            </a:pPr>
            <a:r>
              <a:rPr lang="en-US" sz="1400" b="1" dirty="0">
                <a:solidFill>
                  <a:srgbClr val="1C1C1C"/>
                </a:solidFill>
                <a:latin typeface="Arial" pitchFamily="34" charset="0"/>
                <a:ea typeface="Arial" pitchFamily="34" charset="-122"/>
                <a:cs typeface="Arial" pitchFamily="34" charset="-120"/>
              </a:rPr>
              <a:t>2. The habit is one command.  Before any AI edit that touches more than a few lines: commit first.</a:t>
            </a:r>
            <a:endParaRPr lang="en-US" sz="1400" dirty="0"/>
          </a:p>
        </p:txBody>
      </p:sp>
      <p:sp>
        <p:nvSpPr>
          <p:cNvPr id="26" name="Shape 23"/>
          <p:cNvSpPr/>
          <p:nvPr/>
        </p:nvSpPr>
        <p:spPr>
          <a:xfrm>
            <a:off x="640080" y="4572000"/>
            <a:ext cx="10881360" cy="1600200"/>
          </a:xfrm>
          <a:prstGeom prst="roundRect">
            <a:avLst>
              <a:gd name="adj" fmla="val 5714"/>
            </a:avLst>
          </a:prstGeom>
          <a:solidFill>
            <a:srgbClr val="EAF0F1"/>
          </a:solidFill>
          <a:ln w="19050">
            <a:solidFill>
              <a:srgbClr val="B3C9CD"/>
            </a:solidFill>
            <a:prstDash val="solid"/>
          </a:ln>
        </p:spPr>
        <p:txBody>
          <a:bodyPr/>
          <a:lstStyle/>
          <a:p>
            <a:endParaRPr lang="en-US"/>
          </a:p>
        </p:txBody>
      </p:sp>
      <p:sp>
        <p:nvSpPr>
          <p:cNvPr id="27" name="Text 24"/>
          <p:cNvSpPr/>
          <p:nvPr/>
        </p:nvSpPr>
        <p:spPr>
          <a:xfrm>
            <a:off x="960120" y="4754880"/>
            <a:ext cx="10241280" cy="274320"/>
          </a:xfrm>
          <a:prstGeom prst="rect">
            <a:avLst/>
          </a:prstGeom>
          <a:noFill/>
          <a:ln/>
        </p:spPr>
        <p:txBody>
          <a:bodyPr wrap="square" rtlCol="0" anchor="ctr"/>
          <a:lstStyle/>
          <a:p>
            <a:pPr marL="0" indent="0">
              <a:buNone/>
            </a:pPr>
            <a:r>
              <a:rPr lang="en-US" sz="1100" b="1" kern="0" spc="100" dirty="0">
                <a:solidFill>
                  <a:srgbClr val="595959"/>
                </a:solidFill>
                <a:latin typeface="Arial" pitchFamily="34" charset="0"/>
                <a:ea typeface="Arial" pitchFamily="34" charset="-122"/>
                <a:cs typeface="Arial" pitchFamily="34" charset="-120"/>
              </a:rPr>
              <a:t>WHO HAS LOST WORK TO AN AI EDIT THEY COULD NOT UNDO?</a:t>
            </a:r>
            <a:endParaRPr lang="en-US" sz="1100" dirty="0"/>
          </a:p>
        </p:txBody>
      </p:sp>
      <p:sp>
        <p:nvSpPr>
          <p:cNvPr id="28" name="Text 25"/>
          <p:cNvSpPr/>
          <p:nvPr/>
        </p:nvSpPr>
        <p:spPr>
          <a:xfrm>
            <a:off x="960120" y="5074920"/>
            <a:ext cx="10241280" cy="457200"/>
          </a:xfrm>
          <a:prstGeom prst="rect">
            <a:avLst/>
          </a:prstGeom>
          <a:noFill/>
          <a:ln/>
        </p:spPr>
        <p:txBody>
          <a:bodyPr wrap="square" rtlCol="0" anchor="ctr"/>
          <a:lstStyle/>
          <a:p>
            <a:pPr marL="0" indent="0">
              <a:buNone/>
            </a:pPr>
            <a:r>
              <a:rPr lang="en-US" sz="1500" b="1" dirty="0">
                <a:solidFill>
                  <a:srgbClr val="1C1C1C"/>
                </a:solidFill>
                <a:latin typeface="Courier New" pitchFamily="34" charset="0"/>
                <a:ea typeface="Courier New" pitchFamily="34" charset="-122"/>
                <a:cs typeface="Courier New" pitchFamily="34" charset="-120"/>
              </a:rPr>
              <a:t>Hands will go up. That is the whole argument for this session.</a:t>
            </a:r>
            <a:endParaRPr lang="en-US" sz="1500" dirty="0"/>
          </a:p>
        </p:txBody>
      </p:sp>
      <p:sp>
        <p:nvSpPr>
          <p:cNvPr id="29" name="Text 26"/>
          <p:cNvSpPr/>
          <p:nvPr/>
        </p:nvSpPr>
        <p:spPr>
          <a:xfrm>
            <a:off x="960120" y="5577840"/>
            <a:ext cx="10241280" cy="502920"/>
          </a:xfrm>
          <a:prstGeom prst="rect">
            <a:avLst/>
          </a:prstGeom>
          <a:noFill/>
          <a:ln/>
        </p:spPr>
        <p:txBody>
          <a:bodyPr wrap="square" rtlCol="0" anchor="ctr"/>
          <a:lstStyle/>
          <a:p>
            <a:pPr marL="0" indent="0">
              <a:buNone/>
            </a:pPr>
            <a:r>
              <a:rPr lang="en-US" sz="1250" i="1" dirty="0">
                <a:solidFill>
                  <a:srgbClr val="1C1C1C"/>
                </a:solidFill>
                <a:latin typeface="Arial" pitchFamily="34" charset="0"/>
                <a:ea typeface="Arial" pitchFamily="34" charset="-122"/>
                <a:cs typeface="Arial" pitchFamily="34" charset="-120"/>
              </a:rPr>
              <a:t>Git turns a rewrite you cannot evaluate into a rewrite you can throw away. That is what makes it safe to accept AI help at all.</a:t>
            </a:r>
            <a:endParaRPr lang="en-US" sz="1250" dirty="0"/>
          </a:p>
        </p:txBody>
      </p:sp>
      <p:sp>
        <p:nvSpPr>
          <p:cNvPr id="30" name="Text 27"/>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457200"/>
            <a:ext cx="1808683"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1808683"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31–33 MIN  ·  HYGIENE</a:t>
            </a:r>
            <a:endParaRPr lang="en-US" sz="1100" dirty="0"/>
          </a:p>
        </p:txBody>
      </p:sp>
      <p:sp>
        <p:nvSpPr>
          <p:cNvPr id="5" name="Text 2"/>
          <p:cNvSpPr/>
          <p:nvPr/>
        </p:nvSpPr>
        <p:spPr>
          <a:xfrm>
            <a:off x="640080" y="822960"/>
            <a:ext cx="10058400" cy="594360"/>
          </a:xfrm>
          <a:prstGeom prst="rect">
            <a:avLst/>
          </a:prstGeom>
          <a:noFill/>
          <a:ln/>
        </p:spPr>
        <p:txBody>
          <a:bodyPr wrap="square" rtlCol="0" anchor="ctr"/>
          <a:lstStyle/>
          <a:p>
            <a:pPr marL="0" indent="0">
              <a:buNone/>
            </a:pPr>
            <a:r>
              <a:rPr lang="en-US" sz="2800" b="1" dirty="0">
                <a:solidFill>
                  <a:srgbClr val="1C1C1C"/>
                </a:solidFill>
                <a:latin typeface="Arial" pitchFamily="34" charset="0"/>
                <a:ea typeface="Arial" pitchFamily="34" charset="-122"/>
                <a:cs typeface="Arial" pitchFamily="34" charset="-120"/>
              </a:rPr>
              <a:t>When to commit, and what to say</a:t>
            </a:r>
            <a:endParaRPr lang="en-US" sz="2800" dirty="0"/>
          </a:p>
        </p:txBody>
      </p:sp>
      <p:sp>
        <p:nvSpPr>
          <p:cNvPr id="6" name="Shape 3"/>
          <p:cNvSpPr/>
          <p:nvPr/>
        </p:nvSpPr>
        <p:spPr>
          <a:xfrm>
            <a:off x="64008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7" name="Shape 4"/>
          <p:cNvSpPr/>
          <p:nvPr/>
        </p:nvSpPr>
        <p:spPr>
          <a:xfrm>
            <a:off x="868680" y="1801368"/>
            <a:ext cx="146304" cy="146304"/>
          </a:xfrm>
          <a:prstGeom prst="ellipse">
            <a:avLst/>
          </a:prstGeom>
          <a:solidFill>
            <a:srgbClr val="D64550"/>
          </a:solidFill>
          <a:ln/>
        </p:spPr>
        <p:txBody>
          <a:bodyPr/>
          <a:lstStyle/>
          <a:p>
            <a:endParaRPr lang="en-US"/>
          </a:p>
        </p:txBody>
      </p:sp>
      <p:sp>
        <p:nvSpPr>
          <p:cNvPr id="8" name="Shape 5"/>
          <p:cNvSpPr/>
          <p:nvPr/>
        </p:nvSpPr>
        <p:spPr>
          <a:xfrm>
            <a:off x="1124712" y="1801368"/>
            <a:ext cx="146304" cy="146304"/>
          </a:xfrm>
          <a:prstGeom prst="ellipse">
            <a:avLst/>
          </a:prstGeom>
          <a:solidFill>
            <a:srgbClr val="ECB748"/>
          </a:solidFill>
          <a:ln/>
        </p:spPr>
        <p:txBody>
          <a:bodyPr/>
          <a:lstStyle/>
          <a:p>
            <a:endParaRPr lang="en-US"/>
          </a:p>
        </p:txBody>
      </p:sp>
      <p:sp>
        <p:nvSpPr>
          <p:cNvPr id="9" name="Shape 6"/>
          <p:cNvSpPr/>
          <p:nvPr/>
        </p:nvSpPr>
        <p:spPr>
          <a:xfrm>
            <a:off x="1380744" y="1801368"/>
            <a:ext cx="146304" cy="146304"/>
          </a:xfrm>
          <a:prstGeom prst="ellipse">
            <a:avLst/>
          </a:prstGeom>
          <a:solidFill>
            <a:srgbClr val="6B6B6B"/>
          </a:solidFill>
          <a:ln/>
        </p:spPr>
        <p:txBody>
          <a:bodyPr/>
          <a:lstStyle/>
          <a:p>
            <a:endParaRPr lang="en-US"/>
          </a:p>
        </p:txBody>
      </p:sp>
      <p:sp>
        <p:nvSpPr>
          <p:cNvPr id="10" name="Text 7"/>
          <p:cNvSpPr/>
          <p:nvPr/>
        </p:nvSpPr>
        <p:spPr>
          <a:xfrm>
            <a:off x="178308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commit when</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txBody>
          <a:bodyPr/>
          <a:lstStyle/>
          <a:p>
            <a:endParaRPr lang="en-US"/>
          </a:p>
        </p:txBody>
      </p:sp>
      <p:sp>
        <p:nvSpPr>
          <p:cNvPr id="12" name="Text 9"/>
          <p:cNvSpPr/>
          <p:nvPr/>
        </p:nvSpPr>
        <p:spPr>
          <a:xfrm>
            <a:off x="91440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about to start something new</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before pasting a big AI edit</a:t>
            </a: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you just got something working</a:t>
            </a:r>
            <a:endParaRPr lang="en-US" sz="1300" dirty="0"/>
          </a:p>
        </p:txBody>
      </p:sp>
      <p:sp>
        <p:nvSpPr>
          <p:cNvPr id="15" name="Text 12"/>
          <p:cNvSpPr/>
          <p:nvPr/>
        </p:nvSpPr>
        <p:spPr>
          <a:xfrm>
            <a:off x="914400" y="3227832"/>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you are closing the laptop</a:t>
            </a:r>
            <a:endParaRPr lang="en-US" sz="1300" dirty="0"/>
          </a:p>
        </p:txBody>
      </p:sp>
      <p:sp>
        <p:nvSpPr>
          <p:cNvPr id="16" name="Shape 13"/>
          <p:cNvSpPr/>
          <p:nvPr/>
        </p:nvSpPr>
        <p:spPr>
          <a:xfrm>
            <a:off x="626364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17" name="Shape 14"/>
          <p:cNvSpPr/>
          <p:nvPr/>
        </p:nvSpPr>
        <p:spPr>
          <a:xfrm>
            <a:off x="6492240" y="1801368"/>
            <a:ext cx="146304" cy="146304"/>
          </a:xfrm>
          <a:prstGeom prst="ellipse">
            <a:avLst/>
          </a:prstGeom>
          <a:solidFill>
            <a:srgbClr val="D64550"/>
          </a:solidFill>
          <a:ln/>
        </p:spPr>
        <p:txBody>
          <a:bodyPr/>
          <a:lstStyle/>
          <a:p>
            <a:endParaRPr lang="en-US"/>
          </a:p>
        </p:txBody>
      </p:sp>
      <p:sp>
        <p:nvSpPr>
          <p:cNvPr id="18" name="Shape 15"/>
          <p:cNvSpPr/>
          <p:nvPr/>
        </p:nvSpPr>
        <p:spPr>
          <a:xfrm>
            <a:off x="6748272" y="1801368"/>
            <a:ext cx="146304" cy="146304"/>
          </a:xfrm>
          <a:prstGeom prst="ellipse">
            <a:avLst/>
          </a:prstGeom>
          <a:solidFill>
            <a:srgbClr val="ECB748"/>
          </a:solidFill>
          <a:ln/>
        </p:spPr>
        <p:txBody>
          <a:bodyPr/>
          <a:lstStyle/>
          <a:p>
            <a:endParaRPr lang="en-US"/>
          </a:p>
        </p:txBody>
      </p:sp>
      <p:sp>
        <p:nvSpPr>
          <p:cNvPr id="19" name="Shape 16"/>
          <p:cNvSpPr/>
          <p:nvPr/>
        </p:nvSpPr>
        <p:spPr>
          <a:xfrm>
            <a:off x="7004304" y="1801368"/>
            <a:ext cx="146304" cy="146304"/>
          </a:xfrm>
          <a:prstGeom prst="ellipse">
            <a:avLst/>
          </a:prstGeom>
          <a:solidFill>
            <a:srgbClr val="6B6B6B"/>
          </a:solidFill>
          <a:ln/>
        </p:spPr>
        <p:txBody>
          <a:bodyPr/>
          <a:lstStyle/>
          <a:p>
            <a:endParaRPr lang="en-US"/>
          </a:p>
        </p:txBody>
      </p:sp>
      <p:sp>
        <p:nvSpPr>
          <p:cNvPr id="20" name="Text 17"/>
          <p:cNvSpPr/>
          <p:nvPr/>
        </p:nvSpPr>
        <p:spPr>
          <a:xfrm>
            <a:off x="740664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message hygiene</a:t>
            </a:r>
            <a:endParaRPr lang="en-US" sz="1050" dirty="0"/>
          </a:p>
        </p:txBody>
      </p:sp>
      <p:sp>
        <p:nvSpPr>
          <p:cNvPr id="21" name="Shape 18"/>
          <p:cNvSpPr/>
          <p:nvPr/>
        </p:nvSpPr>
        <p:spPr>
          <a:xfrm>
            <a:off x="6309360" y="2103120"/>
            <a:ext cx="5166360" cy="0"/>
          </a:xfrm>
          <a:prstGeom prst="line">
            <a:avLst/>
          </a:prstGeom>
          <a:noFill/>
          <a:ln w="12700">
            <a:solidFill>
              <a:srgbClr val="444444"/>
            </a:solidFill>
            <a:prstDash val="solid"/>
          </a:ln>
        </p:spPr>
        <p:txBody>
          <a:bodyPr/>
          <a:lstStyle/>
          <a:p>
            <a:endParaRPr lang="en-US"/>
          </a:p>
        </p:txBody>
      </p:sp>
      <p:sp>
        <p:nvSpPr>
          <p:cNvPr id="22" name="Text 19"/>
          <p:cNvSpPr/>
          <p:nvPr/>
        </p:nvSpPr>
        <p:spPr>
          <a:xfrm>
            <a:off x="653796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imperative: "add outlier filter"</a:t>
            </a:r>
            <a:endParaRPr lang="en-US" sz="1300" dirty="0"/>
          </a:p>
        </p:txBody>
      </p:sp>
      <p:sp>
        <p:nvSpPr>
          <p:cNvPr id="23" name="Text 20"/>
          <p:cNvSpPr/>
          <p:nvPr/>
        </p:nvSpPr>
        <p:spPr>
          <a:xfrm>
            <a:off x="653796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not "added", not "adding"</a:t>
            </a:r>
            <a:endParaRPr lang="en-US" sz="1300" dirty="0"/>
          </a:p>
        </p:txBody>
      </p:sp>
      <p:sp>
        <p:nvSpPr>
          <p:cNvPr id="24" name="Text 21"/>
          <p:cNvSpPr/>
          <p:nvPr/>
        </p:nvSpPr>
        <p:spPr>
          <a:xfrm>
            <a:off x="6537960" y="289864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specific: "fix mean-BP to skip NA"</a:t>
            </a:r>
            <a:endParaRPr lang="en-US" sz="1300" dirty="0"/>
          </a:p>
        </p:txBody>
      </p:sp>
      <p:sp>
        <p:nvSpPr>
          <p:cNvPr id="25" name="Text 22"/>
          <p:cNvSpPr/>
          <p:nvPr/>
        </p:nvSpPr>
        <p:spPr>
          <a:xfrm>
            <a:off x="6537960" y="3227832"/>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one logical change per commit</a:t>
            </a:r>
            <a:endParaRPr lang="en-US" sz="1300" dirty="0"/>
          </a:p>
        </p:txBody>
      </p:sp>
      <p:sp>
        <p:nvSpPr>
          <p:cNvPr id="26" name="Shape 23"/>
          <p:cNvSpPr/>
          <p:nvPr/>
        </p:nvSpPr>
        <p:spPr>
          <a:xfrm>
            <a:off x="640080" y="3977640"/>
            <a:ext cx="10881360" cy="2423160"/>
          </a:xfrm>
          <a:prstGeom prst="roundRect">
            <a:avLst>
              <a:gd name="adj" fmla="val 3774"/>
            </a:avLst>
          </a:prstGeom>
          <a:solidFill>
            <a:srgbClr val="1C1C1C"/>
          </a:solidFill>
          <a:ln/>
        </p:spPr>
        <p:txBody>
          <a:bodyPr/>
          <a:lstStyle/>
          <a:p>
            <a:endParaRPr lang="en-US"/>
          </a:p>
        </p:txBody>
      </p:sp>
      <p:sp>
        <p:nvSpPr>
          <p:cNvPr id="27" name="Text 24"/>
          <p:cNvSpPr/>
          <p:nvPr/>
        </p:nvSpPr>
        <p:spPr>
          <a:xfrm>
            <a:off x="1005840" y="4251960"/>
            <a:ext cx="10149840" cy="320040"/>
          </a:xfrm>
          <a:prstGeom prst="rect">
            <a:avLst/>
          </a:prstGeom>
          <a:noFill/>
          <a:ln/>
        </p:spPr>
        <p:txBody>
          <a:bodyPr wrap="square" rtlCol="0" anchor="ctr"/>
          <a:lstStyle/>
          <a:p>
            <a:pPr marL="0" indent="0">
              <a:buNone/>
            </a:pPr>
            <a:r>
              <a:rPr lang="en-US" sz="1100" b="1" kern="0" spc="200" dirty="0">
                <a:solidFill>
                  <a:srgbClr val="ECB748"/>
                </a:solidFill>
                <a:latin typeface="Arial" pitchFamily="34" charset="0"/>
                <a:ea typeface="Arial" pitchFamily="34" charset="-122"/>
                <a:cs typeface="Arial" pitchFamily="34" charset="-120"/>
              </a:rPr>
              <a:t>3–10 COMMITS PER PRODUCTIVE HOUR IS NORMAL FOR RESEARCH CODE</a:t>
            </a:r>
            <a:endParaRPr lang="en-US" sz="1100" dirty="0"/>
          </a:p>
        </p:txBody>
      </p:sp>
      <p:sp>
        <p:nvSpPr>
          <p:cNvPr id="28" name="Text 25"/>
          <p:cNvSpPr/>
          <p:nvPr/>
        </p:nvSpPr>
        <p:spPr>
          <a:xfrm>
            <a:off x="1005840" y="4709160"/>
            <a:ext cx="10149840" cy="640080"/>
          </a:xfrm>
          <a:prstGeom prst="rect">
            <a:avLst/>
          </a:prstGeom>
          <a:noFill/>
          <a:ln/>
        </p:spPr>
        <p:txBody>
          <a:bodyPr wrap="square" rtlCol="0" anchor="ctr"/>
          <a:lstStyle/>
          <a:p>
            <a:pPr marL="0" indent="0">
              <a:buNone/>
            </a:pPr>
            <a:r>
              <a:rPr lang="en-US" sz="1600" b="1" dirty="0">
                <a:solidFill>
                  <a:srgbClr val="FFFFFF"/>
                </a:solidFill>
                <a:latin typeface="Courier New" pitchFamily="34" charset="0"/>
                <a:ea typeface="Courier New" pitchFamily="34" charset="-122"/>
                <a:cs typeface="Courier New" pitchFamily="34" charset="-120"/>
              </a:rPr>
              <a:t>Not one per week.</a:t>
            </a:r>
            <a:endParaRPr lang="en-US" sz="1600" dirty="0"/>
          </a:p>
        </p:txBody>
      </p:sp>
      <p:sp>
        <p:nvSpPr>
          <p:cNvPr id="29" name="Shape 26"/>
          <p:cNvSpPr/>
          <p:nvPr/>
        </p:nvSpPr>
        <p:spPr>
          <a:xfrm>
            <a:off x="1005840" y="5486400"/>
            <a:ext cx="10149840" cy="0"/>
          </a:xfrm>
          <a:prstGeom prst="line">
            <a:avLst/>
          </a:prstGeom>
          <a:noFill/>
          <a:ln w="12700">
            <a:solidFill>
              <a:srgbClr val="444444"/>
            </a:solidFill>
            <a:prstDash val="solid"/>
          </a:ln>
        </p:spPr>
        <p:txBody>
          <a:bodyPr/>
          <a:lstStyle/>
          <a:p>
            <a:endParaRPr lang="en-US"/>
          </a:p>
        </p:txBody>
      </p:sp>
      <p:sp>
        <p:nvSpPr>
          <p:cNvPr id="30" name="Text 27"/>
          <p:cNvSpPr/>
          <p:nvPr/>
        </p:nvSpPr>
        <p:spPr>
          <a:xfrm>
            <a:off x="1005840" y="5669280"/>
            <a:ext cx="10149840" cy="640080"/>
          </a:xfrm>
          <a:prstGeom prst="rect">
            <a:avLst/>
          </a:prstGeom>
          <a:noFill/>
          <a:ln/>
        </p:spPr>
        <p:txBody>
          <a:bodyPr wrap="square" rtlCol="0" anchor="ctr"/>
          <a:lstStyle/>
          <a:p>
            <a:pPr marL="0" indent="0">
              <a:lnSpc>
                <a:spcPct val="130000"/>
              </a:lnSpc>
              <a:buNone/>
            </a:pPr>
            <a:r>
              <a:rPr lang="en-US" sz="1350" dirty="0">
                <a:solidFill>
                  <a:srgbClr val="F5F3EF"/>
                </a:solidFill>
                <a:latin typeface="Arial" pitchFamily="34" charset="0"/>
                <a:ea typeface="Arial" pitchFamily="34" charset="-122"/>
                <a:cs typeface="Arial" pitchFamily="34" charset="-120"/>
              </a:rPr>
              <a:t>The message is a note to yourself in three months, when you need to find the commit that changed a number in your paper. The imperative mood reads oddly at first; a commit describes what applying it does.</a:t>
            </a:r>
            <a:endParaRPr lang="en-US" sz="1350" dirty="0"/>
          </a:p>
        </p:txBody>
      </p:sp>
      <p:sp>
        <p:nvSpPr>
          <p:cNvPr id="31" name="Text 28"/>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457200"/>
            <a:ext cx="2430475"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2430475"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33–35 MIN  ·  THE DANGEROUS ONE</a:t>
            </a:r>
            <a:endParaRPr lang="en-US" sz="1100" dirty="0"/>
          </a:p>
        </p:txBody>
      </p:sp>
      <p:sp>
        <p:nvSpPr>
          <p:cNvPr id="5" name="Text 2"/>
          <p:cNvSpPr/>
          <p:nvPr/>
        </p:nvSpPr>
        <p:spPr>
          <a:xfrm>
            <a:off x="640080" y="822960"/>
            <a:ext cx="10058400" cy="594360"/>
          </a:xfrm>
          <a:prstGeom prst="rect">
            <a:avLst/>
          </a:prstGeom>
          <a:noFill/>
          <a:ln/>
        </p:spPr>
        <p:txBody>
          <a:bodyPr wrap="square" rtlCol="0" anchor="ctr"/>
          <a:lstStyle/>
          <a:p>
            <a:pPr marL="0" indent="0">
              <a:buNone/>
            </a:pPr>
            <a:r>
              <a:rPr lang="en-US" sz="2800" b="1" dirty="0">
                <a:solidFill>
                  <a:srgbClr val="1C1C1C"/>
                </a:solidFill>
                <a:latin typeface="Arial" pitchFamily="34" charset="0"/>
                <a:ea typeface="Arial" pitchFamily="34" charset="-122"/>
                <a:cs typeface="Arial" pitchFamily="34" charset="-120"/>
              </a:rPr>
              <a:t>.gitignore — and what you must never commit</a:t>
            </a:r>
            <a:endParaRPr lang="en-US" sz="2800" dirty="0"/>
          </a:p>
        </p:txBody>
      </p:sp>
      <p:sp>
        <p:nvSpPr>
          <p:cNvPr id="6" name="Shape 3"/>
          <p:cNvSpPr/>
          <p:nvPr/>
        </p:nvSpPr>
        <p:spPr>
          <a:xfrm>
            <a:off x="64008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7" name="Shape 4"/>
          <p:cNvSpPr/>
          <p:nvPr/>
        </p:nvSpPr>
        <p:spPr>
          <a:xfrm>
            <a:off x="868680" y="1801368"/>
            <a:ext cx="146304" cy="146304"/>
          </a:xfrm>
          <a:prstGeom prst="ellipse">
            <a:avLst/>
          </a:prstGeom>
          <a:solidFill>
            <a:srgbClr val="D64550"/>
          </a:solidFill>
          <a:ln/>
        </p:spPr>
        <p:txBody>
          <a:bodyPr/>
          <a:lstStyle/>
          <a:p>
            <a:endParaRPr lang="en-US"/>
          </a:p>
        </p:txBody>
      </p:sp>
      <p:sp>
        <p:nvSpPr>
          <p:cNvPr id="8" name="Shape 5"/>
          <p:cNvSpPr/>
          <p:nvPr/>
        </p:nvSpPr>
        <p:spPr>
          <a:xfrm>
            <a:off x="1124712" y="1801368"/>
            <a:ext cx="146304" cy="146304"/>
          </a:xfrm>
          <a:prstGeom prst="ellipse">
            <a:avLst/>
          </a:prstGeom>
          <a:solidFill>
            <a:srgbClr val="ECB748"/>
          </a:solidFill>
          <a:ln/>
        </p:spPr>
        <p:txBody>
          <a:bodyPr/>
          <a:lstStyle/>
          <a:p>
            <a:endParaRPr lang="en-US"/>
          </a:p>
        </p:txBody>
      </p:sp>
      <p:sp>
        <p:nvSpPr>
          <p:cNvPr id="9" name="Shape 6"/>
          <p:cNvSpPr/>
          <p:nvPr/>
        </p:nvSpPr>
        <p:spPr>
          <a:xfrm>
            <a:off x="1380744" y="1801368"/>
            <a:ext cx="146304" cy="146304"/>
          </a:xfrm>
          <a:prstGeom prst="ellipse">
            <a:avLst/>
          </a:prstGeom>
          <a:solidFill>
            <a:srgbClr val="6B6B6B"/>
          </a:solidFill>
          <a:ln/>
        </p:spPr>
        <p:txBody>
          <a:bodyPr/>
          <a:lstStyle/>
          <a:p>
            <a:endParaRPr lang="en-US"/>
          </a:p>
        </p:txBody>
      </p:sp>
      <p:sp>
        <p:nvSpPr>
          <p:cNvPr id="10" name="Text 7"/>
          <p:cNvSpPr/>
          <p:nvPr/>
        </p:nvSpPr>
        <p:spPr>
          <a:xfrm>
            <a:off x="178308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.gitignore</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txBody>
          <a:bodyPr/>
          <a:lstStyle/>
          <a:p>
            <a:endParaRPr lang="en-US"/>
          </a:p>
        </p:txBody>
      </p:sp>
      <p:sp>
        <p:nvSpPr>
          <p:cNvPr id="12" name="Text 9"/>
          <p:cNvSpPr/>
          <p:nvPr/>
        </p:nvSpPr>
        <p:spPr>
          <a:xfrm>
            <a:off x="91440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.DS_Store    __pycache__/</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.Rhistory    .Rproj.user/</a:t>
            </a: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.env         *.log</a:t>
            </a:r>
            <a:endParaRPr lang="en-US" sz="1300" dirty="0"/>
          </a:p>
        </p:txBody>
      </p:sp>
      <p:sp>
        <p:nvSpPr>
          <p:cNvPr id="15" name="Text 12"/>
          <p:cNvSpPr/>
          <p:nvPr/>
        </p:nvSpPr>
        <p:spPr>
          <a:xfrm>
            <a:off x="914400" y="3227832"/>
            <a:ext cx="4709160" cy="329184"/>
          </a:xfrm>
          <a:prstGeom prst="rect">
            <a:avLst/>
          </a:prstGeom>
          <a:noFill/>
          <a:ln/>
        </p:spPr>
        <p:txBody>
          <a:bodyPr wrap="square" rtlCol="0" anchor="ctr"/>
          <a:lstStyle/>
          <a:p>
            <a:pPr marL="0" indent="0">
              <a:buNone/>
            </a:pPr>
            <a:r>
              <a:rPr sz="1300" dirty="0">
                <a:solidFill>
                  <a:schemeClr val="bg1"/>
                </a:solidFill>
                <a:latin typeface="Courier New" panose="02070309020205020404" pitchFamily="49" charset="0"/>
                <a:cs typeface="Courier New" panose="02070309020205020404" pitchFamily="49" charset="0"/>
              </a:rPr>
              <a:t>data/raw/*.csv   # if private</a:t>
            </a:r>
            <a:endParaRPr lang="en-US" sz="1300" dirty="0">
              <a:solidFill>
                <a:schemeClr val="bg1"/>
              </a:solidFill>
              <a:latin typeface="Courier New" panose="02070309020205020404" pitchFamily="49" charset="0"/>
              <a:cs typeface="Courier New" panose="02070309020205020404" pitchFamily="49" charset="0"/>
            </a:endParaRPr>
          </a:p>
        </p:txBody>
      </p:sp>
      <p:sp>
        <p:nvSpPr>
          <p:cNvPr id="16" name="Shape 13"/>
          <p:cNvSpPr/>
          <p:nvPr/>
        </p:nvSpPr>
        <p:spPr>
          <a:xfrm>
            <a:off x="626364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17" name="Shape 14"/>
          <p:cNvSpPr/>
          <p:nvPr/>
        </p:nvSpPr>
        <p:spPr>
          <a:xfrm>
            <a:off x="6492240" y="1801368"/>
            <a:ext cx="146304" cy="146304"/>
          </a:xfrm>
          <a:prstGeom prst="ellipse">
            <a:avLst/>
          </a:prstGeom>
          <a:solidFill>
            <a:srgbClr val="D64550"/>
          </a:solidFill>
          <a:ln/>
        </p:spPr>
        <p:txBody>
          <a:bodyPr/>
          <a:lstStyle/>
          <a:p>
            <a:endParaRPr lang="en-US"/>
          </a:p>
        </p:txBody>
      </p:sp>
      <p:sp>
        <p:nvSpPr>
          <p:cNvPr id="18" name="Shape 15"/>
          <p:cNvSpPr/>
          <p:nvPr/>
        </p:nvSpPr>
        <p:spPr>
          <a:xfrm>
            <a:off x="6748272" y="1801368"/>
            <a:ext cx="146304" cy="146304"/>
          </a:xfrm>
          <a:prstGeom prst="ellipse">
            <a:avLst/>
          </a:prstGeom>
          <a:solidFill>
            <a:srgbClr val="ECB748"/>
          </a:solidFill>
          <a:ln/>
        </p:spPr>
        <p:txBody>
          <a:bodyPr/>
          <a:lstStyle/>
          <a:p>
            <a:endParaRPr lang="en-US"/>
          </a:p>
        </p:txBody>
      </p:sp>
      <p:sp>
        <p:nvSpPr>
          <p:cNvPr id="19" name="Shape 16"/>
          <p:cNvSpPr/>
          <p:nvPr/>
        </p:nvSpPr>
        <p:spPr>
          <a:xfrm>
            <a:off x="7004304" y="1801368"/>
            <a:ext cx="146304" cy="146304"/>
          </a:xfrm>
          <a:prstGeom prst="ellipse">
            <a:avLst/>
          </a:prstGeom>
          <a:solidFill>
            <a:srgbClr val="6B6B6B"/>
          </a:solidFill>
          <a:ln/>
        </p:spPr>
        <p:txBody>
          <a:bodyPr/>
          <a:lstStyle/>
          <a:p>
            <a:endParaRPr lang="en-US"/>
          </a:p>
        </p:txBody>
      </p:sp>
      <p:sp>
        <p:nvSpPr>
          <p:cNvPr id="20" name="Text 17"/>
          <p:cNvSpPr/>
          <p:nvPr/>
        </p:nvSpPr>
        <p:spPr>
          <a:xfrm>
            <a:off x="740664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never commit</a:t>
            </a:r>
            <a:endParaRPr lang="en-US" sz="1050" dirty="0"/>
          </a:p>
        </p:txBody>
      </p:sp>
      <p:sp>
        <p:nvSpPr>
          <p:cNvPr id="21" name="Shape 18"/>
          <p:cNvSpPr/>
          <p:nvPr/>
        </p:nvSpPr>
        <p:spPr>
          <a:xfrm>
            <a:off x="6309360" y="2103120"/>
            <a:ext cx="5166360" cy="0"/>
          </a:xfrm>
          <a:prstGeom prst="line">
            <a:avLst/>
          </a:prstGeom>
          <a:noFill/>
          <a:ln w="12700">
            <a:solidFill>
              <a:srgbClr val="444444"/>
            </a:solidFill>
            <a:prstDash val="solid"/>
          </a:ln>
        </p:spPr>
        <p:txBody>
          <a:bodyPr/>
          <a:lstStyle/>
          <a:p>
            <a:endParaRPr lang="en-US"/>
          </a:p>
        </p:txBody>
      </p:sp>
      <p:sp>
        <p:nvSpPr>
          <p:cNvPr id="22" name="Text 19"/>
          <p:cNvSpPr/>
          <p:nvPr/>
        </p:nvSpPr>
        <p:spPr>
          <a:xfrm>
            <a:off x="653796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patient or identifiable data</a:t>
            </a:r>
            <a:endParaRPr lang="en-US" sz="1300" dirty="0"/>
          </a:p>
        </p:txBody>
      </p:sp>
      <p:sp>
        <p:nvSpPr>
          <p:cNvPr id="23" name="Text 20"/>
          <p:cNvSpPr/>
          <p:nvPr/>
        </p:nvSpPr>
        <p:spPr>
          <a:xfrm>
            <a:off x="653796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API keys and passwords</a:t>
            </a:r>
            <a:endParaRPr lang="en-US" sz="1300" dirty="0"/>
          </a:p>
        </p:txBody>
      </p:sp>
      <p:sp>
        <p:nvSpPr>
          <p:cNvPr id="24" name="Text 21"/>
          <p:cNvSpPr/>
          <p:nvPr/>
        </p:nvSpPr>
        <p:spPr>
          <a:xfrm>
            <a:off x="6537960" y="289864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files over ~100 MB</a:t>
            </a:r>
            <a:endParaRPr lang="en-US" sz="1300" dirty="0"/>
          </a:p>
        </p:txBody>
      </p:sp>
      <p:sp>
        <p:nvSpPr>
          <p:cNvPr id="25" name="Text 22"/>
          <p:cNvSpPr/>
          <p:nvPr/>
        </p:nvSpPr>
        <p:spPr>
          <a:xfrm>
            <a:off x="6537960" y="3227832"/>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files that change on every run</a:t>
            </a:r>
            <a:endParaRPr lang="en-US" sz="1300" dirty="0"/>
          </a:p>
        </p:txBody>
      </p:sp>
      <p:sp>
        <p:nvSpPr>
          <p:cNvPr id="26" name="Shape 23"/>
          <p:cNvSpPr/>
          <p:nvPr/>
        </p:nvSpPr>
        <p:spPr>
          <a:xfrm>
            <a:off x="640080" y="3977640"/>
            <a:ext cx="10881360" cy="2423160"/>
          </a:xfrm>
          <a:prstGeom prst="roundRect">
            <a:avLst>
              <a:gd name="adj" fmla="val 3774"/>
            </a:avLst>
          </a:prstGeom>
          <a:solidFill>
            <a:srgbClr val="1C1C1C"/>
          </a:solidFill>
          <a:ln/>
        </p:spPr>
        <p:txBody>
          <a:bodyPr/>
          <a:lstStyle/>
          <a:p>
            <a:endParaRPr lang="en-US"/>
          </a:p>
        </p:txBody>
      </p:sp>
      <p:sp>
        <p:nvSpPr>
          <p:cNvPr id="27" name="Text 24"/>
          <p:cNvSpPr/>
          <p:nvPr/>
        </p:nvSpPr>
        <p:spPr>
          <a:xfrm>
            <a:off x="1005840" y="4251960"/>
            <a:ext cx="10149840" cy="320040"/>
          </a:xfrm>
          <a:prstGeom prst="rect">
            <a:avLst/>
          </a:prstGeom>
          <a:noFill/>
          <a:ln/>
        </p:spPr>
        <p:txBody>
          <a:bodyPr wrap="square" rtlCol="0" anchor="ctr"/>
          <a:lstStyle/>
          <a:p>
            <a:pPr marL="0" indent="0">
              <a:buNone/>
            </a:pPr>
            <a:r>
              <a:rPr lang="en-US" sz="1100" b="1" kern="0" spc="200" dirty="0">
                <a:solidFill>
                  <a:srgbClr val="ECB748"/>
                </a:solidFill>
                <a:latin typeface="Arial" pitchFamily="34" charset="0"/>
                <a:ea typeface="Arial" pitchFamily="34" charset="-122"/>
                <a:cs typeface="Arial" pitchFamily="34" charset="-120"/>
              </a:rPr>
              <a:t>DELETING A FILE LATER DOES NOT REMOVE IT FROM THE HISTORY</a:t>
            </a:r>
            <a:endParaRPr lang="en-US" sz="1100" dirty="0"/>
          </a:p>
        </p:txBody>
      </p:sp>
      <p:sp>
        <p:nvSpPr>
          <p:cNvPr id="28" name="Text 25"/>
          <p:cNvSpPr/>
          <p:nvPr/>
        </p:nvSpPr>
        <p:spPr>
          <a:xfrm>
            <a:off x="1005840" y="4709160"/>
            <a:ext cx="10149840" cy="640080"/>
          </a:xfrm>
          <a:prstGeom prst="rect">
            <a:avLst/>
          </a:prstGeom>
          <a:noFill/>
          <a:ln/>
        </p:spPr>
        <p:txBody>
          <a:bodyPr wrap="square" rtlCol="0" anchor="ctr"/>
          <a:lstStyle/>
          <a:p>
            <a:pPr marL="0" indent="0">
              <a:buNone/>
            </a:pPr>
            <a:r>
              <a:rPr lang="en-US" sz="1600" b="1" dirty="0">
                <a:solidFill>
                  <a:srgbClr val="FFFFFF"/>
                </a:solidFill>
                <a:latin typeface="Courier New" pitchFamily="34" charset="0"/>
                <a:ea typeface="Courier New" pitchFamily="34" charset="-122"/>
                <a:cs typeface="Courier New" pitchFamily="34" charset="-120"/>
              </a:rPr>
              <a:t>Commit an API key and push it, and you must treat it as permanently exposed: rotate the key, tell your PI.</a:t>
            </a:r>
            <a:endParaRPr lang="en-US" sz="1600" dirty="0"/>
          </a:p>
        </p:txBody>
      </p:sp>
      <p:sp>
        <p:nvSpPr>
          <p:cNvPr id="29" name="Shape 26"/>
          <p:cNvSpPr/>
          <p:nvPr/>
        </p:nvSpPr>
        <p:spPr>
          <a:xfrm>
            <a:off x="1005840" y="5486400"/>
            <a:ext cx="10149840" cy="0"/>
          </a:xfrm>
          <a:prstGeom prst="line">
            <a:avLst/>
          </a:prstGeom>
          <a:noFill/>
          <a:ln w="12700">
            <a:solidFill>
              <a:srgbClr val="444444"/>
            </a:solidFill>
            <a:prstDash val="solid"/>
          </a:ln>
        </p:spPr>
        <p:txBody>
          <a:bodyPr/>
          <a:lstStyle/>
          <a:p>
            <a:endParaRPr lang="en-US"/>
          </a:p>
        </p:txBody>
      </p:sp>
      <p:sp>
        <p:nvSpPr>
          <p:cNvPr id="30" name="Text 27"/>
          <p:cNvSpPr/>
          <p:nvPr/>
        </p:nvSpPr>
        <p:spPr>
          <a:xfrm>
            <a:off x="1005840" y="5669280"/>
            <a:ext cx="10149840" cy="640080"/>
          </a:xfrm>
          <a:prstGeom prst="rect">
            <a:avLst/>
          </a:prstGeom>
          <a:noFill/>
          <a:ln/>
        </p:spPr>
        <p:txBody>
          <a:bodyPr wrap="square" rtlCol="0" anchor="ctr"/>
          <a:lstStyle/>
          <a:p>
            <a:pPr marL="0" indent="0">
              <a:lnSpc>
                <a:spcPct val="130000"/>
              </a:lnSpc>
              <a:buNone/>
            </a:pPr>
            <a:r>
              <a:rPr lang="en-US" sz="1350" dirty="0">
                <a:solidFill>
                  <a:srgbClr val="F5F3EF"/>
                </a:solidFill>
                <a:latin typeface="Arial" pitchFamily="34" charset="0"/>
                <a:ea typeface="Arial" pitchFamily="34" charset="-122"/>
                <a:cs typeface="Arial" pitchFamily="34" charset="-120"/>
              </a:rPr>
              <a:t>Cleaning it out of history properly is genuinely hard. Write .gitignore FIRST, before the first commit — far easier than repairing history. If your project involves real PHI, talk to us before creating any repo, public or private.</a:t>
            </a:r>
            <a:endParaRPr lang="en-US" sz="1350" dirty="0"/>
          </a:p>
        </p:txBody>
      </p:sp>
      <p:sp>
        <p:nvSpPr>
          <p:cNvPr id="31" name="Text 28"/>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457200"/>
            <a:ext cx="2243937"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2243937"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REFERENCE  ·  ON BRIGHTSPACE</a:t>
            </a:r>
            <a:endParaRPr lang="en-US" sz="1100" dirty="0"/>
          </a:p>
        </p:txBody>
      </p:sp>
      <p:sp>
        <p:nvSpPr>
          <p:cNvPr id="5" name="Text 2"/>
          <p:cNvSpPr/>
          <p:nvPr/>
        </p:nvSpPr>
        <p:spPr>
          <a:xfrm>
            <a:off x="640080" y="822960"/>
            <a:ext cx="10058400" cy="594360"/>
          </a:xfrm>
          <a:prstGeom prst="rect">
            <a:avLst/>
          </a:prstGeom>
          <a:noFill/>
          <a:ln/>
        </p:spPr>
        <p:txBody>
          <a:bodyPr wrap="square" rtlCol="0" anchor="ctr"/>
          <a:lstStyle/>
          <a:p>
            <a:pPr marL="0" indent="0">
              <a:buNone/>
            </a:pPr>
            <a:r>
              <a:rPr lang="en-US" sz="2800" b="1" dirty="0">
                <a:solidFill>
                  <a:srgbClr val="1C1C1C"/>
                </a:solidFill>
                <a:latin typeface="Arial" pitchFamily="34" charset="0"/>
                <a:ea typeface="Arial" pitchFamily="34" charset="-122"/>
                <a:cs typeface="Arial" pitchFamily="34" charset="-120"/>
              </a:rPr>
              <a:t>Getting onto GitHub</a:t>
            </a:r>
            <a:endParaRPr lang="en-US" sz="2800" dirty="0"/>
          </a:p>
        </p:txBody>
      </p:sp>
      <p:sp>
        <p:nvSpPr>
          <p:cNvPr id="6" name="Shape 3"/>
          <p:cNvSpPr/>
          <p:nvPr/>
        </p:nvSpPr>
        <p:spPr>
          <a:xfrm>
            <a:off x="64008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7" name="Shape 4"/>
          <p:cNvSpPr/>
          <p:nvPr/>
        </p:nvSpPr>
        <p:spPr>
          <a:xfrm>
            <a:off x="868680" y="1801368"/>
            <a:ext cx="146304" cy="146304"/>
          </a:xfrm>
          <a:prstGeom prst="ellipse">
            <a:avLst/>
          </a:prstGeom>
          <a:solidFill>
            <a:srgbClr val="D64550"/>
          </a:solidFill>
          <a:ln/>
        </p:spPr>
        <p:txBody>
          <a:bodyPr/>
          <a:lstStyle/>
          <a:p>
            <a:endParaRPr lang="en-US"/>
          </a:p>
        </p:txBody>
      </p:sp>
      <p:sp>
        <p:nvSpPr>
          <p:cNvPr id="8" name="Shape 5"/>
          <p:cNvSpPr/>
          <p:nvPr/>
        </p:nvSpPr>
        <p:spPr>
          <a:xfrm>
            <a:off x="1124712" y="1801368"/>
            <a:ext cx="146304" cy="146304"/>
          </a:xfrm>
          <a:prstGeom prst="ellipse">
            <a:avLst/>
          </a:prstGeom>
          <a:solidFill>
            <a:srgbClr val="ECB748"/>
          </a:solidFill>
          <a:ln/>
        </p:spPr>
        <p:txBody>
          <a:bodyPr/>
          <a:lstStyle/>
          <a:p>
            <a:endParaRPr lang="en-US"/>
          </a:p>
        </p:txBody>
      </p:sp>
      <p:sp>
        <p:nvSpPr>
          <p:cNvPr id="9" name="Shape 6"/>
          <p:cNvSpPr/>
          <p:nvPr/>
        </p:nvSpPr>
        <p:spPr>
          <a:xfrm>
            <a:off x="1380744" y="1801368"/>
            <a:ext cx="146304" cy="146304"/>
          </a:xfrm>
          <a:prstGeom prst="ellipse">
            <a:avLst/>
          </a:prstGeom>
          <a:solidFill>
            <a:srgbClr val="6B6B6B"/>
          </a:solidFill>
          <a:ln/>
        </p:spPr>
        <p:txBody>
          <a:bodyPr/>
          <a:lstStyle/>
          <a:p>
            <a:endParaRPr lang="en-US"/>
          </a:p>
        </p:txBody>
      </p:sp>
      <p:sp>
        <p:nvSpPr>
          <p:cNvPr id="10" name="Text 7"/>
          <p:cNvSpPr/>
          <p:nvPr/>
        </p:nvSpPr>
        <p:spPr>
          <a:xfrm>
            <a:off x="178308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on github.com</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txBody>
          <a:bodyPr/>
          <a:lstStyle/>
          <a:p>
            <a:endParaRPr lang="en-US"/>
          </a:p>
        </p:txBody>
      </p:sp>
      <p:sp>
        <p:nvSpPr>
          <p:cNvPr id="12" name="Text 9"/>
          <p:cNvSpPr/>
          <p:nvPr/>
        </p:nvSpPr>
        <p:spPr>
          <a:xfrm>
            <a:off x="91440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New repository</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name it to match your folder</a:t>
            </a: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Private is fine — and is the</a:t>
            </a:r>
            <a:endParaRPr lang="en-US" sz="1300" dirty="0"/>
          </a:p>
        </p:txBody>
      </p:sp>
      <p:sp>
        <p:nvSpPr>
          <p:cNvPr id="15" name="Text 12"/>
          <p:cNvSpPr/>
          <p:nvPr/>
        </p:nvSpPr>
        <p:spPr>
          <a:xfrm>
            <a:off x="914400" y="3227832"/>
            <a:ext cx="4709160" cy="329184"/>
          </a:xfrm>
          <a:prstGeom prst="rect">
            <a:avLst/>
          </a:prstGeom>
          <a:noFill/>
          <a:ln/>
        </p:spPr>
        <p:txBody>
          <a:bodyPr wrap="square" rtlCol="0" anchor="ctr"/>
          <a:lstStyle/>
          <a:p>
            <a:pPr marL="0" indent="0">
              <a:buNone/>
            </a:pPr>
            <a:r>
              <a:rPr sz="1300" dirty="0">
                <a:solidFill>
                  <a:schemeClr val="bg1"/>
                </a:solidFill>
                <a:latin typeface="Courier New" panose="02070309020205020404" pitchFamily="49" charset="0"/>
                <a:cs typeface="Courier New" panose="02070309020205020404" pitchFamily="49" charset="0"/>
              </a:rPr>
              <a:t>right default for sensitive data</a:t>
            </a:r>
            <a:endParaRPr lang="en-US" sz="1300" dirty="0">
              <a:solidFill>
                <a:schemeClr val="bg1"/>
              </a:solidFill>
              <a:latin typeface="Courier New" panose="02070309020205020404" pitchFamily="49" charset="0"/>
              <a:cs typeface="Courier New" panose="02070309020205020404" pitchFamily="49" charset="0"/>
            </a:endParaRPr>
          </a:p>
        </p:txBody>
      </p:sp>
      <p:sp>
        <p:nvSpPr>
          <p:cNvPr id="16" name="Shape 13"/>
          <p:cNvSpPr/>
          <p:nvPr/>
        </p:nvSpPr>
        <p:spPr>
          <a:xfrm>
            <a:off x="6263640" y="1600200"/>
            <a:ext cx="5257800" cy="2103120"/>
          </a:xfrm>
          <a:prstGeom prst="roundRect">
            <a:avLst>
              <a:gd name="adj" fmla="val 4348"/>
            </a:avLst>
          </a:prstGeom>
          <a:solidFill>
            <a:srgbClr val="2E2E2E"/>
          </a:solidFill>
          <a:ln w="12700">
            <a:solidFill>
              <a:srgbClr val="444444"/>
            </a:solidFill>
            <a:prstDash val="solid"/>
          </a:ln>
        </p:spPr>
        <p:txBody>
          <a:bodyPr/>
          <a:lstStyle/>
          <a:p>
            <a:endParaRPr lang="en-US"/>
          </a:p>
        </p:txBody>
      </p:sp>
      <p:sp>
        <p:nvSpPr>
          <p:cNvPr id="17" name="Shape 14"/>
          <p:cNvSpPr/>
          <p:nvPr/>
        </p:nvSpPr>
        <p:spPr>
          <a:xfrm>
            <a:off x="6492240" y="1801368"/>
            <a:ext cx="146304" cy="146304"/>
          </a:xfrm>
          <a:prstGeom prst="ellipse">
            <a:avLst/>
          </a:prstGeom>
          <a:solidFill>
            <a:srgbClr val="D64550"/>
          </a:solidFill>
          <a:ln/>
        </p:spPr>
        <p:txBody>
          <a:bodyPr/>
          <a:lstStyle/>
          <a:p>
            <a:endParaRPr lang="en-US"/>
          </a:p>
        </p:txBody>
      </p:sp>
      <p:sp>
        <p:nvSpPr>
          <p:cNvPr id="18" name="Shape 15"/>
          <p:cNvSpPr/>
          <p:nvPr/>
        </p:nvSpPr>
        <p:spPr>
          <a:xfrm>
            <a:off x="6748272" y="1801368"/>
            <a:ext cx="146304" cy="146304"/>
          </a:xfrm>
          <a:prstGeom prst="ellipse">
            <a:avLst/>
          </a:prstGeom>
          <a:solidFill>
            <a:srgbClr val="ECB748"/>
          </a:solidFill>
          <a:ln/>
        </p:spPr>
        <p:txBody>
          <a:bodyPr/>
          <a:lstStyle/>
          <a:p>
            <a:endParaRPr lang="en-US"/>
          </a:p>
        </p:txBody>
      </p:sp>
      <p:sp>
        <p:nvSpPr>
          <p:cNvPr id="19" name="Shape 16"/>
          <p:cNvSpPr/>
          <p:nvPr/>
        </p:nvSpPr>
        <p:spPr>
          <a:xfrm>
            <a:off x="7004304" y="1801368"/>
            <a:ext cx="146304" cy="146304"/>
          </a:xfrm>
          <a:prstGeom prst="ellipse">
            <a:avLst/>
          </a:prstGeom>
          <a:solidFill>
            <a:srgbClr val="6B6B6B"/>
          </a:solidFill>
          <a:ln/>
        </p:spPr>
        <p:txBody>
          <a:bodyPr/>
          <a:lstStyle/>
          <a:p>
            <a:endParaRPr lang="en-US"/>
          </a:p>
        </p:txBody>
      </p:sp>
      <p:sp>
        <p:nvSpPr>
          <p:cNvPr id="20" name="Text 17"/>
          <p:cNvSpPr/>
          <p:nvPr/>
        </p:nvSpPr>
        <p:spPr>
          <a:xfrm>
            <a:off x="740664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then, in your project folder</a:t>
            </a:r>
            <a:endParaRPr lang="en-US" sz="1050" dirty="0"/>
          </a:p>
        </p:txBody>
      </p:sp>
      <p:sp>
        <p:nvSpPr>
          <p:cNvPr id="21" name="Shape 18"/>
          <p:cNvSpPr/>
          <p:nvPr/>
        </p:nvSpPr>
        <p:spPr>
          <a:xfrm>
            <a:off x="6309360" y="2103120"/>
            <a:ext cx="5166360" cy="0"/>
          </a:xfrm>
          <a:prstGeom prst="line">
            <a:avLst/>
          </a:prstGeom>
          <a:noFill/>
          <a:ln w="12700">
            <a:solidFill>
              <a:srgbClr val="444444"/>
            </a:solidFill>
            <a:prstDash val="solid"/>
          </a:ln>
        </p:spPr>
        <p:txBody>
          <a:bodyPr/>
          <a:lstStyle/>
          <a:p>
            <a:endParaRPr lang="en-US"/>
          </a:p>
        </p:txBody>
      </p:sp>
      <p:sp>
        <p:nvSpPr>
          <p:cNvPr id="22" name="Text 19"/>
          <p:cNvSpPr/>
          <p:nvPr/>
        </p:nvSpPr>
        <p:spPr>
          <a:xfrm>
            <a:off x="653796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git remote add origin \</a:t>
            </a:r>
            <a:endParaRPr lang="en-US" sz="1300" dirty="0"/>
          </a:p>
        </p:txBody>
      </p:sp>
      <p:sp>
        <p:nvSpPr>
          <p:cNvPr id="23" name="Text 20"/>
          <p:cNvSpPr/>
          <p:nvPr/>
        </p:nvSpPr>
        <p:spPr>
          <a:xfrm>
            <a:off x="6537960" y="2569464"/>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https://github.com/YOU/proj.git</a:t>
            </a:r>
            <a:endParaRPr lang="en-US" sz="1300" dirty="0"/>
          </a:p>
        </p:txBody>
      </p:sp>
      <p:sp>
        <p:nvSpPr>
          <p:cNvPr id="24" name="Text 21"/>
          <p:cNvSpPr/>
          <p:nvPr/>
        </p:nvSpPr>
        <p:spPr>
          <a:xfrm>
            <a:off x="6537960" y="2898648"/>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git push -u origin main</a:t>
            </a:r>
            <a:endParaRPr lang="en-US" sz="1300" dirty="0"/>
          </a:p>
        </p:txBody>
      </p:sp>
      <p:sp>
        <p:nvSpPr>
          <p:cNvPr id="25" name="Text 22"/>
          <p:cNvSpPr/>
          <p:nvPr/>
        </p:nvSpPr>
        <p:spPr>
          <a:xfrm>
            <a:off x="6537960" y="3227832"/>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 the flags are only needed once</a:t>
            </a:r>
            <a:endParaRPr lang="en-US" sz="1300" dirty="0"/>
          </a:p>
        </p:txBody>
      </p:sp>
      <p:sp>
        <p:nvSpPr>
          <p:cNvPr id="26" name="Shape 23"/>
          <p:cNvSpPr/>
          <p:nvPr/>
        </p:nvSpPr>
        <p:spPr>
          <a:xfrm>
            <a:off x="640080" y="3977640"/>
            <a:ext cx="10881360" cy="2423160"/>
          </a:xfrm>
          <a:prstGeom prst="roundRect">
            <a:avLst>
              <a:gd name="adj" fmla="val 3774"/>
            </a:avLst>
          </a:prstGeom>
          <a:solidFill>
            <a:srgbClr val="1C1C1C"/>
          </a:solidFill>
          <a:ln/>
        </p:spPr>
        <p:txBody>
          <a:bodyPr/>
          <a:lstStyle/>
          <a:p>
            <a:endParaRPr lang="en-US"/>
          </a:p>
        </p:txBody>
      </p:sp>
      <p:sp>
        <p:nvSpPr>
          <p:cNvPr id="27" name="Text 24"/>
          <p:cNvSpPr/>
          <p:nvPr/>
        </p:nvSpPr>
        <p:spPr>
          <a:xfrm>
            <a:off x="1005840" y="4251960"/>
            <a:ext cx="10149840" cy="320040"/>
          </a:xfrm>
          <a:prstGeom prst="rect">
            <a:avLst/>
          </a:prstGeom>
          <a:noFill/>
          <a:ln/>
        </p:spPr>
        <p:txBody>
          <a:bodyPr wrap="square" rtlCol="0" anchor="ctr"/>
          <a:lstStyle/>
          <a:p>
            <a:pPr marL="0" indent="0">
              <a:buNone/>
            </a:pPr>
            <a:r>
              <a:rPr lang="en-US" sz="1100" b="1" kern="0" spc="200" dirty="0">
                <a:solidFill>
                  <a:srgbClr val="ECB748"/>
                </a:solidFill>
                <a:latin typeface="Arial" pitchFamily="34" charset="0"/>
                <a:ea typeface="Arial" pitchFamily="34" charset="-122"/>
                <a:cs typeface="Arial" pitchFamily="34" charset="-120"/>
              </a:rPr>
              <a:t>AUTHENTICATION IS WHERE THIS SESSION DIES</a:t>
            </a:r>
            <a:endParaRPr lang="en-US" sz="1100" dirty="0"/>
          </a:p>
        </p:txBody>
      </p:sp>
      <p:sp>
        <p:nvSpPr>
          <p:cNvPr id="28" name="Text 25"/>
          <p:cNvSpPr/>
          <p:nvPr/>
        </p:nvSpPr>
        <p:spPr>
          <a:xfrm>
            <a:off x="1005840" y="4709160"/>
            <a:ext cx="10149840" cy="640080"/>
          </a:xfrm>
          <a:prstGeom prst="rect">
            <a:avLst/>
          </a:prstGeom>
          <a:noFill/>
          <a:ln/>
        </p:spPr>
        <p:txBody>
          <a:bodyPr wrap="square" rtlCol="0" anchor="ctr"/>
          <a:lstStyle/>
          <a:p>
            <a:pPr marL="0" indent="0">
              <a:buNone/>
            </a:pPr>
            <a:r>
              <a:rPr lang="en-US" sz="1600" b="1" dirty="0">
                <a:solidFill>
                  <a:srgbClr val="FFFFFF"/>
                </a:solidFill>
                <a:latin typeface="Courier New" pitchFamily="34" charset="0"/>
                <a:ea typeface="Courier New" pitchFamily="34" charset="-122"/>
                <a:cs typeface="Courier New" pitchFamily="34" charset="-120"/>
              </a:rPr>
              <a:t>Your account password will be rejected. Use  gh auth login,  or a personal access token.</a:t>
            </a:r>
            <a:endParaRPr lang="en-US" sz="1600" dirty="0"/>
          </a:p>
        </p:txBody>
      </p:sp>
      <p:sp>
        <p:nvSpPr>
          <p:cNvPr id="29" name="Shape 26"/>
          <p:cNvSpPr/>
          <p:nvPr/>
        </p:nvSpPr>
        <p:spPr>
          <a:xfrm>
            <a:off x="1005840" y="5486400"/>
            <a:ext cx="10149840" cy="0"/>
          </a:xfrm>
          <a:prstGeom prst="line">
            <a:avLst/>
          </a:prstGeom>
          <a:noFill/>
          <a:ln w="12700">
            <a:solidFill>
              <a:srgbClr val="444444"/>
            </a:solidFill>
            <a:prstDash val="solid"/>
          </a:ln>
        </p:spPr>
        <p:txBody>
          <a:bodyPr/>
          <a:lstStyle/>
          <a:p>
            <a:endParaRPr lang="en-US"/>
          </a:p>
        </p:txBody>
      </p:sp>
      <p:sp>
        <p:nvSpPr>
          <p:cNvPr id="30" name="Text 27"/>
          <p:cNvSpPr/>
          <p:nvPr/>
        </p:nvSpPr>
        <p:spPr>
          <a:xfrm>
            <a:off x="1005840" y="5669280"/>
            <a:ext cx="10149840" cy="640080"/>
          </a:xfrm>
          <a:prstGeom prst="rect">
            <a:avLst/>
          </a:prstGeom>
          <a:noFill/>
          <a:ln/>
        </p:spPr>
        <p:txBody>
          <a:bodyPr wrap="square" rtlCol="0" anchor="ctr"/>
          <a:lstStyle/>
          <a:p>
            <a:pPr marL="0" indent="0">
              <a:lnSpc>
                <a:spcPct val="130000"/>
              </a:lnSpc>
              <a:buNone/>
            </a:pPr>
            <a:r>
              <a:rPr lang="en-US" sz="1350" dirty="0">
                <a:solidFill>
                  <a:srgbClr val="F5F3EF"/>
                </a:solidFill>
                <a:latin typeface="Arial" pitchFamily="34" charset="0"/>
                <a:ea typeface="Arial" pitchFamily="34" charset="-122"/>
                <a:cs typeface="Arial" pitchFamily="34" charset="-120"/>
              </a:rPr>
              <a:t>Do NOT check "Add a README" when creating the repo — you already have one locally and it will conflict. Full written walkthrough is on Brightspace; work from that rather than from this slide.</a:t>
            </a:r>
            <a:endParaRPr lang="en-US" sz="1350" dirty="0"/>
          </a:p>
        </p:txBody>
      </p:sp>
      <p:sp>
        <p:nvSpPr>
          <p:cNvPr id="31" name="Text 28"/>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457200"/>
            <a:ext cx="2243937"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2243937"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35–36 MIN  ·  UNIT 1 IS DONE</a:t>
            </a:r>
            <a:endParaRPr lang="en-US" sz="1100" dirty="0"/>
          </a:p>
        </p:txBody>
      </p:sp>
      <p:sp>
        <p:nvSpPr>
          <p:cNvPr id="5" name="Text 2"/>
          <p:cNvSpPr/>
          <p:nvPr/>
        </p:nvSpPr>
        <p:spPr>
          <a:xfrm>
            <a:off x="640080" y="822960"/>
            <a:ext cx="10058400" cy="594360"/>
          </a:xfrm>
          <a:prstGeom prst="rect">
            <a:avLst/>
          </a:prstGeom>
          <a:noFill/>
          <a:ln/>
        </p:spPr>
        <p:txBody>
          <a:bodyPr wrap="square" rtlCol="0" anchor="ctr"/>
          <a:lstStyle/>
          <a:p>
            <a:pPr marL="0" indent="0">
              <a:buNone/>
            </a:pPr>
            <a:r>
              <a:rPr lang="en-US" sz="3000" b="1" dirty="0">
                <a:solidFill>
                  <a:srgbClr val="1C1C1C"/>
                </a:solidFill>
                <a:latin typeface="Arial" pitchFamily="34" charset="0"/>
                <a:ea typeface="Arial" pitchFamily="34" charset="-122"/>
                <a:cs typeface="Arial" pitchFamily="34" charset="-120"/>
              </a:rPr>
              <a:t>Look what you have. And what it was all for.</a:t>
            </a:r>
            <a:endParaRPr lang="en-US" sz="3000" dirty="0"/>
          </a:p>
        </p:txBody>
      </p:sp>
      <p:sp>
        <p:nvSpPr>
          <p:cNvPr id="6" name="Shape 3"/>
          <p:cNvSpPr/>
          <p:nvPr/>
        </p:nvSpPr>
        <p:spPr>
          <a:xfrm>
            <a:off x="640080" y="1600200"/>
            <a:ext cx="5257800" cy="2331720"/>
          </a:xfrm>
          <a:prstGeom prst="roundRect">
            <a:avLst>
              <a:gd name="adj" fmla="val 3922"/>
            </a:avLst>
          </a:prstGeom>
          <a:solidFill>
            <a:srgbClr val="2E2E2E"/>
          </a:solidFill>
          <a:ln w="12700">
            <a:solidFill>
              <a:srgbClr val="444444"/>
            </a:solidFill>
            <a:prstDash val="solid"/>
          </a:ln>
        </p:spPr>
        <p:txBody>
          <a:bodyPr/>
          <a:lstStyle/>
          <a:p>
            <a:endParaRPr lang="en-US"/>
          </a:p>
        </p:txBody>
      </p:sp>
      <p:sp>
        <p:nvSpPr>
          <p:cNvPr id="7" name="Shape 4"/>
          <p:cNvSpPr/>
          <p:nvPr/>
        </p:nvSpPr>
        <p:spPr>
          <a:xfrm>
            <a:off x="868680" y="1801368"/>
            <a:ext cx="146304" cy="146304"/>
          </a:xfrm>
          <a:prstGeom prst="ellipse">
            <a:avLst/>
          </a:prstGeom>
          <a:solidFill>
            <a:srgbClr val="D64550"/>
          </a:solidFill>
          <a:ln/>
        </p:spPr>
        <p:txBody>
          <a:bodyPr/>
          <a:lstStyle/>
          <a:p>
            <a:endParaRPr lang="en-US"/>
          </a:p>
        </p:txBody>
      </p:sp>
      <p:sp>
        <p:nvSpPr>
          <p:cNvPr id="8" name="Shape 5"/>
          <p:cNvSpPr/>
          <p:nvPr/>
        </p:nvSpPr>
        <p:spPr>
          <a:xfrm>
            <a:off x="1124712" y="1801368"/>
            <a:ext cx="146304" cy="146304"/>
          </a:xfrm>
          <a:prstGeom prst="ellipse">
            <a:avLst/>
          </a:prstGeom>
          <a:solidFill>
            <a:srgbClr val="ECB748"/>
          </a:solidFill>
          <a:ln/>
        </p:spPr>
        <p:txBody>
          <a:bodyPr/>
          <a:lstStyle/>
          <a:p>
            <a:endParaRPr lang="en-US"/>
          </a:p>
        </p:txBody>
      </p:sp>
      <p:sp>
        <p:nvSpPr>
          <p:cNvPr id="9" name="Shape 6"/>
          <p:cNvSpPr/>
          <p:nvPr/>
        </p:nvSpPr>
        <p:spPr>
          <a:xfrm>
            <a:off x="1380744" y="1801368"/>
            <a:ext cx="146304" cy="146304"/>
          </a:xfrm>
          <a:prstGeom prst="ellipse">
            <a:avLst/>
          </a:prstGeom>
          <a:solidFill>
            <a:srgbClr val="6B6B6B"/>
          </a:solidFill>
          <a:ln/>
        </p:spPr>
        <p:txBody>
          <a:bodyPr/>
          <a:lstStyle/>
          <a:p>
            <a:endParaRPr lang="en-US"/>
          </a:p>
        </p:txBody>
      </p:sp>
      <p:sp>
        <p:nvSpPr>
          <p:cNvPr id="10" name="Text 7"/>
          <p:cNvSpPr/>
          <p:nvPr/>
        </p:nvSpPr>
        <p:spPr>
          <a:xfrm>
            <a:off x="178308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next week, the data arrives</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txBody>
          <a:bodyPr/>
          <a:lstStyle/>
          <a:p>
            <a:endParaRPr lang="en-US"/>
          </a:p>
        </p:txBody>
      </p:sp>
      <p:sp>
        <p:nvSpPr>
          <p:cNvPr id="12" name="Text 9"/>
          <p:cNvSpPr/>
          <p:nvPr/>
        </p:nvSpPr>
        <p:spPr>
          <a:xfrm>
            <a:off x="91440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as a rectangle:</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 thousands of rows,</a:t>
            </a: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 dozens of columns.</a:t>
            </a:r>
            <a:endParaRPr lang="en-US" sz="1300" dirty="0"/>
          </a:p>
        </p:txBody>
      </p:sp>
      <p:sp>
        <p:nvSpPr>
          <p:cNvPr id="15" name="Text 12"/>
          <p:cNvSpPr/>
          <p:nvPr/>
        </p:nvSpPr>
        <p:spPr>
          <a:xfrm>
            <a:off x="914400" y="3227832"/>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 you already know the pieces.</a:t>
            </a:r>
            <a:endParaRPr lang="en-US" sz="1300" dirty="0"/>
          </a:p>
        </p:txBody>
      </p:sp>
      <p:sp>
        <p:nvSpPr>
          <p:cNvPr id="16" name="Shape 13"/>
          <p:cNvSpPr/>
          <p:nvPr/>
        </p:nvSpPr>
        <p:spPr>
          <a:xfrm>
            <a:off x="6263640" y="1600200"/>
            <a:ext cx="5257800" cy="2331720"/>
          </a:xfrm>
          <a:prstGeom prst="roundRect">
            <a:avLst>
              <a:gd name="adj" fmla="val 3922"/>
            </a:avLst>
          </a:prstGeom>
          <a:solidFill>
            <a:srgbClr val="2E2E2E"/>
          </a:solidFill>
          <a:ln w="12700">
            <a:solidFill>
              <a:srgbClr val="444444"/>
            </a:solidFill>
            <a:prstDash val="solid"/>
          </a:ln>
        </p:spPr>
        <p:txBody>
          <a:bodyPr/>
          <a:lstStyle/>
          <a:p>
            <a:endParaRPr lang="en-US"/>
          </a:p>
        </p:txBody>
      </p:sp>
      <p:sp>
        <p:nvSpPr>
          <p:cNvPr id="17" name="Shape 14"/>
          <p:cNvSpPr/>
          <p:nvPr/>
        </p:nvSpPr>
        <p:spPr>
          <a:xfrm>
            <a:off x="6492240" y="1801368"/>
            <a:ext cx="146304" cy="146304"/>
          </a:xfrm>
          <a:prstGeom prst="ellipse">
            <a:avLst/>
          </a:prstGeom>
          <a:solidFill>
            <a:srgbClr val="D64550"/>
          </a:solidFill>
          <a:ln/>
        </p:spPr>
        <p:txBody>
          <a:bodyPr/>
          <a:lstStyle/>
          <a:p>
            <a:endParaRPr lang="en-US"/>
          </a:p>
        </p:txBody>
      </p:sp>
      <p:sp>
        <p:nvSpPr>
          <p:cNvPr id="18" name="Shape 15"/>
          <p:cNvSpPr/>
          <p:nvPr/>
        </p:nvSpPr>
        <p:spPr>
          <a:xfrm>
            <a:off x="6748272" y="1801368"/>
            <a:ext cx="146304" cy="146304"/>
          </a:xfrm>
          <a:prstGeom prst="ellipse">
            <a:avLst/>
          </a:prstGeom>
          <a:solidFill>
            <a:srgbClr val="ECB748"/>
          </a:solidFill>
          <a:ln/>
        </p:spPr>
        <p:txBody>
          <a:bodyPr/>
          <a:lstStyle/>
          <a:p>
            <a:endParaRPr lang="en-US"/>
          </a:p>
        </p:txBody>
      </p:sp>
      <p:sp>
        <p:nvSpPr>
          <p:cNvPr id="19" name="Shape 16"/>
          <p:cNvSpPr/>
          <p:nvPr/>
        </p:nvSpPr>
        <p:spPr>
          <a:xfrm>
            <a:off x="7004304" y="1801368"/>
            <a:ext cx="146304" cy="146304"/>
          </a:xfrm>
          <a:prstGeom prst="ellipse">
            <a:avLst/>
          </a:prstGeom>
          <a:solidFill>
            <a:srgbClr val="6B6B6B"/>
          </a:solidFill>
          <a:ln/>
        </p:spPr>
        <p:txBody>
          <a:bodyPr/>
          <a:lstStyle/>
          <a:p>
            <a:endParaRPr lang="en-US"/>
          </a:p>
        </p:txBody>
      </p:sp>
      <p:sp>
        <p:nvSpPr>
          <p:cNvPr id="20" name="Text 17"/>
          <p:cNvSpPr/>
          <p:nvPr/>
        </p:nvSpPr>
        <p:spPr>
          <a:xfrm>
            <a:off x="740664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six weeks of machinery</a:t>
            </a:r>
            <a:endParaRPr lang="en-US" sz="1050" dirty="0"/>
          </a:p>
        </p:txBody>
      </p:sp>
      <p:sp>
        <p:nvSpPr>
          <p:cNvPr id="21" name="Shape 18"/>
          <p:cNvSpPr/>
          <p:nvPr/>
        </p:nvSpPr>
        <p:spPr>
          <a:xfrm>
            <a:off x="6309360" y="2103120"/>
            <a:ext cx="5166360" cy="0"/>
          </a:xfrm>
          <a:prstGeom prst="line">
            <a:avLst/>
          </a:prstGeom>
          <a:noFill/>
          <a:ln w="12700">
            <a:solidFill>
              <a:srgbClr val="444444"/>
            </a:solidFill>
            <a:prstDash val="solid"/>
          </a:ln>
        </p:spPr>
        <p:txBody>
          <a:bodyPr/>
          <a:lstStyle/>
          <a:p>
            <a:endParaRPr lang="en-US"/>
          </a:p>
        </p:txBody>
      </p:sp>
      <p:sp>
        <p:nvSpPr>
          <p:cNvPr id="22" name="Text 19"/>
          <p:cNvSpPr/>
          <p:nvPr/>
        </p:nvSpPr>
        <p:spPr>
          <a:xfrm>
            <a:off x="6537960" y="2240280"/>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S1 decompose   S2 types</a:t>
            </a:r>
            <a:endParaRPr lang="en-US" sz="1300" dirty="0"/>
          </a:p>
        </p:txBody>
      </p:sp>
      <p:sp>
        <p:nvSpPr>
          <p:cNvPr id="23" name="Text 20"/>
          <p:cNvSpPr/>
          <p:nvPr/>
        </p:nvSpPr>
        <p:spPr>
          <a:xfrm>
            <a:off x="6537960" y="2569464"/>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S3 containers  S4 vectorisation</a:t>
            </a:r>
            <a:endParaRPr lang="en-US" sz="1300" dirty="0"/>
          </a:p>
        </p:txBody>
      </p:sp>
      <p:sp>
        <p:nvSpPr>
          <p:cNvPr id="24" name="Text 21"/>
          <p:cNvSpPr/>
          <p:nvPr/>
        </p:nvSpPr>
        <p:spPr>
          <a:xfrm>
            <a:off x="6537960" y="2898648"/>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S5 functions   S6 reproducibility</a:t>
            </a:r>
            <a:endParaRPr lang="en-US" sz="1300" dirty="0"/>
          </a:p>
        </p:txBody>
      </p:sp>
      <p:sp>
        <p:nvSpPr>
          <p:cNvPr id="25" name="Text 22"/>
          <p:cNvSpPr/>
          <p:nvPr/>
        </p:nvSpPr>
        <p:spPr>
          <a:xfrm>
            <a:off x="6537960" y="3227832"/>
            <a:ext cx="4709160" cy="329184"/>
          </a:xfrm>
          <a:prstGeom prst="rect">
            <a:avLst/>
          </a:prstGeom>
          <a:noFill/>
          <a:ln/>
        </p:spPr>
        <p:txBody>
          <a:bodyPr wrap="square" rtlCol="0" anchor="ctr"/>
          <a:lstStyle/>
          <a:p>
            <a:pPr marL="0" indent="0">
              <a:buNone/>
            </a:pPr>
            <a:r>
              <a:rPr lang="en-US" sz="1300" dirty="0">
                <a:solidFill>
                  <a:srgbClr val="FFFFFF"/>
                </a:solidFill>
                <a:latin typeface="Courier New" pitchFamily="34" charset="0"/>
                <a:ea typeface="Courier New" pitchFamily="34" charset="-122"/>
                <a:cs typeface="Courier New" pitchFamily="34" charset="-120"/>
              </a:rPr>
              <a:t>Unit 2 just makes them bigger.</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4160520"/>
          <a:ext cx="10881360" cy="2011680"/>
        </p:xfrm>
        <a:graphic>
          <a:graphicData uri="http://schemas.openxmlformats.org/drawingml/2006/table">
            <a:tbl>
              <a:tblPr/>
              <a:tblGrid>
                <a:gridCol w="4352544">
                  <a:extLst>
                    <a:ext uri="{9D8B030D-6E8A-4147-A177-3AD203B41FA5}">
                      <a16:colId xmlns:a16="http://schemas.microsoft.com/office/drawing/2014/main" val="20000"/>
                    </a:ext>
                  </a:extLst>
                </a:gridCol>
                <a:gridCol w="3264408">
                  <a:extLst>
                    <a:ext uri="{9D8B030D-6E8A-4147-A177-3AD203B41FA5}">
                      <a16:colId xmlns:a16="http://schemas.microsoft.com/office/drawing/2014/main" val="20001"/>
                    </a:ext>
                  </a:extLst>
                </a:gridCol>
                <a:gridCol w="3264408">
                  <a:extLst>
                    <a:ext uri="{9D8B030D-6E8A-4147-A177-3AD203B41FA5}">
                      <a16:colId xmlns:a16="http://schemas.microsoft.com/office/drawing/2014/main" val="20002"/>
                    </a:ext>
                  </a:extLst>
                </a:gridCol>
              </a:tblGrid>
              <a:tr h="365760">
                <a:tc>
                  <a:txBody>
                    <a:bodyPr/>
                    <a:lstStyle/>
                    <a:p>
                      <a:pPr marL="0" indent="0" algn="l">
                        <a:buNone/>
                      </a:pPr>
                      <a:r>
                        <a:rPr lang="en-US" sz="1300" b="1" dirty="0">
                          <a:solidFill>
                            <a:srgbClr val="FFFFFF"/>
                          </a:solidFill>
                          <a:latin typeface="Arial" pitchFamily="34" charset="0"/>
                          <a:ea typeface="Arial" pitchFamily="34" charset="-122"/>
                          <a:cs typeface="Arial" pitchFamily="34" charset="-120"/>
                        </a:rPr>
                        <a:t>In Unit 2 you will meet</a:t>
                      </a:r>
                      <a:endParaRPr lang="en-US" sz="13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300" b="1" dirty="0">
                          <a:solidFill>
                            <a:srgbClr val="FFFFFF"/>
                          </a:solidFill>
                          <a:latin typeface="Arial" pitchFamily="34" charset="0"/>
                          <a:ea typeface="Arial" pitchFamily="34" charset="-122"/>
                          <a:cs typeface="Arial" pitchFamily="34" charset="-120"/>
                        </a:rPr>
                        <a:t>Which is really</a:t>
                      </a:r>
                      <a:endParaRPr lang="en-US" sz="13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tc>
                  <a:txBody>
                    <a:bodyPr/>
                    <a:lstStyle/>
                    <a:p>
                      <a:pPr marL="0" indent="0" algn="l">
                        <a:buNone/>
                      </a:pPr>
                      <a:r>
                        <a:rPr lang="en-US" sz="1300" b="1" dirty="0">
                          <a:solidFill>
                            <a:srgbClr val="FFFFFF"/>
                          </a:solidFill>
                          <a:latin typeface="Arial" pitchFamily="34" charset="0"/>
                          <a:ea typeface="Arial" pitchFamily="34" charset="-122"/>
                          <a:cs typeface="Arial" pitchFamily="34" charset="-120"/>
                        </a:rPr>
                        <a:t>From</a:t>
                      </a:r>
                      <a:endParaRPr lang="en-US" sz="13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1C1C1C"/>
                    </a:solidFill>
                  </a:tcPr>
                </a:tc>
                <a:extLst>
                  <a:ext uri="{0D108BD9-81ED-4DB2-BD59-A6C34878D82A}">
                    <a16:rowId xmlns:a16="http://schemas.microsoft.com/office/drawing/2014/main" val="10000"/>
                  </a:ext>
                </a:extLst>
              </a:tr>
              <a:tr h="411480">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A dataframe column</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C1C1C"/>
                          </a:solidFill>
                          <a:latin typeface="Arial" pitchFamily="34" charset="0"/>
                          <a:ea typeface="Arial" pitchFamily="34" charset="-122"/>
                          <a:cs typeface="Arial" pitchFamily="34" charset="-120"/>
                        </a:rPr>
                        <a:t>a vector</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C1C1C"/>
                          </a:solidFill>
                          <a:latin typeface="Arial" pitchFamily="34" charset="0"/>
                          <a:ea typeface="Arial" pitchFamily="34" charset="-122"/>
                          <a:cs typeface="Arial" pitchFamily="34" charset="-120"/>
                        </a:rPr>
                        <a:t>Session 3</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Filtering rows</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200" b="1" dirty="0">
                          <a:solidFill>
                            <a:srgbClr val="1C1C1C"/>
                          </a:solidFill>
                          <a:latin typeface="Arial" pitchFamily="34" charset="0"/>
                          <a:ea typeface="Arial" pitchFamily="34" charset="-122"/>
                          <a:cs typeface="Arial" pitchFamily="34" charset="-120"/>
                        </a:rPr>
                        <a:t>a boolean mask</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200" b="1" dirty="0">
                          <a:solidFill>
                            <a:srgbClr val="1C1C1C"/>
                          </a:solidFill>
                          <a:latin typeface="Arial" pitchFamily="34" charset="0"/>
                          <a:ea typeface="Arial" pitchFamily="34" charset="-122"/>
                          <a:cs typeface="Arial" pitchFamily="34" charset="-120"/>
                        </a:rPr>
                        <a:t>Session 3</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extLst>
                  <a:ext uri="{0D108BD9-81ED-4DB2-BD59-A6C34878D82A}">
                    <a16:rowId xmlns:a16="http://schemas.microsoft.com/office/drawing/2014/main" val="10002"/>
                  </a:ext>
                </a:extLst>
              </a:tr>
              <a:tr h="411480">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mutate() / assign()</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C1C1C"/>
                          </a:solidFill>
                          <a:latin typeface="Arial" pitchFamily="34" charset="0"/>
                          <a:ea typeface="Arial" pitchFamily="34" charset="-122"/>
                          <a:cs typeface="Arial" pitchFamily="34" charset="-120"/>
                        </a:rPr>
                        <a:t>vectorisation</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1C1C1C"/>
                          </a:solidFill>
                          <a:latin typeface="Arial" pitchFamily="34" charset="0"/>
                          <a:ea typeface="Arial" pitchFamily="34" charset="-122"/>
                          <a:cs typeface="Arial" pitchFamily="34" charset="-120"/>
                        </a:rPr>
                        <a:t>Session 4</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200" dirty="0">
                          <a:solidFill>
                            <a:srgbClr val="595959"/>
                          </a:solidFill>
                          <a:latin typeface="Arial" pitchFamily="34" charset="0"/>
                          <a:ea typeface="Arial" pitchFamily="34" charset="-122"/>
                          <a:cs typeface="Arial" pitchFamily="34" charset="-120"/>
                        </a:rPr>
                        <a:t>A single row</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200" b="1" dirty="0">
                          <a:solidFill>
                            <a:srgbClr val="1C1C1C"/>
                          </a:solidFill>
                          <a:latin typeface="Arial" pitchFamily="34" charset="0"/>
                          <a:ea typeface="Arial" pitchFamily="34" charset="-122"/>
                          <a:cs typeface="Arial" pitchFamily="34" charset="-120"/>
                        </a:rPr>
                        <a:t>a dict</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tc>
                  <a:txBody>
                    <a:bodyPr/>
                    <a:lstStyle/>
                    <a:p>
                      <a:pPr marL="0" indent="0" algn="l">
                        <a:buNone/>
                      </a:pPr>
                      <a:r>
                        <a:rPr lang="en-US" sz="1200" b="1" dirty="0">
                          <a:solidFill>
                            <a:srgbClr val="1C1C1C"/>
                          </a:solidFill>
                          <a:latin typeface="Arial" pitchFamily="34" charset="0"/>
                          <a:ea typeface="Arial" pitchFamily="34" charset="-122"/>
                          <a:cs typeface="Arial" pitchFamily="34" charset="-120"/>
                        </a:rPr>
                        <a:t>Session 3</a:t>
                      </a:r>
                      <a:endParaRPr lang="en-US" sz="1200" dirty="0">
                        <a:latin typeface="Arial" charset="0"/>
                        <a:ea typeface="Arial" charset="0"/>
                        <a:cs typeface="Arial" charset="0"/>
                      </a:endParaRPr>
                    </a:p>
                  </a:txBody>
                  <a:tcPr anchor="ctr">
                    <a:lnL w="12700" cap="flat" cmpd="sng" algn="ctr">
                      <a:solidFill>
                        <a:srgbClr val="E3E3E3"/>
                      </a:solidFill>
                      <a:prstDash val="solid"/>
                      <a:round/>
                      <a:headEnd type="none" w="med" len="med"/>
                      <a:tailEnd type="none" w="med" len="med"/>
                    </a:lnL>
                    <a:lnR w="12700" cap="flat" cmpd="sng" algn="ctr">
                      <a:solidFill>
                        <a:srgbClr val="E3E3E3"/>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rgbClr val="F5F3EF"/>
                    </a:solidFill>
                  </a:tcPr>
                </a:tc>
                <a:extLst>
                  <a:ext uri="{0D108BD9-81ED-4DB2-BD59-A6C34878D82A}">
                    <a16:rowId xmlns:a16="http://schemas.microsoft.com/office/drawing/2014/main" val="10004"/>
                  </a:ext>
                </a:extLst>
              </a:tr>
            </a:tbl>
          </a:graphicData>
        </a:graphic>
      </p:graphicFrame>
      <p:sp>
        <p:nvSpPr>
          <p:cNvPr id="27" name="Text 23"/>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3"/>
          <a:stretch>
            <a:fillRect/>
          </a:stretch>
        </p:blipFill>
        <p:spPr>
          <a:xfrm>
            <a:off x="11231575" y="365760"/>
            <a:ext cx="457200" cy="327660"/>
          </a:xfrm>
          <a:prstGeom prst="rect">
            <a:avLst/>
          </a:prstGeom>
        </p:spPr>
      </p:pic>
      <p:sp>
        <p:nvSpPr>
          <p:cNvPr id="3" name="Shape 0"/>
          <p:cNvSpPr/>
          <p:nvPr/>
        </p:nvSpPr>
        <p:spPr>
          <a:xfrm>
            <a:off x="640080" y="502920"/>
            <a:ext cx="2057400"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502920"/>
            <a:ext cx="2057400"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36–55 MIN  ·  PROBLEM SET</a:t>
            </a:r>
            <a:endParaRPr lang="en-US" sz="1100" dirty="0"/>
          </a:p>
        </p:txBody>
      </p:sp>
      <p:sp>
        <p:nvSpPr>
          <p:cNvPr id="5" name="Text 2"/>
          <p:cNvSpPr/>
          <p:nvPr/>
        </p:nvSpPr>
        <p:spPr>
          <a:xfrm>
            <a:off x="640080" y="868680"/>
            <a:ext cx="9144000" cy="640080"/>
          </a:xfrm>
          <a:prstGeom prst="rect">
            <a:avLst/>
          </a:prstGeom>
          <a:noFill/>
          <a:ln/>
        </p:spPr>
        <p:txBody>
          <a:bodyPr wrap="square" rtlCol="0" anchor="ctr"/>
          <a:lstStyle/>
          <a:p>
            <a:pPr marL="0" indent="0">
              <a:buNone/>
            </a:pPr>
            <a:r>
              <a:rPr lang="en-US" sz="3200" b="1" dirty="0">
                <a:solidFill>
                  <a:srgbClr val="1C1C1C"/>
                </a:solidFill>
                <a:latin typeface="Arial" pitchFamily="34" charset="0"/>
                <a:ea typeface="Arial" pitchFamily="34" charset="-122"/>
                <a:cs typeface="Arial" pitchFamily="34" charset="-120"/>
              </a:rPr>
              <a:t>Your problem set, and the milestone</a:t>
            </a:r>
            <a:endParaRPr lang="en-US" sz="3200" dirty="0"/>
          </a:p>
        </p:txBody>
      </p:sp>
      <p:sp>
        <p:nvSpPr>
          <p:cNvPr id="6" name="Text 3"/>
          <p:cNvSpPr/>
          <p:nvPr/>
        </p:nvSpPr>
        <p:spPr>
          <a:xfrm>
            <a:off x="640080" y="1783080"/>
            <a:ext cx="6309360" cy="914400"/>
          </a:xfrm>
          <a:prstGeom prst="rect">
            <a:avLst/>
          </a:prstGeom>
          <a:noFill/>
          <a:ln/>
        </p:spPr>
        <p:txBody>
          <a:bodyPr wrap="square" rtlCol="0" anchor="ctr"/>
          <a:lstStyle/>
          <a:p>
            <a:pPr marL="0" indent="0">
              <a:lnSpc>
                <a:spcPct val="125000"/>
              </a:lnSpc>
              <a:buNone/>
            </a:pPr>
            <a:r>
              <a:rPr lang="en-US" sz="1600" b="1" dirty="0">
                <a:solidFill>
                  <a:srgbClr val="1C1C1C"/>
                </a:solidFill>
                <a:latin typeface="Arial" pitchFamily="34" charset="0"/>
                <a:ea typeface="Arial" pitchFamily="34" charset="-122"/>
                <a:cs typeface="Arial" pitchFamily="34" charset="-120"/>
              </a:rPr>
              <a:t>Problem Set 06 — seven problems, about 20–25 minutes. Relative paths, the four commands in order, break-and-undo, commit messages, .gitignore, and when to commit before an AI edit.</a:t>
            </a:r>
            <a:endParaRPr lang="en-US" sz="1600" dirty="0"/>
          </a:p>
        </p:txBody>
      </p:sp>
      <p:sp>
        <p:nvSpPr>
          <p:cNvPr id="7" name="Text 4"/>
          <p:cNvSpPr/>
          <p:nvPr/>
        </p:nvSpPr>
        <p:spPr>
          <a:xfrm>
            <a:off x="640080" y="2743200"/>
            <a:ext cx="6309360" cy="1554480"/>
          </a:xfrm>
          <a:prstGeom prst="rect">
            <a:avLst/>
          </a:prstGeom>
          <a:noFill/>
          <a:ln/>
        </p:spPr>
        <p:txBody>
          <a:bodyPr wrap="square" rtlCol="0" anchor="ctr"/>
          <a:lstStyle/>
          <a:p>
            <a:pPr marL="0" indent="0">
              <a:lnSpc>
                <a:spcPct val="125000"/>
              </a:lnSpc>
              <a:buNone/>
            </a:pPr>
            <a:r>
              <a:rPr lang="en-US" sz="1600" dirty="0">
                <a:solidFill>
                  <a:srgbClr val="1C1C1C"/>
                </a:solidFill>
                <a:latin typeface="Arial" pitchFamily="34" charset="0"/>
                <a:ea typeface="Arial" pitchFamily="34" charset="-122"/>
                <a:cs typeface="Arial" pitchFamily="34" charset="-120"/>
              </a:rPr>
              <a:t>If Git is installed, problems 2 and 3 are worth actually doing in a throwaway folder rather than just discussing.</a:t>
            </a:r>
            <a:endParaRPr lang="en-US" sz="1600" dirty="0"/>
          </a:p>
        </p:txBody>
      </p:sp>
      <p:sp>
        <p:nvSpPr>
          <p:cNvPr id="15" name="Text 12"/>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 0" descr="/private/tmp/claude-503/-Users-boryczjd-claude-vanderbilt-database-assistant--claude-worktrees-publishing-citation-data-uses-8ba05f/250e4720-0954-4187-8930-09caab2cbef2/scratchpad/slides_build/vu_mark_gold.png"/>
          <p:cNvPicPr>
            <a:picLocks noChangeAspect="1"/>
          </p:cNvPicPr>
          <p:nvPr/>
        </p:nvPicPr>
        <p:blipFill>
          <a:blip r:embed="rId2"/>
          <a:stretch>
            <a:fillRect/>
          </a:stretch>
        </p:blipFill>
        <p:spPr>
          <a:xfrm>
            <a:off x="11231575" y="365760"/>
            <a:ext cx="457200" cy="327660"/>
          </a:xfrm>
          <a:prstGeom prst="rect">
            <a:avLst/>
          </a:prstGeom>
        </p:spPr>
      </p:pic>
      <p:sp>
        <p:nvSpPr>
          <p:cNvPr id="3" name="Shape 0"/>
          <p:cNvSpPr/>
          <p:nvPr/>
        </p:nvSpPr>
        <p:spPr>
          <a:xfrm>
            <a:off x="640080" y="457200"/>
            <a:ext cx="2243937" cy="292608"/>
          </a:xfrm>
          <a:prstGeom prst="roundRect">
            <a:avLst>
              <a:gd name="adj" fmla="val 50000"/>
            </a:avLst>
          </a:prstGeom>
          <a:solidFill>
            <a:srgbClr val="ECB748"/>
          </a:solidFill>
          <a:ln/>
        </p:spPr>
        <p:txBody>
          <a:bodyPr/>
          <a:lstStyle/>
          <a:p>
            <a:endParaRPr lang="en-US"/>
          </a:p>
        </p:txBody>
      </p:sp>
      <p:sp>
        <p:nvSpPr>
          <p:cNvPr id="4" name="Text 1"/>
          <p:cNvSpPr/>
          <p:nvPr/>
        </p:nvSpPr>
        <p:spPr>
          <a:xfrm>
            <a:off x="640080" y="457200"/>
            <a:ext cx="2243937" cy="292608"/>
          </a:xfrm>
          <a:prstGeom prst="rect">
            <a:avLst/>
          </a:prstGeom>
          <a:noFill/>
          <a:ln/>
        </p:spPr>
        <p:txBody>
          <a:bodyPr wrap="square" rtlCol="0" anchor="ctr"/>
          <a:lstStyle/>
          <a:p>
            <a:pPr marL="0" indent="0" algn="ctr">
              <a:buNone/>
            </a:pPr>
            <a:r>
              <a:rPr lang="en-US" sz="1100" b="1" kern="0" spc="100" dirty="0">
                <a:solidFill>
                  <a:srgbClr val="1C1C1C"/>
                </a:solidFill>
                <a:latin typeface="Arial" pitchFamily="34" charset="0"/>
                <a:ea typeface="Arial" pitchFamily="34" charset="-122"/>
                <a:cs typeface="Arial" pitchFamily="34" charset="-120"/>
              </a:rPr>
              <a:t>SEGMENT 2  ·  WRITING OUTPUT</a:t>
            </a:r>
            <a:endParaRPr lang="en-US" sz="1100" dirty="0"/>
          </a:p>
        </p:txBody>
      </p:sp>
      <p:sp>
        <p:nvSpPr>
          <p:cNvPr id="5" name="Text 2"/>
          <p:cNvSpPr/>
          <p:nvPr/>
        </p:nvSpPr>
        <p:spPr>
          <a:xfrm>
            <a:off x="640080" y="822960"/>
            <a:ext cx="9144000" cy="594360"/>
          </a:xfrm>
          <a:prstGeom prst="rect">
            <a:avLst/>
          </a:prstGeom>
          <a:noFill/>
          <a:ln/>
        </p:spPr>
        <p:txBody>
          <a:bodyPr wrap="square" rtlCol="0" anchor="ctr"/>
          <a:lstStyle/>
          <a:p>
            <a:pPr marL="0" indent="0">
              <a:buNone/>
            </a:pPr>
            <a:r>
              <a:rPr lang="en-US" sz="3000" b="1" dirty="0">
                <a:solidFill>
                  <a:srgbClr val="1C1C1C"/>
                </a:solidFill>
                <a:latin typeface="Arial" pitchFamily="34" charset="0"/>
                <a:ea typeface="Arial" pitchFamily="34" charset="-122"/>
                <a:cs typeface="Arial" pitchFamily="34" charset="-120"/>
              </a:rPr>
              <a:t>Writing output back out to a file</a:t>
            </a:r>
            <a:endParaRPr lang="en-US" sz="3000" dirty="0"/>
          </a:p>
        </p:txBody>
      </p:sp>
      <p:sp>
        <p:nvSpPr>
          <p:cNvPr id="6" name="Shape 3"/>
          <p:cNvSpPr/>
          <p:nvPr/>
        </p:nvSpPr>
        <p:spPr>
          <a:xfrm>
            <a:off x="640080" y="1600200"/>
            <a:ext cx="5257800" cy="1737360"/>
          </a:xfrm>
          <a:prstGeom prst="roundRect">
            <a:avLst>
              <a:gd name="adj" fmla="val 5263"/>
            </a:avLst>
          </a:prstGeom>
          <a:solidFill>
            <a:srgbClr val="2E2E2E"/>
          </a:solidFill>
          <a:ln w="12700">
            <a:solidFill>
              <a:srgbClr val="444444"/>
            </a:solidFill>
            <a:prstDash val="solid"/>
          </a:ln>
        </p:spPr>
        <p:txBody>
          <a:bodyPr/>
          <a:lstStyle/>
          <a:p>
            <a:endParaRPr lang="en-US"/>
          </a:p>
        </p:txBody>
      </p:sp>
      <p:sp>
        <p:nvSpPr>
          <p:cNvPr id="7" name="Shape 4"/>
          <p:cNvSpPr/>
          <p:nvPr/>
        </p:nvSpPr>
        <p:spPr>
          <a:xfrm>
            <a:off x="868680" y="1801368"/>
            <a:ext cx="146304" cy="146304"/>
          </a:xfrm>
          <a:prstGeom prst="ellipse">
            <a:avLst/>
          </a:prstGeom>
          <a:solidFill>
            <a:srgbClr val="D64550"/>
          </a:solidFill>
          <a:ln/>
        </p:spPr>
        <p:txBody>
          <a:bodyPr/>
          <a:lstStyle/>
          <a:p>
            <a:endParaRPr lang="en-US"/>
          </a:p>
        </p:txBody>
      </p:sp>
      <p:sp>
        <p:nvSpPr>
          <p:cNvPr id="8" name="Shape 5"/>
          <p:cNvSpPr/>
          <p:nvPr/>
        </p:nvSpPr>
        <p:spPr>
          <a:xfrm>
            <a:off x="1124712" y="1801368"/>
            <a:ext cx="146304" cy="146304"/>
          </a:xfrm>
          <a:prstGeom prst="ellipse">
            <a:avLst/>
          </a:prstGeom>
          <a:solidFill>
            <a:srgbClr val="ECB748"/>
          </a:solidFill>
          <a:ln/>
        </p:spPr>
        <p:txBody>
          <a:bodyPr/>
          <a:lstStyle/>
          <a:p>
            <a:endParaRPr lang="en-US"/>
          </a:p>
        </p:txBody>
      </p:sp>
      <p:sp>
        <p:nvSpPr>
          <p:cNvPr id="9" name="Shape 6"/>
          <p:cNvSpPr/>
          <p:nvPr/>
        </p:nvSpPr>
        <p:spPr>
          <a:xfrm>
            <a:off x="1380744" y="1801368"/>
            <a:ext cx="146304" cy="146304"/>
          </a:xfrm>
          <a:prstGeom prst="ellipse">
            <a:avLst/>
          </a:prstGeom>
          <a:solidFill>
            <a:srgbClr val="6B6B6B"/>
          </a:solidFill>
          <a:ln/>
        </p:spPr>
        <p:txBody>
          <a:bodyPr/>
          <a:lstStyle/>
          <a:p>
            <a:endParaRPr lang="en-US"/>
          </a:p>
        </p:txBody>
      </p:sp>
      <p:sp>
        <p:nvSpPr>
          <p:cNvPr id="10" name="Text 7"/>
          <p:cNvSpPr/>
          <p:nvPr/>
        </p:nvSpPr>
        <p:spPr>
          <a:xfrm>
            <a:off x="178308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save.py</a:t>
            </a:r>
            <a:endParaRPr lang="en-US" sz="1050" dirty="0"/>
          </a:p>
        </p:txBody>
      </p:sp>
      <p:sp>
        <p:nvSpPr>
          <p:cNvPr id="11" name="Shape 8"/>
          <p:cNvSpPr/>
          <p:nvPr/>
        </p:nvSpPr>
        <p:spPr>
          <a:xfrm>
            <a:off x="685800" y="2103120"/>
            <a:ext cx="5166360" cy="0"/>
          </a:xfrm>
          <a:prstGeom prst="line">
            <a:avLst/>
          </a:prstGeom>
          <a:noFill/>
          <a:ln w="12700">
            <a:solidFill>
              <a:srgbClr val="444444"/>
            </a:solidFill>
            <a:prstDash val="solid"/>
          </a:ln>
        </p:spPr>
        <p:txBody>
          <a:bodyPr/>
          <a:lstStyle/>
          <a:p>
            <a:endParaRPr lang="en-US"/>
          </a:p>
        </p:txBody>
      </p:sp>
      <p:sp>
        <p:nvSpPr>
          <p:cNvPr id="12" name="Text 9"/>
          <p:cNvSpPr/>
          <p:nvPr/>
        </p:nvSpPr>
        <p:spPr>
          <a:xfrm>
            <a:off x="914400" y="2240280"/>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df.to_csv("data/processed/clean.csv",</a:t>
            </a:r>
            <a:endParaRPr lang="en-US" sz="1300" dirty="0"/>
          </a:p>
        </p:txBody>
      </p:sp>
      <p:sp>
        <p:nvSpPr>
          <p:cNvPr id="13" name="Text 10"/>
          <p:cNvSpPr/>
          <p:nvPr/>
        </p:nvSpPr>
        <p:spPr>
          <a:xfrm>
            <a:off x="914400" y="2569464"/>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          index=False)</a:t>
            </a:r>
            <a:endParaRPr lang="en-US" sz="1300" dirty="0"/>
          </a:p>
        </p:txBody>
      </p:sp>
      <p:sp>
        <p:nvSpPr>
          <p:cNvPr id="14" name="Text 11"/>
          <p:cNvSpPr/>
          <p:nvPr/>
        </p:nvSpPr>
        <p:spPr>
          <a:xfrm>
            <a:off x="914400" y="2898648"/>
            <a:ext cx="4709160" cy="329184"/>
          </a:xfrm>
          <a:prstGeom prst="rect">
            <a:avLst/>
          </a:prstGeom>
          <a:noFill/>
          <a:ln/>
        </p:spPr>
        <p:txBody>
          <a:bodyPr wrap="square" rtlCol="0" anchor="ctr"/>
          <a:lstStyle/>
          <a:p>
            <a:pPr marL="0" indent="0">
              <a:buNone/>
            </a:pPr>
            <a:r>
              <a:rPr lang="en-US" sz="1300" dirty="0">
                <a:solidFill>
                  <a:srgbClr val="ECB748"/>
                </a:solidFill>
                <a:latin typeface="Courier New" pitchFamily="34" charset="0"/>
                <a:ea typeface="Courier New" pitchFamily="34" charset="-122"/>
                <a:cs typeface="Courier New" pitchFamily="34" charset="-120"/>
              </a:rPr>
              <a:t>fig.savefig("figures/bp_hist.png", dpi=300)</a:t>
            </a:r>
            <a:endParaRPr lang="en-US" sz="1300" dirty="0"/>
          </a:p>
        </p:txBody>
      </p:sp>
      <p:sp>
        <p:nvSpPr>
          <p:cNvPr id="15" name="Shape 12"/>
          <p:cNvSpPr/>
          <p:nvPr/>
        </p:nvSpPr>
        <p:spPr>
          <a:xfrm>
            <a:off x="6263640" y="1600200"/>
            <a:ext cx="5257800" cy="1737360"/>
          </a:xfrm>
          <a:prstGeom prst="roundRect">
            <a:avLst>
              <a:gd name="adj" fmla="val 5263"/>
            </a:avLst>
          </a:prstGeom>
          <a:solidFill>
            <a:srgbClr val="2E2E2E"/>
          </a:solidFill>
          <a:ln w="12700">
            <a:solidFill>
              <a:srgbClr val="444444"/>
            </a:solidFill>
            <a:prstDash val="solid"/>
          </a:ln>
        </p:spPr>
        <p:txBody>
          <a:bodyPr/>
          <a:lstStyle/>
          <a:p>
            <a:endParaRPr lang="en-US"/>
          </a:p>
        </p:txBody>
      </p:sp>
      <p:sp>
        <p:nvSpPr>
          <p:cNvPr id="16" name="Shape 13"/>
          <p:cNvSpPr/>
          <p:nvPr/>
        </p:nvSpPr>
        <p:spPr>
          <a:xfrm>
            <a:off x="6492240" y="1801368"/>
            <a:ext cx="146304" cy="146304"/>
          </a:xfrm>
          <a:prstGeom prst="ellipse">
            <a:avLst/>
          </a:prstGeom>
          <a:solidFill>
            <a:srgbClr val="D64550"/>
          </a:solidFill>
          <a:ln/>
        </p:spPr>
        <p:txBody>
          <a:bodyPr/>
          <a:lstStyle/>
          <a:p>
            <a:endParaRPr lang="en-US"/>
          </a:p>
        </p:txBody>
      </p:sp>
      <p:sp>
        <p:nvSpPr>
          <p:cNvPr id="17" name="Shape 14"/>
          <p:cNvSpPr/>
          <p:nvPr/>
        </p:nvSpPr>
        <p:spPr>
          <a:xfrm>
            <a:off x="6748272" y="1801368"/>
            <a:ext cx="146304" cy="146304"/>
          </a:xfrm>
          <a:prstGeom prst="ellipse">
            <a:avLst/>
          </a:prstGeom>
          <a:solidFill>
            <a:srgbClr val="ECB748"/>
          </a:solidFill>
          <a:ln/>
        </p:spPr>
        <p:txBody>
          <a:bodyPr/>
          <a:lstStyle/>
          <a:p>
            <a:endParaRPr lang="en-US"/>
          </a:p>
        </p:txBody>
      </p:sp>
      <p:sp>
        <p:nvSpPr>
          <p:cNvPr id="18" name="Shape 15"/>
          <p:cNvSpPr/>
          <p:nvPr/>
        </p:nvSpPr>
        <p:spPr>
          <a:xfrm>
            <a:off x="7004304" y="1801368"/>
            <a:ext cx="146304" cy="146304"/>
          </a:xfrm>
          <a:prstGeom prst="ellipse">
            <a:avLst/>
          </a:prstGeom>
          <a:solidFill>
            <a:srgbClr val="6B6B6B"/>
          </a:solidFill>
          <a:ln/>
        </p:spPr>
        <p:txBody>
          <a:bodyPr/>
          <a:lstStyle/>
          <a:p>
            <a:endParaRPr lang="en-US"/>
          </a:p>
        </p:txBody>
      </p:sp>
      <p:sp>
        <p:nvSpPr>
          <p:cNvPr id="19" name="Text 16"/>
          <p:cNvSpPr/>
          <p:nvPr/>
        </p:nvSpPr>
        <p:spPr>
          <a:xfrm>
            <a:off x="7406640" y="1746504"/>
            <a:ext cx="3977640" cy="256032"/>
          </a:xfrm>
          <a:prstGeom prst="rect">
            <a:avLst/>
          </a:prstGeom>
          <a:noFill/>
          <a:ln/>
        </p:spPr>
        <p:txBody>
          <a:bodyPr wrap="square" rtlCol="0" anchor="ctr"/>
          <a:lstStyle/>
          <a:p>
            <a:pPr marL="0" indent="0">
              <a:buNone/>
            </a:pPr>
            <a:r>
              <a:rPr lang="en-US" sz="1050" dirty="0">
                <a:solidFill>
                  <a:srgbClr val="9B9690"/>
                </a:solidFill>
                <a:latin typeface="Courier New" pitchFamily="34" charset="0"/>
                <a:ea typeface="Courier New" pitchFamily="34" charset="-122"/>
                <a:cs typeface="Courier New" pitchFamily="34" charset="-120"/>
              </a:rPr>
              <a:t>save.R</a:t>
            </a:r>
            <a:endParaRPr lang="en-US" sz="1050" dirty="0"/>
          </a:p>
        </p:txBody>
      </p:sp>
      <p:sp>
        <p:nvSpPr>
          <p:cNvPr id="20" name="Shape 17"/>
          <p:cNvSpPr/>
          <p:nvPr/>
        </p:nvSpPr>
        <p:spPr>
          <a:xfrm>
            <a:off x="6309360" y="2103120"/>
            <a:ext cx="5166360" cy="0"/>
          </a:xfrm>
          <a:prstGeom prst="line">
            <a:avLst/>
          </a:prstGeom>
          <a:noFill/>
          <a:ln w="12700">
            <a:solidFill>
              <a:srgbClr val="444444"/>
            </a:solidFill>
            <a:prstDash val="solid"/>
          </a:ln>
        </p:spPr>
        <p:txBody>
          <a:bodyPr/>
          <a:lstStyle/>
          <a:p>
            <a:endParaRPr lang="en-US"/>
          </a:p>
        </p:txBody>
      </p:sp>
      <p:sp>
        <p:nvSpPr>
          <p:cNvPr id="21" name="Text 18"/>
          <p:cNvSpPr/>
          <p:nvPr/>
        </p:nvSpPr>
        <p:spPr>
          <a:xfrm>
            <a:off x="6537960" y="2240280"/>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write_csv(df,</a:t>
            </a:r>
            <a:endParaRPr lang="en-US" sz="1300" dirty="0"/>
          </a:p>
        </p:txBody>
      </p:sp>
      <p:sp>
        <p:nvSpPr>
          <p:cNvPr id="22" name="Text 19"/>
          <p:cNvSpPr/>
          <p:nvPr/>
        </p:nvSpPr>
        <p:spPr>
          <a:xfrm>
            <a:off x="6537960" y="2569464"/>
            <a:ext cx="4709160" cy="329184"/>
          </a:xfrm>
          <a:prstGeom prst="rect">
            <a:avLst/>
          </a:prstGeom>
          <a:noFill/>
          <a:ln/>
        </p:spPr>
        <p:txBody>
          <a:bodyPr wrap="square" rtlCol="0" anchor="ctr"/>
          <a:lstStyle/>
          <a:p>
            <a:pPr marL="0" indent="0">
              <a:buNone/>
            </a:pPr>
            <a:r>
              <a:rPr lang="en-US" sz="1300" dirty="0">
                <a:solidFill>
                  <a:srgbClr val="F5F3EF"/>
                </a:solidFill>
                <a:latin typeface="Courier New" pitchFamily="34" charset="0"/>
                <a:ea typeface="Courier New" pitchFamily="34" charset="-122"/>
                <a:cs typeface="Courier New" pitchFamily="34" charset="-120"/>
              </a:rPr>
              <a:t>          "data/processed/clean.csv")</a:t>
            </a:r>
            <a:endParaRPr lang="en-US" sz="1300" dirty="0"/>
          </a:p>
        </p:txBody>
      </p:sp>
      <p:sp>
        <p:nvSpPr>
          <p:cNvPr id="23" name="Text 20"/>
          <p:cNvSpPr/>
          <p:nvPr/>
        </p:nvSpPr>
        <p:spPr>
          <a:xfrm>
            <a:off x="6537960" y="2898648"/>
            <a:ext cx="4709160" cy="329184"/>
          </a:xfrm>
          <a:prstGeom prst="rect">
            <a:avLst/>
          </a:prstGeom>
          <a:noFill/>
          <a:ln/>
        </p:spPr>
        <p:txBody>
          <a:bodyPr wrap="square" rtlCol="0" anchor="ctr"/>
          <a:lstStyle/>
          <a:p>
            <a:pPr marL="0" indent="0">
              <a:buNone/>
            </a:pPr>
            <a:r>
              <a:rPr lang="en-US" sz="1300" dirty="0">
                <a:solidFill>
                  <a:srgbClr val="B3C9CD"/>
                </a:solidFill>
                <a:latin typeface="Courier New" pitchFamily="34" charset="0"/>
                <a:ea typeface="Courier New" pitchFamily="34" charset="-122"/>
                <a:cs typeface="Courier New" pitchFamily="34" charset="-120"/>
              </a:rPr>
              <a:t>ggsave("figures/bp_hist.png", dpi = 300)</a:t>
            </a:r>
            <a:endParaRPr lang="en-US" sz="1300" dirty="0"/>
          </a:p>
        </p:txBody>
      </p:sp>
      <p:sp>
        <p:nvSpPr>
          <p:cNvPr id="24" name="Text 21"/>
          <p:cNvSpPr/>
          <p:nvPr/>
        </p:nvSpPr>
        <p:spPr>
          <a:xfrm>
            <a:off x="640080" y="3566160"/>
            <a:ext cx="10881360" cy="411480"/>
          </a:xfrm>
          <a:prstGeom prst="rect">
            <a:avLst/>
          </a:prstGeom>
          <a:noFill/>
          <a:ln/>
        </p:spPr>
        <p:txBody>
          <a:bodyPr wrap="square" rtlCol="0" anchor="ctr"/>
          <a:lstStyle/>
          <a:p>
            <a:pPr marL="0" indent="0">
              <a:buNone/>
            </a:pPr>
            <a:r>
              <a:rPr lang="en-US" sz="1400" b="1" dirty="0">
                <a:solidFill>
                  <a:srgbClr val="1C1C1C"/>
                </a:solidFill>
                <a:latin typeface="Arial" pitchFamily="34" charset="0"/>
                <a:ea typeface="Arial" pitchFamily="34" charset="-122"/>
                <a:cs typeface="Arial" pitchFamily="34" charset="-120"/>
              </a:rPr>
              <a:t>1. index=False is not optional in pandas.  Leave it out and you write an extra unnamed column of row numbers — which comes back as a mystery column the next time you read the file.</a:t>
            </a:r>
            <a:endParaRPr lang="en-US" sz="1400" dirty="0"/>
          </a:p>
        </p:txBody>
      </p:sp>
      <p:sp>
        <p:nvSpPr>
          <p:cNvPr id="25" name="Text 22"/>
          <p:cNvSpPr/>
          <p:nvPr/>
        </p:nvSpPr>
        <p:spPr>
          <a:xfrm>
            <a:off x="640080" y="4023360"/>
            <a:ext cx="10881360" cy="411480"/>
          </a:xfrm>
          <a:prstGeom prst="rect">
            <a:avLst/>
          </a:prstGeom>
          <a:noFill/>
          <a:ln/>
        </p:spPr>
        <p:txBody>
          <a:bodyPr wrap="square" rtlCol="0" anchor="ctr"/>
          <a:lstStyle/>
          <a:p>
            <a:pPr marL="0" indent="0">
              <a:buNone/>
            </a:pPr>
            <a:r>
              <a:rPr lang="en-US" sz="1400" b="1" dirty="0">
                <a:solidFill>
                  <a:srgbClr val="1C1C1C"/>
                </a:solidFill>
                <a:latin typeface="Arial" pitchFamily="34" charset="0"/>
                <a:ea typeface="Arial" pitchFamily="34" charset="-122"/>
                <a:cs typeface="Arial" pitchFamily="34" charset="-120"/>
              </a:rPr>
              <a:t>2. Cleaned data goes to data/processed/, never back over data/raw/.  Reading is safe. Writing is where you destroy things.</a:t>
            </a:r>
            <a:endParaRPr lang="en-US" sz="1400" dirty="0"/>
          </a:p>
        </p:txBody>
      </p:sp>
      <p:sp>
        <p:nvSpPr>
          <p:cNvPr id="26" name="Shape 23"/>
          <p:cNvSpPr/>
          <p:nvPr/>
        </p:nvSpPr>
        <p:spPr>
          <a:xfrm>
            <a:off x="640080" y="4572000"/>
            <a:ext cx="10881360" cy="1600200"/>
          </a:xfrm>
          <a:prstGeom prst="roundRect">
            <a:avLst>
              <a:gd name="adj" fmla="val 5714"/>
            </a:avLst>
          </a:prstGeom>
          <a:solidFill>
            <a:srgbClr val="EAF0F1"/>
          </a:solidFill>
          <a:ln w="19050">
            <a:solidFill>
              <a:srgbClr val="B3C9CD"/>
            </a:solidFill>
            <a:prstDash val="solid"/>
          </a:ln>
        </p:spPr>
        <p:txBody>
          <a:bodyPr/>
          <a:lstStyle/>
          <a:p>
            <a:endParaRPr lang="en-US"/>
          </a:p>
        </p:txBody>
      </p:sp>
      <p:sp>
        <p:nvSpPr>
          <p:cNvPr id="27" name="Text 24"/>
          <p:cNvSpPr/>
          <p:nvPr/>
        </p:nvSpPr>
        <p:spPr>
          <a:xfrm>
            <a:off x="960120" y="4754880"/>
            <a:ext cx="10241280" cy="274320"/>
          </a:xfrm>
          <a:prstGeom prst="rect">
            <a:avLst/>
          </a:prstGeom>
          <a:noFill/>
          <a:ln/>
        </p:spPr>
        <p:txBody>
          <a:bodyPr wrap="square" rtlCol="0" anchor="ctr"/>
          <a:lstStyle/>
          <a:p>
            <a:pPr marL="0" indent="0">
              <a:buNone/>
            </a:pPr>
            <a:r>
              <a:rPr lang="en-US" sz="1100" b="1" kern="0" spc="100" dirty="0">
                <a:solidFill>
                  <a:srgbClr val="595959"/>
                </a:solidFill>
                <a:latin typeface="Arial" pitchFamily="34" charset="0"/>
                <a:ea typeface="Arial" pitchFamily="34" charset="-122"/>
                <a:cs typeface="Arial" pitchFamily="34" charset="-120"/>
              </a:rPr>
              <a:t>WRITING A FILE NEVER ASKS FOR CONFIRMATION</a:t>
            </a:r>
            <a:endParaRPr lang="en-US" sz="1100" dirty="0"/>
          </a:p>
        </p:txBody>
      </p:sp>
      <p:sp>
        <p:nvSpPr>
          <p:cNvPr id="28" name="Text 25"/>
          <p:cNvSpPr/>
          <p:nvPr/>
        </p:nvSpPr>
        <p:spPr>
          <a:xfrm>
            <a:off x="960120" y="5074920"/>
            <a:ext cx="10241280" cy="457200"/>
          </a:xfrm>
          <a:prstGeom prst="rect">
            <a:avLst/>
          </a:prstGeom>
          <a:noFill/>
          <a:ln/>
        </p:spPr>
        <p:txBody>
          <a:bodyPr wrap="square" rtlCol="0" anchor="ctr"/>
          <a:lstStyle/>
          <a:p>
            <a:pPr marL="0" indent="0">
              <a:buNone/>
            </a:pPr>
            <a:r>
              <a:rPr lang="en-US" sz="1500" b="1" dirty="0">
                <a:solidFill>
                  <a:srgbClr val="1C1C1C"/>
                </a:solidFill>
                <a:latin typeface="Courier New" pitchFamily="34" charset="0"/>
                <a:ea typeface="Courier New" pitchFamily="34" charset="-122"/>
                <a:cs typeface="Courier New" pitchFamily="34" charset="-120"/>
              </a:rPr>
              <a:t>to_csv() and write_csv() overwrite silently — no warning, no prompt, no undo</a:t>
            </a:r>
            <a:endParaRPr lang="en-US" sz="1500" dirty="0"/>
          </a:p>
        </p:txBody>
      </p:sp>
      <p:sp>
        <p:nvSpPr>
          <p:cNvPr id="29" name="Text 26"/>
          <p:cNvSpPr/>
          <p:nvPr/>
        </p:nvSpPr>
        <p:spPr>
          <a:xfrm>
            <a:off x="960120" y="5577840"/>
            <a:ext cx="10241280" cy="502920"/>
          </a:xfrm>
          <a:prstGeom prst="rect">
            <a:avLst/>
          </a:prstGeom>
          <a:noFill/>
          <a:ln/>
        </p:spPr>
        <p:txBody>
          <a:bodyPr wrap="square" rtlCol="0" anchor="ctr"/>
          <a:lstStyle/>
          <a:p>
            <a:pPr marL="0" indent="0">
              <a:buNone/>
            </a:pPr>
            <a:r>
              <a:rPr lang="en-US" sz="1250" i="1" dirty="0">
                <a:solidFill>
                  <a:srgbClr val="1C1C1C"/>
                </a:solidFill>
                <a:latin typeface="Arial" pitchFamily="34" charset="0"/>
                <a:ea typeface="Arial" pitchFamily="34" charset="-122"/>
                <a:cs typeface="Arial" pitchFamily="34" charset="-120"/>
              </a:rPr>
              <a:t>Which is the whole reason raw data is read-only and outputs are derived: overwrite something you can regenerate and you lost nothing. Outputs belong in .gitignore too — they change on every run.</a:t>
            </a:r>
            <a:endParaRPr lang="en-US" sz="1250" dirty="0"/>
          </a:p>
        </p:txBody>
      </p:sp>
      <p:sp>
        <p:nvSpPr>
          <p:cNvPr id="30" name="Text 27"/>
          <p:cNvSpPr/>
          <p:nvPr/>
        </p:nvSpPr>
        <p:spPr>
          <a:xfrm>
            <a:off x="11368735" y="6492240"/>
            <a:ext cx="457200" cy="274320"/>
          </a:xfrm>
          <a:prstGeom prst="rect">
            <a:avLst/>
          </a:prstGeom>
          <a:noFill/>
          <a:ln/>
        </p:spPr>
        <p:txBody>
          <a:bodyPr wrap="square" rtlCol="0" anchor="ctr"/>
          <a:lstStyle/>
          <a:p>
            <a:pPr marL="0" indent="0" algn="r">
              <a:buNone/>
            </a:pPr>
            <a:r>
              <a:rPr lang="en-US" sz="900" dirty="0">
                <a:solidFill>
                  <a:srgbClr val="9B9B9B"/>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3355</Words>
  <Application>Microsoft Office PowerPoint</Application>
  <PresentationFormat>Widescreen</PresentationFormat>
  <Paragraphs>314</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Vanderbilt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CPBP 8306 — Session 3</dc:title>
  <dc:subject>PptxGenJS Presentation</dc:subject>
  <dc:creator>Joshua Borycz &amp; Daniel Genkins</dc:creator>
  <cp:lastModifiedBy>Daniel Genkins</cp:lastModifiedBy>
  <cp:revision>3</cp:revision>
  <dcterms:created xsi:type="dcterms:W3CDTF">2026-07-27T21:40:15Z</dcterms:created>
  <dcterms:modified xsi:type="dcterms:W3CDTF">2026-09-30T20:51:01Z</dcterms:modified>
</cp:coreProperties>
</file>