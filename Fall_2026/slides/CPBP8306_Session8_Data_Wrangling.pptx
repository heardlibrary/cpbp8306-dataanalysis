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8" r:id="rId6"/>
    <p:sldId id="260"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22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541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before class: patients.csv loaded once in an R console and once in a Python console, uncleaned, so you can compute the group counts on slide 6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the room to name the three rules of tidy data from memory before you move on. Then say that today is mostly vocabulary: six function names that make an AI prompt precise. Point at the data section and have everyone load the three files now. Same three datasets as last week: penguins, patients and schools. R users get penguins from the palmerpenguins package, which also has the year column. Python users read penguins.csv. In R, read_csv() trims spaces at the start and end of text values unless you set trim_ws = FALSE. We set it so the trailing-space problem on slide 6 is still in the file when you count the groups. pandas keeps the spaces by default.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seconds on the list, then point at the milestone box. The cleaning deadline is real and these functions are the toolkit for it. Say it here and again at the handoff.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six names once, out loud, before you point at the cards. The grids show what each one does to the table: filter drops rows, select drops columns, mutate adds a column, arrange reorders, group_by only marks the groups, and summarise collapses them. Two common AI mistakes to name now: wrong order (select before the filter that needed that column) and mutate where summarise was meant. The dashed frame is left empty for a figure or an equation if you want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pipes exist in R, and you will see both in the wild, including in AI-written code. Say it plainly: |&gt; is built into R 4.1 and later, and %&gt;% comes from magrittr and arrives when you load dplyr. Same job, read it as 'and then'. Two real differences: |&gt; needs parentheses after the function (x |&gt; head()) while %&gt;% does not, and the placeholder is _ for |&gt; and . for %&gt;%. Then commit: we use %&gt;% for the rest of today because it works on any R version and it is what dplyr examples have long shown. In RStudio the shortcut is Ctrl+Shift+M (Cmd+Shift+M on a Mac).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pipeline live and comment out the last step to show the size change. The result is mean body mass in kilograms for Adelie penguins on each island: Biscoe 3.71, Dream 3.69, Torgersen 3.71. The R pipe is %&gt;%, and pandas uses method chaining, one method per line. Both give the same three numbers. Order matters: if select() comes before a filter that needs a column select dropped, the filter fails.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so protect it. Run it live on the real file so the 125 and 125 split shows up as a discovery. Count first with table(patients$group) in R or patients['group'].value_counts() in pandas, then clean, then count again. Connect back: the Session 1 trailing space and the Session 3 casing are the same kind of bug, and str_trim and str_to_upper fix both. str_trim removes spaces at the start and end of a value. str_to_upper makes every letter uppercase.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mean(penguins$bill_length_mm) in R live and let the NA land, then add na.rm = TRUE. The three cards are three different reasons for a missing value, and each one needs a different decision. The 6 unknown ages are text that was never a number. The schools NA values mean the grade is not offered, so filling them with zero would be wrong. The penguin NA values are real misses. Not silently dropping missing values is a scientific decision, so ask whether they are missing at random before you choose what to do. The result of as.numeric on text prints a warning in R. That warning is expected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small tables are real: mean body mass and mean bill length by species, computed from the penguins data. They share only Adelie, so the three joins give different answers. Say the default difference out loud. In dplyr you choose left_join, inner_join or full_join by name. In pandas, merge() without how= does an inner join, so rows can disappear with no warning. An AI asked to join these tables will not reliably pick the one you meant, so make students say which one they want before they run it. For the sanity check, the island averages table has 3 rows and the species-by-island counts table has 5 rows (Biscoe and Dream appear twice), so a left join returns 5 rows from a 3-row table. More rows than the left table means the key repeats on the right. The dashed frame is left empty for a diagram.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promised last week. The variable grade was hiding in 15 column headers, so pivot_longer moves the headers into a grade column and the numbers into a students column. values_drop_na = TRUE (dropna in pandas) removes the grades a school does not offer, which are the not-offered NA values from Session 7. That is why the result is 868 rows and not 169 times 15. The students sum to 86,527, the same as male plus female, which is a check that nothing was lost. R lists the rows school by school, and pandas melt lists them grade by grade, so the order differs but the rows are the same. The year columns in a table like bp_2020, bp_2021, bp_2022 work the same way.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reverse move. The long table is the tidy one: each row is one species on one island. The wide table is easier to scan, and the 0 values come from values_fill = 0, which replaces combinations that never occur. In pandas, value_counts gives the long counts and unstack moves the island level into columns. pivot() does the same job on a table that is already in long form. Mention both by name but don't demo every variation.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students settle into the activity. Say once that it is a reference, not a memorization list.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cleaning deadline out loud: this is the last full session before it is due. The lecture should end around minute 27, which leaves about 28 minutes for the tutor activity. Guard that time.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logo_white.png"/>
          <p:cNvPicPr>
            <a:picLocks noChangeAspect="1"/>
          </p:cNvPicPr>
          <p:nvPr/>
        </p:nvPicPr>
        <p:blipFill>
          <a:blip r:embed="rId3"/>
          <a:stretch>
            <a:fillRect/>
          </a:stretch>
        </p:blipFill>
        <p:spPr>
          <a:xfrm>
            <a:off x="640080" y="594360"/>
            <a:ext cx="2377440" cy="516257"/>
          </a:xfrm>
          <a:prstGeom prst="rect">
            <a:avLst/>
          </a:prstGeom>
        </p:spPr>
      </p:pic>
      <p:sp>
        <p:nvSpPr>
          <p:cNvPr id="3" name="Text 0"/>
          <p:cNvSpPr txBox="1"/>
          <p:nvPr/>
        </p:nvSpPr>
        <p:spPr>
          <a:xfrm>
            <a:off x="640080" y="1508760"/>
            <a:ext cx="6675120" cy="365760"/>
          </a:xfrm>
          <a:prstGeom prst="rect">
            <a:avLst/>
          </a:prstGeom>
          <a:noFill/>
          <a:ln/>
        </p:spPr>
        <p:txBody>
          <a:bodyPr wrap="square" rtlCol="0" anchor="ctr"/>
          <a:lstStyle/>
          <a:p>
            <a:pPr marL="0" indent="0">
              <a:buNone/>
            </a:pPr>
            <a:r>
              <a:rPr lang="en-US" sz="1300" b="1" kern="0" spc="200" dirty="0">
                <a:solidFill>
                  <a:srgbClr val="ECB748"/>
                </a:solidFill>
                <a:latin typeface="Arial" pitchFamily="34" charset="0"/>
                <a:ea typeface="Arial" pitchFamily="34" charset="-122"/>
                <a:cs typeface="Arial" pitchFamily="34" charset="-120"/>
              </a:rPr>
              <a:t>SESSION 8</a:t>
            </a:r>
            <a:endParaRPr lang="en-US" sz="1300" dirty="0"/>
          </a:p>
        </p:txBody>
      </p:sp>
      <p:sp>
        <p:nvSpPr>
          <p:cNvPr id="4" name="Text 1"/>
          <p:cNvSpPr txBox="1"/>
          <p:nvPr/>
        </p:nvSpPr>
        <p:spPr>
          <a:xfrm>
            <a:off x="594360" y="1920240"/>
            <a:ext cx="6766560" cy="1463040"/>
          </a:xfrm>
          <a:prstGeom prst="rect">
            <a:avLst/>
          </a:prstGeom>
          <a:noFill/>
          <a:ln/>
        </p:spPr>
        <p:txBody>
          <a:bodyPr wrap="square" rtlCol="0" anchor="ctr"/>
          <a:lstStyle/>
          <a:p>
            <a:pPr marL="0" indent="0">
              <a:lnSpc>
                <a:spcPct val="105000"/>
              </a:lnSpc>
              <a:buNone/>
            </a:pPr>
            <a:r>
              <a:rPr lang="en-US" sz="3000" b="1" dirty="0">
                <a:solidFill>
                  <a:srgbClr val="FFFFFF"/>
                </a:solidFill>
                <a:latin typeface="Arial" pitchFamily="34" charset="0"/>
                <a:ea typeface="Arial" pitchFamily="34" charset="-122"/>
                <a:cs typeface="Arial" pitchFamily="34" charset="-120"/>
              </a:rPr>
              <a:t>Data Wrangling:</a:t>
            </a:r>
            <a:endParaRPr lang="en-US" sz="3000" dirty="0"/>
          </a:p>
          <a:p>
            <a:pPr marL="0" indent="0">
              <a:lnSpc>
                <a:spcPct val="105000"/>
              </a:lnSpc>
              <a:buNone/>
            </a:pPr>
            <a:r>
              <a:rPr lang="en-US" sz="3000" b="1" dirty="0">
                <a:solidFill>
                  <a:srgbClr val="FFFFFF"/>
                </a:solidFill>
                <a:latin typeface="Arial" pitchFamily="34" charset="0"/>
                <a:ea typeface="Arial" pitchFamily="34" charset="-122"/>
                <a:cs typeface="Arial" pitchFamily="34" charset="-120"/>
              </a:rPr>
              <a:t>Cleaning, Joining, Reshaping</a:t>
            </a:r>
            <a:endParaRPr lang="en-US" sz="3000" dirty="0"/>
          </a:p>
        </p:txBody>
      </p:sp>
      <p:sp>
        <p:nvSpPr>
          <p:cNvPr id="5" name="Text 2"/>
          <p:cNvSpPr txBox="1"/>
          <p:nvPr/>
        </p:nvSpPr>
        <p:spPr>
          <a:xfrm>
            <a:off x="640080" y="3429000"/>
            <a:ext cx="6675120" cy="548640"/>
          </a:xfrm>
          <a:prstGeom prst="rect">
            <a:avLst/>
          </a:prstGeom>
          <a:noFill/>
          <a:ln/>
        </p:spPr>
        <p:txBody>
          <a:bodyPr wrap="square" rtlCol="0" anchor="ctr"/>
          <a:lstStyle/>
          <a:p>
            <a:pPr marL="0" indent="0">
              <a:buNone/>
            </a:pPr>
            <a:r>
              <a:rPr lang="en-US" sz="1600" dirty="0">
                <a:solidFill>
                  <a:srgbClr val="F5F3EF"/>
                </a:solidFill>
                <a:latin typeface="Arial" pitchFamily="34" charset="0"/>
                <a:ea typeface="Arial" pitchFamily="34" charset="-122"/>
                <a:cs typeface="Arial" pitchFamily="34" charset="-120"/>
              </a:rPr>
              <a:t>Fixing the problems Session 7 taught you to spot</a:t>
            </a:r>
            <a:endParaRPr lang="en-US" sz="1600" dirty="0"/>
          </a:p>
        </p:txBody>
      </p:sp>
      <p:sp>
        <p:nvSpPr>
          <p:cNvPr id="6" name="Text 3"/>
          <p:cNvSpPr txBox="1"/>
          <p:nvPr/>
        </p:nvSpPr>
        <p:spPr>
          <a:xfrm>
            <a:off x="640080" y="5349240"/>
            <a:ext cx="6675120" cy="1005840"/>
          </a:xfrm>
          <a:prstGeom prst="rect">
            <a:avLst/>
          </a:prstGeom>
          <a:noFill/>
          <a:ln/>
        </p:spPr>
        <p:txBody>
          <a:bodyPr wrap="square" rtlCol="0" anchor="ctr"/>
          <a:lstStyle/>
          <a:p>
            <a:pPr marL="0" indent="0">
              <a:lnSpc>
                <a:spcPct val="130000"/>
              </a:lnSpc>
              <a:buNone/>
            </a:pPr>
            <a:r>
              <a:rPr lang="en-US" sz="1250" b="1" dirty="0">
                <a:solidFill>
                  <a:srgbClr val="FFFFFF"/>
                </a:solidFill>
                <a:latin typeface="Arial" pitchFamily="34" charset="0"/>
                <a:ea typeface="Arial" pitchFamily="34" charset="-122"/>
                <a:cs typeface="Arial" pitchFamily="34" charset="-120"/>
              </a:rPr>
              <a:t>CPBP 8306: Coding for Research</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Joshua Borycz  &amp;  Daniel Genkins   |   TA: Peyton Coleman</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Thursdays 10:00–10:55am  ·  Light Hall 439</a:t>
            </a:r>
            <a:endParaRPr lang="en-US" sz="1250" dirty="0"/>
          </a:p>
        </p:txBody>
      </p:sp>
      <p:sp>
        <p:nvSpPr>
          <p:cNvPr id="7" name="Shape 4"/>
          <p:cNvSpPr/>
          <p:nvPr/>
        </p:nvSpPr>
        <p:spPr>
          <a:xfrm>
            <a:off x="7818120" y="2194560"/>
            <a:ext cx="3749040" cy="2286000"/>
          </a:xfrm>
          <a:prstGeom prst="roundRect">
            <a:avLst>
              <a:gd name="adj" fmla="val 4800"/>
            </a:avLst>
          </a:prstGeom>
          <a:solidFill>
            <a:srgbClr val="2E2E2E"/>
          </a:solidFill>
          <a:ln w="12700">
            <a:solidFill>
              <a:srgbClr val="444444"/>
            </a:solidFill>
            <a:prstDash val="solid"/>
          </a:ln>
        </p:spPr>
        <p:txBody>
          <a:bodyPr/>
          <a:lstStyle/>
          <a:p>
            <a:endParaRPr lang="en-US"/>
          </a:p>
        </p:txBody>
      </p:sp>
      <p:sp>
        <p:nvSpPr>
          <p:cNvPr id="8" name="Shape 5"/>
          <p:cNvSpPr/>
          <p:nvPr/>
        </p:nvSpPr>
        <p:spPr>
          <a:xfrm>
            <a:off x="8046720" y="2395728"/>
            <a:ext cx="146304" cy="146304"/>
          </a:xfrm>
          <a:prstGeom prst="ellipse">
            <a:avLst/>
          </a:prstGeom>
          <a:solidFill>
            <a:srgbClr val="D64550"/>
          </a:solidFill>
          <a:ln/>
        </p:spPr>
        <p:txBody>
          <a:bodyPr/>
          <a:lstStyle/>
          <a:p>
            <a:endParaRPr lang="en-US"/>
          </a:p>
        </p:txBody>
      </p:sp>
      <p:sp>
        <p:nvSpPr>
          <p:cNvPr id="9" name="Shape 6"/>
          <p:cNvSpPr/>
          <p:nvPr/>
        </p:nvSpPr>
        <p:spPr>
          <a:xfrm>
            <a:off x="8302752" y="2395728"/>
            <a:ext cx="146304" cy="146304"/>
          </a:xfrm>
          <a:prstGeom prst="ellipse">
            <a:avLst/>
          </a:prstGeom>
          <a:solidFill>
            <a:srgbClr val="ECB748"/>
          </a:solidFill>
          <a:ln/>
        </p:spPr>
        <p:txBody>
          <a:bodyPr/>
          <a:lstStyle/>
          <a:p>
            <a:endParaRPr lang="en-US"/>
          </a:p>
        </p:txBody>
      </p:sp>
      <p:sp>
        <p:nvSpPr>
          <p:cNvPr id="10" name="Shape 7"/>
          <p:cNvSpPr/>
          <p:nvPr/>
        </p:nvSpPr>
        <p:spPr>
          <a:xfrm>
            <a:off x="8558784" y="2395728"/>
            <a:ext cx="146304" cy="146304"/>
          </a:xfrm>
          <a:prstGeom prst="ellipse">
            <a:avLst/>
          </a:prstGeom>
          <a:solidFill>
            <a:srgbClr val="6B6B6B"/>
          </a:solidFill>
          <a:ln/>
        </p:spPr>
        <p:txBody>
          <a:bodyPr/>
          <a:lstStyle/>
          <a:p>
            <a:endParaRPr lang="en-US"/>
          </a:p>
        </p:txBody>
      </p:sp>
      <p:sp>
        <p:nvSpPr>
          <p:cNvPr id="11" name="Text 8"/>
          <p:cNvSpPr txBox="1"/>
          <p:nvPr/>
        </p:nvSpPr>
        <p:spPr>
          <a:xfrm>
            <a:off x="8961120" y="2340864"/>
            <a:ext cx="24688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clean.R</a:t>
            </a:r>
            <a:endParaRPr lang="en-US" sz="1050" dirty="0"/>
          </a:p>
        </p:txBody>
      </p:sp>
      <p:sp>
        <p:nvSpPr>
          <p:cNvPr id="12" name="Shape 9"/>
          <p:cNvSpPr/>
          <p:nvPr/>
        </p:nvSpPr>
        <p:spPr>
          <a:xfrm>
            <a:off x="7863840" y="2697480"/>
            <a:ext cx="3657600" cy="0"/>
          </a:xfrm>
          <a:prstGeom prst="line">
            <a:avLst/>
          </a:prstGeom>
          <a:noFill/>
          <a:ln w="12700">
            <a:solidFill>
              <a:srgbClr val="444444"/>
            </a:solidFill>
            <a:prstDash val="solid"/>
          </a:ln>
        </p:spPr>
        <p:txBody>
          <a:bodyPr/>
          <a:lstStyle/>
          <a:p>
            <a:endParaRPr lang="en-US"/>
          </a:p>
        </p:txBody>
      </p:sp>
      <p:sp>
        <p:nvSpPr>
          <p:cNvPr id="13" name="Text 10"/>
          <p:cNvSpPr txBox="1"/>
          <p:nvPr/>
        </p:nvSpPr>
        <p:spPr>
          <a:xfrm>
            <a:off x="8092440" y="2880360"/>
            <a:ext cx="3200400" cy="365760"/>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patients %&gt;%</a:t>
            </a:r>
            <a:endParaRPr lang="en-US" sz="1200" dirty="0"/>
          </a:p>
        </p:txBody>
      </p:sp>
      <p:sp>
        <p:nvSpPr>
          <p:cNvPr id="14" name="Text 11"/>
          <p:cNvSpPr txBox="1"/>
          <p:nvPr/>
        </p:nvSpPr>
        <p:spPr>
          <a:xfrm>
            <a:off x="8092440" y="3246120"/>
            <a:ext cx="3200400" cy="365760"/>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mutate(group = str_trim(group))</a:t>
            </a:r>
            <a:endParaRPr lang="en-US" sz="1200" dirty="0"/>
          </a:p>
        </p:txBody>
      </p:sp>
      <p:sp>
        <p:nvSpPr>
          <p:cNvPr id="15" name="Text 12"/>
          <p:cNvSpPr txBox="1"/>
          <p:nvPr/>
        </p:nvSpPr>
        <p:spPr>
          <a:xfrm>
            <a:off x="8092440" y="3657600"/>
            <a:ext cx="3200400" cy="365760"/>
          </a:xfrm>
          <a:prstGeom prst="rect">
            <a:avLst/>
          </a:prstGeom>
          <a:noFill/>
          <a:ln/>
        </p:spPr>
        <p:txBody>
          <a:bodyPr wrap="square" rtlCol="0" anchor="ctr"/>
          <a:lstStyle/>
          <a:p>
            <a:pPr marL="0" indent="0">
              <a:buNone/>
            </a:pPr>
            <a:r>
              <a:rPr lang="en-US" sz="1200" dirty="0">
                <a:solidFill>
                  <a:srgbClr val="ECB748"/>
                </a:solidFill>
                <a:latin typeface="Courier New" pitchFamily="34" charset="0"/>
                <a:ea typeface="Courier New" pitchFamily="34" charset="-122"/>
                <a:cs typeface="Courier New" pitchFamily="34" charset="-120"/>
              </a:rPr>
              <a:t># 40 rows rejoin group A</a:t>
            </a:r>
            <a:endParaRPr lang="en-US" sz="1200" dirty="0"/>
          </a:p>
        </p:txBody>
      </p:sp>
      <p:sp>
        <p:nvSpPr>
          <p:cNvPr id="16" name="Text 13"/>
          <p:cNvSpPr txBox="1"/>
          <p:nvPr/>
        </p:nvSpPr>
        <p:spPr>
          <a:xfrm>
            <a:off x="7818120" y="4617720"/>
            <a:ext cx="3749040" cy="411480"/>
          </a:xfrm>
          <a:prstGeom prst="rect">
            <a:avLst/>
          </a:prstGeom>
          <a:noFill/>
          <a:ln/>
        </p:spPr>
        <p:txBody>
          <a:bodyPr wrap="square" rtlCol="0" anchor="ctr"/>
          <a:lstStyle/>
          <a:p>
            <a:pPr marL="0" indent="0" algn="ctr">
              <a:buNone/>
            </a:pPr>
            <a:r>
              <a:rPr lang="en-US" sz="1100" dirty="0">
                <a:solidFill>
                  <a:srgbClr val="9B9690"/>
                </a:solidFill>
                <a:latin typeface="Arial" pitchFamily="34" charset="0"/>
                <a:ea typeface="Arial" pitchFamily="34" charset="-122"/>
                <a:cs typeface="Arial" pitchFamily="34" charset="-120"/>
              </a:rPr>
              <a:t>The Session 1 bug gets fixed today.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822960"/>
          </a:xfrm>
          <a:prstGeom prst="rect">
            <a:avLst/>
          </a:prstGeom>
          <a:noFill/>
          <a:ln/>
        </p:spPr>
        <p:txBody>
          <a:bodyPr wrap="square" rtlCol="0" anchor="ctr"/>
          <a:lstStyle/>
          <a:p>
            <a:pPr marL="0" indent="0">
              <a:buNone/>
            </a:pPr>
            <a:r>
              <a:rPr lang="en-US" sz="2200" b="1" dirty="0">
                <a:solidFill>
                  <a:srgbClr val="1C1C1C"/>
                </a:solidFill>
                <a:latin typeface="Arial" pitchFamily="34" charset="0"/>
                <a:ea typeface="Arial" pitchFamily="34" charset="-122"/>
                <a:cs typeface="Arial" pitchFamily="34" charset="-120"/>
              </a:rPr>
              <a:t>Last week was spotting problems in tables. Today we fix them.</a:t>
            </a:r>
            <a:endParaRPr lang="en-US" sz="2200" dirty="0"/>
          </a:p>
        </p:txBody>
      </p:sp>
      <p:sp>
        <p:nvSpPr>
          <p:cNvPr id="6" name="Text 3"/>
          <p:cNvSpPr txBox="1"/>
          <p:nvPr/>
        </p:nvSpPr>
        <p:spPr>
          <a:xfrm>
            <a:off x="640080" y="1783080"/>
            <a:ext cx="10881360" cy="822960"/>
          </a:xfrm>
          <a:prstGeom prst="rect">
            <a:avLst/>
          </a:prstGeom>
          <a:noFill/>
          <a:ln/>
        </p:spPr>
        <p:txBody>
          <a:bodyPr wrap="square" rtlCol="0" anchor="ctr"/>
          <a:lstStyle/>
          <a:p>
            <a:pPr marL="0" indent="0">
              <a:buNone/>
            </a:pPr>
            <a:r>
              <a:rPr lang="en-US" sz="1400" dirty="0">
                <a:solidFill>
                  <a:srgbClr val="1C1C1C"/>
                </a:solidFill>
                <a:latin typeface="Arial" pitchFamily="34" charset="0"/>
                <a:ea typeface="Arial" pitchFamily="34" charset="-122"/>
                <a:cs typeface="Arial" pitchFamily="34" charset="-120"/>
              </a:rPr>
              <a:t>Session 7 gave you the three rules of tidy data and a habit of checking every column's type. You already know </a:t>
            </a:r>
            <a:r>
              <a:rPr lang="en-US" sz="1400" b="1" dirty="0">
                <a:solidFill>
                  <a:srgbClr val="1C1C1C"/>
                </a:solidFill>
                <a:latin typeface="Courier New" pitchFamily="34" charset="0"/>
                <a:ea typeface="Courier New" pitchFamily="34" charset="-122"/>
                <a:cs typeface="Courier New" pitchFamily="34" charset="-120"/>
              </a:rPr>
              <a:t>patients.csv</a:t>
            </a:r>
            <a:r>
              <a:rPr lang="en-US" sz="1400" dirty="0">
                <a:solidFill>
                  <a:srgbClr val="1C1C1C"/>
                </a:solidFill>
                <a:latin typeface="Arial" pitchFamily="34" charset="0"/>
                <a:ea typeface="Arial" pitchFamily="34" charset="-122"/>
                <a:cs typeface="Arial" pitchFamily="34" charset="-120"/>
              </a:rPr>
              <a:t> has a hidden space in </a:t>
            </a:r>
            <a:r>
              <a:rPr lang="en-US" sz="1400" b="1" dirty="0">
                <a:solidFill>
                  <a:srgbClr val="1C1C1C"/>
                </a:solidFill>
                <a:latin typeface="Courier New" pitchFamily="34" charset="0"/>
                <a:ea typeface="Courier New" pitchFamily="34" charset="-122"/>
                <a:cs typeface="Courier New" pitchFamily="34" charset="-120"/>
              </a:rPr>
              <a:t>group</a:t>
            </a:r>
            <a:r>
              <a:rPr lang="en-US" sz="1400" dirty="0">
                <a:solidFill>
                  <a:srgbClr val="1C1C1C"/>
                </a:solidFill>
                <a:latin typeface="Arial" pitchFamily="34" charset="0"/>
                <a:ea typeface="Arial" pitchFamily="34" charset="-122"/>
                <a:cs typeface="Arial" pitchFamily="34" charset="-120"/>
              </a:rPr>
              <a:t>, four spellings of </a:t>
            </a:r>
            <a:r>
              <a:rPr lang="en-US" sz="1400" b="1" dirty="0">
                <a:solidFill>
                  <a:srgbClr val="1C1C1C"/>
                </a:solidFill>
                <a:latin typeface="Courier New" pitchFamily="34" charset="0"/>
                <a:ea typeface="Courier New" pitchFamily="34" charset="-122"/>
                <a:cs typeface="Courier New" pitchFamily="34" charset="-120"/>
              </a:rPr>
              <a:t>sex</a:t>
            </a:r>
            <a:r>
              <a:rPr lang="en-US" sz="1400" dirty="0">
                <a:solidFill>
                  <a:srgbClr val="1C1C1C"/>
                </a:solidFill>
                <a:latin typeface="Arial" pitchFamily="34" charset="0"/>
                <a:ea typeface="Arial" pitchFamily="34" charset="-122"/>
                <a:cs typeface="Arial" pitchFamily="34" charset="-120"/>
              </a:rPr>
              <a:t>, and an </a:t>
            </a:r>
            <a:r>
              <a:rPr lang="en-US" sz="1400" b="1" dirty="0">
                <a:solidFill>
                  <a:srgbClr val="1C1C1C"/>
                </a:solidFill>
                <a:latin typeface="Courier New" pitchFamily="34" charset="0"/>
                <a:ea typeface="Courier New" pitchFamily="34" charset="-122"/>
                <a:cs typeface="Courier New" pitchFamily="34" charset="-120"/>
              </a:rPr>
              <a:t>age</a:t>
            </a:r>
            <a:r>
              <a:rPr lang="en-US" sz="1400" dirty="0">
                <a:solidFill>
                  <a:srgbClr val="1C1C1C"/>
                </a:solidFill>
                <a:latin typeface="Arial" pitchFamily="34" charset="0"/>
                <a:ea typeface="Arial" pitchFamily="34" charset="-122"/>
                <a:cs typeface="Arial" pitchFamily="34" charset="-120"/>
              </a:rPr>
              <a:t> column that isn't all numbers. You also saw the schools file spread one variable across 15 columns.</a:t>
            </a:r>
            <a:endParaRPr lang="en-US" sz="1400" dirty="0"/>
          </a:p>
        </p:txBody>
      </p:sp>
      <p:sp>
        <p:nvSpPr>
          <p:cNvPr id="7" name="Text 4"/>
          <p:cNvSpPr txBox="1"/>
          <p:nvPr/>
        </p:nvSpPr>
        <p:spPr>
          <a:xfrm>
            <a:off x="640080" y="2651760"/>
            <a:ext cx="10881360" cy="91440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Today: </a:t>
            </a:r>
            <a:r>
              <a:rPr lang="en-US" sz="1400" dirty="0">
                <a:solidFill>
                  <a:srgbClr val="1C1C1C"/>
                </a:solidFill>
                <a:latin typeface="Arial" pitchFamily="34" charset="0"/>
                <a:ea typeface="Arial" pitchFamily="34" charset="-122"/>
                <a:cs typeface="Arial" pitchFamily="34" charset="-120"/>
              </a:rPr>
              <a:t>six functions that fix these problems (dplyr calls them verbs), how to join two tables, and how to reshape one. Knowing the names also lets you tell an AI exactly what to do. "Pipe this through group_by, summarise, and filter" gets a better result than "clean this data."</a:t>
            </a:r>
            <a:endParaRPr lang="en-US" sz="1400" dirty="0"/>
          </a:p>
        </p:txBody>
      </p:sp>
      <p:sp>
        <p:nvSpPr>
          <p:cNvPr id="8" name="Text 5"/>
          <p:cNvSpPr txBox="1"/>
          <p:nvPr/>
        </p:nvSpPr>
        <p:spPr>
          <a:xfrm>
            <a:off x="640080" y="3749040"/>
            <a:ext cx="548640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DATA FOR TODAY</a:t>
            </a:r>
            <a:endParaRPr lang="en-US" sz="1100" dirty="0"/>
          </a:p>
        </p:txBody>
      </p:sp>
      <p:sp>
        <p:nvSpPr>
          <p:cNvPr id="9" name="Shape 6"/>
          <p:cNvSpPr/>
          <p:nvPr/>
        </p:nvSpPr>
        <p:spPr>
          <a:xfrm>
            <a:off x="640080" y="4069080"/>
            <a:ext cx="5349240" cy="2194560"/>
          </a:xfrm>
          <a:prstGeom prst="roundRect">
            <a:avLst>
              <a:gd name="adj" fmla="val 4167"/>
            </a:avLst>
          </a:prstGeom>
          <a:solidFill>
            <a:srgbClr val="2E2E2E"/>
          </a:solidFill>
          <a:ln w="12700">
            <a:solidFill>
              <a:srgbClr val="444444"/>
            </a:solidFill>
            <a:prstDash val="solid"/>
          </a:ln>
        </p:spPr>
        <p:txBody>
          <a:bodyPr/>
          <a:lstStyle/>
          <a:p>
            <a:endParaRPr lang="en-US"/>
          </a:p>
        </p:txBody>
      </p:sp>
      <p:sp>
        <p:nvSpPr>
          <p:cNvPr id="10" name="Shape 7"/>
          <p:cNvSpPr/>
          <p:nvPr/>
        </p:nvSpPr>
        <p:spPr>
          <a:xfrm>
            <a:off x="868680" y="4270248"/>
            <a:ext cx="146304" cy="146304"/>
          </a:xfrm>
          <a:prstGeom prst="ellipse">
            <a:avLst/>
          </a:prstGeom>
          <a:solidFill>
            <a:srgbClr val="D64550"/>
          </a:solidFill>
          <a:ln/>
        </p:spPr>
        <p:txBody>
          <a:bodyPr/>
          <a:lstStyle/>
          <a:p>
            <a:endParaRPr lang="en-US"/>
          </a:p>
        </p:txBody>
      </p:sp>
      <p:sp>
        <p:nvSpPr>
          <p:cNvPr id="11" name="Shape 8"/>
          <p:cNvSpPr/>
          <p:nvPr/>
        </p:nvSpPr>
        <p:spPr>
          <a:xfrm>
            <a:off x="1124712" y="4270248"/>
            <a:ext cx="146304" cy="146304"/>
          </a:xfrm>
          <a:prstGeom prst="ellipse">
            <a:avLst/>
          </a:prstGeom>
          <a:solidFill>
            <a:srgbClr val="ECB748"/>
          </a:solidFill>
          <a:ln/>
        </p:spPr>
        <p:txBody>
          <a:bodyPr/>
          <a:lstStyle/>
          <a:p>
            <a:endParaRPr lang="en-US"/>
          </a:p>
        </p:txBody>
      </p:sp>
      <p:sp>
        <p:nvSpPr>
          <p:cNvPr id="12" name="Shape 9"/>
          <p:cNvSpPr/>
          <p:nvPr/>
        </p:nvSpPr>
        <p:spPr>
          <a:xfrm>
            <a:off x="1380744" y="4270248"/>
            <a:ext cx="146304" cy="146304"/>
          </a:xfrm>
          <a:prstGeom prst="ellipse">
            <a:avLst/>
          </a:prstGeom>
          <a:solidFill>
            <a:srgbClr val="6B6B6B"/>
          </a:solidFill>
          <a:ln/>
        </p:spPr>
        <p:txBody>
          <a:bodyPr/>
          <a:lstStyle/>
          <a:p>
            <a:endParaRPr lang="en-US"/>
          </a:p>
        </p:txBody>
      </p:sp>
      <p:sp>
        <p:nvSpPr>
          <p:cNvPr id="13" name="Text 10"/>
          <p:cNvSpPr txBox="1"/>
          <p:nvPr/>
        </p:nvSpPr>
        <p:spPr>
          <a:xfrm>
            <a:off x="1783080" y="421538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load.R  (penguins comes from the package)</a:t>
            </a:r>
            <a:endParaRPr lang="en-US" sz="1050" dirty="0"/>
          </a:p>
        </p:txBody>
      </p:sp>
      <p:sp>
        <p:nvSpPr>
          <p:cNvPr id="14" name="Shape 11"/>
          <p:cNvSpPr/>
          <p:nvPr/>
        </p:nvSpPr>
        <p:spPr>
          <a:xfrm>
            <a:off x="685800" y="4572000"/>
            <a:ext cx="5257800" cy="0"/>
          </a:xfrm>
          <a:prstGeom prst="line">
            <a:avLst/>
          </a:prstGeom>
          <a:noFill/>
          <a:ln w="12700">
            <a:solidFill>
              <a:srgbClr val="444444"/>
            </a:solidFill>
            <a:prstDash val="solid"/>
          </a:ln>
        </p:spPr>
        <p:txBody>
          <a:bodyPr/>
          <a:lstStyle/>
          <a:p>
            <a:endParaRPr lang="en-US"/>
          </a:p>
        </p:txBody>
      </p:sp>
      <p:sp>
        <p:nvSpPr>
          <p:cNvPr id="15" name="Text 12"/>
          <p:cNvSpPr txBox="1"/>
          <p:nvPr/>
        </p:nvSpPr>
        <p:spPr>
          <a:xfrm>
            <a:off x="914400" y="4681728"/>
            <a:ext cx="4800600" cy="292608"/>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library(dplyr); library(tidyr); library(stringr)</a:t>
            </a:r>
            <a:endParaRPr lang="en-US" sz="1200" dirty="0"/>
          </a:p>
        </p:txBody>
      </p:sp>
      <p:sp>
        <p:nvSpPr>
          <p:cNvPr id="16" name="Text 13"/>
          <p:cNvSpPr txBox="1"/>
          <p:nvPr/>
        </p:nvSpPr>
        <p:spPr>
          <a:xfrm>
            <a:off x="914400" y="4974336"/>
            <a:ext cx="4800600" cy="292608"/>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library(palmerpenguins); library(readr)</a:t>
            </a:r>
            <a:endParaRPr lang="en-US" sz="1200" dirty="0"/>
          </a:p>
        </p:txBody>
      </p:sp>
      <p:sp>
        <p:nvSpPr>
          <p:cNvPr id="17" name="Text 14"/>
          <p:cNvSpPr txBox="1"/>
          <p:nvPr/>
        </p:nvSpPr>
        <p:spPr>
          <a:xfrm>
            <a:off x="914400" y="5266944"/>
            <a:ext cx="4800600" cy="292608"/>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patients &lt;- read_csv(</a:t>
            </a:r>
            <a:r>
              <a:rPr lang="en-US" sz="1200" dirty="0">
                <a:solidFill>
                  <a:srgbClr val="B3C9CD"/>
                </a:solidFill>
                <a:latin typeface="Courier New" pitchFamily="34" charset="0"/>
                <a:ea typeface="Courier New" pitchFamily="34" charset="-122"/>
                <a:cs typeface="Courier New" pitchFamily="34" charset="-120"/>
              </a:rPr>
              <a:t>"patients.csv"</a:t>
            </a: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30" name="Text 14"/>
          <p:cNvSpPr txBox="1"/>
          <p:nvPr/>
        </p:nvSpPr>
        <p:spPr>
          <a:xfrm>
            <a:off x="914400" y="5559552"/>
            <a:ext cx="4800600" cy="292608"/>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trim_ws = FALSE</a:t>
            </a:r>
            <a:r>
              <a:rPr lang="en-US" sz="1200" dirty="0">
                <a:solidFill>
                  <a:srgbClr val="B3C9CD"/>
                </a:solidFill>
                <a:latin typeface="Courier New" pitchFamily="34" charset="0"/>
                <a:ea typeface="Courier New" pitchFamily="34" charset="-122"/>
                <a:cs typeface="Courier New" pitchFamily="34" charset="-120"/>
              </a:rPr>
              <a:t>)</a:t>
            </a:r>
            <a:endParaRPr lang="en-US" sz="1200" dirty="0"/>
          </a:p>
        </p:txBody>
      </p:sp>
      <p:sp>
        <p:nvSpPr>
          <p:cNvPr id="18" name="Text 15"/>
          <p:cNvSpPr txBox="1"/>
          <p:nvPr/>
        </p:nvSpPr>
        <p:spPr>
          <a:xfrm>
            <a:off x="914400" y="5852160"/>
            <a:ext cx="4800600" cy="292608"/>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schools &lt;- read_csv(</a:t>
            </a:r>
            <a:r>
              <a:rPr lang="en-US" sz="1200" dirty="0">
                <a:solidFill>
                  <a:srgbClr val="B3C9CD"/>
                </a:solidFill>
                <a:latin typeface="Courier New" pitchFamily="34" charset="0"/>
                <a:ea typeface="Courier New" pitchFamily="34" charset="-122"/>
                <a:cs typeface="Courier New" pitchFamily="34" charset="-120"/>
              </a:rPr>
              <a:t>"schools_tibble.csv"</a:t>
            </a: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19" name="Shape 16"/>
          <p:cNvSpPr/>
          <p:nvPr/>
        </p:nvSpPr>
        <p:spPr>
          <a:xfrm>
            <a:off x="6172200" y="4069080"/>
            <a:ext cx="5349240" cy="2194560"/>
          </a:xfrm>
          <a:prstGeom prst="roundRect">
            <a:avLst>
              <a:gd name="adj" fmla="val 4167"/>
            </a:avLst>
          </a:prstGeom>
          <a:solidFill>
            <a:srgbClr val="2E2E2E"/>
          </a:solidFill>
          <a:ln w="12700">
            <a:solidFill>
              <a:srgbClr val="444444"/>
            </a:solidFill>
            <a:prstDash val="solid"/>
          </a:ln>
        </p:spPr>
        <p:txBody>
          <a:bodyPr/>
          <a:lstStyle/>
          <a:p>
            <a:endParaRPr lang="en-US"/>
          </a:p>
        </p:txBody>
      </p:sp>
      <p:sp>
        <p:nvSpPr>
          <p:cNvPr id="20" name="Shape 17"/>
          <p:cNvSpPr/>
          <p:nvPr/>
        </p:nvSpPr>
        <p:spPr>
          <a:xfrm>
            <a:off x="6400800" y="4270248"/>
            <a:ext cx="146304" cy="146304"/>
          </a:xfrm>
          <a:prstGeom prst="ellipse">
            <a:avLst/>
          </a:prstGeom>
          <a:solidFill>
            <a:srgbClr val="D64550"/>
          </a:solidFill>
          <a:ln/>
        </p:spPr>
        <p:txBody>
          <a:bodyPr/>
          <a:lstStyle/>
          <a:p>
            <a:endParaRPr lang="en-US"/>
          </a:p>
        </p:txBody>
      </p:sp>
      <p:sp>
        <p:nvSpPr>
          <p:cNvPr id="21" name="Shape 18"/>
          <p:cNvSpPr/>
          <p:nvPr/>
        </p:nvSpPr>
        <p:spPr>
          <a:xfrm>
            <a:off x="6656832" y="4270248"/>
            <a:ext cx="146304" cy="146304"/>
          </a:xfrm>
          <a:prstGeom prst="ellipse">
            <a:avLst/>
          </a:prstGeom>
          <a:solidFill>
            <a:srgbClr val="ECB748"/>
          </a:solidFill>
          <a:ln/>
        </p:spPr>
        <p:txBody>
          <a:bodyPr/>
          <a:lstStyle/>
          <a:p>
            <a:endParaRPr lang="en-US"/>
          </a:p>
        </p:txBody>
      </p:sp>
      <p:sp>
        <p:nvSpPr>
          <p:cNvPr id="22" name="Shape 19"/>
          <p:cNvSpPr/>
          <p:nvPr/>
        </p:nvSpPr>
        <p:spPr>
          <a:xfrm>
            <a:off x="6912864" y="4270248"/>
            <a:ext cx="146304" cy="146304"/>
          </a:xfrm>
          <a:prstGeom prst="ellipse">
            <a:avLst/>
          </a:prstGeom>
          <a:solidFill>
            <a:srgbClr val="6B6B6B"/>
          </a:solidFill>
          <a:ln/>
        </p:spPr>
        <p:txBody>
          <a:bodyPr/>
          <a:lstStyle/>
          <a:p>
            <a:endParaRPr lang="en-US"/>
          </a:p>
        </p:txBody>
      </p:sp>
      <p:sp>
        <p:nvSpPr>
          <p:cNvPr id="23" name="Text 20"/>
          <p:cNvSpPr txBox="1"/>
          <p:nvPr/>
        </p:nvSpPr>
        <p:spPr>
          <a:xfrm>
            <a:off x="7315200" y="421538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load.py</a:t>
            </a:r>
            <a:endParaRPr lang="en-US" sz="1050" dirty="0"/>
          </a:p>
        </p:txBody>
      </p:sp>
      <p:sp>
        <p:nvSpPr>
          <p:cNvPr id="24" name="Shape 21"/>
          <p:cNvSpPr/>
          <p:nvPr/>
        </p:nvSpPr>
        <p:spPr>
          <a:xfrm>
            <a:off x="6217920" y="4572000"/>
            <a:ext cx="5257800" cy="0"/>
          </a:xfrm>
          <a:prstGeom prst="line">
            <a:avLst/>
          </a:prstGeom>
          <a:noFill/>
          <a:ln w="12700">
            <a:solidFill>
              <a:srgbClr val="444444"/>
            </a:solidFill>
            <a:prstDash val="solid"/>
          </a:ln>
        </p:spPr>
        <p:txBody>
          <a:bodyPr/>
          <a:lstStyle/>
          <a:p>
            <a:endParaRPr lang="en-US"/>
          </a:p>
        </p:txBody>
      </p:sp>
      <p:sp>
        <p:nvSpPr>
          <p:cNvPr id="25" name="Text 22"/>
          <p:cNvSpPr txBox="1"/>
          <p:nvPr/>
        </p:nvSpPr>
        <p:spPr>
          <a:xfrm>
            <a:off x="6446520" y="4709160"/>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import pandas as pd</a:t>
            </a:r>
            <a:endParaRPr lang="en-US" sz="1200" dirty="0"/>
          </a:p>
        </p:txBody>
      </p:sp>
      <p:sp>
        <p:nvSpPr>
          <p:cNvPr id="26" name="Text 23"/>
          <p:cNvSpPr txBox="1"/>
          <p:nvPr/>
        </p:nvSpPr>
        <p:spPr>
          <a:xfrm>
            <a:off x="6446520" y="5038344"/>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penguins = pd.read_csv(</a:t>
            </a:r>
            <a:r>
              <a:rPr lang="en-US" sz="1200" dirty="0">
                <a:solidFill>
                  <a:srgbClr val="ECB748"/>
                </a:solidFill>
                <a:latin typeface="Courier New" pitchFamily="34" charset="0"/>
                <a:ea typeface="Courier New" pitchFamily="34" charset="-122"/>
                <a:cs typeface="Courier New" pitchFamily="34" charset="-120"/>
              </a:rPr>
              <a:t>"penguins.csv"</a:t>
            </a: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27" name="Text 24"/>
          <p:cNvSpPr txBox="1"/>
          <p:nvPr/>
        </p:nvSpPr>
        <p:spPr>
          <a:xfrm>
            <a:off x="6446520" y="5367528"/>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patients = pd.read_csv(</a:t>
            </a:r>
            <a:r>
              <a:rPr lang="en-US" sz="1200" dirty="0">
                <a:solidFill>
                  <a:srgbClr val="ECB748"/>
                </a:solidFill>
                <a:latin typeface="Courier New" pitchFamily="34" charset="0"/>
                <a:ea typeface="Courier New" pitchFamily="34" charset="-122"/>
                <a:cs typeface="Courier New" pitchFamily="34" charset="-120"/>
              </a:rPr>
              <a:t>"patients.csv"</a:t>
            </a: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28" name="Text 25"/>
          <p:cNvSpPr txBox="1"/>
          <p:nvPr/>
        </p:nvSpPr>
        <p:spPr>
          <a:xfrm>
            <a:off x="6446520" y="5696712"/>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schools = pd.read_csv(</a:t>
            </a:r>
            <a:r>
              <a:rPr lang="en-US" sz="1200" dirty="0">
                <a:solidFill>
                  <a:srgbClr val="ECB748"/>
                </a:solidFill>
                <a:latin typeface="Courier New" pitchFamily="34" charset="0"/>
                <a:ea typeface="Courier New" pitchFamily="34" charset="-122"/>
                <a:cs typeface="Courier New" pitchFamily="34" charset="-120"/>
              </a:rPr>
              <a:t>"schools_tibble.csv"</a:t>
            </a: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29" name="Text 26"/>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6675120" cy="640080"/>
          </a:xfrm>
          <a:prstGeom prst="rect">
            <a:avLst/>
          </a:prstGeom>
          <a:noFill/>
          <a:ln/>
        </p:spPr>
        <p:txBody>
          <a:bodyPr wrap="square" rtlCol="0" anchor="ctr"/>
          <a:lstStyle/>
          <a:p>
            <a:pPr marL="0" indent="0">
              <a:buNone/>
            </a:pPr>
            <a:r>
              <a:rPr lang="en-US" sz="2600" b="1" dirty="0">
                <a:solidFill>
                  <a:srgbClr val="1C1C1C"/>
                </a:solidFill>
                <a:latin typeface="Arial" pitchFamily="34" charset="0"/>
                <a:ea typeface="Arial" pitchFamily="34" charset="-122"/>
                <a:cs typeface="Arial" pitchFamily="34" charset="-120"/>
              </a:rPr>
              <a:t>By the end of today you can…</a:t>
            </a:r>
            <a:endParaRPr lang="en-US" sz="2600" dirty="0"/>
          </a:p>
        </p:txBody>
      </p:sp>
      <p:sp>
        <p:nvSpPr>
          <p:cNvPr id="6" name="Shape 3"/>
          <p:cNvSpPr/>
          <p:nvPr/>
        </p:nvSpPr>
        <p:spPr>
          <a:xfrm>
            <a:off x="640080" y="1691640"/>
            <a:ext cx="365760" cy="365760"/>
          </a:xfrm>
          <a:prstGeom prst="ellipse">
            <a:avLst/>
          </a:prstGeom>
          <a:solidFill>
            <a:srgbClr val="ECB748"/>
          </a:solidFill>
          <a:ln/>
        </p:spPr>
        <p:txBody>
          <a:bodyPr/>
          <a:lstStyle/>
          <a:p>
            <a:endParaRPr lang="en-US"/>
          </a:p>
        </p:txBody>
      </p:sp>
      <p:sp>
        <p:nvSpPr>
          <p:cNvPr id="7" name="Text 4"/>
          <p:cNvSpPr txBox="1"/>
          <p:nvPr/>
        </p:nvSpPr>
        <p:spPr>
          <a:xfrm>
            <a:off x="640080" y="1691640"/>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1143000" y="1664208"/>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Use the six dplyr functions: filter, select, mutate, arrange, group_by, summarise.</a:t>
            </a:r>
            <a:endParaRPr lang="en-US" sz="1350" dirty="0"/>
          </a:p>
        </p:txBody>
      </p:sp>
      <p:sp>
        <p:nvSpPr>
          <p:cNvPr id="9" name="Shape 6"/>
          <p:cNvSpPr/>
          <p:nvPr/>
        </p:nvSpPr>
        <p:spPr>
          <a:xfrm>
            <a:off x="640080" y="2258568"/>
            <a:ext cx="365760" cy="365760"/>
          </a:xfrm>
          <a:prstGeom prst="ellipse">
            <a:avLst/>
          </a:prstGeom>
          <a:solidFill>
            <a:srgbClr val="E3E3E3"/>
          </a:solidFill>
          <a:ln/>
        </p:spPr>
        <p:txBody>
          <a:bodyPr/>
          <a:lstStyle/>
          <a:p>
            <a:endParaRPr lang="en-US"/>
          </a:p>
        </p:txBody>
      </p:sp>
      <p:sp>
        <p:nvSpPr>
          <p:cNvPr id="10" name="Text 7"/>
          <p:cNvSpPr txBox="1"/>
          <p:nvPr/>
        </p:nvSpPr>
        <p:spPr>
          <a:xfrm>
            <a:off x="640080" y="2258568"/>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2</a:t>
            </a:r>
            <a:endParaRPr lang="en-US" sz="1400" dirty="0"/>
          </a:p>
        </p:txBody>
      </p:sp>
      <p:sp>
        <p:nvSpPr>
          <p:cNvPr id="11" name="Text 8"/>
          <p:cNvSpPr txBox="1"/>
          <p:nvPr/>
        </p:nvSpPr>
        <p:spPr>
          <a:xfrm>
            <a:off x="1143000" y="2231136"/>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Chain them with a pipe and read a pipeline one step at a time.</a:t>
            </a:r>
            <a:endParaRPr lang="en-US" sz="1350" dirty="0"/>
          </a:p>
        </p:txBody>
      </p:sp>
      <p:sp>
        <p:nvSpPr>
          <p:cNvPr id="12" name="Shape 9"/>
          <p:cNvSpPr/>
          <p:nvPr/>
        </p:nvSpPr>
        <p:spPr>
          <a:xfrm>
            <a:off x="640080" y="2825496"/>
            <a:ext cx="365760" cy="365760"/>
          </a:xfrm>
          <a:prstGeom prst="ellipse">
            <a:avLst/>
          </a:prstGeom>
          <a:solidFill>
            <a:srgbClr val="E3E3E3"/>
          </a:solidFill>
          <a:ln/>
        </p:spPr>
        <p:txBody>
          <a:bodyPr/>
          <a:lstStyle/>
          <a:p>
            <a:endParaRPr lang="en-US"/>
          </a:p>
        </p:txBody>
      </p:sp>
      <p:sp>
        <p:nvSpPr>
          <p:cNvPr id="13" name="Text 10"/>
          <p:cNvSpPr txBox="1"/>
          <p:nvPr/>
        </p:nvSpPr>
        <p:spPr>
          <a:xfrm>
            <a:off x="640080" y="2825496"/>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3</a:t>
            </a:r>
            <a:endParaRPr lang="en-US" sz="1400" dirty="0"/>
          </a:p>
        </p:txBody>
      </p:sp>
      <p:sp>
        <p:nvSpPr>
          <p:cNvPr id="14" name="Text 11"/>
          <p:cNvSpPr txBox="1"/>
          <p:nvPr/>
        </p:nvSpPr>
        <p:spPr>
          <a:xfrm>
            <a:off x="1143000" y="2798064"/>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Clean group and sex in patients.csv, and handle a missing value on purpose.</a:t>
            </a:r>
            <a:endParaRPr lang="en-US" sz="1350" dirty="0"/>
          </a:p>
        </p:txBody>
      </p:sp>
      <p:sp>
        <p:nvSpPr>
          <p:cNvPr id="15" name="Shape 12"/>
          <p:cNvSpPr/>
          <p:nvPr/>
        </p:nvSpPr>
        <p:spPr>
          <a:xfrm>
            <a:off x="640080" y="3392424"/>
            <a:ext cx="365760" cy="365760"/>
          </a:xfrm>
          <a:prstGeom prst="ellipse">
            <a:avLst/>
          </a:prstGeom>
          <a:solidFill>
            <a:srgbClr val="E3E3E3"/>
          </a:solidFill>
          <a:ln/>
        </p:spPr>
        <p:txBody>
          <a:bodyPr/>
          <a:lstStyle/>
          <a:p>
            <a:endParaRPr lang="en-US"/>
          </a:p>
        </p:txBody>
      </p:sp>
      <p:sp>
        <p:nvSpPr>
          <p:cNvPr id="16" name="Text 13"/>
          <p:cNvSpPr txBox="1"/>
          <p:nvPr/>
        </p:nvSpPr>
        <p:spPr>
          <a:xfrm>
            <a:off x="640080" y="3392424"/>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4</a:t>
            </a:r>
            <a:endParaRPr lang="en-US" sz="1400" dirty="0"/>
          </a:p>
        </p:txBody>
      </p:sp>
      <p:sp>
        <p:nvSpPr>
          <p:cNvPr id="17" name="Text 14"/>
          <p:cNvSpPr txBox="1"/>
          <p:nvPr/>
        </p:nvSpPr>
        <p:spPr>
          <a:xfrm>
            <a:off x="1143000" y="3364992"/>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Join two tables on a shared key and check the row count.</a:t>
            </a:r>
            <a:endParaRPr lang="en-US" sz="1350" dirty="0"/>
          </a:p>
        </p:txBody>
      </p:sp>
      <p:sp>
        <p:nvSpPr>
          <p:cNvPr id="18" name="Shape 15"/>
          <p:cNvSpPr/>
          <p:nvPr/>
        </p:nvSpPr>
        <p:spPr>
          <a:xfrm>
            <a:off x="640080" y="3959352"/>
            <a:ext cx="365760" cy="365760"/>
          </a:xfrm>
          <a:prstGeom prst="ellipse">
            <a:avLst/>
          </a:prstGeom>
          <a:solidFill>
            <a:srgbClr val="ECB748"/>
          </a:solidFill>
          <a:ln/>
        </p:spPr>
        <p:txBody>
          <a:bodyPr/>
          <a:lstStyle/>
          <a:p>
            <a:endParaRPr lang="en-US"/>
          </a:p>
        </p:txBody>
      </p:sp>
      <p:sp>
        <p:nvSpPr>
          <p:cNvPr id="19" name="Text 16"/>
          <p:cNvSpPr txBox="1"/>
          <p:nvPr/>
        </p:nvSpPr>
        <p:spPr>
          <a:xfrm>
            <a:off x="640080" y="3959352"/>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5</a:t>
            </a:r>
            <a:endParaRPr lang="en-US" sz="1400" dirty="0"/>
          </a:p>
        </p:txBody>
      </p:sp>
      <p:sp>
        <p:nvSpPr>
          <p:cNvPr id="20" name="Text 17"/>
          <p:cNvSpPr txBox="1"/>
          <p:nvPr/>
        </p:nvSpPr>
        <p:spPr>
          <a:xfrm>
            <a:off x="1143000" y="3931920"/>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Reshape between long and wide with pivot_longer and pivot_wider (melt and pivot in pandas).</a:t>
            </a:r>
            <a:endParaRPr lang="en-US" sz="1350" dirty="0"/>
          </a:p>
        </p:txBody>
      </p:sp>
      <p:sp>
        <p:nvSpPr>
          <p:cNvPr id="21" name="Shape 18"/>
          <p:cNvSpPr/>
          <p:nvPr/>
        </p:nvSpPr>
        <p:spPr>
          <a:xfrm>
            <a:off x="7498080" y="1691640"/>
            <a:ext cx="4023360" cy="2926080"/>
          </a:xfrm>
          <a:prstGeom prst="roundRect">
            <a:avLst>
              <a:gd name="adj" fmla="val 3125"/>
            </a:avLst>
          </a:prstGeom>
          <a:solidFill>
            <a:srgbClr val="F5F3EF"/>
          </a:solidFill>
          <a:ln w="12700">
            <a:solidFill>
              <a:srgbClr val="E3E3E3"/>
            </a:solidFill>
            <a:prstDash val="solid"/>
          </a:ln>
        </p:spPr>
        <p:txBody>
          <a:bodyPr/>
          <a:lstStyle/>
          <a:p>
            <a:endParaRPr lang="en-US"/>
          </a:p>
        </p:txBody>
      </p:sp>
      <p:sp>
        <p:nvSpPr>
          <p:cNvPr id="22" name="Text 19"/>
          <p:cNvSpPr txBox="1"/>
          <p:nvPr/>
        </p:nvSpPr>
        <p:spPr>
          <a:xfrm>
            <a:off x="7772400" y="1920240"/>
            <a:ext cx="3474720" cy="32004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WHY THIS SESSION MATTERS</a:t>
            </a:r>
            <a:endParaRPr lang="en-US" sz="1100" dirty="0"/>
          </a:p>
        </p:txBody>
      </p:sp>
      <p:sp>
        <p:nvSpPr>
          <p:cNvPr id="23" name="Text 20"/>
          <p:cNvSpPr txBox="1"/>
          <p:nvPr/>
        </p:nvSpPr>
        <p:spPr>
          <a:xfrm>
            <a:off x="7772400" y="2286000"/>
            <a:ext cx="3474720" cy="822960"/>
          </a:xfrm>
          <a:prstGeom prst="rect">
            <a:avLst/>
          </a:prstGeom>
          <a:noFill/>
          <a:ln/>
        </p:spPr>
        <p:txBody>
          <a:bodyPr wrap="square" rtlCol="0" anchor="ctr"/>
          <a:lstStyle/>
          <a:p>
            <a:pPr marL="0" indent="0">
              <a:buNone/>
            </a:pPr>
            <a:r>
              <a:rPr lang="en-US" sz="1300" dirty="0">
                <a:solidFill>
                  <a:srgbClr val="1C1C1C"/>
                </a:solidFill>
                <a:latin typeface="Arial" pitchFamily="34" charset="0"/>
                <a:ea typeface="Arial" pitchFamily="34" charset="-122"/>
                <a:cs typeface="Arial" pitchFamily="34" charset="-120"/>
              </a:rPr>
              <a:t>Session 7 taught you to spot the mess. These functions are how you fix it, in R and in pandas.</a:t>
            </a:r>
            <a:endParaRPr lang="en-US" sz="1300" dirty="0"/>
          </a:p>
        </p:txBody>
      </p:sp>
      <p:sp>
        <p:nvSpPr>
          <p:cNvPr id="24" name="Shape 21"/>
          <p:cNvSpPr/>
          <p:nvPr/>
        </p:nvSpPr>
        <p:spPr>
          <a:xfrm>
            <a:off x="7772400" y="3246120"/>
            <a:ext cx="3474720" cy="0"/>
          </a:xfrm>
          <a:prstGeom prst="line">
            <a:avLst/>
          </a:prstGeom>
          <a:noFill/>
          <a:ln w="12700">
            <a:solidFill>
              <a:srgbClr val="E3E3E3"/>
            </a:solidFill>
            <a:prstDash val="solid"/>
          </a:ln>
        </p:spPr>
        <p:txBody>
          <a:bodyPr/>
          <a:lstStyle/>
          <a:p>
            <a:endParaRPr lang="en-US"/>
          </a:p>
        </p:txBody>
      </p:sp>
      <p:sp>
        <p:nvSpPr>
          <p:cNvPr id="25" name="Text 22"/>
          <p:cNvSpPr txBox="1"/>
          <p:nvPr/>
        </p:nvSpPr>
        <p:spPr>
          <a:xfrm>
            <a:off x="7772400" y="3383280"/>
            <a:ext cx="347472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Milestone ahead</a:t>
            </a:r>
            <a:endParaRPr lang="en-US" sz="1100" dirty="0"/>
          </a:p>
        </p:txBody>
      </p:sp>
      <p:sp>
        <p:nvSpPr>
          <p:cNvPr id="26" name="Text 23"/>
          <p:cNvSpPr txBox="1"/>
          <p:nvPr/>
        </p:nvSpPr>
        <p:spPr>
          <a:xfrm>
            <a:off x="7772400" y="3703320"/>
            <a:ext cx="3474720" cy="822960"/>
          </a:xfrm>
          <a:prstGeom prst="rect">
            <a:avLst/>
          </a:prstGeom>
          <a:noFill/>
          <a:ln/>
        </p:spPr>
        <p:txBody>
          <a:bodyPr wrap="square" rtlCol="0" anchor="ctr"/>
          <a:lstStyle/>
          <a:p>
            <a:pPr marL="0" indent="0">
              <a:buNone/>
            </a:pPr>
            <a:r>
              <a:rPr lang="en-US" sz="1300" dirty="0">
                <a:solidFill>
                  <a:srgbClr val="1C1C1C"/>
                </a:solidFill>
                <a:latin typeface="Arial" pitchFamily="34" charset="0"/>
                <a:ea typeface="Arial" pitchFamily="34" charset="-122"/>
                <a:cs typeface="Arial" pitchFamily="34" charset="-120"/>
              </a:rPr>
              <a:t>By Session 9 your project dataset needs to be cleaned. These are the functions you will use to do it.</a:t>
            </a:r>
            <a:endParaRPr lang="en-US" sz="1300" dirty="0"/>
          </a:p>
        </p:txBody>
      </p:sp>
      <p:sp>
        <p:nvSpPr>
          <p:cNvPr id="28" name="Text 25"/>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60120"/>
            <a:ext cx="10881360" cy="64008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Six functions, and the one way each changes a table</a:t>
            </a:r>
            <a:endParaRPr lang="en-US" sz="2400" dirty="0"/>
          </a:p>
        </p:txBody>
      </p:sp>
      <p:sp>
        <p:nvSpPr>
          <p:cNvPr id="6" name="Shape 3"/>
          <p:cNvSpPr/>
          <p:nvPr/>
        </p:nvSpPr>
        <p:spPr>
          <a:xfrm>
            <a:off x="640080" y="1691640"/>
            <a:ext cx="3538728" cy="1965960"/>
          </a:xfrm>
          <a:prstGeom prst="roundRect">
            <a:avLst>
              <a:gd name="adj" fmla="val 4651"/>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22960" y="1828800"/>
            <a:ext cx="237744" cy="128016"/>
          </a:xfrm>
          <a:prstGeom prst="rect">
            <a:avLst/>
          </a:prstGeom>
          <a:solidFill>
            <a:srgbClr val="ECB748"/>
          </a:solidFill>
          <a:ln/>
        </p:spPr>
        <p:txBody>
          <a:bodyPr/>
          <a:lstStyle/>
          <a:p>
            <a:endParaRPr lang="en-US"/>
          </a:p>
        </p:txBody>
      </p:sp>
      <p:sp>
        <p:nvSpPr>
          <p:cNvPr id="8" name="Shape 5"/>
          <p:cNvSpPr/>
          <p:nvPr/>
        </p:nvSpPr>
        <p:spPr>
          <a:xfrm>
            <a:off x="1088136" y="1828800"/>
            <a:ext cx="237744" cy="128016"/>
          </a:xfrm>
          <a:prstGeom prst="rect">
            <a:avLst/>
          </a:prstGeom>
          <a:solidFill>
            <a:srgbClr val="ECB748"/>
          </a:solidFill>
          <a:ln/>
        </p:spPr>
        <p:txBody>
          <a:bodyPr/>
          <a:lstStyle/>
          <a:p>
            <a:endParaRPr lang="en-US"/>
          </a:p>
        </p:txBody>
      </p:sp>
      <p:sp>
        <p:nvSpPr>
          <p:cNvPr id="9" name="Shape 6"/>
          <p:cNvSpPr/>
          <p:nvPr/>
        </p:nvSpPr>
        <p:spPr>
          <a:xfrm>
            <a:off x="1353312" y="1828800"/>
            <a:ext cx="237744" cy="128016"/>
          </a:xfrm>
          <a:prstGeom prst="rect">
            <a:avLst/>
          </a:prstGeom>
          <a:solidFill>
            <a:srgbClr val="ECB748"/>
          </a:solidFill>
          <a:ln/>
        </p:spPr>
        <p:txBody>
          <a:bodyPr/>
          <a:lstStyle/>
          <a:p>
            <a:endParaRPr lang="en-US"/>
          </a:p>
        </p:txBody>
      </p:sp>
      <p:sp>
        <p:nvSpPr>
          <p:cNvPr id="10" name="Shape 7"/>
          <p:cNvSpPr/>
          <p:nvPr/>
        </p:nvSpPr>
        <p:spPr>
          <a:xfrm>
            <a:off x="1618488" y="1828800"/>
            <a:ext cx="237744" cy="128016"/>
          </a:xfrm>
          <a:prstGeom prst="rect">
            <a:avLst/>
          </a:prstGeom>
          <a:solidFill>
            <a:srgbClr val="ECB748"/>
          </a:solidFill>
          <a:ln/>
        </p:spPr>
        <p:txBody>
          <a:bodyPr/>
          <a:lstStyle/>
          <a:p>
            <a:endParaRPr lang="en-US"/>
          </a:p>
        </p:txBody>
      </p:sp>
      <p:sp>
        <p:nvSpPr>
          <p:cNvPr id="11" name="Shape 8"/>
          <p:cNvSpPr/>
          <p:nvPr/>
        </p:nvSpPr>
        <p:spPr>
          <a:xfrm>
            <a:off x="822960" y="1984248"/>
            <a:ext cx="237744" cy="128016"/>
          </a:xfrm>
          <a:prstGeom prst="rect">
            <a:avLst/>
          </a:prstGeom>
          <a:solidFill>
            <a:srgbClr val="6B6B64"/>
          </a:solidFill>
          <a:ln/>
        </p:spPr>
        <p:txBody>
          <a:bodyPr/>
          <a:lstStyle/>
          <a:p>
            <a:endParaRPr lang="en-US"/>
          </a:p>
        </p:txBody>
      </p:sp>
      <p:sp>
        <p:nvSpPr>
          <p:cNvPr id="12" name="Shape 9"/>
          <p:cNvSpPr/>
          <p:nvPr/>
        </p:nvSpPr>
        <p:spPr>
          <a:xfrm>
            <a:off x="1088136" y="1984248"/>
            <a:ext cx="237744" cy="128016"/>
          </a:xfrm>
          <a:prstGeom prst="rect">
            <a:avLst/>
          </a:prstGeom>
          <a:solidFill>
            <a:srgbClr val="6B6B64"/>
          </a:solidFill>
          <a:ln/>
        </p:spPr>
        <p:txBody>
          <a:bodyPr/>
          <a:lstStyle/>
          <a:p>
            <a:endParaRPr lang="en-US"/>
          </a:p>
        </p:txBody>
      </p:sp>
      <p:sp>
        <p:nvSpPr>
          <p:cNvPr id="13" name="Shape 10"/>
          <p:cNvSpPr/>
          <p:nvPr/>
        </p:nvSpPr>
        <p:spPr>
          <a:xfrm>
            <a:off x="1353312" y="1984248"/>
            <a:ext cx="237744" cy="128016"/>
          </a:xfrm>
          <a:prstGeom prst="rect">
            <a:avLst/>
          </a:prstGeom>
          <a:solidFill>
            <a:srgbClr val="6B6B64"/>
          </a:solidFill>
          <a:ln/>
        </p:spPr>
        <p:txBody>
          <a:bodyPr/>
          <a:lstStyle/>
          <a:p>
            <a:endParaRPr lang="en-US"/>
          </a:p>
        </p:txBody>
      </p:sp>
      <p:sp>
        <p:nvSpPr>
          <p:cNvPr id="14" name="Shape 11"/>
          <p:cNvSpPr/>
          <p:nvPr/>
        </p:nvSpPr>
        <p:spPr>
          <a:xfrm>
            <a:off x="1618488" y="1984248"/>
            <a:ext cx="237744" cy="128016"/>
          </a:xfrm>
          <a:prstGeom prst="rect">
            <a:avLst/>
          </a:prstGeom>
          <a:solidFill>
            <a:srgbClr val="6B6B64"/>
          </a:solidFill>
          <a:ln/>
        </p:spPr>
        <p:txBody>
          <a:bodyPr/>
          <a:lstStyle/>
          <a:p>
            <a:endParaRPr lang="en-US"/>
          </a:p>
        </p:txBody>
      </p:sp>
      <p:sp>
        <p:nvSpPr>
          <p:cNvPr id="15" name="Shape 12"/>
          <p:cNvSpPr/>
          <p:nvPr/>
        </p:nvSpPr>
        <p:spPr>
          <a:xfrm>
            <a:off x="822960" y="2139696"/>
            <a:ext cx="237744" cy="128016"/>
          </a:xfrm>
          <a:prstGeom prst="rect">
            <a:avLst/>
          </a:prstGeom>
          <a:solidFill>
            <a:srgbClr val="ECB748"/>
          </a:solidFill>
          <a:ln/>
        </p:spPr>
        <p:txBody>
          <a:bodyPr/>
          <a:lstStyle/>
          <a:p>
            <a:endParaRPr lang="en-US"/>
          </a:p>
        </p:txBody>
      </p:sp>
      <p:sp>
        <p:nvSpPr>
          <p:cNvPr id="16" name="Shape 13"/>
          <p:cNvSpPr/>
          <p:nvPr/>
        </p:nvSpPr>
        <p:spPr>
          <a:xfrm>
            <a:off x="1088136" y="2139696"/>
            <a:ext cx="237744" cy="128016"/>
          </a:xfrm>
          <a:prstGeom prst="rect">
            <a:avLst/>
          </a:prstGeom>
          <a:solidFill>
            <a:srgbClr val="ECB748"/>
          </a:solidFill>
          <a:ln/>
        </p:spPr>
        <p:txBody>
          <a:bodyPr/>
          <a:lstStyle/>
          <a:p>
            <a:endParaRPr lang="en-US"/>
          </a:p>
        </p:txBody>
      </p:sp>
      <p:sp>
        <p:nvSpPr>
          <p:cNvPr id="17" name="Shape 14"/>
          <p:cNvSpPr/>
          <p:nvPr/>
        </p:nvSpPr>
        <p:spPr>
          <a:xfrm>
            <a:off x="1353312" y="2139696"/>
            <a:ext cx="237744" cy="128016"/>
          </a:xfrm>
          <a:prstGeom prst="rect">
            <a:avLst/>
          </a:prstGeom>
          <a:solidFill>
            <a:srgbClr val="ECB748"/>
          </a:solidFill>
          <a:ln/>
        </p:spPr>
        <p:txBody>
          <a:bodyPr/>
          <a:lstStyle/>
          <a:p>
            <a:endParaRPr lang="en-US"/>
          </a:p>
        </p:txBody>
      </p:sp>
      <p:sp>
        <p:nvSpPr>
          <p:cNvPr id="18" name="Shape 15"/>
          <p:cNvSpPr/>
          <p:nvPr/>
        </p:nvSpPr>
        <p:spPr>
          <a:xfrm>
            <a:off x="1618488" y="2139696"/>
            <a:ext cx="237744" cy="128016"/>
          </a:xfrm>
          <a:prstGeom prst="rect">
            <a:avLst/>
          </a:prstGeom>
          <a:solidFill>
            <a:srgbClr val="ECB748"/>
          </a:solidFill>
          <a:ln/>
        </p:spPr>
        <p:txBody>
          <a:bodyPr/>
          <a:lstStyle/>
          <a:p>
            <a:endParaRPr lang="en-US"/>
          </a:p>
        </p:txBody>
      </p:sp>
      <p:sp>
        <p:nvSpPr>
          <p:cNvPr id="19" name="Shape 16"/>
          <p:cNvSpPr/>
          <p:nvPr/>
        </p:nvSpPr>
        <p:spPr>
          <a:xfrm>
            <a:off x="822960" y="2295144"/>
            <a:ext cx="237744" cy="128016"/>
          </a:xfrm>
          <a:prstGeom prst="rect">
            <a:avLst/>
          </a:prstGeom>
          <a:solidFill>
            <a:srgbClr val="6B6B64"/>
          </a:solidFill>
          <a:ln/>
        </p:spPr>
        <p:txBody>
          <a:bodyPr/>
          <a:lstStyle/>
          <a:p>
            <a:endParaRPr lang="en-US"/>
          </a:p>
        </p:txBody>
      </p:sp>
      <p:sp>
        <p:nvSpPr>
          <p:cNvPr id="20" name="Shape 17"/>
          <p:cNvSpPr/>
          <p:nvPr/>
        </p:nvSpPr>
        <p:spPr>
          <a:xfrm>
            <a:off x="1088136" y="2295144"/>
            <a:ext cx="237744" cy="128016"/>
          </a:xfrm>
          <a:prstGeom prst="rect">
            <a:avLst/>
          </a:prstGeom>
          <a:solidFill>
            <a:srgbClr val="6B6B64"/>
          </a:solidFill>
          <a:ln/>
        </p:spPr>
        <p:txBody>
          <a:bodyPr/>
          <a:lstStyle/>
          <a:p>
            <a:endParaRPr lang="en-US"/>
          </a:p>
        </p:txBody>
      </p:sp>
      <p:sp>
        <p:nvSpPr>
          <p:cNvPr id="21" name="Shape 18"/>
          <p:cNvSpPr/>
          <p:nvPr/>
        </p:nvSpPr>
        <p:spPr>
          <a:xfrm>
            <a:off x="1353312" y="2295144"/>
            <a:ext cx="237744" cy="128016"/>
          </a:xfrm>
          <a:prstGeom prst="rect">
            <a:avLst/>
          </a:prstGeom>
          <a:solidFill>
            <a:srgbClr val="6B6B64"/>
          </a:solidFill>
          <a:ln/>
        </p:spPr>
        <p:txBody>
          <a:bodyPr/>
          <a:lstStyle/>
          <a:p>
            <a:endParaRPr lang="en-US"/>
          </a:p>
        </p:txBody>
      </p:sp>
      <p:sp>
        <p:nvSpPr>
          <p:cNvPr id="22" name="Shape 19"/>
          <p:cNvSpPr/>
          <p:nvPr/>
        </p:nvSpPr>
        <p:spPr>
          <a:xfrm>
            <a:off x="1618488" y="2295144"/>
            <a:ext cx="237744" cy="128016"/>
          </a:xfrm>
          <a:prstGeom prst="rect">
            <a:avLst/>
          </a:prstGeom>
          <a:solidFill>
            <a:srgbClr val="6B6B64"/>
          </a:solidFill>
          <a:ln/>
        </p:spPr>
        <p:txBody>
          <a:bodyPr/>
          <a:lstStyle/>
          <a:p>
            <a:endParaRPr lang="en-US"/>
          </a:p>
        </p:txBody>
      </p:sp>
      <p:sp>
        <p:nvSpPr>
          <p:cNvPr id="23" name="Shape 20"/>
          <p:cNvSpPr/>
          <p:nvPr/>
        </p:nvSpPr>
        <p:spPr>
          <a:xfrm>
            <a:off x="2313432" y="1828800"/>
            <a:ext cx="237744" cy="128016"/>
          </a:xfrm>
          <a:prstGeom prst="rect">
            <a:avLst/>
          </a:prstGeom>
          <a:solidFill>
            <a:srgbClr val="ECB748"/>
          </a:solidFill>
          <a:ln/>
        </p:spPr>
        <p:txBody>
          <a:bodyPr/>
          <a:lstStyle/>
          <a:p>
            <a:endParaRPr lang="en-US"/>
          </a:p>
        </p:txBody>
      </p:sp>
      <p:sp>
        <p:nvSpPr>
          <p:cNvPr id="24" name="Shape 21"/>
          <p:cNvSpPr/>
          <p:nvPr/>
        </p:nvSpPr>
        <p:spPr>
          <a:xfrm>
            <a:off x="2578608" y="1828800"/>
            <a:ext cx="237744" cy="128016"/>
          </a:xfrm>
          <a:prstGeom prst="rect">
            <a:avLst/>
          </a:prstGeom>
          <a:solidFill>
            <a:srgbClr val="ECB748"/>
          </a:solidFill>
          <a:ln/>
        </p:spPr>
        <p:txBody>
          <a:bodyPr/>
          <a:lstStyle/>
          <a:p>
            <a:endParaRPr lang="en-US"/>
          </a:p>
        </p:txBody>
      </p:sp>
      <p:sp>
        <p:nvSpPr>
          <p:cNvPr id="25" name="Shape 22"/>
          <p:cNvSpPr/>
          <p:nvPr/>
        </p:nvSpPr>
        <p:spPr>
          <a:xfrm>
            <a:off x="2843784" y="1828800"/>
            <a:ext cx="237744" cy="128016"/>
          </a:xfrm>
          <a:prstGeom prst="rect">
            <a:avLst/>
          </a:prstGeom>
          <a:solidFill>
            <a:srgbClr val="ECB748"/>
          </a:solidFill>
          <a:ln/>
        </p:spPr>
        <p:txBody>
          <a:bodyPr/>
          <a:lstStyle/>
          <a:p>
            <a:endParaRPr lang="en-US"/>
          </a:p>
        </p:txBody>
      </p:sp>
      <p:sp>
        <p:nvSpPr>
          <p:cNvPr id="26" name="Shape 23"/>
          <p:cNvSpPr/>
          <p:nvPr/>
        </p:nvSpPr>
        <p:spPr>
          <a:xfrm>
            <a:off x="3108960" y="1828800"/>
            <a:ext cx="237744" cy="128016"/>
          </a:xfrm>
          <a:prstGeom prst="rect">
            <a:avLst/>
          </a:prstGeom>
          <a:solidFill>
            <a:srgbClr val="ECB748"/>
          </a:solidFill>
          <a:ln/>
        </p:spPr>
        <p:txBody>
          <a:bodyPr/>
          <a:lstStyle/>
          <a:p>
            <a:endParaRPr lang="en-US"/>
          </a:p>
        </p:txBody>
      </p:sp>
      <p:sp>
        <p:nvSpPr>
          <p:cNvPr id="27" name="Shape 24"/>
          <p:cNvSpPr/>
          <p:nvPr/>
        </p:nvSpPr>
        <p:spPr>
          <a:xfrm>
            <a:off x="2313432" y="1984248"/>
            <a:ext cx="237744" cy="128016"/>
          </a:xfrm>
          <a:prstGeom prst="rect">
            <a:avLst/>
          </a:prstGeom>
          <a:solidFill>
            <a:srgbClr val="ECB748"/>
          </a:solidFill>
          <a:ln/>
        </p:spPr>
        <p:txBody>
          <a:bodyPr/>
          <a:lstStyle/>
          <a:p>
            <a:endParaRPr lang="en-US"/>
          </a:p>
        </p:txBody>
      </p:sp>
      <p:sp>
        <p:nvSpPr>
          <p:cNvPr id="28" name="Shape 25"/>
          <p:cNvSpPr/>
          <p:nvPr/>
        </p:nvSpPr>
        <p:spPr>
          <a:xfrm>
            <a:off x="2578608" y="1984248"/>
            <a:ext cx="237744" cy="128016"/>
          </a:xfrm>
          <a:prstGeom prst="rect">
            <a:avLst/>
          </a:prstGeom>
          <a:solidFill>
            <a:srgbClr val="ECB748"/>
          </a:solidFill>
          <a:ln/>
        </p:spPr>
        <p:txBody>
          <a:bodyPr/>
          <a:lstStyle/>
          <a:p>
            <a:endParaRPr lang="en-US"/>
          </a:p>
        </p:txBody>
      </p:sp>
      <p:sp>
        <p:nvSpPr>
          <p:cNvPr id="29" name="Shape 26"/>
          <p:cNvSpPr/>
          <p:nvPr/>
        </p:nvSpPr>
        <p:spPr>
          <a:xfrm>
            <a:off x="2843784" y="1984248"/>
            <a:ext cx="237744" cy="128016"/>
          </a:xfrm>
          <a:prstGeom prst="rect">
            <a:avLst/>
          </a:prstGeom>
          <a:solidFill>
            <a:srgbClr val="ECB748"/>
          </a:solidFill>
          <a:ln/>
        </p:spPr>
        <p:txBody>
          <a:bodyPr/>
          <a:lstStyle/>
          <a:p>
            <a:endParaRPr lang="en-US"/>
          </a:p>
        </p:txBody>
      </p:sp>
      <p:sp>
        <p:nvSpPr>
          <p:cNvPr id="30" name="Shape 27"/>
          <p:cNvSpPr/>
          <p:nvPr/>
        </p:nvSpPr>
        <p:spPr>
          <a:xfrm>
            <a:off x="3108960" y="1984248"/>
            <a:ext cx="237744" cy="128016"/>
          </a:xfrm>
          <a:prstGeom prst="rect">
            <a:avLst/>
          </a:prstGeom>
          <a:solidFill>
            <a:srgbClr val="ECB748"/>
          </a:solidFill>
          <a:ln/>
        </p:spPr>
        <p:txBody>
          <a:bodyPr/>
          <a:lstStyle/>
          <a:p>
            <a:endParaRPr lang="en-US"/>
          </a:p>
        </p:txBody>
      </p:sp>
      <p:sp>
        <p:nvSpPr>
          <p:cNvPr id="31" name="Text 28"/>
          <p:cNvSpPr txBox="1"/>
          <p:nvPr/>
        </p:nvSpPr>
        <p:spPr>
          <a:xfrm>
            <a:off x="1901952" y="1783080"/>
            <a:ext cx="365760" cy="640080"/>
          </a:xfrm>
          <a:prstGeom prst="rect">
            <a:avLst/>
          </a:prstGeom>
          <a:noFill/>
          <a:ln/>
        </p:spPr>
        <p:txBody>
          <a:bodyPr wrap="square" lIns="0" tIns="0" rIns="0" bIns="0" rtlCol="0" anchor="ctr"/>
          <a:lstStyle/>
          <a:p>
            <a:pPr marL="0" indent="0" algn="ctr">
              <a:buNone/>
            </a:pPr>
            <a:r>
              <a:rPr lang="en-US" sz="1800" b="1" dirty="0">
                <a:solidFill>
                  <a:srgbClr val="ECB748"/>
                </a:solidFill>
                <a:latin typeface="Arial" pitchFamily="34" charset="0"/>
                <a:ea typeface="Arial" pitchFamily="34" charset="-122"/>
                <a:cs typeface="Arial" pitchFamily="34" charset="-120"/>
              </a:rPr>
              <a:t>→</a:t>
            </a:r>
            <a:endParaRPr lang="en-US" sz="1800" dirty="0"/>
          </a:p>
        </p:txBody>
      </p:sp>
      <p:sp>
        <p:nvSpPr>
          <p:cNvPr id="32" name="Text 29"/>
          <p:cNvSpPr txBox="1"/>
          <p:nvPr/>
        </p:nvSpPr>
        <p:spPr>
          <a:xfrm>
            <a:off x="822960" y="2514600"/>
            <a:ext cx="3172968" cy="25603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filter</a:t>
            </a:r>
            <a:endParaRPr lang="en-US" sz="1400" dirty="0"/>
          </a:p>
        </p:txBody>
      </p:sp>
      <p:sp>
        <p:nvSpPr>
          <p:cNvPr id="33" name="Text 30"/>
          <p:cNvSpPr txBox="1"/>
          <p:nvPr/>
        </p:nvSpPr>
        <p:spPr>
          <a:xfrm>
            <a:off x="822960" y="2770632"/>
            <a:ext cx="3172968" cy="228600"/>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Keep rows that match a condition</a:t>
            </a:r>
            <a:endParaRPr lang="en-US" sz="1100" dirty="0"/>
          </a:p>
        </p:txBody>
      </p:sp>
      <p:sp>
        <p:nvSpPr>
          <p:cNvPr id="34" name="Text 31"/>
          <p:cNvSpPr txBox="1"/>
          <p:nvPr/>
        </p:nvSpPr>
        <p:spPr>
          <a:xfrm>
            <a:off x="822960" y="301752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R   </a:t>
            </a:r>
            <a:r>
              <a:rPr lang="en-US" sz="1000" dirty="0">
                <a:solidFill>
                  <a:srgbClr val="FFFFFF"/>
                </a:solidFill>
                <a:latin typeface="Courier New" pitchFamily="34" charset="0"/>
                <a:ea typeface="Courier New" pitchFamily="34" charset="-122"/>
                <a:cs typeface="Courier New" pitchFamily="34" charset="-120"/>
              </a:rPr>
              <a:t>filter(species == "Gentoo")</a:t>
            </a:r>
            <a:endParaRPr lang="en-US" sz="1000" dirty="0"/>
          </a:p>
        </p:txBody>
      </p:sp>
      <p:sp>
        <p:nvSpPr>
          <p:cNvPr id="35" name="Text 32"/>
          <p:cNvSpPr txBox="1"/>
          <p:nvPr/>
        </p:nvSpPr>
        <p:spPr>
          <a:xfrm>
            <a:off x="822960" y="324612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py  </a:t>
            </a:r>
            <a:r>
              <a:rPr lang="en-US" sz="1000" dirty="0">
                <a:solidFill>
                  <a:srgbClr val="B3C9CD"/>
                </a:solidFill>
                <a:latin typeface="Courier New" pitchFamily="34" charset="0"/>
                <a:ea typeface="Courier New" pitchFamily="34" charset="-122"/>
                <a:cs typeface="Courier New" pitchFamily="34" charset="-120"/>
              </a:rPr>
              <a:t>df[df.species == "Gentoo"]</a:t>
            </a:r>
            <a:endParaRPr lang="en-US" sz="1000" dirty="0"/>
          </a:p>
        </p:txBody>
      </p:sp>
      <p:sp>
        <p:nvSpPr>
          <p:cNvPr id="36" name="Shape 33"/>
          <p:cNvSpPr/>
          <p:nvPr/>
        </p:nvSpPr>
        <p:spPr>
          <a:xfrm>
            <a:off x="4306824" y="1691640"/>
            <a:ext cx="3538728" cy="1965960"/>
          </a:xfrm>
          <a:prstGeom prst="roundRect">
            <a:avLst>
              <a:gd name="adj" fmla="val 4651"/>
            </a:avLst>
          </a:prstGeom>
          <a:solidFill>
            <a:srgbClr val="2E2E2E"/>
          </a:solidFill>
          <a:ln w="12700">
            <a:solidFill>
              <a:srgbClr val="444444"/>
            </a:solidFill>
            <a:prstDash val="solid"/>
          </a:ln>
        </p:spPr>
        <p:txBody>
          <a:bodyPr/>
          <a:lstStyle/>
          <a:p>
            <a:endParaRPr lang="en-US"/>
          </a:p>
        </p:txBody>
      </p:sp>
      <p:sp>
        <p:nvSpPr>
          <p:cNvPr id="37" name="Shape 34"/>
          <p:cNvSpPr/>
          <p:nvPr/>
        </p:nvSpPr>
        <p:spPr>
          <a:xfrm>
            <a:off x="4489704" y="1828800"/>
            <a:ext cx="237744" cy="128016"/>
          </a:xfrm>
          <a:prstGeom prst="rect">
            <a:avLst/>
          </a:prstGeom>
          <a:solidFill>
            <a:srgbClr val="ECB748"/>
          </a:solidFill>
          <a:ln/>
        </p:spPr>
        <p:txBody>
          <a:bodyPr/>
          <a:lstStyle/>
          <a:p>
            <a:endParaRPr lang="en-US"/>
          </a:p>
        </p:txBody>
      </p:sp>
      <p:sp>
        <p:nvSpPr>
          <p:cNvPr id="38" name="Shape 35"/>
          <p:cNvSpPr/>
          <p:nvPr/>
        </p:nvSpPr>
        <p:spPr>
          <a:xfrm>
            <a:off x="4754880" y="1828800"/>
            <a:ext cx="237744" cy="128016"/>
          </a:xfrm>
          <a:prstGeom prst="rect">
            <a:avLst/>
          </a:prstGeom>
          <a:solidFill>
            <a:srgbClr val="6B6B64"/>
          </a:solidFill>
          <a:ln/>
        </p:spPr>
        <p:txBody>
          <a:bodyPr/>
          <a:lstStyle/>
          <a:p>
            <a:endParaRPr lang="en-US"/>
          </a:p>
        </p:txBody>
      </p:sp>
      <p:sp>
        <p:nvSpPr>
          <p:cNvPr id="39" name="Shape 36"/>
          <p:cNvSpPr/>
          <p:nvPr/>
        </p:nvSpPr>
        <p:spPr>
          <a:xfrm>
            <a:off x="5020056" y="1828800"/>
            <a:ext cx="237744" cy="128016"/>
          </a:xfrm>
          <a:prstGeom prst="rect">
            <a:avLst/>
          </a:prstGeom>
          <a:solidFill>
            <a:srgbClr val="ECB748"/>
          </a:solidFill>
          <a:ln/>
        </p:spPr>
        <p:txBody>
          <a:bodyPr/>
          <a:lstStyle/>
          <a:p>
            <a:endParaRPr lang="en-US"/>
          </a:p>
        </p:txBody>
      </p:sp>
      <p:sp>
        <p:nvSpPr>
          <p:cNvPr id="40" name="Shape 37"/>
          <p:cNvSpPr/>
          <p:nvPr/>
        </p:nvSpPr>
        <p:spPr>
          <a:xfrm>
            <a:off x="5285232" y="1828800"/>
            <a:ext cx="237744" cy="128016"/>
          </a:xfrm>
          <a:prstGeom prst="rect">
            <a:avLst/>
          </a:prstGeom>
          <a:solidFill>
            <a:srgbClr val="6B6B64"/>
          </a:solidFill>
          <a:ln/>
        </p:spPr>
        <p:txBody>
          <a:bodyPr/>
          <a:lstStyle/>
          <a:p>
            <a:endParaRPr lang="en-US"/>
          </a:p>
        </p:txBody>
      </p:sp>
      <p:sp>
        <p:nvSpPr>
          <p:cNvPr id="41" name="Shape 38"/>
          <p:cNvSpPr/>
          <p:nvPr/>
        </p:nvSpPr>
        <p:spPr>
          <a:xfrm>
            <a:off x="4489704" y="1984248"/>
            <a:ext cx="237744" cy="128016"/>
          </a:xfrm>
          <a:prstGeom prst="rect">
            <a:avLst/>
          </a:prstGeom>
          <a:solidFill>
            <a:srgbClr val="ECB748"/>
          </a:solidFill>
          <a:ln/>
        </p:spPr>
        <p:txBody>
          <a:bodyPr/>
          <a:lstStyle/>
          <a:p>
            <a:endParaRPr lang="en-US"/>
          </a:p>
        </p:txBody>
      </p:sp>
      <p:sp>
        <p:nvSpPr>
          <p:cNvPr id="42" name="Shape 39"/>
          <p:cNvSpPr/>
          <p:nvPr/>
        </p:nvSpPr>
        <p:spPr>
          <a:xfrm>
            <a:off x="4754880" y="1984248"/>
            <a:ext cx="237744" cy="128016"/>
          </a:xfrm>
          <a:prstGeom prst="rect">
            <a:avLst/>
          </a:prstGeom>
          <a:solidFill>
            <a:srgbClr val="6B6B64"/>
          </a:solidFill>
          <a:ln/>
        </p:spPr>
        <p:txBody>
          <a:bodyPr/>
          <a:lstStyle/>
          <a:p>
            <a:endParaRPr lang="en-US"/>
          </a:p>
        </p:txBody>
      </p:sp>
      <p:sp>
        <p:nvSpPr>
          <p:cNvPr id="43" name="Shape 40"/>
          <p:cNvSpPr/>
          <p:nvPr/>
        </p:nvSpPr>
        <p:spPr>
          <a:xfrm>
            <a:off x="5020056" y="1984248"/>
            <a:ext cx="237744" cy="128016"/>
          </a:xfrm>
          <a:prstGeom prst="rect">
            <a:avLst/>
          </a:prstGeom>
          <a:solidFill>
            <a:srgbClr val="ECB748"/>
          </a:solidFill>
          <a:ln/>
        </p:spPr>
        <p:txBody>
          <a:bodyPr/>
          <a:lstStyle/>
          <a:p>
            <a:endParaRPr lang="en-US"/>
          </a:p>
        </p:txBody>
      </p:sp>
      <p:sp>
        <p:nvSpPr>
          <p:cNvPr id="44" name="Shape 41"/>
          <p:cNvSpPr/>
          <p:nvPr/>
        </p:nvSpPr>
        <p:spPr>
          <a:xfrm>
            <a:off x="5285232" y="1984248"/>
            <a:ext cx="237744" cy="128016"/>
          </a:xfrm>
          <a:prstGeom prst="rect">
            <a:avLst/>
          </a:prstGeom>
          <a:solidFill>
            <a:srgbClr val="6B6B64"/>
          </a:solidFill>
          <a:ln/>
        </p:spPr>
        <p:txBody>
          <a:bodyPr/>
          <a:lstStyle/>
          <a:p>
            <a:endParaRPr lang="en-US"/>
          </a:p>
        </p:txBody>
      </p:sp>
      <p:sp>
        <p:nvSpPr>
          <p:cNvPr id="45" name="Shape 42"/>
          <p:cNvSpPr/>
          <p:nvPr/>
        </p:nvSpPr>
        <p:spPr>
          <a:xfrm>
            <a:off x="4489704" y="2139696"/>
            <a:ext cx="237744" cy="128016"/>
          </a:xfrm>
          <a:prstGeom prst="rect">
            <a:avLst/>
          </a:prstGeom>
          <a:solidFill>
            <a:srgbClr val="ECB748"/>
          </a:solidFill>
          <a:ln/>
        </p:spPr>
        <p:txBody>
          <a:bodyPr/>
          <a:lstStyle/>
          <a:p>
            <a:endParaRPr lang="en-US"/>
          </a:p>
        </p:txBody>
      </p:sp>
      <p:sp>
        <p:nvSpPr>
          <p:cNvPr id="46" name="Shape 43"/>
          <p:cNvSpPr/>
          <p:nvPr/>
        </p:nvSpPr>
        <p:spPr>
          <a:xfrm>
            <a:off x="4754880" y="2139696"/>
            <a:ext cx="237744" cy="128016"/>
          </a:xfrm>
          <a:prstGeom prst="rect">
            <a:avLst/>
          </a:prstGeom>
          <a:solidFill>
            <a:srgbClr val="6B6B64"/>
          </a:solidFill>
          <a:ln/>
        </p:spPr>
        <p:txBody>
          <a:bodyPr/>
          <a:lstStyle/>
          <a:p>
            <a:endParaRPr lang="en-US"/>
          </a:p>
        </p:txBody>
      </p:sp>
      <p:sp>
        <p:nvSpPr>
          <p:cNvPr id="47" name="Shape 44"/>
          <p:cNvSpPr/>
          <p:nvPr/>
        </p:nvSpPr>
        <p:spPr>
          <a:xfrm>
            <a:off x="5020056" y="2139696"/>
            <a:ext cx="237744" cy="128016"/>
          </a:xfrm>
          <a:prstGeom prst="rect">
            <a:avLst/>
          </a:prstGeom>
          <a:solidFill>
            <a:srgbClr val="ECB748"/>
          </a:solidFill>
          <a:ln/>
        </p:spPr>
        <p:txBody>
          <a:bodyPr/>
          <a:lstStyle/>
          <a:p>
            <a:endParaRPr lang="en-US"/>
          </a:p>
        </p:txBody>
      </p:sp>
      <p:sp>
        <p:nvSpPr>
          <p:cNvPr id="48" name="Shape 45"/>
          <p:cNvSpPr/>
          <p:nvPr/>
        </p:nvSpPr>
        <p:spPr>
          <a:xfrm>
            <a:off x="5285232" y="2139696"/>
            <a:ext cx="237744" cy="128016"/>
          </a:xfrm>
          <a:prstGeom prst="rect">
            <a:avLst/>
          </a:prstGeom>
          <a:solidFill>
            <a:srgbClr val="6B6B64"/>
          </a:solidFill>
          <a:ln/>
        </p:spPr>
        <p:txBody>
          <a:bodyPr/>
          <a:lstStyle/>
          <a:p>
            <a:endParaRPr lang="en-US"/>
          </a:p>
        </p:txBody>
      </p:sp>
      <p:sp>
        <p:nvSpPr>
          <p:cNvPr id="49" name="Shape 46"/>
          <p:cNvSpPr/>
          <p:nvPr/>
        </p:nvSpPr>
        <p:spPr>
          <a:xfrm>
            <a:off x="4489704" y="2295144"/>
            <a:ext cx="237744" cy="128016"/>
          </a:xfrm>
          <a:prstGeom prst="rect">
            <a:avLst/>
          </a:prstGeom>
          <a:solidFill>
            <a:srgbClr val="ECB748"/>
          </a:solidFill>
          <a:ln/>
        </p:spPr>
        <p:txBody>
          <a:bodyPr/>
          <a:lstStyle/>
          <a:p>
            <a:endParaRPr lang="en-US"/>
          </a:p>
        </p:txBody>
      </p:sp>
      <p:sp>
        <p:nvSpPr>
          <p:cNvPr id="50" name="Shape 47"/>
          <p:cNvSpPr/>
          <p:nvPr/>
        </p:nvSpPr>
        <p:spPr>
          <a:xfrm>
            <a:off x="4754880" y="2295144"/>
            <a:ext cx="237744" cy="128016"/>
          </a:xfrm>
          <a:prstGeom prst="rect">
            <a:avLst/>
          </a:prstGeom>
          <a:solidFill>
            <a:srgbClr val="6B6B64"/>
          </a:solidFill>
          <a:ln/>
        </p:spPr>
        <p:txBody>
          <a:bodyPr/>
          <a:lstStyle/>
          <a:p>
            <a:endParaRPr lang="en-US"/>
          </a:p>
        </p:txBody>
      </p:sp>
      <p:sp>
        <p:nvSpPr>
          <p:cNvPr id="51" name="Shape 48"/>
          <p:cNvSpPr/>
          <p:nvPr/>
        </p:nvSpPr>
        <p:spPr>
          <a:xfrm>
            <a:off x="5020056" y="2295144"/>
            <a:ext cx="237744" cy="128016"/>
          </a:xfrm>
          <a:prstGeom prst="rect">
            <a:avLst/>
          </a:prstGeom>
          <a:solidFill>
            <a:srgbClr val="ECB748"/>
          </a:solidFill>
          <a:ln/>
        </p:spPr>
        <p:txBody>
          <a:bodyPr/>
          <a:lstStyle/>
          <a:p>
            <a:endParaRPr lang="en-US"/>
          </a:p>
        </p:txBody>
      </p:sp>
      <p:sp>
        <p:nvSpPr>
          <p:cNvPr id="52" name="Shape 49"/>
          <p:cNvSpPr/>
          <p:nvPr/>
        </p:nvSpPr>
        <p:spPr>
          <a:xfrm>
            <a:off x="5285232" y="2295144"/>
            <a:ext cx="237744" cy="128016"/>
          </a:xfrm>
          <a:prstGeom prst="rect">
            <a:avLst/>
          </a:prstGeom>
          <a:solidFill>
            <a:srgbClr val="6B6B64"/>
          </a:solidFill>
          <a:ln/>
        </p:spPr>
        <p:txBody>
          <a:bodyPr/>
          <a:lstStyle/>
          <a:p>
            <a:endParaRPr lang="en-US"/>
          </a:p>
        </p:txBody>
      </p:sp>
      <p:sp>
        <p:nvSpPr>
          <p:cNvPr id="53" name="Shape 50"/>
          <p:cNvSpPr/>
          <p:nvPr/>
        </p:nvSpPr>
        <p:spPr>
          <a:xfrm>
            <a:off x="5980176" y="1828800"/>
            <a:ext cx="237744" cy="128016"/>
          </a:xfrm>
          <a:prstGeom prst="rect">
            <a:avLst/>
          </a:prstGeom>
          <a:solidFill>
            <a:srgbClr val="ECB748"/>
          </a:solidFill>
          <a:ln/>
        </p:spPr>
        <p:txBody>
          <a:bodyPr/>
          <a:lstStyle/>
          <a:p>
            <a:endParaRPr lang="en-US"/>
          </a:p>
        </p:txBody>
      </p:sp>
      <p:sp>
        <p:nvSpPr>
          <p:cNvPr id="54" name="Shape 51"/>
          <p:cNvSpPr/>
          <p:nvPr/>
        </p:nvSpPr>
        <p:spPr>
          <a:xfrm>
            <a:off x="6245352" y="1828800"/>
            <a:ext cx="237744" cy="128016"/>
          </a:xfrm>
          <a:prstGeom prst="rect">
            <a:avLst/>
          </a:prstGeom>
          <a:solidFill>
            <a:srgbClr val="ECB748"/>
          </a:solidFill>
          <a:ln/>
        </p:spPr>
        <p:txBody>
          <a:bodyPr/>
          <a:lstStyle/>
          <a:p>
            <a:endParaRPr lang="en-US"/>
          </a:p>
        </p:txBody>
      </p:sp>
      <p:sp>
        <p:nvSpPr>
          <p:cNvPr id="55" name="Shape 52"/>
          <p:cNvSpPr/>
          <p:nvPr/>
        </p:nvSpPr>
        <p:spPr>
          <a:xfrm>
            <a:off x="5980176" y="1984248"/>
            <a:ext cx="237744" cy="128016"/>
          </a:xfrm>
          <a:prstGeom prst="rect">
            <a:avLst/>
          </a:prstGeom>
          <a:solidFill>
            <a:srgbClr val="ECB748"/>
          </a:solidFill>
          <a:ln/>
        </p:spPr>
        <p:txBody>
          <a:bodyPr/>
          <a:lstStyle/>
          <a:p>
            <a:endParaRPr lang="en-US"/>
          </a:p>
        </p:txBody>
      </p:sp>
      <p:sp>
        <p:nvSpPr>
          <p:cNvPr id="56" name="Shape 53"/>
          <p:cNvSpPr/>
          <p:nvPr/>
        </p:nvSpPr>
        <p:spPr>
          <a:xfrm>
            <a:off x="6245352" y="1984248"/>
            <a:ext cx="237744" cy="128016"/>
          </a:xfrm>
          <a:prstGeom prst="rect">
            <a:avLst/>
          </a:prstGeom>
          <a:solidFill>
            <a:srgbClr val="ECB748"/>
          </a:solidFill>
          <a:ln/>
        </p:spPr>
        <p:txBody>
          <a:bodyPr/>
          <a:lstStyle/>
          <a:p>
            <a:endParaRPr lang="en-US"/>
          </a:p>
        </p:txBody>
      </p:sp>
      <p:sp>
        <p:nvSpPr>
          <p:cNvPr id="57" name="Shape 54"/>
          <p:cNvSpPr/>
          <p:nvPr/>
        </p:nvSpPr>
        <p:spPr>
          <a:xfrm>
            <a:off x="5980176" y="2139696"/>
            <a:ext cx="237744" cy="128016"/>
          </a:xfrm>
          <a:prstGeom prst="rect">
            <a:avLst/>
          </a:prstGeom>
          <a:solidFill>
            <a:srgbClr val="ECB748"/>
          </a:solidFill>
          <a:ln/>
        </p:spPr>
        <p:txBody>
          <a:bodyPr/>
          <a:lstStyle/>
          <a:p>
            <a:endParaRPr lang="en-US"/>
          </a:p>
        </p:txBody>
      </p:sp>
      <p:sp>
        <p:nvSpPr>
          <p:cNvPr id="58" name="Shape 55"/>
          <p:cNvSpPr/>
          <p:nvPr/>
        </p:nvSpPr>
        <p:spPr>
          <a:xfrm>
            <a:off x="6245352" y="2139696"/>
            <a:ext cx="237744" cy="128016"/>
          </a:xfrm>
          <a:prstGeom prst="rect">
            <a:avLst/>
          </a:prstGeom>
          <a:solidFill>
            <a:srgbClr val="ECB748"/>
          </a:solidFill>
          <a:ln/>
        </p:spPr>
        <p:txBody>
          <a:bodyPr/>
          <a:lstStyle/>
          <a:p>
            <a:endParaRPr lang="en-US"/>
          </a:p>
        </p:txBody>
      </p:sp>
      <p:sp>
        <p:nvSpPr>
          <p:cNvPr id="59" name="Shape 56"/>
          <p:cNvSpPr/>
          <p:nvPr/>
        </p:nvSpPr>
        <p:spPr>
          <a:xfrm>
            <a:off x="5980176" y="2295144"/>
            <a:ext cx="237744" cy="128016"/>
          </a:xfrm>
          <a:prstGeom prst="rect">
            <a:avLst/>
          </a:prstGeom>
          <a:solidFill>
            <a:srgbClr val="ECB748"/>
          </a:solidFill>
          <a:ln/>
        </p:spPr>
        <p:txBody>
          <a:bodyPr/>
          <a:lstStyle/>
          <a:p>
            <a:endParaRPr lang="en-US"/>
          </a:p>
        </p:txBody>
      </p:sp>
      <p:sp>
        <p:nvSpPr>
          <p:cNvPr id="60" name="Shape 57"/>
          <p:cNvSpPr/>
          <p:nvPr/>
        </p:nvSpPr>
        <p:spPr>
          <a:xfrm>
            <a:off x="6245352" y="2295144"/>
            <a:ext cx="237744" cy="128016"/>
          </a:xfrm>
          <a:prstGeom prst="rect">
            <a:avLst/>
          </a:prstGeom>
          <a:solidFill>
            <a:srgbClr val="ECB748"/>
          </a:solidFill>
          <a:ln/>
        </p:spPr>
        <p:txBody>
          <a:bodyPr/>
          <a:lstStyle/>
          <a:p>
            <a:endParaRPr lang="en-US"/>
          </a:p>
        </p:txBody>
      </p:sp>
      <p:sp>
        <p:nvSpPr>
          <p:cNvPr id="61" name="Text 58"/>
          <p:cNvSpPr txBox="1"/>
          <p:nvPr/>
        </p:nvSpPr>
        <p:spPr>
          <a:xfrm>
            <a:off x="5568696" y="1783080"/>
            <a:ext cx="365760" cy="640080"/>
          </a:xfrm>
          <a:prstGeom prst="rect">
            <a:avLst/>
          </a:prstGeom>
          <a:noFill/>
          <a:ln/>
        </p:spPr>
        <p:txBody>
          <a:bodyPr wrap="square" lIns="0" tIns="0" rIns="0" bIns="0" rtlCol="0" anchor="ctr"/>
          <a:lstStyle/>
          <a:p>
            <a:pPr marL="0" indent="0" algn="ctr">
              <a:buNone/>
            </a:pPr>
            <a:r>
              <a:rPr lang="en-US" sz="1800" b="1" dirty="0">
                <a:solidFill>
                  <a:srgbClr val="ECB748"/>
                </a:solidFill>
                <a:latin typeface="Arial" pitchFamily="34" charset="0"/>
                <a:ea typeface="Arial" pitchFamily="34" charset="-122"/>
                <a:cs typeface="Arial" pitchFamily="34" charset="-120"/>
              </a:rPr>
              <a:t>→</a:t>
            </a:r>
            <a:endParaRPr lang="en-US" sz="1800" dirty="0"/>
          </a:p>
        </p:txBody>
      </p:sp>
      <p:sp>
        <p:nvSpPr>
          <p:cNvPr id="62" name="Text 59"/>
          <p:cNvSpPr txBox="1"/>
          <p:nvPr/>
        </p:nvSpPr>
        <p:spPr>
          <a:xfrm>
            <a:off x="4489704" y="2514600"/>
            <a:ext cx="3172968" cy="25603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select</a:t>
            </a:r>
            <a:endParaRPr lang="en-US" sz="1400" dirty="0"/>
          </a:p>
        </p:txBody>
      </p:sp>
      <p:sp>
        <p:nvSpPr>
          <p:cNvPr id="63" name="Text 60"/>
          <p:cNvSpPr txBox="1"/>
          <p:nvPr/>
        </p:nvSpPr>
        <p:spPr>
          <a:xfrm>
            <a:off x="4489704" y="2770632"/>
            <a:ext cx="3172968" cy="228600"/>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Keep or drop columns</a:t>
            </a:r>
            <a:endParaRPr lang="en-US" sz="1100" dirty="0"/>
          </a:p>
        </p:txBody>
      </p:sp>
      <p:sp>
        <p:nvSpPr>
          <p:cNvPr id="64" name="Text 61"/>
          <p:cNvSpPr txBox="1"/>
          <p:nvPr/>
        </p:nvSpPr>
        <p:spPr>
          <a:xfrm>
            <a:off x="4489704" y="301752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R   </a:t>
            </a:r>
            <a:r>
              <a:rPr lang="en-US" sz="1000" dirty="0">
                <a:solidFill>
                  <a:srgbClr val="FFFFFF"/>
                </a:solidFill>
                <a:latin typeface="Courier New" pitchFamily="34" charset="0"/>
                <a:ea typeface="Courier New" pitchFamily="34" charset="-122"/>
                <a:cs typeface="Courier New" pitchFamily="34" charset="-120"/>
              </a:rPr>
              <a:t>select(species, body_mass_g)</a:t>
            </a:r>
            <a:endParaRPr lang="en-US" sz="1000" dirty="0"/>
          </a:p>
        </p:txBody>
      </p:sp>
      <p:sp>
        <p:nvSpPr>
          <p:cNvPr id="65" name="Text 62"/>
          <p:cNvSpPr txBox="1"/>
          <p:nvPr/>
        </p:nvSpPr>
        <p:spPr>
          <a:xfrm>
            <a:off x="4489704" y="324612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py  </a:t>
            </a:r>
            <a:r>
              <a:rPr lang="en-US" sz="1000" dirty="0">
                <a:solidFill>
                  <a:srgbClr val="B3C9CD"/>
                </a:solidFill>
                <a:latin typeface="Courier New" pitchFamily="34" charset="0"/>
                <a:ea typeface="Courier New" pitchFamily="34" charset="-122"/>
                <a:cs typeface="Courier New" pitchFamily="34" charset="-120"/>
              </a:rPr>
              <a:t>df[["species", "body_mass_g"]]</a:t>
            </a:r>
            <a:endParaRPr lang="en-US" sz="1000" dirty="0"/>
          </a:p>
        </p:txBody>
      </p:sp>
      <p:sp>
        <p:nvSpPr>
          <p:cNvPr id="66" name="Shape 63"/>
          <p:cNvSpPr/>
          <p:nvPr/>
        </p:nvSpPr>
        <p:spPr>
          <a:xfrm>
            <a:off x="7973568" y="1691640"/>
            <a:ext cx="3538728" cy="1965960"/>
          </a:xfrm>
          <a:prstGeom prst="roundRect">
            <a:avLst>
              <a:gd name="adj" fmla="val 4651"/>
            </a:avLst>
          </a:prstGeom>
          <a:solidFill>
            <a:srgbClr val="2E2E2E"/>
          </a:solidFill>
          <a:ln w="12700">
            <a:solidFill>
              <a:srgbClr val="444444"/>
            </a:solidFill>
            <a:prstDash val="solid"/>
          </a:ln>
        </p:spPr>
        <p:txBody>
          <a:bodyPr/>
          <a:lstStyle/>
          <a:p>
            <a:endParaRPr lang="en-US"/>
          </a:p>
        </p:txBody>
      </p:sp>
      <p:sp>
        <p:nvSpPr>
          <p:cNvPr id="67" name="Shape 64"/>
          <p:cNvSpPr/>
          <p:nvPr/>
        </p:nvSpPr>
        <p:spPr>
          <a:xfrm>
            <a:off x="8156448" y="1828800"/>
            <a:ext cx="237744" cy="128016"/>
          </a:xfrm>
          <a:prstGeom prst="rect">
            <a:avLst/>
          </a:prstGeom>
          <a:solidFill>
            <a:srgbClr val="6B6B64"/>
          </a:solidFill>
          <a:ln/>
        </p:spPr>
        <p:txBody>
          <a:bodyPr/>
          <a:lstStyle/>
          <a:p>
            <a:endParaRPr lang="en-US"/>
          </a:p>
        </p:txBody>
      </p:sp>
      <p:sp>
        <p:nvSpPr>
          <p:cNvPr id="68" name="Shape 65"/>
          <p:cNvSpPr/>
          <p:nvPr/>
        </p:nvSpPr>
        <p:spPr>
          <a:xfrm>
            <a:off x="8421624" y="1828800"/>
            <a:ext cx="237744" cy="128016"/>
          </a:xfrm>
          <a:prstGeom prst="rect">
            <a:avLst/>
          </a:prstGeom>
          <a:solidFill>
            <a:srgbClr val="6B6B64"/>
          </a:solidFill>
          <a:ln/>
        </p:spPr>
        <p:txBody>
          <a:bodyPr/>
          <a:lstStyle/>
          <a:p>
            <a:endParaRPr lang="en-US"/>
          </a:p>
        </p:txBody>
      </p:sp>
      <p:sp>
        <p:nvSpPr>
          <p:cNvPr id="69" name="Shape 66"/>
          <p:cNvSpPr/>
          <p:nvPr/>
        </p:nvSpPr>
        <p:spPr>
          <a:xfrm>
            <a:off x="8686800" y="1828800"/>
            <a:ext cx="237744" cy="128016"/>
          </a:xfrm>
          <a:prstGeom prst="rect">
            <a:avLst/>
          </a:prstGeom>
          <a:solidFill>
            <a:srgbClr val="6B6B64"/>
          </a:solidFill>
          <a:ln/>
        </p:spPr>
        <p:txBody>
          <a:bodyPr/>
          <a:lstStyle/>
          <a:p>
            <a:endParaRPr lang="en-US"/>
          </a:p>
        </p:txBody>
      </p:sp>
      <p:sp>
        <p:nvSpPr>
          <p:cNvPr id="70" name="Shape 67"/>
          <p:cNvSpPr/>
          <p:nvPr/>
        </p:nvSpPr>
        <p:spPr>
          <a:xfrm>
            <a:off x="8951976" y="1828800"/>
            <a:ext cx="237744" cy="128016"/>
          </a:xfrm>
          <a:prstGeom prst="rect">
            <a:avLst/>
          </a:prstGeom>
          <a:solidFill>
            <a:srgbClr val="6B6B64"/>
          </a:solidFill>
          <a:ln/>
        </p:spPr>
        <p:txBody>
          <a:bodyPr/>
          <a:lstStyle/>
          <a:p>
            <a:endParaRPr lang="en-US"/>
          </a:p>
        </p:txBody>
      </p:sp>
      <p:sp>
        <p:nvSpPr>
          <p:cNvPr id="71" name="Shape 68"/>
          <p:cNvSpPr/>
          <p:nvPr/>
        </p:nvSpPr>
        <p:spPr>
          <a:xfrm>
            <a:off x="8156448" y="1984248"/>
            <a:ext cx="237744" cy="128016"/>
          </a:xfrm>
          <a:prstGeom prst="rect">
            <a:avLst/>
          </a:prstGeom>
          <a:solidFill>
            <a:srgbClr val="6B6B64"/>
          </a:solidFill>
          <a:ln/>
        </p:spPr>
        <p:txBody>
          <a:bodyPr/>
          <a:lstStyle/>
          <a:p>
            <a:endParaRPr lang="en-US"/>
          </a:p>
        </p:txBody>
      </p:sp>
      <p:sp>
        <p:nvSpPr>
          <p:cNvPr id="72" name="Shape 69"/>
          <p:cNvSpPr/>
          <p:nvPr/>
        </p:nvSpPr>
        <p:spPr>
          <a:xfrm>
            <a:off x="8421624" y="1984248"/>
            <a:ext cx="237744" cy="128016"/>
          </a:xfrm>
          <a:prstGeom prst="rect">
            <a:avLst/>
          </a:prstGeom>
          <a:solidFill>
            <a:srgbClr val="6B6B64"/>
          </a:solidFill>
          <a:ln/>
        </p:spPr>
        <p:txBody>
          <a:bodyPr/>
          <a:lstStyle/>
          <a:p>
            <a:endParaRPr lang="en-US"/>
          </a:p>
        </p:txBody>
      </p:sp>
      <p:sp>
        <p:nvSpPr>
          <p:cNvPr id="73" name="Shape 70"/>
          <p:cNvSpPr/>
          <p:nvPr/>
        </p:nvSpPr>
        <p:spPr>
          <a:xfrm>
            <a:off x="8686800" y="1984248"/>
            <a:ext cx="237744" cy="128016"/>
          </a:xfrm>
          <a:prstGeom prst="rect">
            <a:avLst/>
          </a:prstGeom>
          <a:solidFill>
            <a:srgbClr val="6B6B64"/>
          </a:solidFill>
          <a:ln/>
        </p:spPr>
        <p:txBody>
          <a:bodyPr/>
          <a:lstStyle/>
          <a:p>
            <a:endParaRPr lang="en-US"/>
          </a:p>
        </p:txBody>
      </p:sp>
      <p:sp>
        <p:nvSpPr>
          <p:cNvPr id="74" name="Shape 71"/>
          <p:cNvSpPr/>
          <p:nvPr/>
        </p:nvSpPr>
        <p:spPr>
          <a:xfrm>
            <a:off x="8951976" y="1984248"/>
            <a:ext cx="237744" cy="128016"/>
          </a:xfrm>
          <a:prstGeom prst="rect">
            <a:avLst/>
          </a:prstGeom>
          <a:solidFill>
            <a:srgbClr val="6B6B64"/>
          </a:solidFill>
          <a:ln/>
        </p:spPr>
        <p:txBody>
          <a:bodyPr/>
          <a:lstStyle/>
          <a:p>
            <a:endParaRPr lang="en-US"/>
          </a:p>
        </p:txBody>
      </p:sp>
      <p:sp>
        <p:nvSpPr>
          <p:cNvPr id="75" name="Shape 72"/>
          <p:cNvSpPr/>
          <p:nvPr/>
        </p:nvSpPr>
        <p:spPr>
          <a:xfrm>
            <a:off x="8156448" y="2139696"/>
            <a:ext cx="237744" cy="128016"/>
          </a:xfrm>
          <a:prstGeom prst="rect">
            <a:avLst/>
          </a:prstGeom>
          <a:solidFill>
            <a:srgbClr val="6B6B64"/>
          </a:solidFill>
          <a:ln/>
        </p:spPr>
        <p:txBody>
          <a:bodyPr/>
          <a:lstStyle/>
          <a:p>
            <a:endParaRPr lang="en-US"/>
          </a:p>
        </p:txBody>
      </p:sp>
      <p:sp>
        <p:nvSpPr>
          <p:cNvPr id="76" name="Shape 73"/>
          <p:cNvSpPr/>
          <p:nvPr/>
        </p:nvSpPr>
        <p:spPr>
          <a:xfrm>
            <a:off x="8421624" y="2139696"/>
            <a:ext cx="237744" cy="128016"/>
          </a:xfrm>
          <a:prstGeom prst="rect">
            <a:avLst/>
          </a:prstGeom>
          <a:solidFill>
            <a:srgbClr val="6B6B64"/>
          </a:solidFill>
          <a:ln/>
        </p:spPr>
        <p:txBody>
          <a:bodyPr/>
          <a:lstStyle/>
          <a:p>
            <a:endParaRPr lang="en-US"/>
          </a:p>
        </p:txBody>
      </p:sp>
      <p:sp>
        <p:nvSpPr>
          <p:cNvPr id="77" name="Shape 74"/>
          <p:cNvSpPr/>
          <p:nvPr/>
        </p:nvSpPr>
        <p:spPr>
          <a:xfrm>
            <a:off x="8686800" y="2139696"/>
            <a:ext cx="237744" cy="128016"/>
          </a:xfrm>
          <a:prstGeom prst="rect">
            <a:avLst/>
          </a:prstGeom>
          <a:solidFill>
            <a:srgbClr val="6B6B64"/>
          </a:solidFill>
          <a:ln/>
        </p:spPr>
        <p:txBody>
          <a:bodyPr/>
          <a:lstStyle/>
          <a:p>
            <a:endParaRPr lang="en-US"/>
          </a:p>
        </p:txBody>
      </p:sp>
      <p:sp>
        <p:nvSpPr>
          <p:cNvPr id="78" name="Shape 75"/>
          <p:cNvSpPr/>
          <p:nvPr/>
        </p:nvSpPr>
        <p:spPr>
          <a:xfrm>
            <a:off x="8951976" y="2139696"/>
            <a:ext cx="237744" cy="128016"/>
          </a:xfrm>
          <a:prstGeom prst="rect">
            <a:avLst/>
          </a:prstGeom>
          <a:solidFill>
            <a:srgbClr val="6B6B64"/>
          </a:solidFill>
          <a:ln/>
        </p:spPr>
        <p:txBody>
          <a:bodyPr/>
          <a:lstStyle/>
          <a:p>
            <a:endParaRPr lang="en-US"/>
          </a:p>
        </p:txBody>
      </p:sp>
      <p:sp>
        <p:nvSpPr>
          <p:cNvPr id="79" name="Shape 76"/>
          <p:cNvSpPr/>
          <p:nvPr/>
        </p:nvSpPr>
        <p:spPr>
          <a:xfrm>
            <a:off x="8156448" y="2295144"/>
            <a:ext cx="237744" cy="128016"/>
          </a:xfrm>
          <a:prstGeom prst="rect">
            <a:avLst/>
          </a:prstGeom>
          <a:solidFill>
            <a:srgbClr val="6B6B64"/>
          </a:solidFill>
          <a:ln/>
        </p:spPr>
        <p:txBody>
          <a:bodyPr/>
          <a:lstStyle/>
          <a:p>
            <a:endParaRPr lang="en-US"/>
          </a:p>
        </p:txBody>
      </p:sp>
      <p:sp>
        <p:nvSpPr>
          <p:cNvPr id="80" name="Shape 77"/>
          <p:cNvSpPr/>
          <p:nvPr/>
        </p:nvSpPr>
        <p:spPr>
          <a:xfrm>
            <a:off x="8421624" y="2295144"/>
            <a:ext cx="237744" cy="128016"/>
          </a:xfrm>
          <a:prstGeom prst="rect">
            <a:avLst/>
          </a:prstGeom>
          <a:solidFill>
            <a:srgbClr val="6B6B64"/>
          </a:solidFill>
          <a:ln/>
        </p:spPr>
        <p:txBody>
          <a:bodyPr/>
          <a:lstStyle/>
          <a:p>
            <a:endParaRPr lang="en-US"/>
          </a:p>
        </p:txBody>
      </p:sp>
      <p:sp>
        <p:nvSpPr>
          <p:cNvPr id="81" name="Shape 78"/>
          <p:cNvSpPr/>
          <p:nvPr/>
        </p:nvSpPr>
        <p:spPr>
          <a:xfrm>
            <a:off x="8686800" y="2295144"/>
            <a:ext cx="237744" cy="128016"/>
          </a:xfrm>
          <a:prstGeom prst="rect">
            <a:avLst/>
          </a:prstGeom>
          <a:solidFill>
            <a:srgbClr val="6B6B64"/>
          </a:solidFill>
          <a:ln/>
        </p:spPr>
        <p:txBody>
          <a:bodyPr/>
          <a:lstStyle/>
          <a:p>
            <a:endParaRPr lang="en-US"/>
          </a:p>
        </p:txBody>
      </p:sp>
      <p:sp>
        <p:nvSpPr>
          <p:cNvPr id="82" name="Shape 79"/>
          <p:cNvSpPr/>
          <p:nvPr/>
        </p:nvSpPr>
        <p:spPr>
          <a:xfrm>
            <a:off x="8951976" y="2295144"/>
            <a:ext cx="237744" cy="128016"/>
          </a:xfrm>
          <a:prstGeom prst="rect">
            <a:avLst/>
          </a:prstGeom>
          <a:solidFill>
            <a:srgbClr val="6B6B64"/>
          </a:solidFill>
          <a:ln/>
        </p:spPr>
        <p:txBody>
          <a:bodyPr/>
          <a:lstStyle/>
          <a:p>
            <a:endParaRPr lang="en-US"/>
          </a:p>
        </p:txBody>
      </p:sp>
      <p:sp>
        <p:nvSpPr>
          <p:cNvPr id="83" name="Shape 80"/>
          <p:cNvSpPr/>
          <p:nvPr/>
        </p:nvSpPr>
        <p:spPr>
          <a:xfrm>
            <a:off x="9646920" y="1828800"/>
            <a:ext cx="237744" cy="128016"/>
          </a:xfrm>
          <a:prstGeom prst="rect">
            <a:avLst/>
          </a:prstGeom>
          <a:solidFill>
            <a:srgbClr val="6B6B64"/>
          </a:solidFill>
          <a:ln/>
        </p:spPr>
        <p:txBody>
          <a:bodyPr/>
          <a:lstStyle/>
          <a:p>
            <a:endParaRPr lang="en-US"/>
          </a:p>
        </p:txBody>
      </p:sp>
      <p:sp>
        <p:nvSpPr>
          <p:cNvPr id="84" name="Shape 81"/>
          <p:cNvSpPr/>
          <p:nvPr/>
        </p:nvSpPr>
        <p:spPr>
          <a:xfrm>
            <a:off x="9912096" y="1828800"/>
            <a:ext cx="237744" cy="128016"/>
          </a:xfrm>
          <a:prstGeom prst="rect">
            <a:avLst/>
          </a:prstGeom>
          <a:solidFill>
            <a:srgbClr val="6B6B64"/>
          </a:solidFill>
          <a:ln/>
        </p:spPr>
        <p:txBody>
          <a:bodyPr/>
          <a:lstStyle/>
          <a:p>
            <a:endParaRPr lang="en-US"/>
          </a:p>
        </p:txBody>
      </p:sp>
      <p:sp>
        <p:nvSpPr>
          <p:cNvPr id="85" name="Shape 82"/>
          <p:cNvSpPr/>
          <p:nvPr/>
        </p:nvSpPr>
        <p:spPr>
          <a:xfrm>
            <a:off x="10177272" y="1828800"/>
            <a:ext cx="237744" cy="128016"/>
          </a:xfrm>
          <a:prstGeom prst="rect">
            <a:avLst/>
          </a:prstGeom>
          <a:solidFill>
            <a:srgbClr val="6B6B64"/>
          </a:solidFill>
          <a:ln/>
        </p:spPr>
        <p:txBody>
          <a:bodyPr/>
          <a:lstStyle/>
          <a:p>
            <a:endParaRPr lang="en-US"/>
          </a:p>
        </p:txBody>
      </p:sp>
      <p:sp>
        <p:nvSpPr>
          <p:cNvPr id="86" name="Shape 83"/>
          <p:cNvSpPr/>
          <p:nvPr/>
        </p:nvSpPr>
        <p:spPr>
          <a:xfrm>
            <a:off x="10442448" y="1828800"/>
            <a:ext cx="237744" cy="128016"/>
          </a:xfrm>
          <a:prstGeom prst="rect">
            <a:avLst/>
          </a:prstGeom>
          <a:solidFill>
            <a:srgbClr val="6B6B64"/>
          </a:solidFill>
          <a:ln/>
        </p:spPr>
        <p:txBody>
          <a:bodyPr/>
          <a:lstStyle/>
          <a:p>
            <a:endParaRPr lang="en-US"/>
          </a:p>
        </p:txBody>
      </p:sp>
      <p:sp>
        <p:nvSpPr>
          <p:cNvPr id="87" name="Shape 84"/>
          <p:cNvSpPr/>
          <p:nvPr/>
        </p:nvSpPr>
        <p:spPr>
          <a:xfrm>
            <a:off x="10707624" y="1828800"/>
            <a:ext cx="237744" cy="128016"/>
          </a:xfrm>
          <a:prstGeom prst="rect">
            <a:avLst/>
          </a:prstGeom>
          <a:solidFill>
            <a:srgbClr val="ECB748"/>
          </a:solidFill>
          <a:ln/>
        </p:spPr>
        <p:txBody>
          <a:bodyPr/>
          <a:lstStyle/>
          <a:p>
            <a:endParaRPr lang="en-US"/>
          </a:p>
        </p:txBody>
      </p:sp>
      <p:sp>
        <p:nvSpPr>
          <p:cNvPr id="88" name="Shape 85"/>
          <p:cNvSpPr/>
          <p:nvPr/>
        </p:nvSpPr>
        <p:spPr>
          <a:xfrm>
            <a:off x="9646920" y="1984248"/>
            <a:ext cx="237744" cy="128016"/>
          </a:xfrm>
          <a:prstGeom prst="rect">
            <a:avLst/>
          </a:prstGeom>
          <a:solidFill>
            <a:srgbClr val="6B6B64"/>
          </a:solidFill>
          <a:ln/>
        </p:spPr>
        <p:txBody>
          <a:bodyPr/>
          <a:lstStyle/>
          <a:p>
            <a:endParaRPr lang="en-US"/>
          </a:p>
        </p:txBody>
      </p:sp>
      <p:sp>
        <p:nvSpPr>
          <p:cNvPr id="89" name="Shape 86"/>
          <p:cNvSpPr/>
          <p:nvPr/>
        </p:nvSpPr>
        <p:spPr>
          <a:xfrm>
            <a:off x="9912096" y="1984248"/>
            <a:ext cx="237744" cy="128016"/>
          </a:xfrm>
          <a:prstGeom prst="rect">
            <a:avLst/>
          </a:prstGeom>
          <a:solidFill>
            <a:srgbClr val="6B6B64"/>
          </a:solidFill>
          <a:ln/>
        </p:spPr>
        <p:txBody>
          <a:bodyPr/>
          <a:lstStyle/>
          <a:p>
            <a:endParaRPr lang="en-US"/>
          </a:p>
        </p:txBody>
      </p:sp>
      <p:sp>
        <p:nvSpPr>
          <p:cNvPr id="90" name="Shape 87"/>
          <p:cNvSpPr/>
          <p:nvPr/>
        </p:nvSpPr>
        <p:spPr>
          <a:xfrm>
            <a:off x="10177272" y="1984248"/>
            <a:ext cx="237744" cy="128016"/>
          </a:xfrm>
          <a:prstGeom prst="rect">
            <a:avLst/>
          </a:prstGeom>
          <a:solidFill>
            <a:srgbClr val="6B6B64"/>
          </a:solidFill>
          <a:ln/>
        </p:spPr>
        <p:txBody>
          <a:bodyPr/>
          <a:lstStyle/>
          <a:p>
            <a:endParaRPr lang="en-US"/>
          </a:p>
        </p:txBody>
      </p:sp>
      <p:sp>
        <p:nvSpPr>
          <p:cNvPr id="91" name="Shape 88"/>
          <p:cNvSpPr/>
          <p:nvPr/>
        </p:nvSpPr>
        <p:spPr>
          <a:xfrm>
            <a:off x="10442448" y="1984248"/>
            <a:ext cx="237744" cy="128016"/>
          </a:xfrm>
          <a:prstGeom prst="rect">
            <a:avLst/>
          </a:prstGeom>
          <a:solidFill>
            <a:srgbClr val="6B6B64"/>
          </a:solidFill>
          <a:ln/>
        </p:spPr>
        <p:txBody>
          <a:bodyPr/>
          <a:lstStyle/>
          <a:p>
            <a:endParaRPr lang="en-US"/>
          </a:p>
        </p:txBody>
      </p:sp>
      <p:sp>
        <p:nvSpPr>
          <p:cNvPr id="92" name="Shape 89"/>
          <p:cNvSpPr/>
          <p:nvPr/>
        </p:nvSpPr>
        <p:spPr>
          <a:xfrm>
            <a:off x="10707624" y="1984248"/>
            <a:ext cx="237744" cy="128016"/>
          </a:xfrm>
          <a:prstGeom prst="rect">
            <a:avLst/>
          </a:prstGeom>
          <a:solidFill>
            <a:srgbClr val="ECB748"/>
          </a:solidFill>
          <a:ln/>
        </p:spPr>
        <p:txBody>
          <a:bodyPr/>
          <a:lstStyle/>
          <a:p>
            <a:endParaRPr lang="en-US"/>
          </a:p>
        </p:txBody>
      </p:sp>
      <p:sp>
        <p:nvSpPr>
          <p:cNvPr id="93" name="Shape 90"/>
          <p:cNvSpPr/>
          <p:nvPr/>
        </p:nvSpPr>
        <p:spPr>
          <a:xfrm>
            <a:off x="9646920" y="2139696"/>
            <a:ext cx="237744" cy="128016"/>
          </a:xfrm>
          <a:prstGeom prst="rect">
            <a:avLst/>
          </a:prstGeom>
          <a:solidFill>
            <a:srgbClr val="6B6B64"/>
          </a:solidFill>
          <a:ln/>
        </p:spPr>
        <p:txBody>
          <a:bodyPr/>
          <a:lstStyle/>
          <a:p>
            <a:endParaRPr lang="en-US"/>
          </a:p>
        </p:txBody>
      </p:sp>
      <p:sp>
        <p:nvSpPr>
          <p:cNvPr id="94" name="Shape 91"/>
          <p:cNvSpPr/>
          <p:nvPr/>
        </p:nvSpPr>
        <p:spPr>
          <a:xfrm>
            <a:off x="9912096" y="2139696"/>
            <a:ext cx="237744" cy="128016"/>
          </a:xfrm>
          <a:prstGeom prst="rect">
            <a:avLst/>
          </a:prstGeom>
          <a:solidFill>
            <a:srgbClr val="6B6B64"/>
          </a:solidFill>
          <a:ln/>
        </p:spPr>
        <p:txBody>
          <a:bodyPr/>
          <a:lstStyle/>
          <a:p>
            <a:endParaRPr lang="en-US"/>
          </a:p>
        </p:txBody>
      </p:sp>
      <p:sp>
        <p:nvSpPr>
          <p:cNvPr id="95" name="Shape 92"/>
          <p:cNvSpPr/>
          <p:nvPr/>
        </p:nvSpPr>
        <p:spPr>
          <a:xfrm>
            <a:off x="10177272" y="2139696"/>
            <a:ext cx="237744" cy="128016"/>
          </a:xfrm>
          <a:prstGeom prst="rect">
            <a:avLst/>
          </a:prstGeom>
          <a:solidFill>
            <a:srgbClr val="6B6B64"/>
          </a:solidFill>
          <a:ln/>
        </p:spPr>
        <p:txBody>
          <a:bodyPr/>
          <a:lstStyle/>
          <a:p>
            <a:endParaRPr lang="en-US"/>
          </a:p>
        </p:txBody>
      </p:sp>
      <p:sp>
        <p:nvSpPr>
          <p:cNvPr id="96" name="Shape 93"/>
          <p:cNvSpPr/>
          <p:nvPr/>
        </p:nvSpPr>
        <p:spPr>
          <a:xfrm>
            <a:off x="10442448" y="2139696"/>
            <a:ext cx="237744" cy="128016"/>
          </a:xfrm>
          <a:prstGeom prst="rect">
            <a:avLst/>
          </a:prstGeom>
          <a:solidFill>
            <a:srgbClr val="6B6B64"/>
          </a:solidFill>
          <a:ln/>
        </p:spPr>
        <p:txBody>
          <a:bodyPr/>
          <a:lstStyle/>
          <a:p>
            <a:endParaRPr lang="en-US"/>
          </a:p>
        </p:txBody>
      </p:sp>
      <p:sp>
        <p:nvSpPr>
          <p:cNvPr id="97" name="Shape 94"/>
          <p:cNvSpPr/>
          <p:nvPr/>
        </p:nvSpPr>
        <p:spPr>
          <a:xfrm>
            <a:off x="10707624" y="2139696"/>
            <a:ext cx="237744" cy="128016"/>
          </a:xfrm>
          <a:prstGeom prst="rect">
            <a:avLst/>
          </a:prstGeom>
          <a:solidFill>
            <a:srgbClr val="ECB748"/>
          </a:solidFill>
          <a:ln/>
        </p:spPr>
        <p:txBody>
          <a:bodyPr/>
          <a:lstStyle/>
          <a:p>
            <a:endParaRPr lang="en-US"/>
          </a:p>
        </p:txBody>
      </p:sp>
      <p:sp>
        <p:nvSpPr>
          <p:cNvPr id="98" name="Shape 95"/>
          <p:cNvSpPr/>
          <p:nvPr/>
        </p:nvSpPr>
        <p:spPr>
          <a:xfrm>
            <a:off x="9646920" y="2295144"/>
            <a:ext cx="237744" cy="128016"/>
          </a:xfrm>
          <a:prstGeom prst="rect">
            <a:avLst/>
          </a:prstGeom>
          <a:solidFill>
            <a:srgbClr val="6B6B64"/>
          </a:solidFill>
          <a:ln/>
        </p:spPr>
        <p:txBody>
          <a:bodyPr/>
          <a:lstStyle/>
          <a:p>
            <a:endParaRPr lang="en-US"/>
          </a:p>
        </p:txBody>
      </p:sp>
      <p:sp>
        <p:nvSpPr>
          <p:cNvPr id="99" name="Shape 96"/>
          <p:cNvSpPr/>
          <p:nvPr/>
        </p:nvSpPr>
        <p:spPr>
          <a:xfrm>
            <a:off x="9912096" y="2295144"/>
            <a:ext cx="237744" cy="128016"/>
          </a:xfrm>
          <a:prstGeom prst="rect">
            <a:avLst/>
          </a:prstGeom>
          <a:solidFill>
            <a:srgbClr val="6B6B64"/>
          </a:solidFill>
          <a:ln/>
        </p:spPr>
        <p:txBody>
          <a:bodyPr/>
          <a:lstStyle/>
          <a:p>
            <a:endParaRPr lang="en-US"/>
          </a:p>
        </p:txBody>
      </p:sp>
      <p:sp>
        <p:nvSpPr>
          <p:cNvPr id="100" name="Shape 97"/>
          <p:cNvSpPr/>
          <p:nvPr/>
        </p:nvSpPr>
        <p:spPr>
          <a:xfrm>
            <a:off x="10177272" y="2295144"/>
            <a:ext cx="237744" cy="128016"/>
          </a:xfrm>
          <a:prstGeom prst="rect">
            <a:avLst/>
          </a:prstGeom>
          <a:solidFill>
            <a:srgbClr val="6B6B64"/>
          </a:solidFill>
          <a:ln/>
        </p:spPr>
        <p:txBody>
          <a:bodyPr/>
          <a:lstStyle/>
          <a:p>
            <a:endParaRPr lang="en-US"/>
          </a:p>
        </p:txBody>
      </p:sp>
      <p:sp>
        <p:nvSpPr>
          <p:cNvPr id="101" name="Shape 98"/>
          <p:cNvSpPr/>
          <p:nvPr/>
        </p:nvSpPr>
        <p:spPr>
          <a:xfrm>
            <a:off x="10442448" y="2295144"/>
            <a:ext cx="237744" cy="128016"/>
          </a:xfrm>
          <a:prstGeom prst="rect">
            <a:avLst/>
          </a:prstGeom>
          <a:solidFill>
            <a:srgbClr val="6B6B64"/>
          </a:solidFill>
          <a:ln/>
        </p:spPr>
        <p:txBody>
          <a:bodyPr/>
          <a:lstStyle/>
          <a:p>
            <a:endParaRPr lang="en-US"/>
          </a:p>
        </p:txBody>
      </p:sp>
      <p:sp>
        <p:nvSpPr>
          <p:cNvPr id="102" name="Shape 99"/>
          <p:cNvSpPr/>
          <p:nvPr/>
        </p:nvSpPr>
        <p:spPr>
          <a:xfrm>
            <a:off x="10707624" y="2295144"/>
            <a:ext cx="237744" cy="128016"/>
          </a:xfrm>
          <a:prstGeom prst="rect">
            <a:avLst/>
          </a:prstGeom>
          <a:solidFill>
            <a:srgbClr val="ECB748"/>
          </a:solidFill>
          <a:ln/>
        </p:spPr>
        <p:txBody>
          <a:bodyPr/>
          <a:lstStyle/>
          <a:p>
            <a:endParaRPr lang="en-US"/>
          </a:p>
        </p:txBody>
      </p:sp>
      <p:sp>
        <p:nvSpPr>
          <p:cNvPr id="103" name="Text 100"/>
          <p:cNvSpPr txBox="1"/>
          <p:nvPr/>
        </p:nvSpPr>
        <p:spPr>
          <a:xfrm>
            <a:off x="9235440" y="1783080"/>
            <a:ext cx="365760" cy="640080"/>
          </a:xfrm>
          <a:prstGeom prst="rect">
            <a:avLst/>
          </a:prstGeom>
          <a:noFill/>
          <a:ln/>
        </p:spPr>
        <p:txBody>
          <a:bodyPr wrap="square" lIns="0" tIns="0" rIns="0" bIns="0" rtlCol="0" anchor="ctr"/>
          <a:lstStyle/>
          <a:p>
            <a:pPr marL="0" indent="0" algn="ctr">
              <a:buNone/>
            </a:pPr>
            <a:r>
              <a:rPr lang="en-US" sz="1800" b="1" dirty="0">
                <a:solidFill>
                  <a:srgbClr val="ECB748"/>
                </a:solidFill>
                <a:latin typeface="Arial" pitchFamily="34" charset="0"/>
                <a:ea typeface="Arial" pitchFamily="34" charset="-122"/>
                <a:cs typeface="Arial" pitchFamily="34" charset="-120"/>
              </a:rPr>
              <a:t>→</a:t>
            </a:r>
            <a:endParaRPr lang="en-US" sz="1800" dirty="0"/>
          </a:p>
        </p:txBody>
      </p:sp>
      <p:sp>
        <p:nvSpPr>
          <p:cNvPr id="104" name="Text 101"/>
          <p:cNvSpPr txBox="1"/>
          <p:nvPr/>
        </p:nvSpPr>
        <p:spPr>
          <a:xfrm>
            <a:off x="8156448" y="2514600"/>
            <a:ext cx="3172968" cy="25603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mutate</a:t>
            </a:r>
            <a:endParaRPr lang="en-US" sz="1400" dirty="0"/>
          </a:p>
        </p:txBody>
      </p:sp>
      <p:sp>
        <p:nvSpPr>
          <p:cNvPr id="105" name="Text 102"/>
          <p:cNvSpPr txBox="1"/>
          <p:nvPr/>
        </p:nvSpPr>
        <p:spPr>
          <a:xfrm>
            <a:off x="8156448" y="2770632"/>
            <a:ext cx="3172968" cy="228600"/>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Create or change a column</a:t>
            </a:r>
            <a:endParaRPr lang="en-US" sz="1100" dirty="0"/>
          </a:p>
        </p:txBody>
      </p:sp>
      <p:sp>
        <p:nvSpPr>
          <p:cNvPr id="106" name="Text 103"/>
          <p:cNvSpPr txBox="1"/>
          <p:nvPr/>
        </p:nvSpPr>
        <p:spPr>
          <a:xfrm>
            <a:off x="8156448" y="301752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R   </a:t>
            </a:r>
            <a:r>
              <a:rPr lang="en-US" sz="1000" dirty="0">
                <a:solidFill>
                  <a:srgbClr val="FFFFFF"/>
                </a:solidFill>
                <a:latin typeface="Courier New" pitchFamily="34" charset="0"/>
                <a:ea typeface="Courier New" pitchFamily="34" charset="-122"/>
                <a:cs typeface="Courier New" pitchFamily="34" charset="-120"/>
              </a:rPr>
              <a:t>mutate(kg = body_mass_g / 1000)</a:t>
            </a:r>
            <a:endParaRPr lang="en-US" sz="1000" dirty="0"/>
          </a:p>
        </p:txBody>
      </p:sp>
      <p:sp>
        <p:nvSpPr>
          <p:cNvPr id="107" name="Text 104"/>
          <p:cNvSpPr txBox="1"/>
          <p:nvPr/>
        </p:nvSpPr>
        <p:spPr>
          <a:xfrm>
            <a:off x="8156448" y="324612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py  </a:t>
            </a:r>
            <a:r>
              <a:rPr lang="en-US" sz="1000" dirty="0">
                <a:solidFill>
                  <a:srgbClr val="B3C9CD"/>
                </a:solidFill>
                <a:latin typeface="Courier New" pitchFamily="34" charset="0"/>
                <a:ea typeface="Courier New" pitchFamily="34" charset="-122"/>
                <a:cs typeface="Courier New" pitchFamily="34" charset="-120"/>
              </a:rPr>
              <a:t>df.assign(kg=df.body_mass_g / 1000)</a:t>
            </a:r>
            <a:endParaRPr lang="en-US" sz="1000" dirty="0"/>
          </a:p>
        </p:txBody>
      </p:sp>
      <p:sp>
        <p:nvSpPr>
          <p:cNvPr id="108" name="Shape 105"/>
          <p:cNvSpPr/>
          <p:nvPr/>
        </p:nvSpPr>
        <p:spPr>
          <a:xfrm>
            <a:off x="640080" y="3794760"/>
            <a:ext cx="3538728" cy="1965960"/>
          </a:xfrm>
          <a:prstGeom prst="roundRect">
            <a:avLst>
              <a:gd name="adj" fmla="val 4651"/>
            </a:avLst>
          </a:prstGeom>
          <a:solidFill>
            <a:srgbClr val="2E2E2E"/>
          </a:solidFill>
          <a:ln w="12700">
            <a:solidFill>
              <a:srgbClr val="444444"/>
            </a:solidFill>
            <a:prstDash val="solid"/>
          </a:ln>
        </p:spPr>
        <p:txBody>
          <a:bodyPr/>
          <a:lstStyle/>
          <a:p>
            <a:endParaRPr lang="en-US"/>
          </a:p>
        </p:txBody>
      </p:sp>
      <p:sp>
        <p:nvSpPr>
          <p:cNvPr id="109" name="Shape 106"/>
          <p:cNvSpPr/>
          <p:nvPr/>
        </p:nvSpPr>
        <p:spPr>
          <a:xfrm>
            <a:off x="822960" y="3931920"/>
            <a:ext cx="568300" cy="128016"/>
          </a:xfrm>
          <a:prstGeom prst="rect">
            <a:avLst/>
          </a:prstGeom>
          <a:solidFill>
            <a:srgbClr val="6B6B64"/>
          </a:solidFill>
          <a:ln/>
        </p:spPr>
        <p:txBody>
          <a:bodyPr/>
          <a:lstStyle/>
          <a:p>
            <a:endParaRPr lang="en-US"/>
          </a:p>
        </p:txBody>
      </p:sp>
      <p:sp>
        <p:nvSpPr>
          <p:cNvPr id="110" name="Shape 107"/>
          <p:cNvSpPr/>
          <p:nvPr/>
        </p:nvSpPr>
        <p:spPr>
          <a:xfrm>
            <a:off x="822960" y="4087368"/>
            <a:ext cx="1033272" cy="128016"/>
          </a:xfrm>
          <a:prstGeom prst="rect">
            <a:avLst/>
          </a:prstGeom>
          <a:solidFill>
            <a:srgbClr val="6B6B64"/>
          </a:solidFill>
          <a:ln/>
        </p:spPr>
        <p:txBody>
          <a:bodyPr/>
          <a:lstStyle/>
          <a:p>
            <a:endParaRPr lang="en-US"/>
          </a:p>
        </p:txBody>
      </p:sp>
      <p:sp>
        <p:nvSpPr>
          <p:cNvPr id="111" name="Shape 108"/>
          <p:cNvSpPr/>
          <p:nvPr/>
        </p:nvSpPr>
        <p:spPr>
          <a:xfrm>
            <a:off x="822960" y="4242816"/>
            <a:ext cx="309982" cy="128016"/>
          </a:xfrm>
          <a:prstGeom prst="rect">
            <a:avLst/>
          </a:prstGeom>
          <a:solidFill>
            <a:srgbClr val="6B6B64"/>
          </a:solidFill>
          <a:ln/>
        </p:spPr>
        <p:txBody>
          <a:bodyPr/>
          <a:lstStyle/>
          <a:p>
            <a:endParaRPr lang="en-US"/>
          </a:p>
        </p:txBody>
      </p:sp>
      <p:sp>
        <p:nvSpPr>
          <p:cNvPr id="112" name="Shape 109"/>
          <p:cNvSpPr/>
          <p:nvPr/>
        </p:nvSpPr>
        <p:spPr>
          <a:xfrm>
            <a:off x="822960" y="4398264"/>
            <a:ext cx="826618" cy="128016"/>
          </a:xfrm>
          <a:prstGeom prst="rect">
            <a:avLst/>
          </a:prstGeom>
          <a:solidFill>
            <a:srgbClr val="6B6B64"/>
          </a:solidFill>
          <a:ln/>
        </p:spPr>
        <p:txBody>
          <a:bodyPr/>
          <a:lstStyle/>
          <a:p>
            <a:endParaRPr lang="en-US"/>
          </a:p>
        </p:txBody>
      </p:sp>
      <p:sp>
        <p:nvSpPr>
          <p:cNvPr id="113" name="Shape 110"/>
          <p:cNvSpPr/>
          <p:nvPr/>
        </p:nvSpPr>
        <p:spPr>
          <a:xfrm>
            <a:off x="2313432" y="3931920"/>
            <a:ext cx="309982" cy="128016"/>
          </a:xfrm>
          <a:prstGeom prst="rect">
            <a:avLst/>
          </a:prstGeom>
          <a:solidFill>
            <a:srgbClr val="ECB748"/>
          </a:solidFill>
          <a:ln/>
        </p:spPr>
        <p:txBody>
          <a:bodyPr/>
          <a:lstStyle/>
          <a:p>
            <a:endParaRPr lang="en-US"/>
          </a:p>
        </p:txBody>
      </p:sp>
      <p:sp>
        <p:nvSpPr>
          <p:cNvPr id="114" name="Shape 111"/>
          <p:cNvSpPr/>
          <p:nvPr/>
        </p:nvSpPr>
        <p:spPr>
          <a:xfrm>
            <a:off x="2313432" y="4087368"/>
            <a:ext cx="568300" cy="128016"/>
          </a:xfrm>
          <a:prstGeom prst="rect">
            <a:avLst/>
          </a:prstGeom>
          <a:solidFill>
            <a:srgbClr val="ECB748"/>
          </a:solidFill>
          <a:ln/>
        </p:spPr>
        <p:txBody>
          <a:bodyPr/>
          <a:lstStyle/>
          <a:p>
            <a:endParaRPr lang="en-US"/>
          </a:p>
        </p:txBody>
      </p:sp>
      <p:sp>
        <p:nvSpPr>
          <p:cNvPr id="115" name="Shape 112"/>
          <p:cNvSpPr/>
          <p:nvPr/>
        </p:nvSpPr>
        <p:spPr>
          <a:xfrm>
            <a:off x="2313432" y="4242816"/>
            <a:ext cx="826618" cy="128016"/>
          </a:xfrm>
          <a:prstGeom prst="rect">
            <a:avLst/>
          </a:prstGeom>
          <a:solidFill>
            <a:srgbClr val="ECB748"/>
          </a:solidFill>
          <a:ln/>
        </p:spPr>
        <p:txBody>
          <a:bodyPr/>
          <a:lstStyle/>
          <a:p>
            <a:endParaRPr lang="en-US"/>
          </a:p>
        </p:txBody>
      </p:sp>
      <p:sp>
        <p:nvSpPr>
          <p:cNvPr id="116" name="Shape 113"/>
          <p:cNvSpPr/>
          <p:nvPr/>
        </p:nvSpPr>
        <p:spPr>
          <a:xfrm>
            <a:off x="2313432" y="4398264"/>
            <a:ext cx="1033272" cy="128016"/>
          </a:xfrm>
          <a:prstGeom prst="rect">
            <a:avLst/>
          </a:prstGeom>
          <a:solidFill>
            <a:srgbClr val="ECB748"/>
          </a:solidFill>
          <a:ln/>
        </p:spPr>
        <p:txBody>
          <a:bodyPr/>
          <a:lstStyle/>
          <a:p>
            <a:endParaRPr lang="en-US"/>
          </a:p>
        </p:txBody>
      </p:sp>
      <p:sp>
        <p:nvSpPr>
          <p:cNvPr id="117" name="Text 114"/>
          <p:cNvSpPr txBox="1"/>
          <p:nvPr/>
        </p:nvSpPr>
        <p:spPr>
          <a:xfrm>
            <a:off x="1901952" y="3886200"/>
            <a:ext cx="365760" cy="640080"/>
          </a:xfrm>
          <a:prstGeom prst="rect">
            <a:avLst/>
          </a:prstGeom>
          <a:noFill/>
          <a:ln/>
        </p:spPr>
        <p:txBody>
          <a:bodyPr wrap="square" lIns="0" tIns="0" rIns="0" bIns="0" rtlCol="0" anchor="ctr"/>
          <a:lstStyle/>
          <a:p>
            <a:pPr marL="0" indent="0" algn="ctr">
              <a:buNone/>
            </a:pPr>
            <a:r>
              <a:rPr lang="en-US" sz="1800" b="1" dirty="0">
                <a:solidFill>
                  <a:srgbClr val="ECB748"/>
                </a:solidFill>
                <a:latin typeface="Arial" pitchFamily="34" charset="0"/>
                <a:ea typeface="Arial" pitchFamily="34" charset="-122"/>
                <a:cs typeface="Arial" pitchFamily="34" charset="-120"/>
              </a:rPr>
              <a:t>→</a:t>
            </a:r>
            <a:endParaRPr lang="en-US" sz="1800" dirty="0"/>
          </a:p>
        </p:txBody>
      </p:sp>
      <p:sp>
        <p:nvSpPr>
          <p:cNvPr id="118" name="Text 115"/>
          <p:cNvSpPr txBox="1"/>
          <p:nvPr/>
        </p:nvSpPr>
        <p:spPr>
          <a:xfrm>
            <a:off x="822960" y="4617720"/>
            <a:ext cx="3172968" cy="25603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arrange</a:t>
            </a:r>
            <a:endParaRPr lang="en-US" sz="1400" dirty="0"/>
          </a:p>
        </p:txBody>
      </p:sp>
      <p:sp>
        <p:nvSpPr>
          <p:cNvPr id="119" name="Text 116"/>
          <p:cNvSpPr txBox="1"/>
          <p:nvPr/>
        </p:nvSpPr>
        <p:spPr>
          <a:xfrm>
            <a:off x="822960" y="4873752"/>
            <a:ext cx="3172968" cy="228600"/>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Sort rows (desc() flips the order)</a:t>
            </a:r>
            <a:endParaRPr lang="en-US" sz="1100" dirty="0"/>
          </a:p>
        </p:txBody>
      </p:sp>
      <p:sp>
        <p:nvSpPr>
          <p:cNvPr id="120" name="Text 117"/>
          <p:cNvSpPr txBox="1"/>
          <p:nvPr/>
        </p:nvSpPr>
        <p:spPr>
          <a:xfrm>
            <a:off x="822960" y="512064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R   </a:t>
            </a:r>
            <a:r>
              <a:rPr lang="en-US" sz="1000" dirty="0">
                <a:solidFill>
                  <a:srgbClr val="FFFFFF"/>
                </a:solidFill>
                <a:latin typeface="Courier New" pitchFamily="34" charset="0"/>
                <a:ea typeface="Courier New" pitchFamily="34" charset="-122"/>
                <a:cs typeface="Courier New" pitchFamily="34" charset="-120"/>
              </a:rPr>
              <a:t>arrange(body_mass_g)</a:t>
            </a:r>
            <a:endParaRPr lang="en-US" sz="1000" dirty="0"/>
          </a:p>
        </p:txBody>
      </p:sp>
      <p:sp>
        <p:nvSpPr>
          <p:cNvPr id="121" name="Text 118"/>
          <p:cNvSpPr txBox="1"/>
          <p:nvPr/>
        </p:nvSpPr>
        <p:spPr>
          <a:xfrm>
            <a:off x="822960" y="534924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py  </a:t>
            </a:r>
            <a:r>
              <a:rPr lang="en-US" sz="1000" dirty="0">
                <a:solidFill>
                  <a:srgbClr val="B3C9CD"/>
                </a:solidFill>
                <a:latin typeface="Courier New" pitchFamily="34" charset="0"/>
                <a:ea typeface="Courier New" pitchFamily="34" charset="-122"/>
                <a:cs typeface="Courier New" pitchFamily="34" charset="-120"/>
              </a:rPr>
              <a:t>df.sort_values("body_mass_g")</a:t>
            </a:r>
            <a:endParaRPr lang="en-US" sz="1000" dirty="0"/>
          </a:p>
        </p:txBody>
      </p:sp>
      <p:sp>
        <p:nvSpPr>
          <p:cNvPr id="122" name="Shape 119"/>
          <p:cNvSpPr/>
          <p:nvPr/>
        </p:nvSpPr>
        <p:spPr>
          <a:xfrm>
            <a:off x="4306824" y="3794760"/>
            <a:ext cx="3538728" cy="1965960"/>
          </a:xfrm>
          <a:prstGeom prst="roundRect">
            <a:avLst>
              <a:gd name="adj" fmla="val 4651"/>
            </a:avLst>
          </a:prstGeom>
          <a:solidFill>
            <a:srgbClr val="2E2E2E"/>
          </a:solidFill>
          <a:ln w="12700">
            <a:solidFill>
              <a:srgbClr val="444444"/>
            </a:solidFill>
            <a:prstDash val="solid"/>
          </a:ln>
        </p:spPr>
        <p:txBody>
          <a:bodyPr/>
          <a:lstStyle/>
          <a:p>
            <a:endParaRPr lang="en-US"/>
          </a:p>
        </p:txBody>
      </p:sp>
      <p:sp>
        <p:nvSpPr>
          <p:cNvPr id="123" name="Shape 120"/>
          <p:cNvSpPr/>
          <p:nvPr/>
        </p:nvSpPr>
        <p:spPr>
          <a:xfrm>
            <a:off x="4489704" y="3931920"/>
            <a:ext cx="237744" cy="128016"/>
          </a:xfrm>
          <a:prstGeom prst="rect">
            <a:avLst/>
          </a:prstGeom>
          <a:solidFill>
            <a:srgbClr val="6B6B64"/>
          </a:solidFill>
          <a:ln/>
        </p:spPr>
        <p:txBody>
          <a:bodyPr/>
          <a:lstStyle/>
          <a:p>
            <a:endParaRPr lang="en-US"/>
          </a:p>
        </p:txBody>
      </p:sp>
      <p:sp>
        <p:nvSpPr>
          <p:cNvPr id="124" name="Shape 121"/>
          <p:cNvSpPr/>
          <p:nvPr/>
        </p:nvSpPr>
        <p:spPr>
          <a:xfrm>
            <a:off x="4754880" y="3931920"/>
            <a:ext cx="237744" cy="128016"/>
          </a:xfrm>
          <a:prstGeom prst="rect">
            <a:avLst/>
          </a:prstGeom>
          <a:solidFill>
            <a:srgbClr val="6B6B64"/>
          </a:solidFill>
          <a:ln/>
        </p:spPr>
        <p:txBody>
          <a:bodyPr/>
          <a:lstStyle/>
          <a:p>
            <a:endParaRPr lang="en-US"/>
          </a:p>
        </p:txBody>
      </p:sp>
      <p:sp>
        <p:nvSpPr>
          <p:cNvPr id="125" name="Shape 122"/>
          <p:cNvSpPr/>
          <p:nvPr/>
        </p:nvSpPr>
        <p:spPr>
          <a:xfrm>
            <a:off x="5020056" y="3931920"/>
            <a:ext cx="237744" cy="128016"/>
          </a:xfrm>
          <a:prstGeom prst="rect">
            <a:avLst/>
          </a:prstGeom>
          <a:solidFill>
            <a:srgbClr val="6B6B64"/>
          </a:solidFill>
          <a:ln/>
        </p:spPr>
        <p:txBody>
          <a:bodyPr/>
          <a:lstStyle/>
          <a:p>
            <a:endParaRPr lang="en-US"/>
          </a:p>
        </p:txBody>
      </p:sp>
      <p:sp>
        <p:nvSpPr>
          <p:cNvPr id="126" name="Shape 123"/>
          <p:cNvSpPr/>
          <p:nvPr/>
        </p:nvSpPr>
        <p:spPr>
          <a:xfrm>
            <a:off x="5285232" y="3931920"/>
            <a:ext cx="237744" cy="128016"/>
          </a:xfrm>
          <a:prstGeom prst="rect">
            <a:avLst/>
          </a:prstGeom>
          <a:solidFill>
            <a:srgbClr val="6B6B64"/>
          </a:solidFill>
          <a:ln/>
        </p:spPr>
        <p:txBody>
          <a:bodyPr/>
          <a:lstStyle/>
          <a:p>
            <a:endParaRPr lang="en-US"/>
          </a:p>
        </p:txBody>
      </p:sp>
      <p:sp>
        <p:nvSpPr>
          <p:cNvPr id="127" name="Shape 124"/>
          <p:cNvSpPr/>
          <p:nvPr/>
        </p:nvSpPr>
        <p:spPr>
          <a:xfrm>
            <a:off x="4489704" y="4087368"/>
            <a:ext cx="237744" cy="128016"/>
          </a:xfrm>
          <a:prstGeom prst="rect">
            <a:avLst/>
          </a:prstGeom>
          <a:solidFill>
            <a:srgbClr val="6B6B64"/>
          </a:solidFill>
          <a:ln/>
        </p:spPr>
        <p:txBody>
          <a:bodyPr/>
          <a:lstStyle/>
          <a:p>
            <a:endParaRPr lang="en-US"/>
          </a:p>
        </p:txBody>
      </p:sp>
      <p:sp>
        <p:nvSpPr>
          <p:cNvPr id="128" name="Shape 125"/>
          <p:cNvSpPr/>
          <p:nvPr/>
        </p:nvSpPr>
        <p:spPr>
          <a:xfrm>
            <a:off x="4754880" y="4087368"/>
            <a:ext cx="237744" cy="128016"/>
          </a:xfrm>
          <a:prstGeom prst="rect">
            <a:avLst/>
          </a:prstGeom>
          <a:solidFill>
            <a:srgbClr val="6B6B64"/>
          </a:solidFill>
          <a:ln/>
        </p:spPr>
        <p:txBody>
          <a:bodyPr/>
          <a:lstStyle/>
          <a:p>
            <a:endParaRPr lang="en-US"/>
          </a:p>
        </p:txBody>
      </p:sp>
      <p:sp>
        <p:nvSpPr>
          <p:cNvPr id="129" name="Shape 126"/>
          <p:cNvSpPr/>
          <p:nvPr/>
        </p:nvSpPr>
        <p:spPr>
          <a:xfrm>
            <a:off x="5020056" y="4087368"/>
            <a:ext cx="237744" cy="128016"/>
          </a:xfrm>
          <a:prstGeom prst="rect">
            <a:avLst/>
          </a:prstGeom>
          <a:solidFill>
            <a:srgbClr val="6B6B64"/>
          </a:solidFill>
          <a:ln/>
        </p:spPr>
        <p:txBody>
          <a:bodyPr/>
          <a:lstStyle/>
          <a:p>
            <a:endParaRPr lang="en-US"/>
          </a:p>
        </p:txBody>
      </p:sp>
      <p:sp>
        <p:nvSpPr>
          <p:cNvPr id="130" name="Shape 127"/>
          <p:cNvSpPr/>
          <p:nvPr/>
        </p:nvSpPr>
        <p:spPr>
          <a:xfrm>
            <a:off x="5285232" y="4087368"/>
            <a:ext cx="237744" cy="128016"/>
          </a:xfrm>
          <a:prstGeom prst="rect">
            <a:avLst/>
          </a:prstGeom>
          <a:solidFill>
            <a:srgbClr val="6B6B64"/>
          </a:solidFill>
          <a:ln/>
        </p:spPr>
        <p:txBody>
          <a:bodyPr/>
          <a:lstStyle/>
          <a:p>
            <a:endParaRPr lang="en-US"/>
          </a:p>
        </p:txBody>
      </p:sp>
      <p:sp>
        <p:nvSpPr>
          <p:cNvPr id="131" name="Shape 128"/>
          <p:cNvSpPr/>
          <p:nvPr/>
        </p:nvSpPr>
        <p:spPr>
          <a:xfrm>
            <a:off x="4489704" y="4242816"/>
            <a:ext cx="237744" cy="128016"/>
          </a:xfrm>
          <a:prstGeom prst="rect">
            <a:avLst/>
          </a:prstGeom>
          <a:solidFill>
            <a:srgbClr val="6B6B64"/>
          </a:solidFill>
          <a:ln/>
        </p:spPr>
        <p:txBody>
          <a:bodyPr/>
          <a:lstStyle/>
          <a:p>
            <a:endParaRPr lang="en-US"/>
          </a:p>
        </p:txBody>
      </p:sp>
      <p:sp>
        <p:nvSpPr>
          <p:cNvPr id="132" name="Shape 129"/>
          <p:cNvSpPr/>
          <p:nvPr/>
        </p:nvSpPr>
        <p:spPr>
          <a:xfrm>
            <a:off x="4754880" y="4242816"/>
            <a:ext cx="237744" cy="128016"/>
          </a:xfrm>
          <a:prstGeom prst="rect">
            <a:avLst/>
          </a:prstGeom>
          <a:solidFill>
            <a:srgbClr val="6B6B64"/>
          </a:solidFill>
          <a:ln/>
        </p:spPr>
        <p:txBody>
          <a:bodyPr/>
          <a:lstStyle/>
          <a:p>
            <a:endParaRPr lang="en-US"/>
          </a:p>
        </p:txBody>
      </p:sp>
      <p:sp>
        <p:nvSpPr>
          <p:cNvPr id="133" name="Shape 130"/>
          <p:cNvSpPr/>
          <p:nvPr/>
        </p:nvSpPr>
        <p:spPr>
          <a:xfrm>
            <a:off x="5020056" y="4242816"/>
            <a:ext cx="237744" cy="128016"/>
          </a:xfrm>
          <a:prstGeom prst="rect">
            <a:avLst/>
          </a:prstGeom>
          <a:solidFill>
            <a:srgbClr val="6B6B64"/>
          </a:solidFill>
          <a:ln/>
        </p:spPr>
        <p:txBody>
          <a:bodyPr/>
          <a:lstStyle/>
          <a:p>
            <a:endParaRPr lang="en-US"/>
          </a:p>
        </p:txBody>
      </p:sp>
      <p:sp>
        <p:nvSpPr>
          <p:cNvPr id="134" name="Shape 131"/>
          <p:cNvSpPr/>
          <p:nvPr/>
        </p:nvSpPr>
        <p:spPr>
          <a:xfrm>
            <a:off x="5285232" y="4242816"/>
            <a:ext cx="237744" cy="128016"/>
          </a:xfrm>
          <a:prstGeom prst="rect">
            <a:avLst/>
          </a:prstGeom>
          <a:solidFill>
            <a:srgbClr val="6B6B64"/>
          </a:solidFill>
          <a:ln/>
        </p:spPr>
        <p:txBody>
          <a:bodyPr/>
          <a:lstStyle/>
          <a:p>
            <a:endParaRPr lang="en-US"/>
          </a:p>
        </p:txBody>
      </p:sp>
      <p:sp>
        <p:nvSpPr>
          <p:cNvPr id="135" name="Shape 132"/>
          <p:cNvSpPr/>
          <p:nvPr/>
        </p:nvSpPr>
        <p:spPr>
          <a:xfrm>
            <a:off x="4489704" y="4398264"/>
            <a:ext cx="237744" cy="128016"/>
          </a:xfrm>
          <a:prstGeom prst="rect">
            <a:avLst/>
          </a:prstGeom>
          <a:solidFill>
            <a:srgbClr val="6B6B64"/>
          </a:solidFill>
          <a:ln/>
        </p:spPr>
        <p:txBody>
          <a:bodyPr/>
          <a:lstStyle/>
          <a:p>
            <a:endParaRPr lang="en-US"/>
          </a:p>
        </p:txBody>
      </p:sp>
      <p:sp>
        <p:nvSpPr>
          <p:cNvPr id="136" name="Shape 133"/>
          <p:cNvSpPr/>
          <p:nvPr/>
        </p:nvSpPr>
        <p:spPr>
          <a:xfrm>
            <a:off x="4754880" y="4398264"/>
            <a:ext cx="237744" cy="128016"/>
          </a:xfrm>
          <a:prstGeom prst="rect">
            <a:avLst/>
          </a:prstGeom>
          <a:solidFill>
            <a:srgbClr val="6B6B64"/>
          </a:solidFill>
          <a:ln/>
        </p:spPr>
        <p:txBody>
          <a:bodyPr/>
          <a:lstStyle/>
          <a:p>
            <a:endParaRPr lang="en-US"/>
          </a:p>
        </p:txBody>
      </p:sp>
      <p:sp>
        <p:nvSpPr>
          <p:cNvPr id="137" name="Shape 134"/>
          <p:cNvSpPr/>
          <p:nvPr/>
        </p:nvSpPr>
        <p:spPr>
          <a:xfrm>
            <a:off x="5020056" y="4398264"/>
            <a:ext cx="237744" cy="128016"/>
          </a:xfrm>
          <a:prstGeom prst="rect">
            <a:avLst/>
          </a:prstGeom>
          <a:solidFill>
            <a:srgbClr val="6B6B64"/>
          </a:solidFill>
          <a:ln/>
        </p:spPr>
        <p:txBody>
          <a:bodyPr/>
          <a:lstStyle/>
          <a:p>
            <a:endParaRPr lang="en-US"/>
          </a:p>
        </p:txBody>
      </p:sp>
      <p:sp>
        <p:nvSpPr>
          <p:cNvPr id="138" name="Shape 135"/>
          <p:cNvSpPr/>
          <p:nvPr/>
        </p:nvSpPr>
        <p:spPr>
          <a:xfrm>
            <a:off x="5285232" y="4398264"/>
            <a:ext cx="237744" cy="128016"/>
          </a:xfrm>
          <a:prstGeom prst="rect">
            <a:avLst/>
          </a:prstGeom>
          <a:solidFill>
            <a:srgbClr val="6B6B64"/>
          </a:solidFill>
          <a:ln/>
        </p:spPr>
        <p:txBody>
          <a:bodyPr/>
          <a:lstStyle/>
          <a:p>
            <a:endParaRPr lang="en-US"/>
          </a:p>
        </p:txBody>
      </p:sp>
      <p:sp>
        <p:nvSpPr>
          <p:cNvPr id="139" name="Shape 136"/>
          <p:cNvSpPr/>
          <p:nvPr/>
        </p:nvSpPr>
        <p:spPr>
          <a:xfrm>
            <a:off x="5980176" y="3931920"/>
            <a:ext cx="237744" cy="128016"/>
          </a:xfrm>
          <a:prstGeom prst="rect">
            <a:avLst/>
          </a:prstGeom>
          <a:solidFill>
            <a:srgbClr val="ECB748"/>
          </a:solidFill>
          <a:ln/>
        </p:spPr>
        <p:txBody>
          <a:bodyPr/>
          <a:lstStyle/>
          <a:p>
            <a:endParaRPr lang="en-US"/>
          </a:p>
        </p:txBody>
      </p:sp>
      <p:sp>
        <p:nvSpPr>
          <p:cNvPr id="140" name="Shape 137"/>
          <p:cNvSpPr/>
          <p:nvPr/>
        </p:nvSpPr>
        <p:spPr>
          <a:xfrm>
            <a:off x="6245352" y="3931920"/>
            <a:ext cx="237744" cy="128016"/>
          </a:xfrm>
          <a:prstGeom prst="rect">
            <a:avLst/>
          </a:prstGeom>
          <a:solidFill>
            <a:srgbClr val="ECB748"/>
          </a:solidFill>
          <a:ln/>
        </p:spPr>
        <p:txBody>
          <a:bodyPr/>
          <a:lstStyle/>
          <a:p>
            <a:endParaRPr lang="en-US"/>
          </a:p>
        </p:txBody>
      </p:sp>
      <p:sp>
        <p:nvSpPr>
          <p:cNvPr id="141" name="Shape 138"/>
          <p:cNvSpPr/>
          <p:nvPr/>
        </p:nvSpPr>
        <p:spPr>
          <a:xfrm>
            <a:off x="6510528" y="3931920"/>
            <a:ext cx="237744" cy="128016"/>
          </a:xfrm>
          <a:prstGeom prst="rect">
            <a:avLst/>
          </a:prstGeom>
          <a:solidFill>
            <a:srgbClr val="ECB748"/>
          </a:solidFill>
          <a:ln/>
        </p:spPr>
        <p:txBody>
          <a:bodyPr/>
          <a:lstStyle/>
          <a:p>
            <a:endParaRPr lang="en-US"/>
          </a:p>
        </p:txBody>
      </p:sp>
      <p:sp>
        <p:nvSpPr>
          <p:cNvPr id="142" name="Shape 139"/>
          <p:cNvSpPr/>
          <p:nvPr/>
        </p:nvSpPr>
        <p:spPr>
          <a:xfrm>
            <a:off x="6775704" y="3931920"/>
            <a:ext cx="237744" cy="128016"/>
          </a:xfrm>
          <a:prstGeom prst="rect">
            <a:avLst/>
          </a:prstGeom>
          <a:solidFill>
            <a:srgbClr val="ECB748"/>
          </a:solidFill>
          <a:ln/>
        </p:spPr>
        <p:txBody>
          <a:bodyPr/>
          <a:lstStyle/>
          <a:p>
            <a:endParaRPr lang="en-US"/>
          </a:p>
        </p:txBody>
      </p:sp>
      <p:sp>
        <p:nvSpPr>
          <p:cNvPr id="143" name="Shape 140"/>
          <p:cNvSpPr/>
          <p:nvPr/>
        </p:nvSpPr>
        <p:spPr>
          <a:xfrm>
            <a:off x="5980176" y="4087368"/>
            <a:ext cx="237744" cy="128016"/>
          </a:xfrm>
          <a:prstGeom prst="rect">
            <a:avLst/>
          </a:prstGeom>
          <a:solidFill>
            <a:srgbClr val="B3C9CD"/>
          </a:solidFill>
          <a:ln/>
        </p:spPr>
        <p:txBody>
          <a:bodyPr/>
          <a:lstStyle/>
          <a:p>
            <a:endParaRPr lang="en-US"/>
          </a:p>
        </p:txBody>
      </p:sp>
      <p:sp>
        <p:nvSpPr>
          <p:cNvPr id="144" name="Shape 141"/>
          <p:cNvSpPr/>
          <p:nvPr/>
        </p:nvSpPr>
        <p:spPr>
          <a:xfrm>
            <a:off x="6245352" y="4087368"/>
            <a:ext cx="237744" cy="128016"/>
          </a:xfrm>
          <a:prstGeom prst="rect">
            <a:avLst/>
          </a:prstGeom>
          <a:solidFill>
            <a:srgbClr val="B3C9CD"/>
          </a:solidFill>
          <a:ln/>
        </p:spPr>
        <p:txBody>
          <a:bodyPr/>
          <a:lstStyle/>
          <a:p>
            <a:endParaRPr lang="en-US"/>
          </a:p>
        </p:txBody>
      </p:sp>
      <p:sp>
        <p:nvSpPr>
          <p:cNvPr id="145" name="Shape 142"/>
          <p:cNvSpPr/>
          <p:nvPr/>
        </p:nvSpPr>
        <p:spPr>
          <a:xfrm>
            <a:off x="6510528" y="4087368"/>
            <a:ext cx="237744" cy="128016"/>
          </a:xfrm>
          <a:prstGeom prst="rect">
            <a:avLst/>
          </a:prstGeom>
          <a:solidFill>
            <a:srgbClr val="B3C9CD"/>
          </a:solidFill>
          <a:ln/>
        </p:spPr>
        <p:txBody>
          <a:bodyPr/>
          <a:lstStyle/>
          <a:p>
            <a:endParaRPr lang="en-US"/>
          </a:p>
        </p:txBody>
      </p:sp>
      <p:sp>
        <p:nvSpPr>
          <p:cNvPr id="146" name="Shape 143"/>
          <p:cNvSpPr/>
          <p:nvPr/>
        </p:nvSpPr>
        <p:spPr>
          <a:xfrm>
            <a:off x="6775704" y="4087368"/>
            <a:ext cx="237744" cy="128016"/>
          </a:xfrm>
          <a:prstGeom prst="rect">
            <a:avLst/>
          </a:prstGeom>
          <a:solidFill>
            <a:srgbClr val="B3C9CD"/>
          </a:solidFill>
          <a:ln/>
        </p:spPr>
        <p:txBody>
          <a:bodyPr/>
          <a:lstStyle/>
          <a:p>
            <a:endParaRPr lang="en-US"/>
          </a:p>
        </p:txBody>
      </p:sp>
      <p:sp>
        <p:nvSpPr>
          <p:cNvPr id="147" name="Shape 144"/>
          <p:cNvSpPr/>
          <p:nvPr/>
        </p:nvSpPr>
        <p:spPr>
          <a:xfrm>
            <a:off x="5980176" y="4242816"/>
            <a:ext cx="237744" cy="128016"/>
          </a:xfrm>
          <a:prstGeom prst="rect">
            <a:avLst/>
          </a:prstGeom>
          <a:solidFill>
            <a:srgbClr val="ECB748"/>
          </a:solidFill>
          <a:ln/>
        </p:spPr>
        <p:txBody>
          <a:bodyPr/>
          <a:lstStyle/>
          <a:p>
            <a:endParaRPr lang="en-US"/>
          </a:p>
        </p:txBody>
      </p:sp>
      <p:sp>
        <p:nvSpPr>
          <p:cNvPr id="148" name="Shape 145"/>
          <p:cNvSpPr/>
          <p:nvPr/>
        </p:nvSpPr>
        <p:spPr>
          <a:xfrm>
            <a:off x="6245352" y="4242816"/>
            <a:ext cx="237744" cy="128016"/>
          </a:xfrm>
          <a:prstGeom prst="rect">
            <a:avLst/>
          </a:prstGeom>
          <a:solidFill>
            <a:srgbClr val="ECB748"/>
          </a:solidFill>
          <a:ln/>
        </p:spPr>
        <p:txBody>
          <a:bodyPr/>
          <a:lstStyle/>
          <a:p>
            <a:endParaRPr lang="en-US"/>
          </a:p>
        </p:txBody>
      </p:sp>
      <p:sp>
        <p:nvSpPr>
          <p:cNvPr id="149" name="Shape 146"/>
          <p:cNvSpPr/>
          <p:nvPr/>
        </p:nvSpPr>
        <p:spPr>
          <a:xfrm>
            <a:off x="6510528" y="4242816"/>
            <a:ext cx="237744" cy="128016"/>
          </a:xfrm>
          <a:prstGeom prst="rect">
            <a:avLst/>
          </a:prstGeom>
          <a:solidFill>
            <a:srgbClr val="ECB748"/>
          </a:solidFill>
          <a:ln/>
        </p:spPr>
        <p:txBody>
          <a:bodyPr/>
          <a:lstStyle/>
          <a:p>
            <a:endParaRPr lang="en-US"/>
          </a:p>
        </p:txBody>
      </p:sp>
      <p:sp>
        <p:nvSpPr>
          <p:cNvPr id="150" name="Shape 147"/>
          <p:cNvSpPr/>
          <p:nvPr/>
        </p:nvSpPr>
        <p:spPr>
          <a:xfrm>
            <a:off x="6775704" y="4242816"/>
            <a:ext cx="237744" cy="128016"/>
          </a:xfrm>
          <a:prstGeom prst="rect">
            <a:avLst/>
          </a:prstGeom>
          <a:solidFill>
            <a:srgbClr val="ECB748"/>
          </a:solidFill>
          <a:ln/>
        </p:spPr>
        <p:txBody>
          <a:bodyPr/>
          <a:lstStyle/>
          <a:p>
            <a:endParaRPr lang="en-US"/>
          </a:p>
        </p:txBody>
      </p:sp>
      <p:sp>
        <p:nvSpPr>
          <p:cNvPr id="151" name="Shape 148"/>
          <p:cNvSpPr/>
          <p:nvPr/>
        </p:nvSpPr>
        <p:spPr>
          <a:xfrm>
            <a:off x="5980176" y="4398264"/>
            <a:ext cx="237744" cy="128016"/>
          </a:xfrm>
          <a:prstGeom prst="rect">
            <a:avLst/>
          </a:prstGeom>
          <a:solidFill>
            <a:srgbClr val="B3C9CD"/>
          </a:solidFill>
          <a:ln/>
        </p:spPr>
        <p:txBody>
          <a:bodyPr/>
          <a:lstStyle/>
          <a:p>
            <a:endParaRPr lang="en-US"/>
          </a:p>
        </p:txBody>
      </p:sp>
      <p:sp>
        <p:nvSpPr>
          <p:cNvPr id="152" name="Shape 149"/>
          <p:cNvSpPr/>
          <p:nvPr/>
        </p:nvSpPr>
        <p:spPr>
          <a:xfrm>
            <a:off x="6245352" y="4398264"/>
            <a:ext cx="237744" cy="128016"/>
          </a:xfrm>
          <a:prstGeom prst="rect">
            <a:avLst/>
          </a:prstGeom>
          <a:solidFill>
            <a:srgbClr val="B3C9CD"/>
          </a:solidFill>
          <a:ln/>
        </p:spPr>
        <p:txBody>
          <a:bodyPr/>
          <a:lstStyle/>
          <a:p>
            <a:endParaRPr lang="en-US"/>
          </a:p>
        </p:txBody>
      </p:sp>
      <p:sp>
        <p:nvSpPr>
          <p:cNvPr id="153" name="Shape 150"/>
          <p:cNvSpPr/>
          <p:nvPr/>
        </p:nvSpPr>
        <p:spPr>
          <a:xfrm>
            <a:off x="6510528" y="4398264"/>
            <a:ext cx="237744" cy="128016"/>
          </a:xfrm>
          <a:prstGeom prst="rect">
            <a:avLst/>
          </a:prstGeom>
          <a:solidFill>
            <a:srgbClr val="B3C9CD"/>
          </a:solidFill>
          <a:ln/>
        </p:spPr>
        <p:txBody>
          <a:bodyPr/>
          <a:lstStyle/>
          <a:p>
            <a:endParaRPr lang="en-US"/>
          </a:p>
        </p:txBody>
      </p:sp>
      <p:sp>
        <p:nvSpPr>
          <p:cNvPr id="154" name="Shape 151"/>
          <p:cNvSpPr/>
          <p:nvPr/>
        </p:nvSpPr>
        <p:spPr>
          <a:xfrm>
            <a:off x="6775704" y="4398264"/>
            <a:ext cx="237744" cy="128016"/>
          </a:xfrm>
          <a:prstGeom prst="rect">
            <a:avLst/>
          </a:prstGeom>
          <a:solidFill>
            <a:srgbClr val="B3C9CD"/>
          </a:solidFill>
          <a:ln/>
        </p:spPr>
        <p:txBody>
          <a:bodyPr/>
          <a:lstStyle/>
          <a:p>
            <a:endParaRPr lang="en-US"/>
          </a:p>
        </p:txBody>
      </p:sp>
      <p:sp>
        <p:nvSpPr>
          <p:cNvPr id="155" name="Text 152"/>
          <p:cNvSpPr txBox="1"/>
          <p:nvPr/>
        </p:nvSpPr>
        <p:spPr>
          <a:xfrm>
            <a:off x="5568696" y="3886200"/>
            <a:ext cx="365760" cy="640080"/>
          </a:xfrm>
          <a:prstGeom prst="rect">
            <a:avLst/>
          </a:prstGeom>
          <a:noFill/>
          <a:ln/>
        </p:spPr>
        <p:txBody>
          <a:bodyPr wrap="square" lIns="0" tIns="0" rIns="0" bIns="0" rtlCol="0" anchor="ctr"/>
          <a:lstStyle/>
          <a:p>
            <a:pPr marL="0" indent="0" algn="ctr">
              <a:buNone/>
            </a:pPr>
            <a:r>
              <a:rPr lang="en-US" sz="1800" b="1" dirty="0">
                <a:solidFill>
                  <a:srgbClr val="ECB748"/>
                </a:solidFill>
                <a:latin typeface="Arial" pitchFamily="34" charset="0"/>
                <a:ea typeface="Arial" pitchFamily="34" charset="-122"/>
                <a:cs typeface="Arial" pitchFamily="34" charset="-120"/>
              </a:rPr>
              <a:t>→</a:t>
            </a:r>
            <a:endParaRPr lang="en-US" sz="1800" dirty="0"/>
          </a:p>
        </p:txBody>
      </p:sp>
      <p:sp>
        <p:nvSpPr>
          <p:cNvPr id="156" name="Text 153"/>
          <p:cNvSpPr txBox="1"/>
          <p:nvPr/>
        </p:nvSpPr>
        <p:spPr>
          <a:xfrm>
            <a:off x="4489704" y="4617720"/>
            <a:ext cx="3172968" cy="25603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group_by</a:t>
            </a:r>
            <a:endParaRPr lang="en-US" sz="1400" dirty="0"/>
          </a:p>
        </p:txBody>
      </p:sp>
      <p:sp>
        <p:nvSpPr>
          <p:cNvPr id="157" name="Text 154"/>
          <p:cNvSpPr txBox="1"/>
          <p:nvPr/>
        </p:nvSpPr>
        <p:spPr>
          <a:xfrm>
            <a:off x="4489704" y="4873752"/>
            <a:ext cx="3172968" cy="228600"/>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Mark rows as belonging to groups</a:t>
            </a:r>
            <a:endParaRPr lang="en-US" sz="1100" dirty="0"/>
          </a:p>
        </p:txBody>
      </p:sp>
      <p:sp>
        <p:nvSpPr>
          <p:cNvPr id="158" name="Text 155"/>
          <p:cNvSpPr txBox="1"/>
          <p:nvPr/>
        </p:nvSpPr>
        <p:spPr>
          <a:xfrm>
            <a:off x="4489704" y="512064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R   </a:t>
            </a:r>
            <a:r>
              <a:rPr lang="en-US" sz="1000" dirty="0">
                <a:solidFill>
                  <a:srgbClr val="FFFFFF"/>
                </a:solidFill>
                <a:latin typeface="Courier New" pitchFamily="34" charset="0"/>
                <a:ea typeface="Courier New" pitchFamily="34" charset="-122"/>
                <a:cs typeface="Courier New" pitchFamily="34" charset="-120"/>
              </a:rPr>
              <a:t>group_by(species)</a:t>
            </a:r>
            <a:endParaRPr lang="en-US" sz="1000" dirty="0"/>
          </a:p>
        </p:txBody>
      </p:sp>
      <p:sp>
        <p:nvSpPr>
          <p:cNvPr id="159" name="Text 156"/>
          <p:cNvSpPr txBox="1"/>
          <p:nvPr/>
        </p:nvSpPr>
        <p:spPr>
          <a:xfrm>
            <a:off x="4489704" y="534924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py  </a:t>
            </a:r>
            <a:r>
              <a:rPr lang="en-US" sz="1000" dirty="0">
                <a:solidFill>
                  <a:srgbClr val="B3C9CD"/>
                </a:solidFill>
                <a:latin typeface="Courier New" pitchFamily="34" charset="0"/>
                <a:ea typeface="Courier New" pitchFamily="34" charset="-122"/>
                <a:cs typeface="Courier New" pitchFamily="34" charset="-120"/>
              </a:rPr>
              <a:t>df.groupby("species")</a:t>
            </a:r>
            <a:endParaRPr lang="en-US" sz="1000" dirty="0"/>
          </a:p>
        </p:txBody>
      </p:sp>
      <p:sp>
        <p:nvSpPr>
          <p:cNvPr id="160" name="Shape 157"/>
          <p:cNvSpPr/>
          <p:nvPr/>
        </p:nvSpPr>
        <p:spPr>
          <a:xfrm>
            <a:off x="7973568" y="3794760"/>
            <a:ext cx="3538728" cy="1965960"/>
          </a:xfrm>
          <a:prstGeom prst="roundRect">
            <a:avLst>
              <a:gd name="adj" fmla="val 4651"/>
            </a:avLst>
          </a:prstGeom>
          <a:solidFill>
            <a:srgbClr val="2E2E2E"/>
          </a:solidFill>
          <a:ln w="12700">
            <a:solidFill>
              <a:srgbClr val="444444"/>
            </a:solidFill>
            <a:prstDash val="solid"/>
          </a:ln>
        </p:spPr>
        <p:txBody>
          <a:bodyPr/>
          <a:lstStyle/>
          <a:p>
            <a:endParaRPr lang="en-US"/>
          </a:p>
        </p:txBody>
      </p:sp>
      <p:sp>
        <p:nvSpPr>
          <p:cNvPr id="161" name="Shape 158"/>
          <p:cNvSpPr/>
          <p:nvPr/>
        </p:nvSpPr>
        <p:spPr>
          <a:xfrm>
            <a:off x="8156448" y="3931920"/>
            <a:ext cx="237744" cy="128016"/>
          </a:xfrm>
          <a:prstGeom prst="rect">
            <a:avLst/>
          </a:prstGeom>
          <a:solidFill>
            <a:srgbClr val="ECB748"/>
          </a:solidFill>
          <a:ln/>
        </p:spPr>
        <p:txBody>
          <a:bodyPr/>
          <a:lstStyle/>
          <a:p>
            <a:endParaRPr lang="en-US"/>
          </a:p>
        </p:txBody>
      </p:sp>
      <p:sp>
        <p:nvSpPr>
          <p:cNvPr id="162" name="Shape 159"/>
          <p:cNvSpPr/>
          <p:nvPr/>
        </p:nvSpPr>
        <p:spPr>
          <a:xfrm>
            <a:off x="8421624" y="3931920"/>
            <a:ext cx="237744" cy="128016"/>
          </a:xfrm>
          <a:prstGeom prst="rect">
            <a:avLst/>
          </a:prstGeom>
          <a:solidFill>
            <a:srgbClr val="ECB748"/>
          </a:solidFill>
          <a:ln/>
        </p:spPr>
        <p:txBody>
          <a:bodyPr/>
          <a:lstStyle/>
          <a:p>
            <a:endParaRPr lang="en-US"/>
          </a:p>
        </p:txBody>
      </p:sp>
      <p:sp>
        <p:nvSpPr>
          <p:cNvPr id="163" name="Shape 160"/>
          <p:cNvSpPr/>
          <p:nvPr/>
        </p:nvSpPr>
        <p:spPr>
          <a:xfrm>
            <a:off x="8686800" y="3931920"/>
            <a:ext cx="237744" cy="128016"/>
          </a:xfrm>
          <a:prstGeom prst="rect">
            <a:avLst/>
          </a:prstGeom>
          <a:solidFill>
            <a:srgbClr val="ECB748"/>
          </a:solidFill>
          <a:ln/>
        </p:spPr>
        <p:txBody>
          <a:bodyPr/>
          <a:lstStyle/>
          <a:p>
            <a:endParaRPr lang="en-US"/>
          </a:p>
        </p:txBody>
      </p:sp>
      <p:sp>
        <p:nvSpPr>
          <p:cNvPr id="164" name="Shape 161"/>
          <p:cNvSpPr/>
          <p:nvPr/>
        </p:nvSpPr>
        <p:spPr>
          <a:xfrm>
            <a:off x="8951976" y="3931920"/>
            <a:ext cx="237744" cy="128016"/>
          </a:xfrm>
          <a:prstGeom prst="rect">
            <a:avLst/>
          </a:prstGeom>
          <a:solidFill>
            <a:srgbClr val="ECB748"/>
          </a:solidFill>
          <a:ln/>
        </p:spPr>
        <p:txBody>
          <a:bodyPr/>
          <a:lstStyle/>
          <a:p>
            <a:endParaRPr lang="en-US"/>
          </a:p>
        </p:txBody>
      </p:sp>
      <p:sp>
        <p:nvSpPr>
          <p:cNvPr id="165" name="Shape 162"/>
          <p:cNvSpPr/>
          <p:nvPr/>
        </p:nvSpPr>
        <p:spPr>
          <a:xfrm>
            <a:off x="8156448" y="4087368"/>
            <a:ext cx="237744" cy="128016"/>
          </a:xfrm>
          <a:prstGeom prst="rect">
            <a:avLst/>
          </a:prstGeom>
          <a:solidFill>
            <a:srgbClr val="ECB748"/>
          </a:solidFill>
          <a:ln/>
        </p:spPr>
        <p:txBody>
          <a:bodyPr/>
          <a:lstStyle/>
          <a:p>
            <a:endParaRPr lang="en-US"/>
          </a:p>
        </p:txBody>
      </p:sp>
      <p:sp>
        <p:nvSpPr>
          <p:cNvPr id="166" name="Shape 163"/>
          <p:cNvSpPr/>
          <p:nvPr/>
        </p:nvSpPr>
        <p:spPr>
          <a:xfrm>
            <a:off x="8421624" y="4087368"/>
            <a:ext cx="237744" cy="128016"/>
          </a:xfrm>
          <a:prstGeom prst="rect">
            <a:avLst/>
          </a:prstGeom>
          <a:solidFill>
            <a:srgbClr val="ECB748"/>
          </a:solidFill>
          <a:ln/>
        </p:spPr>
        <p:txBody>
          <a:bodyPr/>
          <a:lstStyle/>
          <a:p>
            <a:endParaRPr lang="en-US"/>
          </a:p>
        </p:txBody>
      </p:sp>
      <p:sp>
        <p:nvSpPr>
          <p:cNvPr id="167" name="Shape 164"/>
          <p:cNvSpPr/>
          <p:nvPr/>
        </p:nvSpPr>
        <p:spPr>
          <a:xfrm>
            <a:off x="8686800" y="4087368"/>
            <a:ext cx="237744" cy="128016"/>
          </a:xfrm>
          <a:prstGeom prst="rect">
            <a:avLst/>
          </a:prstGeom>
          <a:solidFill>
            <a:srgbClr val="ECB748"/>
          </a:solidFill>
          <a:ln/>
        </p:spPr>
        <p:txBody>
          <a:bodyPr/>
          <a:lstStyle/>
          <a:p>
            <a:endParaRPr lang="en-US"/>
          </a:p>
        </p:txBody>
      </p:sp>
      <p:sp>
        <p:nvSpPr>
          <p:cNvPr id="168" name="Shape 165"/>
          <p:cNvSpPr/>
          <p:nvPr/>
        </p:nvSpPr>
        <p:spPr>
          <a:xfrm>
            <a:off x="8951976" y="4087368"/>
            <a:ext cx="237744" cy="128016"/>
          </a:xfrm>
          <a:prstGeom prst="rect">
            <a:avLst/>
          </a:prstGeom>
          <a:solidFill>
            <a:srgbClr val="ECB748"/>
          </a:solidFill>
          <a:ln/>
        </p:spPr>
        <p:txBody>
          <a:bodyPr/>
          <a:lstStyle/>
          <a:p>
            <a:endParaRPr lang="en-US"/>
          </a:p>
        </p:txBody>
      </p:sp>
      <p:sp>
        <p:nvSpPr>
          <p:cNvPr id="169" name="Shape 166"/>
          <p:cNvSpPr/>
          <p:nvPr/>
        </p:nvSpPr>
        <p:spPr>
          <a:xfrm>
            <a:off x="8156448" y="4242816"/>
            <a:ext cx="237744" cy="128016"/>
          </a:xfrm>
          <a:prstGeom prst="rect">
            <a:avLst/>
          </a:prstGeom>
          <a:solidFill>
            <a:srgbClr val="B3C9CD"/>
          </a:solidFill>
          <a:ln/>
        </p:spPr>
        <p:txBody>
          <a:bodyPr/>
          <a:lstStyle/>
          <a:p>
            <a:endParaRPr lang="en-US"/>
          </a:p>
        </p:txBody>
      </p:sp>
      <p:sp>
        <p:nvSpPr>
          <p:cNvPr id="170" name="Shape 167"/>
          <p:cNvSpPr/>
          <p:nvPr/>
        </p:nvSpPr>
        <p:spPr>
          <a:xfrm>
            <a:off x="8421624" y="4242816"/>
            <a:ext cx="237744" cy="128016"/>
          </a:xfrm>
          <a:prstGeom prst="rect">
            <a:avLst/>
          </a:prstGeom>
          <a:solidFill>
            <a:srgbClr val="B3C9CD"/>
          </a:solidFill>
          <a:ln/>
        </p:spPr>
        <p:txBody>
          <a:bodyPr/>
          <a:lstStyle/>
          <a:p>
            <a:endParaRPr lang="en-US"/>
          </a:p>
        </p:txBody>
      </p:sp>
      <p:sp>
        <p:nvSpPr>
          <p:cNvPr id="171" name="Shape 168"/>
          <p:cNvSpPr/>
          <p:nvPr/>
        </p:nvSpPr>
        <p:spPr>
          <a:xfrm>
            <a:off x="8686800" y="4242816"/>
            <a:ext cx="237744" cy="128016"/>
          </a:xfrm>
          <a:prstGeom prst="rect">
            <a:avLst/>
          </a:prstGeom>
          <a:solidFill>
            <a:srgbClr val="B3C9CD"/>
          </a:solidFill>
          <a:ln/>
        </p:spPr>
        <p:txBody>
          <a:bodyPr/>
          <a:lstStyle/>
          <a:p>
            <a:endParaRPr lang="en-US"/>
          </a:p>
        </p:txBody>
      </p:sp>
      <p:sp>
        <p:nvSpPr>
          <p:cNvPr id="172" name="Shape 169"/>
          <p:cNvSpPr/>
          <p:nvPr/>
        </p:nvSpPr>
        <p:spPr>
          <a:xfrm>
            <a:off x="8951976" y="4242816"/>
            <a:ext cx="237744" cy="128016"/>
          </a:xfrm>
          <a:prstGeom prst="rect">
            <a:avLst/>
          </a:prstGeom>
          <a:solidFill>
            <a:srgbClr val="B3C9CD"/>
          </a:solidFill>
          <a:ln/>
        </p:spPr>
        <p:txBody>
          <a:bodyPr/>
          <a:lstStyle/>
          <a:p>
            <a:endParaRPr lang="en-US"/>
          </a:p>
        </p:txBody>
      </p:sp>
      <p:sp>
        <p:nvSpPr>
          <p:cNvPr id="173" name="Shape 170"/>
          <p:cNvSpPr/>
          <p:nvPr/>
        </p:nvSpPr>
        <p:spPr>
          <a:xfrm>
            <a:off x="8156448" y="4398264"/>
            <a:ext cx="237744" cy="128016"/>
          </a:xfrm>
          <a:prstGeom prst="rect">
            <a:avLst/>
          </a:prstGeom>
          <a:solidFill>
            <a:srgbClr val="B3C9CD"/>
          </a:solidFill>
          <a:ln/>
        </p:spPr>
        <p:txBody>
          <a:bodyPr/>
          <a:lstStyle/>
          <a:p>
            <a:endParaRPr lang="en-US"/>
          </a:p>
        </p:txBody>
      </p:sp>
      <p:sp>
        <p:nvSpPr>
          <p:cNvPr id="174" name="Shape 171"/>
          <p:cNvSpPr/>
          <p:nvPr/>
        </p:nvSpPr>
        <p:spPr>
          <a:xfrm>
            <a:off x="8421624" y="4398264"/>
            <a:ext cx="237744" cy="128016"/>
          </a:xfrm>
          <a:prstGeom prst="rect">
            <a:avLst/>
          </a:prstGeom>
          <a:solidFill>
            <a:srgbClr val="B3C9CD"/>
          </a:solidFill>
          <a:ln/>
        </p:spPr>
        <p:txBody>
          <a:bodyPr/>
          <a:lstStyle/>
          <a:p>
            <a:endParaRPr lang="en-US"/>
          </a:p>
        </p:txBody>
      </p:sp>
      <p:sp>
        <p:nvSpPr>
          <p:cNvPr id="175" name="Shape 172"/>
          <p:cNvSpPr/>
          <p:nvPr/>
        </p:nvSpPr>
        <p:spPr>
          <a:xfrm>
            <a:off x="8686800" y="4398264"/>
            <a:ext cx="237744" cy="128016"/>
          </a:xfrm>
          <a:prstGeom prst="rect">
            <a:avLst/>
          </a:prstGeom>
          <a:solidFill>
            <a:srgbClr val="B3C9CD"/>
          </a:solidFill>
          <a:ln/>
        </p:spPr>
        <p:txBody>
          <a:bodyPr/>
          <a:lstStyle/>
          <a:p>
            <a:endParaRPr lang="en-US"/>
          </a:p>
        </p:txBody>
      </p:sp>
      <p:sp>
        <p:nvSpPr>
          <p:cNvPr id="176" name="Shape 173"/>
          <p:cNvSpPr/>
          <p:nvPr/>
        </p:nvSpPr>
        <p:spPr>
          <a:xfrm>
            <a:off x="8951976" y="4398264"/>
            <a:ext cx="237744" cy="128016"/>
          </a:xfrm>
          <a:prstGeom prst="rect">
            <a:avLst/>
          </a:prstGeom>
          <a:solidFill>
            <a:srgbClr val="B3C9CD"/>
          </a:solidFill>
          <a:ln/>
        </p:spPr>
        <p:txBody>
          <a:bodyPr/>
          <a:lstStyle/>
          <a:p>
            <a:endParaRPr lang="en-US"/>
          </a:p>
        </p:txBody>
      </p:sp>
      <p:sp>
        <p:nvSpPr>
          <p:cNvPr id="177" name="Shape 174"/>
          <p:cNvSpPr/>
          <p:nvPr/>
        </p:nvSpPr>
        <p:spPr>
          <a:xfrm>
            <a:off x="9646920" y="3931920"/>
            <a:ext cx="237744" cy="128016"/>
          </a:xfrm>
          <a:prstGeom prst="rect">
            <a:avLst/>
          </a:prstGeom>
          <a:solidFill>
            <a:srgbClr val="ECB748"/>
          </a:solidFill>
          <a:ln/>
        </p:spPr>
        <p:txBody>
          <a:bodyPr/>
          <a:lstStyle/>
          <a:p>
            <a:endParaRPr lang="en-US"/>
          </a:p>
        </p:txBody>
      </p:sp>
      <p:sp>
        <p:nvSpPr>
          <p:cNvPr id="178" name="Shape 175"/>
          <p:cNvSpPr/>
          <p:nvPr/>
        </p:nvSpPr>
        <p:spPr>
          <a:xfrm>
            <a:off x="9912096" y="3931920"/>
            <a:ext cx="237744" cy="128016"/>
          </a:xfrm>
          <a:prstGeom prst="rect">
            <a:avLst/>
          </a:prstGeom>
          <a:solidFill>
            <a:srgbClr val="ECB748"/>
          </a:solidFill>
          <a:ln/>
        </p:spPr>
        <p:txBody>
          <a:bodyPr/>
          <a:lstStyle/>
          <a:p>
            <a:endParaRPr lang="en-US"/>
          </a:p>
        </p:txBody>
      </p:sp>
      <p:sp>
        <p:nvSpPr>
          <p:cNvPr id="179" name="Shape 176"/>
          <p:cNvSpPr/>
          <p:nvPr/>
        </p:nvSpPr>
        <p:spPr>
          <a:xfrm>
            <a:off x="9646920" y="4087368"/>
            <a:ext cx="237744" cy="128016"/>
          </a:xfrm>
          <a:prstGeom prst="rect">
            <a:avLst/>
          </a:prstGeom>
          <a:solidFill>
            <a:srgbClr val="B3C9CD"/>
          </a:solidFill>
          <a:ln/>
        </p:spPr>
        <p:txBody>
          <a:bodyPr/>
          <a:lstStyle/>
          <a:p>
            <a:endParaRPr lang="en-US"/>
          </a:p>
        </p:txBody>
      </p:sp>
      <p:sp>
        <p:nvSpPr>
          <p:cNvPr id="180" name="Shape 177"/>
          <p:cNvSpPr/>
          <p:nvPr/>
        </p:nvSpPr>
        <p:spPr>
          <a:xfrm>
            <a:off x="9912096" y="4087368"/>
            <a:ext cx="237744" cy="128016"/>
          </a:xfrm>
          <a:prstGeom prst="rect">
            <a:avLst/>
          </a:prstGeom>
          <a:solidFill>
            <a:srgbClr val="B3C9CD"/>
          </a:solidFill>
          <a:ln/>
        </p:spPr>
        <p:txBody>
          <a:bodyPr/>
          <a:lstStyle/>
          <a:p>
            <a:endParaRPr lang="en-US"/>
          </a:p>
        </p:txBody>
      </p:sp>
      <p:sp>
        <p:nvSpPr>
          <p:cNvPr id="181" name="Text 178"/>
          <p:cNvSpPr txBox="1"/>
          <p:nvPr/>
        </p:nvSpPr>
        <p:spPr>
          <a:xfrm>
            <a:off x="9235440" y="3886200"/>
            <a:ext cx="365760" cy="640080"/>
          </a:xfrm>
          <a:prstGeom prst="rect">
            <a:avLst/>
          </a:prstGeom>
          <a:noFill/>
          <a:ln/>
        </p:spPr>
        <p:txBody>
          <a:bodyPr wrap="square" lIns="0" tIns="0" rIns="0" bIns="0" rtlCol="0" anchor="ctr"/>
          <a:lstStyle/>
          <a:p>
            <a:pPr marL="0" indent="0" algn="ctr">
              <a:buNone/>
            </a:pPr>
            <a:r>
              <a:rPr lang="en-US" sz="1800" b="1" dirty="0">
                <a:solidFill>
                  <a:srgbClr val="ECB748"/>
                </a:solidFill>
                <a:latin typeface="Arial" pitchFamily="34" charset="0"/>
                <a:ea typeface="Arial" pitchFamily="34" charset="-122"/>
                <a:cs typeface="Arial" pitchFamily="34" charset="-120"/>
              </a:rPr>
              <a:t>→</a:t>
            </a:r>
            <a:endParaRPr lang="en-US" sz="1800" dirty="0"/>
          </a:p>
        </p:txBody>
      </p:sp>
      <p:sp>
        <p:nvSpPr>
          <p:cNvPr id="182" name="Text 179"/>
          <p:cNvSpPr txBox="1"/>
          <p:nvPr/>
        </p:nvSpPr>
        <p:spPr>
          <a:xfrm>
            <a:off x="8156448" y="4617720"/>
            <a:ext cx="3172968" cy="25603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summarise</a:t>
            </a:r>
            <a:endParaRPr lang="en-US" sz="1400" dirty="0"/>
          </a:p>
        </p:txBody>
      </p:sp>
      <p:sp>
        <p:nvSpPr>
          <p:cNvPr id="183" name="Text 180"/>
          <p:cNvSpPr txBox="1"/>
          <p:nvPr/>
        </p:nvSpPr>
        <p:spPr>
          <a:xfrm>
            <a:off x="8156448" y="4873752"/>
            <a:ext cx="3172968" cy="228600"/>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Collapse each group to one row</a:t>
            </a:r>
            <a:endParaRPr lang="en-US" sz="1100" dirty="0"/>
          </a:p>
        </p:txBody>
      </p:sp>
      <p:sp>
        <p:nvSpPr>
          <p:cNvPr id="184" name="Text 181"/>
          <p:cNvSpPr txBox="1"/>
          <p:nvPr/>
        </p:nvSpPr>
        <p:spPr>
          <a:xfrm>
            <a:off x="8156448" y="512064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R   </a:t>
            </a:r>
            <a:r>
              <a:rPr lang="en-US" sz="1000" dirty="0">
                <a:solidFill>
                  <a:srgbClr val="FFFFFF"/>
                </a:solidFill>
                <a:latin typeface="Courier New" pitchFamily="34" charset="0"/>
                <a:ea typeface="Courier New" pitchFamily="34" charset="-122"/>
                <a:cs typeface="Courier New" pitchFamily="34" charset="-120"/>
              </a:rPr>
              <a:t>summarise(n = n())</a:t>
            </a:r>
            <a:endParaRPr lang="en-US" sz="1000" dirty="0"/>
          </a:p>
        </p:txBody>
      </p:sp>
      <p:sp>
        <p:nvSpPr>
          <p:cNvPr id="185" name="Text 182"/>
          <p:cNvSpPr txBox="1"/>
          <p:nvPr/>
        </p:nvSpPr>
        <p:spPr>
          <a:xfrm>
            <a:off x="8156448" y="5349240"/>
            <a:ext cx="3172968" cy="219456"/>
          </a:xfrm>
          <a:prstGeom prst="rect">
            <a:avLst/>
          </a:prstGeom>
          <a:noFill/>
          <a:ln/>
        </p:spPr>
        <p:txBody>
          <a:bodyPr wrap="square" lIns="0" tIns="0" rIns="0" bIns="0" rtlCol="0" anchor="ctr"/>
          <a:lstStyle/>
          <a:p>
            <a:pPr marL="0" indent="0">
              <a:buNone/>
            </a:pPr>
            <a:r>
              <a:rPr lang="en-US" sz="1000" dirty="0">
                <a:solidFill>
                  <a:srgbClr val="9B9690"/>
                </a:solidFill>
                <a:latin typeface="Courier New" pitchFamily="34" charset="0"/>
                <a:ea typeface="Courier New" pitchFamily="34" charset="-122"/>
                <a:cs typeface="Courier New" pitchFamily="34" charset="-120"/>
              </a:rPr>
              <a:t>py  </a:t>
            </a:r>
            <a:r>
              <a:rPr lang="en-US" sz="1000" dirty="0">
                <a:solidFill>
                  <a:srgbClr val="B3C9CD"/>
                </a:solidFill>
                <a:latin typeface="Courier New" pitchFamily="34" charset="0"/>
                <a:ea typeface="Courier New" pitchFamily="34" charset="-122"/>
                <a:cs typeface="Courier New" pitchFamily="34" charset="-120"/>
              </a:rPr>
              <a:t>df.groupby("species").size()</a:t>
            </a:r>
            <a:endParaRPr lang="en-US" sz="1000" dirty="0"/>
          </a:p>
        </p:txBody>
      </p:sp>
      <p:sp>
        <p:nvSpPr>
          <p:cNvPr id="188" name="Text 185"/>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69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85800"/>
          </a:xfrm>
          <a:prstGeom prst="rect">
            <a:avLst/>
          </a:prstGeom>
          <a:noFill/>
          <a:ln/>
        </p:spPr>
        <p:txBody>
          <a:bodyPr wrap="square" rtlCol="0" anchor="ctr"/>
          <a:lstStyle/>
          <a:p>
            <a:pPr marL="0" indent="0">
              <a:buNone/>
            </a:pPr>
            <a:r>
              <a:rPr lang="en-US" sz="2400" b="1" dirty="0">
                <a:solidFill>
                  <a:srgbClr val="1C1C1C"/>
                </a:solidFill>
                <a:latin typeface="Arial" pitchFamily="34" charset="0"/>
                <a:ea typeface="Arial" pitchFamily="34" charset="-122"/>
                <a:cs typeface="Arial" pitchFamily="34" charset="-120"/>
              </a:rPr>
              <a:t>R has two pipes, and they do the same job</a:t>
            </a:r>
            <a:endParaRPr lang="en-US" sz="2400" dirty="0"/>
          </a:p>
        </p:txBody>
      </p:sp>
      <p:sp>
        <p:nvSpPr>
          <p:cNvPr id="21" name="Shape 18"/>
          <p:cNvSpPr/>
          <p:nvPr/>
        </p:nvSpPr>
        <p:spPr>
          <a:xfrm>
            <a:off x="640080" y="1783080"/>
            <a:ext cx="5349240" cy="1874519"/>
          </a:xfrm>
          <a:prstGeom prst="roundRect">
            <a:avLst>
              <a:gd name="adj" fmla="val 3704"/>
            </a:avLst>
          </a:prstGeom>
          <a:solidFill>
            <a:srgbClr val="2E2E2E"/>
          </a:solidFill>
          <a:ln w="12700">
            <a:solidFill>
              <a:srgbClr val="444444"/>
            </a:solidFill>
            <a:prstDash val="solid"/>
          </a:ln>
        </p:spPr>
        <p:txBody>
          <a:bodyPr/>
          <a:lstStyle/>
          <a:p>
            <a:endParaRPr lang="en-US"/>
          </a:p>
        </p:txBody>
      </p:sp>
      <p:sp>
        <p:nvSpPr>
          <p:cNvPr id="22" name="Shape 19"/>
          <p:cNvSpPr/>
          <p:nvPr/>
        </p:nvSpPr>
        <p:spPr>
          <a:xfrm>
            <a:off x="868680" y="1984248"/>
            <a:ext cx="146304" cy="146304"/>
          </a:xfrm>
          <a:prstGeom prst="ellipse">
            <a:avLst/>
          </a:prstGeom>
          <a:solidFill>
            <a:srgbClr val="D64550"/>
          </a:solidFill>
          <a:ln/>
        </p:spPr>
        <p:txBody>
          <a:bodyPr/>
          <a:lstStyle/>
          <a:p>
            <a:endParaRPr lang="en-US"/>
          </a:p>
        </p:txBody>
      </p:sp>
      <p:sp>
        <p:nvSpPr>
          <p:cNvPr id="23" name="Shape 20"/>
          <p:cNvSpPr/>
          <p:nvPr/>
        </p:nvSpPr>
        <p:spPr>
          <a:xfrm>
            <a:off x="1124712" y="1984248"/>
            <a:ext cx="146304" cy="146304"/>
          </a:xfrm>
          <a:prstGeom prst="ellipse">
            <a:avLst/>
          </a:prstGeom>
          <a:solidFill>
            <a:srgbClr val="ECB748"/>
          </a:solidFill>
          <a:ln/>
        </p:spPr>
        <p:txBody>
          <a:bodyPr/>
          <a:lstStyle/>
          <a:p>
            <a:endParaRPr lang="en-US"/>
          </a:p>
        </p:txBody>
      </p:sp>
      <p:sp>
        <p:nvSpPr>
          <p:cNvPr id="24" name="Shape 21"/>
          <p:cNvSpPr/>
          <p:nvPr/>
        </p:nvSpPr>
        <p:spPr>
          <a:xfrm>
            <a:off x="1380744" y="1984248"/>
            <a:ext cx="146304" cy="146304"/>
          </a:xfrm>
          <a:prstGeom prst="ellipse">
            <a:avLst/>
          </a:prstGeom>
          <a:solidFill>
            <a:srgbClr val="6B6B6B"/>
          </a:solidFill>
          <a:ln/>
        </p:spPr>
        <p:txBody>
          <a:bodyPr/>
          <a:lstStyle/>
          <a:p>
            <a:endParaRPr lang="en-US"/>
          </a:p>
        </p:txBody>
      </p:sp>
      <p:sp>
        <p:nvSpPr>
          <p:cNvPr id="25" name="Text 22"/>
          <p:cNvSpPr txBox="1"/>
          <p:nvPr/>
        </p:nvSpPr>
        <p:spPr>
          <a:xfrm>
            <a:off x="1783080" y="192938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base R:  |&gt;</a:t>
            </a:r>
            <a:endParaRPr lang="en-US" sz="1050" dirty="0"/>
          </a:p>
        </p:txBody>
      </p:sp>
      <p:sp>
        <p:nvSpPr>
          <p:cNvPr id="26" name="Shape 23"/>
          <p:cNvSpPr/>
          <p:nvPr/>
        </p:nvSpPr>
        <p:spPr>
          <a:xfrm>
            <a:off x="685800" y="2286000"/>
            <a:ext cx="5257800" cy="0"/>
          </a:xfrm>
          <a:prstGeom prst="line">
            <a:avLst/>
          </a:prstGeom>
          <a:noFill/>
          <a:ln w="12700">
            <a:solidFill>
              <a:srgbClr val="444444"/>
            </a:solidFill>
            <a:prstDash val="solid"/>
          </a:ln>
        </p:spPr>
        <p:txBody>
          <a:bodyPr/>
          <a:lstStyle/>
          <a:p>
            <a:endParaRPr lang="en-US"/>
          </a:p>
        </p:txBody>
      </p:sp>
      <p:sp>
        <p:nvSpPr>
          <p:cNvPr id="27" name="Text 24"/>
          <p:cNvSpPr txBox="1"/>
          <p:nvPr/>
        </p:nvSpPr>
        <p:spPr>
          <a:xfrm>
            <a:off x="914400" y="2423160"/>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penguins |&gt;</a:t>
            </a:r>
            <a:endParaRPr lang="en-US" sz="1200" dirty="0"/>
          </a:p>
        </p:txBody>
      </p:sp>
      <p:sp>
        <p:nvSpPr>
          <p:cNvPr id="28" name="Text 25"/>
          <p:cNvSpPr txBox="1"/>
          <p:nvPr/>
        </p:nvSpPr>
        <p:spPr>
          <a:xfrm>
            <a:off x="914400" y="2752344"/>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filter(species == "Adelie") |&gt;</a:t>
            </a:r>
            <a:endParaRPr lang="en-US" sz="1200" dirty="0"/>
          </a:p>
        </p:txBody>
      </p:sp>
      <p:sp>
        <p:nvSpPr>
          <p:cNvPr id="29" name="Text 26"/>
          <p:cNvSpPr txBox="1"/>
          <p:nvPr/>
        </p:nvSpPr>
        <p:spPr>
          <a:xfrm>
            <a:off x="914400" y="3081528"/>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head(3)</a:t>
            </a:r>
            <a:endParaRPr lang="en-US" sz="1200" dirty="0"/>
          </a:p>
        </p:txBody>
      </p:sp>
      <p:sp>
        <p:nvSpPr>
          <p:cNvPr id="32" name="Shape 29"/>
          <p:cNvSpPr/>
          <p:nvPr/>
        </p:nvSpPr>
        <p:spPr>
          <a:xfrm>
            <a:off x="6172200" y="1783080"/>
            <a:ext cx="5349240" cy="1874519"/>
          </a:xfrm>
          <a:prstGeom prst="roundRect">
            <a:avLst>
              <a:gd name="adj" fmla="val 3704"/>
            </a:avLst>
          </a:prstGeom>
          <a:solidFill>
            <a:srgbClr val="2E2E2E"/>
          </a:solidFill>
          <a:ln w="12700">
            <a:solidFill>
              <a:srgbClr val="444444"/>
            </a:solidFill>
            <a:prstDash val="solid"/>
          </a:ln>
        </p:spPr>
        <p:txBody>
          <a:bodyPr/>
          <a:lstStyle/>
          <a:p>
            <a:endParaRPr lang="en-US"/>
          </a:p>
        </p:txBody>
      </p:sp>
      <p:sp>
        <p:nvSpPr>
          <p:cNvPr id="33" name="Shape 30"/>
          <p:cNvSpPr/>
          <p:nvPr/>
        </p:nvSpPr>
        <p:spPr>
          <a:xfrm>
            <a:off x="6400800" y="1984248"/>
            <a:ext cx="146304" cy="146304"/>
          </a:xfrm>
          <a:prstGeom prst="ellipse">
            <a:avLst/>
          </a:prstGeom>
          <a:solidFill>
            <a:srgbClr val="D64550"/>
          </a:solidFill>
          <a:ln/>
        </p:spPr>
        <p:txBody>
          <a:bodyPr/>
          <a:lstStyle/>
          <a:p>
            <a:endParaRPr lang="en-US"/>
          </a:p>
        </p:txBody>
      </p:sp>
      <p:sp>
        <p:nvSpPr>
          <p:cNvPr id="34" name="Shape 31"/>
          <p:cNvSpPr/>
          <p:nvPr/>
        </p:nvSpPr>
        <p:spPr>
          <a:xfrm>
            <a:off x="6656832" y="1984248"/>
            <a:ext cx="146304" cy="146304"/>
          </a:xfrm>
          <a:prstGeom prst="ellipse">
            <a:avLst/>
          </a:prstGeom>
          <a:solidFill>
            <a:srgbClr val="ECB748"/>
          </a:solidFill>
          <a:ln/>
        </p:spPr>
        <p:txBody>
          <a:bodyPr/>
          <a:lstStyle/>
          <a:p>
            <a:endParaRPr lang="en-US"/>
          </a:p>
        </p:txBody>
      </p:sp>
      <p:sp>
        <p:nvSpPr>
          <p:cNvPr id="35" name="Shape 32"/>
          <p:cNvSpPr/>
          <p:nvPr/>
        </p:nvSpPr>
        <p:spPr>
          <a:xfrm>
            <a:off x="6912864" y="1984248"/>
            <a:ext cx="146304" cy="146304"/>
          </a:xfrm>
          <a:prstGeom prst="ellipse">
            <a:avLst/>
          </a:prstGeom>
          <a:solidFill>
            <a:srgbClr val="6B6B6B"/>
          </a:solidFill>
          <a:ln/>
        </p:spPr>
        <p:txBody>
          <a:bodyPr/>
          <a:lstStyle/>
          <a:p>
            <a:endParaRPr lang="en-US"/>
          </a:p>
        </p:txBody>
      </p:sp>
      <p:sp>
        <p:nvSpPr>
          <p:cNvPr id="36" name="Text 33"/>
          <p:cNvSpPr txBox="1"/>
          <p:nvPr/>
        </p:nvSpPr>
        <p:spPr>
          <a:xfrm>
            <a:off x="7315200" y="192938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dplyr (magrittr):  %&gt;%</a:t>
            </a:r>
            <a:endParaRPr lang="en-US" sz="1050" dirty="0"/>
          </a:p>
        </p:txBody>
      </p:sp>
      <p:sp>
        <p:nvSpPr>
          <p:cNvPr id="37" name="Shape 34"/>
          <p:cNvSpPr/>
          <p:nvPr/>
        </p:nvSpPr>
        <p:spPr>
          <a:xfrm>
            <a:off x="6217920" y="2286000"/>
            <a:ext cx="5257800" cy="0"/>
          </a:xfrm>
          <a:prstGeom prst="line">
            <a:avLst/>
          </a:prstGeom>
          <a:noFill/>
          <a:ln w="12700">
            <a:solidFill>
              <a:srgbClr val="444444"/>
            </a:solidFill>
            <a:prstDash val="solid"/>
          </a:ln>
        </p:spPr>
        <p:txBody>
          <a:bodyPr/>
          <a:lstStyle/>
          <a:p>
            <a:endParaRPr lang="en-US"/>
          </a:p>
        </p:txBody>
      </p:sp>
      <p:sp>
        <p:nvSpPr>
          <p:cNvPr id="38" name="Text 35"/>
          <p:cNvSpPr txBox="1"/>
          <p:nvPr/>
        </p:nvSpPr>
        <p:spPr>
          <a:xfrm>
            <a:off x="6446520" y="2423160"/>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penguins %&gt;%</a:t>
            </a:r>
            <a:endParaRPr lang="en-US" sz="1200" dirty="0"/>
          </a:p>
        </p:txBody>
      </p:sp>
      <p:sp>
        <p:nvSpPr>
          <p:cNvPr id="39" name="Text 36"/>
          <p:cNvSpPr txBox="1"/>
          <p:nvPr/>
        </p:nvSpPr>
        <p:spPr>
          <a:xfrm>
            <a:off x="6446520" y="2752344"/>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filter(species == "Adelie") %&gt;%</a:t>
            </a:r>
            <a:endParaRPr lang="en-US" sz="1200" dirty="0"/>
          </a:p>
        </p:txBody>
      </p:sp>
      <p:sp>
        <p:nvSpPr>
          <p:cNvPr id="40" name="Text 37"/>
          <p:cNvSpPr txBox="1"/>
          <p:nvPr/>
        </p:nvSpPr>
        <p:spPr>
          <a:xfrm>
            <a:off x="6446520" y="3081528"/>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head(3)</a:t>
            </a:r>
            <a:endParaRPr lang="en-US" sz="1200" dirty="0"/>
          </a:p>
        </p:txBody>
      </p:sp>
      <p:sp>
        <p:nvSpPr>
          <p:cNvPr id="43" name="Shape 40"/>
          <p:cNvSpPr/>
          <p:nvPr/>
        </p:nvSpPr>
        <p:spPr>
          <a:xfrm>
            <a:off x="640080" y="5440680"/>
            <a:ext cx="10881360" cy="868680"/>
          </a:xfrm>
          <a:prstGeom prst="roundRect">
            <a:avLst>
              <a:gd name="adj" fmla="val 8421"/>
            </a:avLst>
          </a:prstGeom>
          <a:solidFill>
            <a:srgbClr val="F5F3EF"/>
          </a:solidFill>
          <a:ln w="12700">
            <a:solidFill>
              <a:srgbClr val="E3E3E3"/>
            </a:solidFill>
            <a:prstDash val="solid"/>
          </a:ln>
        </p:spPr>
        <p:txBody>
          <a:bodyPr/>
          <a:lstStyle/>
          <a:p>
            <a:endParaRPr lang="en-US"/>
          </a:p>
        </p:txBody>
      </p:sp>
      <p:sp>
        <p:nvSpPr>
          <p:cNvPr id="44" name="Text 41"/>
          <p:cNvSpPr txBox="1"/>
          <p:nvPr/>
        </p:nvSpPr>
        <p:spPr>
          <a:xfrm>
            <a:off x="914400" y="5440680"/>
            <a:ext cx="10332720" cy="86868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WHAT WE USE:  </a:t>
            </a:r>
            <a:r>
              <a:rPr lang="en-US" sz="1300" dirty="0">
                <a:solidFill>
                  <a:srgbClr val="595959"/>
                </a:solidFill>
                <a:latin typeface="Arial" pitchFamily="34" charset="0"/>
                <a:ea typeface="Arial" pitchFamily="34" charset="-122"/>
                <a:cs typeface="Arial" pitchFamily="34" charset="-120"/>
              </a:rPr>
              <a:t>%&gt;% for the rest of today. Both pipes give the same result on every pipeline in this course, and AI tools write both, so learn to recognize each one. In RStudio, Ctrl+Shift+M (Cmd+Shift+M on a Mac) types %&gt;% for you.</a:t>
            </a:r>
            <a:endParaRPr lang="en-US" sz="1300" dirty="0"/>
          </a:p>
        </p:txBody>
      </p:sp>
      <p:sp>
        <p:nvSpPr>
          <p:cNvPr id="45" name="Text 42"/>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5</a:t>
            </a:r>
            <a:endParaRPr lang="en-US" sz="900" dirty="0"/>
          </a:p>
        </p:txBody>
      </p:sp>
      <p:sp>
        <p:nvSpPr>
          <p:cNvPr id="46" name="Fact box"/>
          <p:cNvSpPr txBox="1"/>
          <p:nvPr/>
        </p:nvSpPr>
        <p:spPr>
          <a:xfrm>
            <a:off x="640080" y="3767328"/>
            <a:ext cx="5349240" cy="1600200"/>
          </a:xfrm>
          <a:prstGeom prst="rect">
            <a:avLst/>
          </a:prstGeom>
          <a:noFill/>
          <a:ln/>
        </p:spPr>
        <p:txBody>
          <a:bodyPr wrap="square" rtlCol="0" anchor="t"/>
          <a:lstStyle/>
          <a:p>
            <a:pPr marL="0" indent="0">
              <a:spcAft>
                <a:spcPts val="600"/>
              </a:spcAft>
              <a:buNone/>
            </a:pPr>
            <a:r>
              <a:rPr lang="en-US" sz="1300" b="1" dirty="0">
                <a:solidFill>
                  <a:srgbClr val="1C1C1C"/>
                </a:solidFill>
                <a:latin typeface="Arial" pitchFamily="34" charset="0"/>
                <a:ea typeface="Arial" pitchFamily="34" charset="-122"/>
                <a:cs typeface="Arial" pitchFamily="34" charset="-120"/>
              </a:rPr>
              <a:t>Where it lives:  </a:t>
            </a:r>
            <a:r>
              <a:rPr lang="en-US" sz="1300" dirty="0">
                <a:solidFill>
                  <a:srgbClr val="595959"/>
                </a:solidFill>
                <a:latin typeface="Arial" pitchFamily="34" charset="0"/>
                <a:ea typeface="Arial" pitchFamily="34" charset="-122"/>
                <a:cs typeface="Arial" pitchFamily="34" charset="-120"/>
              </a:rPr>
              <a:t>Built into R itself since version 4.1. Nothing to load.</a:t>
            </a:r>
            <a:endParaRPr lang="en-US" sz="1300" dirty="0"/>
          </a:p>
          <a:p>
            <a:pPr marL="0" indent="0">
              <a:spcAft>
                <a:spcPts val="600"/>
              </a:spcAft>
              <a:buNone/>
            </a:pPr>
            <a:r>
              <a:rPr lang="en-US" sz="1300" b="1" dirty="0">
                <a:solidFill>
                  <a:srgbClr val="1C1C1C"/>
                </a:solidFill>
                <a:latin typeface="Arial" pitchFamily="34" charset="0"/>
                <a:ea typeface="Arial" pitchFamily="34" charset="-122"/>
                <a:cs typeface="Arial" pitchFamily="34" charset="-120"/>
              </a:rPr>
              <a:t>Parentheses:  </a:t>
            </a:r>
            <a:r>
              <a:rPr lang="en-US" sz="1300" dirty="0">
                <a:solidFill>
                  <a:srgbClr val="595959"/>
                </a:solidFill>
                <a:latin typeface="Arial" pitchFamily="34" charset="0"/>
                <a:ea typeface="Arial" pitchFamily="34" charset="-122"/>
                <a:cs typeface="Arial" pitchFamily="34" charset="-120"/>
              </a:rPr>
              <a:t>Required after the pipe. x |&gt; head() works. x |&gt; head fails.</a:t>
            </a:r>
            <a:endParaRPr lang="en-US" sz="1300" dirty="0"/>
          </a:p>
          <a:p>
            <a:pPr marL="0" indent="0">
              <a:spcAft>
                <a:spcPts val="600"/>
              </a:spcAft>
              <a:buNone/>
            </a:pPr>
            <a:r>
              <a:rPr lang="en-US" sz="1300" b="1" dirty="0">
                <a:solidFill>
                  <a:srgbClr val="1C1C1C"/>
                </a:solidFill>
                <a:latin typeface="Arial" pitchFamily="34" charset="0"/>
                <a:ea typeface="Arial" pitchFamily="34" charset="-122"/>
                <a:cs typeface="Arial" pitchFamily="34" charset="-120"/>
              </a:rPr>
              <a:t>Placeholder:  </a:t>
            </a:r>
            <a:r>
              <a:rPr lang="en-US" sz="1300" dirty="0">
                <a:solidFill>
                  <a:srgbClr val="595959"/>
                </a:solidFill>
                <a:latin typeface="Arial" pitchFamily="34" charset="0"/>
                <a:ea typeface="Arial" pitchFamily="34" charset="-122"/>
                <a:cs typeface="Arial" pitchFamily="34" charset="-120"/>
              </a:rPr>
              <a:t>_ stands for the piped value, in a named argument only.</a:t>
            </a:r>
            <a:endParaRPr lang="en-US" sz="1300" dirty="0"/>
          </a:p>
        </p:txBody>
      </p:sp>
      <p:sp>
        <p:nvSpPr>
          <p:cNvPr id="47" name="Fact box"/>
          <p:cNvSpPr txBox="1"/>
          <p:nvPr/>
        </p:nvSpPr>
        <p:spPr>
          <a:xfrm>
            <a:off x="6172200" y="3767328"/>
            <a:ext cx="5349240" cy="1600200"/>
          </a:xfrm>
          <a:prstGeom prst="rect">
            <a:avLst/>
          </a:prstGeom>
          <a:noFill/>
          <a:ln/>
        </p:spPr>
        <p:txBody>
          <a:bodyPr wrap="square" rtlCol="0" anchor="t"/>
          <a:lstStyle/>
          <a:p>
            <a:pPr marL="0" indent="0">
              <a:spcAft>
                <a:spcPts val="600"/>
              </a:spcAft>
              <a:buNone/>
            </a:pPr>
            <a:r>
              <a:rPr lang="en-US" sz="1300" b="1" dirty="0">
                <a:solidFill>
                  <a:srgbClr val="1C1C1C"/>
                </a:solidFill>
                <a:latin typeface="Arial" pitchFamily="34" charset="0"/>
                <a:ea typeface="Arial" pitchFamily="34" charset="-122"/>
                <a:cs typeface="Arial" pitchFamily="34" charset="-120"/>
              </a:rPr>
              <a:t>Where it lives:  </a:t>
            </a:r>
            <a:r>
              <a:rPr lang="en-US" sz="1300" dirty="0">
                <a:solidFill>
                  <a:srgbClr val="595959"/>
                </a:solidFill>
                <a:latin typeface="Arial" pitchFamily="34" charset="0"/>
                <a:ea typeface="Arial" pitchFamily="34" charset="-122"/>
                <a:cs typeface="Arial" pitchFamily="34" charset="-120"/>
              </a:rPr>
              <a:t>The magrittr package. Loading dplyr or the tidyverse gives it to you.</a:t>
            </a:r>
            <a:endParaRPr lang="en-US" sz="1300" dirty="0"/>
          </a:p>
          <a:p>
            <a:pPr marL="0" indent="0">
              <a:spcAft>
                <a:spcPts val="600"/>
              </a:spcAft>
              <a:buNone/>
            </a:pPr>
            <a:r>
              <a:rPr lang="en-US" sz="1300" b="1" dirty="0">
                <a:solidFill>
                  <a:srgbClr val="1C1C1C"/>
                </a:solidFill>
                <a:latin typeface="Arial" pitchFamily="34" charset="0"/>
                <a:ea typeface="Arial" pitchFamily="34" charset="-122"/>
                <a:cs typeface="Arial" pitchFamily="34" charset="-120"/>
              </a:rPr>
              <a:t>Parentheses:  </a:t>
            </a:r>
            <a:r>
              <a:rPr lang="en-US" sz="1300" dirty="0">
                <a:solidFill>
                  <a:srgbClr val="595959"/>
                </a:solidFill>
                <a:latin typeface="Arial" pitchFamily="34" charset="0"/>
                <a:ea typeface="Arial" pitchFamily="34" charset="-122"/>
                <a:cs typeface="Arial" pitchFamily="34" charset="-120"/>
              </a:rPr>
              <a:t>Optional. x %&gt;% head and x %&gt;% head() both work.</a:t>
            </a:r>
            <a:endParaRPr lang="en-US" sz="1300" dirty="0"/>
          </a:p>
          <a:p>
            <a:pPr marL="0" indent="0">
              <a:spcAft>
                <a:spcPts val="600"/>
              </a:spcAft>
              <a:buNone/>
            </a:pPr>
            <a:r>
              <a:rPr lang="en-US" sz="1300" b="1" dirty="0">
                <a:solidFill>
                  <a:srgbClr val="1C1C1C"/>
                </a:solidFill>
                <a:latin typeface="Arial" pitchFamily="34" charset="0"/>
                <a:ea typeface="Arial" pitchFamily="34" charset="-122"/>
                <a:cs typeface="Arial" pitchFamily="34" charset="-120"/>
              </a:rPr>
              <a:t>Placeholder:  </a:t>
            </a:r>
            <a:r>
              <a:rPr lang="en-US" sz="1300" dirty="0">
                <a:solidFill>
                  <a:srgbClr val="595959"/>
                </a:solidFill>
                <a:latin typeface="Arial" pitchFamily="34" charset="0"/>
                <a:ea typeface="Arial" pitchFamily="34" charset="-122"/>
                <a:cs typeface="Arial" pitchFamily="34" charset="-120"/>
              </a:rPr>
              <a:t>. stands for the piped value, in any argument.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85800"/>
          </a:xfrm>
          <a:prstGeom prst="rect">
            <a:avLst/>
          </a:prstGeom>
          <a:noFill/>
          <a:ln/>
        </p:spPr>
        <p:txBody>
          <a:bodyPr wrap="square" rtlCol="0" anchor="ctr"/>
          <a:lstStyle/>
          <a:p>
            <a:pPr marL="0" indent="0">
              <a:buNone/>
            </a:pPr>
            <a:r>
              <a:rPr lang="en-US" sz="2400" b="1" dirty="0">
                <a:solidFill>
                  <a:srgbClr val="1C1C1C"/>
                </a:solidFill>
                <a:latin typeface="Arial" pitchFamily="34" charset="0"/>
                <a:ea typeface="Arial" pitchFamily="34" charset="-122"/>
                <a:cs typeface="Arial" pitchFamily="34" charset="-120"/>
              </a:rPr>
              <a:t>Chain the functions, and check the size after each step</a:t>
            </a:r>
            <a:endParaRPr lang="en-US" sz="2400" dirty="0"/>
          </a:p>
        </p:txBody>
      </p:sp>
      <p:sp>
        <p:nvSpPr>
          <p:cNvPr id="6" name="Shape 3"/>
          <p:cNvSpPr/>
          <p:nvPr/>
        </p:nvSpPr>
        <p:spPr>
          <a:xfrm>
            <a:off x="640080" y="1691640"/>
            <a:ext cx="2468880" cy="914400"/>
          </a:xfrm>
          <a:prstGeom prst="roundRect">
            <a:avLst>
              <a:gd name="adj" fmla="val 8000"/>
            </a:avLst>
          </a:prstGeom>
          <a:solidFill>
            <a:srgbClr val="FFFFFF"/>
          </a:solidFill>
          <a:ln w="12700">
            <a:solidFill>
              <a:srgbClr val="E3E3E3"/>
            </a:solidFill>
            <a:prstDash val="solid"/>
          </a:ln>
        </p:spPr>
        <p:txBody>
          <a:bodyPr/>
          <a:lstStyle/>
          <a:p>
            <a:endParaRPr lang="en-US"/>
          </a:p>
        </p:txBody>
      </p:sp>
      <p:sp>
        <p:nvSpPr>
          <p:cNvPr id="7" name="Text 4"/>
          <p:cNvSpPr txBox="1"/>
          <p:nvPr/>
        </p:nvSpPr>
        <p:spPr>
          <a:xfrm>
            <a:off x="749808" y="1801368"/>
            <a:ext cx="2249424" cy="274320"/>
          </a:xfrm>
          <a:prstGeom prst="rect">
            <a:avLst/>
          </a:prstGeom>
          <a:noFill/>
          <a:ln/>
        </p:spPr>
        <p:txBody>
          <a:bodyPr wrap="square" lIns="0" tIns="0" rIns="0" bIns="0" rtlCol="0" anchor="ctr"/>
          <a:lstStyle/>
          <a:p>
            <a:pPr marL="0" indent="0">
              <a:buNone/>
            </a:pPr>
            <a:r>
              <a:rPr lang="en-US" sz="950" dirty="0">
                <a:solidFill>
                  <a:srgbClr val="1C1C1C"/>
                </a:solidFill>
                <a:latin typeface="Courier New" pitchFamily="34" charset="0"/>
                <a:ea typeface="Courier New" pitchFamily="34" charset="-122"/>
                <a:cs typeface="Courier New" pitchFamily="34" charset="-120"/>
              </a:rPr>
              <a:t>penguins</a:t>
            </a:r>
            <a:endParaRPr lang="en-US" sz="950" dirty="0"/>
          </a:p>
        </p:txBody>
      </p:sp>
      <p:sp>
        <p:nvSpPr>
          <p:cNvPr id="8" name="Text 5"/>
          <p:cNvSpPr txBox="1"/>
          <p:nvPr/>
        </p:nvSpPr>
        <p:spPr>
          <a:xfrm>
            <a:off x="749808" y="2148840"/>
            <a:ext cx="2249424"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itchFamily="34" charset="0"/>
                <a:ea typeface="Arial" pitchFamily="34" charset="-122"/>
                <a:cs typeface="Arial" pitchFamily="34" charset="-120"/>
              </a:rPr>
              <a:t>344 rows, 8 columns</a:t>
            </a:r>
            <a:endParaRPr lang="en-US" sz="1300" dirty="0"/>
          </a:p>
        </p:txBody>
      </p:sp>
      <p:sp>
        <p:nvSpPr>
          <p:cNvPr id="9" name="Text 6"/>
          <p:cNvSpPr txBox="1"/>
          <p:nvPr/>
        </p:nvSpPr>
        <p:spPr>
          <a:xfrm>
            <a:off x="3108960" y="1874520"/>
            <a:ext cx="338328" cy="548640"/>
          </a:xfrm>
          <a:prstGeom prst="rect">
            <a:avLst/>
          </a:prstGeom>
          <a:noFill/>
          <a:ln/>
        </p:spPr>
        <p:txBody>
          <a:bodyPr wrap="square" lIns="0" tIns="0" rIns="0" bIns="0" rtlCol="0" anchor="ctr"/>
          <a:lstStyle/>
          <a:p>
            <a:pPr marL="0" indent="0" algn="ctr">
              <a:buNone/>
            </a:pPr>
            <a:r>
              <a:rPr lang="en-US" sz="2200" b="1" dirty="0">
                <a:solidFill>
                  <a:srgbClr val="ECB748"/>
                </a:solidFill>
                <a:latin typeface="Arial" pitchFamily="34" charset="0"/>
                <a:ea typeface="Arial" pitchFamily="34" charset="-122"/>
                <a:cs typeface="Arial" pitchFamily="34" charset="-120"/>
              </a:rPr>
              <a:t>→</a:t>
            </a:r>
            <a:endParaRPr lang="en-US" sz="2200" dirty="0"/>
          </a:p>
        </p:txBody>
      </p:sp>
      <p:sp>
        <p:nvSpPr>
          <p:cNvPr id="10" name="Shape 7"/>
          <p:cNvSpPr/>
          <p:nvPr/>
        </p:nvSpPr>
        <p:spPr>
          <a:xfrm>
            <a:off x="3447288" y="1691640"/>
            <a:ext cx="2468880" cy="914400"/>
          </a:xfrm>
          <a:prstGeom prst="roundRect">
            <a:avLst>
              <a:gd name="adj" fmla="val 8000"/>
            </a:avLst>
          </a:prstGeom>
          <a:solidFill>
            <a:srgbClr val="FFFFFF"/>
          </a:solidFill>
          <a:ln w="12700">
            <a:solidFill>
              <a:srgbClr val="E3E3E3"/>
            </a:solidFill>
            <a:prstDash val="solid"/>
          </a:ln>
        </p:spPr>
        <p:txBody>
          <a:bodyPr/>
          <a:lstStyle/>
          <a:p>
            <a:endParaRPr lang="en-US"/>
          </a:p>
        </p:txBody>
      </p:sp>
      <p:sp>
        <p:nvSpPr>
          <p:cNvPr id="11" name="Text 8"/>
          <p:cNvSpPr txBox="1"/>
          <p:nvPr/>
        </p:nvSpPr>
        <p:spPr>
          <a:xfrm>
            <a:off x="3557016" y="1801368"/>
            <a:ext cx="2249424" cy="274320"/>
          </a:xfrm>
          <a:prstGeom prst="rect">
            <a:avLst/>
          </a:prstGeom>
          <a:noFill/>
          <a:ln/>
        </p:spPr>
        <p:txBody>
          <a:bodyPr wrap="square" lIns="0" tIns="0" rIns="0" bIns="0" rtlCol="0" anchor="ctr"/>
          <a:lstStyle/>
          <a:p>
            <a:pPr marL="0" indent="0">
              <a:buNone/>
            </a:pPr>
            <a:r>
              <a:rPr lang="en-US" sz="950" dirty="0">
                <a:solidFill>
                  <a:srgbClr val="1C1C1C"/>
                </a:solidFill>
                <a:latin typeface="Courier New" pitchFamily="34" charset="0"/>
                <a:ea typeface="Courier New" pitchFamily="34" charset="-122"/>
                <a:cs typeface="Courier New" pitchFamily="34" charset="-120"/>
              </a:rPr>
              <a:t>filter(species == "Adelie")</a:t>
            </a:r>
            <a:endParaRPr lang="en-US" sz="950" dirty="0"/>
          </a:p>
        </p:txBody>
      </p:sp>
      <p:sp>
        <p:nvSpPr>
          <p:cNvPr id="12" name="Text 9"/>
          <p:cNvSpPr txBox="1"/>
          <p:nvPr/>
        </p:nvSpPr>
        <p:spPr>
          <a:xfrm>
            <a:off x="3557016" y="2148840"/>
            <a:ext cx="2249424"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itchFamily="34" charset="0"/>
                <a:ea typeface="Arial" pitchFamily="34" charset="-122"/>
                <a:cs typeface="Arial" pitchFamily="34" charset="-120"/>
              </a:rPr>
              <a:t>152 rows, 8 columns</a:t>
            </a:r>
            <a:endParaRPr lang="en-US" sz="1300" dirty="0"/>
          </a:p>
        </p:txBody>
      </p:sp>
      <p:sp>
        <p:nvSpPr>
          <p:cNvPr id="13" name="Text 10"/>
          <p:cNvSpPr txBox="1"/>
          <p:nvPr/>
        </p:nvSpPr>
        <p:spPr>
          <a:xfrm>
            <a:off x="5916168" y="1874520"/>
            <a:ext cx="338328" cy="548640"/>
          </a:xfrm>
          <a:prstGeom prst="rect">
            <a:avLst/>
          </a:prstGeom>
          <a:noFill/>
          <a:ln/>
        </p:spPr>
        <p:txBody>
          <a:bodyPr wrap="square" lIns="0" tIns="0" rIns="0" bIns="0" rtlCol="0" anchor="ctr"/>
          <a:lstStyle/>
          <a:p>
            <a:pPr marL="0" indent="0" algn="ctr">
              <a:buNone/>
            </a:pPr>
            <a:r>
              <a:rPr lang="en-US" sz="2200" b="1" dirty="0">
                <a:solidFill>
                  <a:srgbClr val="ECB748"/>
                </a:solidFill>
                <a:latin typeface="Arial" pitchFamily="34" charset="0"/>
                <a:ea typeface="Arial" pitchFamily="34" charset="-122"/>
                <a:cs typeface="Arial" pitchFamily="34" charset="-120"/>
              </a:rPr>
              <a:t>→</a:t>
            </a:r>
            <a:endParaRPr lang="en-US" sz="2200" dirty="0"/>
          </a:p>
        </p:txBody>
      </p:sp>
      <p:sp>
        <p:nvSpPr>
          <p:cNvPr id="14" name="Shape 11"/>
          <p:cNvSpPr/>
          <p:nvPr/>
        </p:nvSpPr>
        <p:spPr>
          <a:xfrm>
            <a:off x="6254496" y="1691640"/>
            <a:ext cx="2468880" cy="914400"/>
          </a:xfrm>
          <a:prstGeom prst="roundRect">
            <a:avLst>
              <a:gd name="adj" fmla="val 8000"/>
            </a:avLst>
          </a:prstGeom>
          <a:solidFill>
            <a:srgbClr val="FFFFFF"/>
          </a:solidFill>
          <a:ln w="12700">
            <a:solidFill>
              <a:srgbClr val="E3E3E3"/>
            </a:solidFill>
            <a:prstDash val="solid"/>
          </a:ln>
        </p:spPr>
        <p:txBody>
          <a:bodyPr/>
          <a:lstStyle/>
          <a:p>
            <a:endParaRPr lang="en-US"/>
          </a:p>
        </p:txBody>
      </p:sp>
      <p:sp>
        <p:nvSpPr>
          <p:cNvPr id="15" name="Text 12"/>
          <p:cNvSpPr txBox="1"/>
          <p:nvPr/>
        </p:nvSpPr>
        <p:spPr>
          <a:xfrm>
            <a:off x="6364224" y="1801368"/>
            <a:ext cx="2249424" cy="274320"/>
          </a:xfrm>
          <a:prstGeom prst="rect">
            <a:avLst/>
          </a:prstGeom>
          <a:noFill/>
          <a:ln/>
        </p:spPr>
        <p:txBody>
          <a:bodyPr wrap="square" lIns="0" tIns="0" rIns="0" bIns="0" rtlCol="0" anchor="ctr"/>
          <a:lstStyle/>
          <a:p>
            <a:pPr marL="0" indent="0">
              <a:buNone/>
            </a:pPr>
            <a:r>
              <a:rPr lang="en-US" sz="950" dirty="0">
                <a:solidFill>
                  <a:srgbClr val="1C1C1C"/>
                </a:solidFill>
                <a:latin typeface="Courier New" pitchFamily="34" charset="0"/>
                <a:ea typeface="Courier New" pitchFamily="34" charset="-122"/>
                <a:cs typeface="Courier New" pitchFamily="34" charset="-120"/>
              </a:rPr>
              <a:t>mutate(kg = body_mass_g / 1000)</a:t>
            </a:r>
            <a:endParaRPr lang="en-US" sz="950" dirty="0"/>
          </a:p>
        </p:txBody>
      </p:sp>
      <p:sp>
        <p:nvSpPr>
          <p:cNvPr id="16" name="Text 13"/>
          <p:cNvSpPr txBox="1"/>
          <p:nvPr/>
        </p:nvSpPr>
        <p:spPr>
          <a:xfrm>
            <a:off x="6364224" y="2148840"/>
            <a:ext cx="2249424"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itchFamily="34" charset="0"/>
                <a:ea typeface="Arial" pitchFamily="34" charset="-122"/>
                <a:cs typeface="Arial" pitchFamily="34" charset="-120"/>
              </a:rPr>
              <a:t>152 rows, 9 columns</a:t>
            </a:r>
            <a:endParaRPr lang="en-US" sz="1300" dirty="0"/>
          </a:p>
        </p:txBody>
      </p:sp>
      <p:sp>
        <p:nvSpPr>
          <p:cNvPr id="17" name="Text 14"/>
          <p:cNvSpPr txBox="1"/>
          <p:nvPr/>
        </p:nvSpPr>
        <p:spPr>
          <a:xfrm>
            <a:off x="8723376" y="1874520"/>
            <a:ext cx="338328" cy="548640"/>
          </a:xfrm>
          <a:prstGeom prst="rect">
            <a:avLst/>
          </a:prstGeom>
          <a:noFill/>
          <a:ln/>
        </p:spPr>
        <p:txBody>
          <a:bodyPr wrap="square" lIns="0" tIns="0" rIns="0" bIns="0" rtlCol="0" anchor="ctr"/>
          <a:lstStyle/>
          <a:p>
            <a:pPr marL="0" indent="0" algn="ctr">
              <a:buNone/>
            </a:pPr>
            <a:r>
              <a:rPr lang="en-US" sz="2200" b="1" dirty="0">
                <a:solidFill>
                  <a:srgbClr val="ECB748"/>
                </a:solidFill>
                <a:latin typeface="Arial" pitchFamily="34" charset="0"/>
                <a:ea typeface="Arial" pitchFamily="34" charset="-122"/>
                <a:cs typeface="Arial" pitchFamily="34" charset="-120"/>
              </a:rPr>
              <a:t>→</a:t>
            </a:r>
            <a:endParaRPr lang="en-US" sz="2200" dirty="0"/>
          </a:p>
        </p:txBody>
      </p:sp>
      <p:sp>
        <p:nvSpPr>
          <p:cNvPr id="18" name="Shape 15"/>
          <p:cNvSpPr/>
          <p:nvPr/>
        </p:nvSpPr>
        <p:spPr>
          <a:xfrm>
            <a:off x="9061704" y="1691640"/>
            <a:ext cx="2468880" cy="914400"/>
          </a:xfrm>
          <a:prstGeom prst="roundRect">
            <a:avLst>
              <a:gd name="adj" fmla="val 8000"/>
            </a:avLst>
          </a:prstGeom>
          <a:solidFill>
            <a:srgbClr val="FBF0DA"/>
          </a:solidFill>
          <a:ln w="12700">
            <a:solidFill>
              <a:srgbClr val="ECB748"/>
            </a:solidFill>
            <a:prstDash val="solid"/>
          </a:ln>
        </p:spPr>
        <p:txBody>
          <a:bodyPr/>
          <a:lstStyle/>
          <a:p>
            <a:endParaRPr lang="en-US"/>
          </a:p>
        </p:txBody>
      </p:sp>
      <p:sp>
        <p:nvSpPr>
          <p:cNvPr id="19" name="Text 16"/>
          <p:cNvSpPr txBox="1"/>
          <p:nvPr/>
        </p:nvSpPr>
        <p:spPr>
          <a:xfrm>
            <a:off x="9171432" y="1801368"/>
            <a:ext cx="2249424" cy="274320"/>
          </a:xfrm>
          <a:prstGeom prst="rect">
            <a:avLst/>
          </a:prstGeom>
          <a:noFill/>
          <a:ln/>
        </p:spPr>
        <p:txBody>
          <a:bodyPr wrap="square" lIns="0" tIns="0" rIns="0" bIns="0" rtlCol="0" anchor="ctr"/>
          <a:lstStyle/>
          <a:p>
            <a:pPr marL="0" indent="0">
              <a:buNone/>
            </a:pPr>
            <a:r>
              <a:rPr lang="en-US" sz="950" dirty="0">
                <a:solidFill>
                  <a:srgbClr val="1C1C1C"/>
                </a:solidFill>
                <a:latin typeface="Courier New" pitchFamily="34" charset="0"/>
                <a:ea typeface="Courier New" pitchFamily="34" charset="-122"/>
                <a:cs typeface="Courier New" pitchFamily="34" charset="-120"/>
              </a:rPr>
              <a:t>group_by(island) + summarise()</a:t>
            </a:r>
            <a:endParaRPr lang="en-US" sz="950" dirty="0"/>
          </a:p>
        </p:txBody>
      </p:sp>
      <p:sp>
        <p:nvSpPr>
          <p:cNvPr id="20" name="Text 17"/>
          <p:cNvSpPr txBox="1"/>
          <p:nvPr/>
        </p:nvSpPr>
        <p:spPr>
          <a:xfrm>
            <a:off x="9171432" y="2148840"/>
            <a:ext cx="2249424" cy="320040"/>
          </a:xfrm>
          <a:prstGeom prst="rect">
            <a:avLst/>
          </a:prstGeom>
          <a:noFill/>
          <a:ln/>
        </p:spPr>
        <p:txBody>
          <a:bodyPr wrap="square" lIns="0" tIns="0" rIns="0" bIns="0" rtlCol="0" anchor="ctr"/>
          <a:lstStyle/>
          <a:p>
            <a:pPr marL="0" indent="0">
              <a:buNone/>
            </a:pPr>
            <a:r>
              <a:rPr lang="en-US" sz="1300" b="1" dirty="0">
                <a:solidFill>
                  <a:srgbClr val="1C1C1C"/>
                </a:solidFill>
                <a:latin typeface="Arial" pitchFamily="34" charset="0"/>
                <a:ea typeface="Arial" pitchFamily="34" charset="-122"/>
                <a:cs typeface="Arial" pitchFamily="34" charset="-120"/>
              </a:rPr>
              <a:t>3 rows, 2 columns</a:t>
            </a:r>
            <a:endParaRPr lang="en-US" sz="1300" dirty="0"/>
          </a:p>
        </p:txBody>
      </p:sp>
      <p:sp>
        <p:nvSpPr>
          <p:cNvPr id="21" name="Shape 18"/>
          <p:cNvSpPr/>
          <p:nvPr/>
        </p:nvSpPr>
        <p:spPr>
          <a:xfrm>
            <a:off x="640080" y="2834640"/>
            <a:ext cx="5349240" cy="2468880"/>
          </a:xfrm>
          <a:prstGeom prst="roundRect">
            <a:avLst>
              <a:gd name="adj" fmla="val 3704"/>
            </a:avLst>
          </a:prstGeom>
          <a:solidFill>
            <a:srgbClr val="2E2E2E"/>
          </a:solidFill>
          <a:ln w="12700">
            <a:solidFill>
              <a:srgbClr val="444444"/>
            </a:solidFill>
            <a:prstDash val="solid"/>
          </a:ln>
        </p:spPr>
        <p:txBody>
          <a:bodyPr/>
          <a:lstStyle/>
          <a:p>
            <a:endParaRPr lang="en-US"/>
          </a:p>
        </p:txBody>
      </p:sp>
      <p:sp>
        <p:nvSpPr>
          <p:cNvPr id="22" name="Shape 19"/>
          <p:cNvSpPr/>
          <p:nvPr/>
        </p:nvSpPr>
        <p:spPr>
          <a:xfrm>
            <a:off x="868680" y="3035808"/>
            <a:ext cx="146304" cy="146304"/>
          </a:xfrm>
          <a:prstGeom prst="ellipse">
            <a:avLst/>
          </a:prstGeom>
          <a:solidFill>
            <a:srgbClr val="D64550"/>
          </a:solidFill>
          <a:ln/>
        </p:spPr>
        <p:txBody>
          <a:bodyPr/>
          <a:lstStyle/>
          <a:p>
            <a:endParaRPr lang="en-US"/>
          </a:p>
        </p:txBody>
      </p:sp>
      <p:sp>
        <p:nvSpPr>
          <p:cNvPr id="23" name="Shape 20"/>
          <p:cNvSpPr/>
          <p:nvPr/>
        </p:nvSpPr>
        <p:spPr>
          <a:xfrm>
            <a:off x="1124712" y="3035808"/>
            <a:ext cx="146304" cy="146304"/>
          </a:xfrm>
          <a:prstGeom prst="ellipse">
            <a:avLst/>
          </a:prstGeom>
          <a:solidFill>
            <a:srgbClr val="ECB748"/>
          </a:solidFill>
          <a:ln/>
        </p:spPr>
        <p:txBody>
          <a:bodyPr/>
          <a:lstStyle/>
          <a:p>
            <a:endParaRPr lang="en-US"/>
          </a:p>
        </p:txBody>
      </p:sp>
      <p:sp>
        <p:nvSpPr>
          <p:cNvPr id="24" name="Shape 21"/>
          <p:cNvSpPr/>
          <p:nvPr/>
        </p:nvSpPr>
        <p:spPr>
          <a:xfrm>
            <a:off x="1380744" y="3035808"/>
            <a:ext cx="146304" cy="146304"/>
          </a:xfrm>
          <a:prstGeom prst="ellipse">
            <a:avLst/>
          </a:prstGeom>
          <a:solidFill>
            <a:srgbClr val="6B6B6B"/>
          </a:solidFill>
          <a:ln/>
        </p:spPr>
        <p:txBody>
          <a:bodyPr/>
          <a:lstStyle/>
          <a:p>
            <a:endParaRPr lang="en-US"/>
          </a:p>
        </p:txBody>
      </p:sp>
      <p:sp>
        <p:nvSpPr>
          <p:cNvPr id="25" name="Text 22"/>
          <p:cNvSpPr txBox="1"/>
          <p:nvPr/>
        </p:nvSpPr>
        <p:spPr>
          <a:xfrm>
            <a:off x="1783080" y="298094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pipeline.R</a:t>
            </a:r>
            <a:endParaRPr lang="en-US" sz="1050" dirty="0"/>
          </a:p>
        </p:txBody>
      </p:sp>
      <p:sp>
        <p:nvSpPr>
          <p:cNvPr id="26" name="Shape 23"/>
          <p:cNvSpPr/>
          <p:nvPr/>
        </p:nvSpPr>
        <p:spPr>
          <a:xfrm>
            <a:off x="685800" y="3337560"/>
            <a:ext cx="5257800" cy="0"/>
          </a:xfrm>
          <a:prstGeom prst="line">
            <a:avLst/>
          </a:prstGeom>
          <a:noFill/>
          <a:ln w="12700">
            <a:solidFill>
              <a:srgbClr val="444444"/>
            </a:solidFill>
            <a:prstDash val="solid"/>
          </a:ln>
        </p:spPr>
        <p:txBody>
          <a:bodyPr/>
          <a:lstStyle/>
          <a:p>
            <a:endParaRPr lang="en-US"/>
          </a:p>
        </p:txBody>
      </p:sp>
      <p:sp>
        <p:nvSpPr>
          <p:cNvPr id="27" name="Text 24"/>
          <p:cNvSpPr txBox="1"/>
          <p:nvPr/>
        </p:nvSpPr>
        <p:spPr>
          <a:xfrm>
            <a:off x="914400" y="3474720"/>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penguins %&gt;%</a:t>
            </a:r>
            <a:endParaRPr lang="en-US" sz="1200" dirty="0"/>
          </a:p>
        </p:txBody>
      </p:sp>
      <p:sp>
        <p:nvSpPr>
          <p:cNvPr id="28" name="Text 25"/>
          <p:cNvSpPr txBox="1"/>
          <p:nvPr/>
        </p:nvSpPr>
        <p:spPr>
          <a:xfrm>
            <a:off x="914400" y="3803904"/>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filter(species == "Adelie") %&gt;%</a:t>
            </a:r>
            <a:endParaRPr lang="en-US" sz="1200" dirty="0"/>
          </a:p>
        </p:txBody>
      </p:sp>
      <p:sp>
        <p:nvSpPr>
          <p:cNvPr id="29" name="Text 26"/>
          <p:cNvSpPr txBox="1"/>
          <p:nvPr/>
        </p:nvSpPr>
        <p:spPr>
          <a:xfrm>
            <a:off x="914400" y="4133088"/>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mutate(kg = body_mass_g / 1000) %&gt;%</a:t>
            </a:r>
            <a:endParaRPr lang="en-US" sz="1200" dirty="0"/>
          </a:p>
        </p:txBody>
      </p:sp>
      <p:sp>
        <p:nvSpPr>
          <p:cNvPr id="30" name="Text 27"/>
          <p:cNvSpPr txBox="1"/>
          <p:nvPr/>
        </p:nvSpPr>
        <p:spPr>
          <a:xfrm>
            <a:off x="914400" y="4462272"/>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group_by(island) %&gt;%</a:t>
            </a:r>
            <a:endParaRPr lang="en-US" sz="1200" dirty="0"/>
          </a:p>
        </p:txBody>
      </p:sp>
      <p:sp>
        <p:nvSpPr>
          <p:cNvPr id="31" name="Text 28"/>
          <p:cNvSpPr txBox="1"/>
          <p:nvPr/>
        </p:nvSpPr>
        <p:spPr>
          <a:xfrm>
            <a:off x="914400" y="4791456"/>
            <a:ext cx="4800600" cy="329184"/>
          </a:xfrm>
          <a:prstGeom prst="rect">
            <a:avLst/>
          </a:prstGeom>
          <a:noFill/>
          <a:ln/>
        </p:spPr>
        <p:txBody>
          <a:bodyPr wrap="square" rtlCol="0" anchor="ctr"/>
          <a:lstStyle/>
          <a:p>
            <a:pPr marL="0" indent="0">
              <a:buNone/>
            </a:pPr>
            <a:r>
              <a:rPr lang="en-US" sz="1200" dirty="0">
                <a:solidFill>
                  <a:srgbClr val="ECB748"/>
                </a:solidFill>
                <a:latin typeface="Courier New" pitchFamily="34" charset="0"/>
                <a:ea typeface="Courier New" pitchFamily="34" charset="-122"/>
                <a:cs typeface="Courier New" pitchFamily="34" charset="-120"/>
              </a:rPr>
              <a:t>  summarise(mean_kg = mean(kg, na.rm = TRUE))</a:t>
            </a:r>
            <a:endParaRPr lang="en-US" sz="1200" dirty="0"/>
          </a:p>
        </p:txBody>
      </p:sp>
      <p:sp>
        <p:nvSpPr>
          <p:cNvPr id="32" name="Shape 29"/>
          <p:cNvSpPr/>
          <p:nvPr/>
        </p:nvSpPr>
        <p:spPr>
          <a:xfrm>
            <a:off x="6172200" y="2834640"/>
            <a:ext cx="5349240" cy="2468880"/>
          </a:xfrm>
          <a:prstGeom prst="roundRect">
            <a:avLst>
              <a:gd name="adj" fmla="val 3704"/>
            </a:avLst>
          </a:prstGeom>
          <a:solidFill>
            <a:srgbClr val="2E2E2E"/>
          </a:solidFill>
          <a:ln w="12700">
            <a:solidFill>
              <a:srgbClr val="444444"/>
            </a:solidFill>
            <a:prstDash val="solid"/>
          </a:ln>
        </p:spPr>
        <p:txBody>
          <a:bodyPr/>
          <a:lstStyle/>
          <a:p>
            <a:endParaRPr lang="en-US"/>
          </a:p>
        </p:txBody>
      </p:sp>
      <p:sp>
        <p:nvSpPr>
          <p:cNvPr id="33" name="Shape 30"/>
          <p:cNvSpPr/>
          <p:nvPr/>
        </p:nvSpPr>
        <p:spPr>
          <a:xfrm>
            <a:off x="6400800" y="3035808"/>
            <a:ext cx="146304" cy="146304"/>
          </a:xfrm>
          <a:prstGeom prst="ellipse">
            <a:avLst/>
          </a:prstGeom>
          <a:solidFill>
            <a:srgbClr val="D64550"/>
          </a:solidFill>
          <a:ln/>
        </p:spPr>
        <p:txBody>
          <a:bodyPr/>
          <a:lstStyle/>
          <a:p>
            <a:endParaRPr lang="en-US"/>
          </a:p>
        </p:txBody>
      </p:sp>
      <p:sp>
        <p:nvSpPr>
          <p:cNvPr id="34" name="Shape 31"/>
          <p:cNvSpPr/>
          <p:nvPr/>
        </p:nvSpPr>
        <p:spPr>
          <a:xfrm>
            <a:off x="6656832" y="3035808"/>
            <a:ext cx="146304" cy="146304"/>
          </a:xfrm>
          <a:prstGeom prst="ellipse">
            <a:avLst/>
          </a:prstGeom>
          <a:solidFill>
            <a:srgbClr val="ECB748"/>
          </a:solidFill>
          <a:ln/>
        </p:spPr>
        <p:txBody>
          <a:bodyPr/>
          <a:lstStyle/>
          <a:p>
            <a:endParaRPr lang="en-US"/>
          </a:p>
        </p:txBody>
      </p:sp>
      <p:sp>
        <p:nvSpPr>
          <p:cNvPr id="35" name="Shape 32"/>
          <p:cNvSpPr/>
          <p:nvPr/>
        </p:nvSpPr>
        <p:spPr>
          <a:xfrm>
            <a:off x="6912864" y="3035808"/>
            <a:ext cx="146304" cy="146304"/>
          </a:xfrm>
          <a:prstGeom prst="ellipse">
            <a:avLst/>
          </a:prstGeom>
          <a:solidFill>
            <a:srgbClr val="6B6B6B"/>
          </a:solidFill>
          <a:ln/>
        </p:spPr>
        <p:txBody>
          <a:bodyPr/>
          <a:lstStyle/>
          <a:p>
            <a:endParaRPr lang="en-US"/>
          </a:p>
        </p:txBody>
      </p:sp>
      <p:sp>
        <p:nvSpPr>
          <p:cNvPr id="36" name="Text 33"/>
          <p:cNvSpPr txBox="1"/>
          <p:nvPr/>
        </p:nvSpPr>
        <p:spPr>
          <a:xfrm>
            <a:off x="7315200" y="298094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pipeline.py</a:t>
            </a:r>
            <a:endParaRPr lang="en-US" sz="1050" dirty="0"/>
          </a:p>
        </p:txBody>
      </p:sp>
      <p:sp>
        <p:nvSpPr>
          <p:cNvPr id="37" name="Shape 34"/>
          <p:cNvSpPr/>
          <p:nvPr/>
        </p:nvSpPr>
        <p:spPr>
          <a:xfrm>
            <a:off x="6217920" y="3337560"/>
            <a:ext cx="5257800" cy="0"/>
          </a:xfrm>
          <a:prstGeom prst="line">
            <a:avLst/>
          </a:prstGeom>
          <a:noFill/>
          <a:ln w="12700">
            <a:solidFill>
              <a:srgbClr val="444444"/>
            </a:solidFill>
            <a:prstDash val="solid"/>
          </a:ln>
        </p:spPr>
        <p:txBody>
          <a:bodyPr/>
          <a:lstStyle/>
          <a:p>
            <a:endParaRPr lang="en-US"/>
          </a:p>
        </p:txBody>
      </p:sp>
      <p:sp>
        <p:nvSpPr>
          <p:cNvPr id="38" name="Text 35"/>
          <p:cNvSpPr txBox="1"/>
          <p:nvPr/>
        </p:nvSpPr>
        <p:spPr>
          <a:xfrm>
            <a:off x="6446520" y="3474720"/>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(penguins</a:t>
            </a:r>
            <a:endParaRPr lang="en-US" sz="1200" dirty="0"/>
          </a:p>
        </p:txBody>
      </p:sp>
      <p:sp>
        <p:nvSpPr>
          <p:cNvPr id="39" name="Text 36"/>
          <p:cNvSpPr txBox="1"/>
          <p:nvPr/>
        </p:nvSpPr>
        <p:spPr>
          <a:xfrm>
            <a:off x="6446520" y="3803904"/>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.query("species == 'Adelie'")</a:t>
            </a:r>
            <a:endParaRPr lang="en-US" sz="1200" dirty="0"/>
          </a:p>
        </p:txBody>
      </p:sp>
      <p:sp>
        <p:nvSpPr>
          <p:cNvPr id="40" name="Text 37"/>
          <p:cNvSpPr txBox="1"/>
          <p:nvPr/>
        </p:nvSpPr>
        <p:spPr>
          <a:xfrm>
            <a:off x="6446520" y="4133088"/>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.assign(kg=lambda d: d.body_mass_g / 1000)</a:t>
            </a:r>
            <a:endParaRPr lang="en-US" sz="1200" dirty="0"/>
          </a:p>
        </p:txBody>
      </p:sp>
      <p:sp>
        <p:nvSpPr>
          <p:cNvPr id="41" name="Text 38"/>
          <p:cNvSpPr txBox="1"/>
          <p:nvPr/>
        </p:nvSpPr>
        <p:spPr>
          <a:xfrm>
            <a:off x="6446520" y="4462272"/>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  .groupby("island")</a:t>
            </a:r>
            <a:endParaRPr lang="en-US" sz="1200" dirty="0"/>
          </a:p>
        </p:txBody>
      </p:sp>
      <p:sp>
        <p:nvSpPr>
          <p:cNvPr id="42" name="Text 39"/>
          <p:cNvSpPr txBox="1"/>
          <p:nvPr/>
        </p:nvSpPr>
        <p:spPr>
          <a:xfrm>
            <a:off x="6446520" y="4791456"/>
            <a:ext cx="4800600" cy="329184"/>
          </a:xfrm>
          <a:prstGeom prst="rect">
            <a:avLst/>
          </a:prstGeom>
          <a:noFill/>
          <a:ln/>
        </p:spPr>
        <p:txBody>
          <a:bodyPr wrap="square" rtlCol="0" anchor="ctr"/>
          <a:lstStyle/>
          <a:p>
            <a:pPr marL="0" indent="0">
              <a:buNone/>
            </a:pPr>
            <a:r>
              <a:rPr lang="en-US" sz="1200" dirty="0">
                <a:solidFill>
                  <a:srgbClr val="ECB748"/>
                </a:solidFill>
                <a:latin typeface="Courier New" pitchFamily="34" charset="0"/>
                <a:ea typeface="Courier New" pitchFamily="34" charset="-122"/>
                <a:cs typeface="Courier New" pitchFamily="34" charset="-120"/>
              </a:rPr>
              <a:t>  .agg(mean_kg=("kg", "mean")))</a:t>
            </a:r>
            <a:endParaRPr lang="en-US" sz="1200" dirty="0"/>
          </a:p>
        </p:txBody>
      </p:sp>
      <p:sp>
        <p:nvSpPr>
          <p:cNvPr id="43" name="Shape 40"/>
          <p:cNvSpPr/>
          <p:nvPr/>
        </p:nvSpPr>
        <p:spPr>
          <a:xfrm>
            <a:off x="640080" y="5440680"/>
            <a:ext cx="10881360" cy="868680"/>
          </a:xfrm>
          <a:prstGeom prst="roundRect">
            <a:avLst>
              <a:gd name="adj" fmla="val 8421"/>
            </a:avLst>
          </a:prstGeom>
          <a:solidFill>
            <a:srgbClr val="F5F3EF"/>
          </a:solidFill>
          <a:ln w="12700">
            <a:solidFill>
              <a:srgbClr val="E3E3E3"/>
            </a:solidFill>
            <a:prstDash val="solid"/>
          </a:ln>
        </p:spPr>
        <p:txBody>
          <a:bodyPr/>
          <a:lstStyle/>
          <a:p>
            <a:endParaRPr lang="en-US"/>
          </a:p>
        </p:txBody>
      </p:sp>
      <p:sp>
        <p:nvSpPr>
          <p:cNvPr id="44" name="Text 41"/>
          <p:cNvSpPr txBox="1"/>
          <p:nvPr/>
        </p:nvSpPr>
        <p:spPr>
          <a:xfrm>
            <a:off x="914400" y="5440680"/>
            <a:ext cx="10332720" cy="86868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MUTATE OR SUMMARISE:  </a:t>
            </a:r>
            <a:r>
              <a:rPr lang="en-US" sz="1300" dirty="0">
                <a:solidFill>
                  <a:srgbClr val="595959"/>
                </a:solidFill>
                <a:latin typeface="Arial" pitchFamily="34" charset="0"/>
                <a:ea typeface="Arial" pitchFamily="34" charset="-122"/>
                <a:cs typeface="Arial" pitchFamily="34" charset="-120"/>
              </a:rPr>
              <a:t>mutate keeps every row (152 in, 152 out). summarise collapses each group to one row (152 in, 3 out). Mixing them up is a common AI mistake, so run the pipeline one step at a time and watch the row count.</a:t>
            </a:r>
            <a:endParaRPr lang="en-US" sz="1300" dirty="0"/>
          </a:p>
        </p:txBody>
      </p:sp>
      <p:sp>
        <p:nvSpPr>
          <p:cNvPr id="45" name="Text 42"/>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60120"/>
            <a:ext cx="10881360" cy="68580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The group and sex columns, fixed</a:t>
            </a:r>
            <a:endParaRPr lang="en-US" sz="2600" dirty="0"/>
          </a:p>
        </p:txBody>
      </p:sp>
      <p:sp>
        <p:nvSpPr>
          <p:cNvPr id="6" name="Shape 3"/>
          <p:cNvSpPr/>
          <p:nvPr/>
        </p:nvSpPr>
        <p:spPr>
          <a:xfrm>
            <a:off x="640080" y="1691640"/>
            <a:ext cx="2697480" cy="3383280"/>
          </a:xfrm>
          <a:prstGeom prst="roundRect">
            <a:avLst>
              <a:gd name="adj" fmla="val 3390"/>
            </a:avLst>
          </a:prstGeom>
          <a:solidFill>
            <a:srgbClr val="2E2E2E"/>
          </a:solidFill>
          <a:ln w="12700">
            <a:solidFill>
              <a:srgbClr val="444444"/>
            </a:solidFill>
            <a:prstDash val="solid"/>
          </a:ln>
        </p:spPr>
        <p:txBody>
          <a:bodyPr/>
          <a:lstStyle/>
          <a:p>
            <a:endParaRPr lang="en-US"/>
          </a:p>
        </p:txBody>
      </p:sp>
      <p:sp>
        <p:nvSpPr>
          <p:cNvPr id="7" name="Text 4"/>
          <p:cNvSpPr txBox="1"/>
          <p:nvPr/>
        </p:nvSpPr>
        <p:spPr>
          <a:xfrm>
            <a:off x="822960" y="1801368"/>
            <a:ext cx="2331720" cy="274320"/>
          </a:xfrm>
          <a:prstGeom prst="rect">
            <a:avLst/>
          </a:prstGeom>
          <a:noFill/>
          <a:ln/>
        </p:spPr>
        <p:txBody>
          <a:bodyPr wrap="square" lIns="0" tIns="0" rIns="0" bIns="0" rtlCol="0" anchor="ctr"/>
          <a:lstStyle/>
          <a:p>
            <a:pPr marL="0" indent="0">
              <a:buNone/>
            </a:pPr>
            <a:r>
              <a:rPr lang="en-US" sz="1200" b="1" dirty="0">
                <a:solidFill>
                  <a:srgbClr val="ECB748"/>
                </a:solidFill>
                <a:latin typeface="Courier New" pitchFamily="34" charset="0"/>
                <a:ea typeface="Courier New" pitchFamily="34" charset="-122"/>
                <a:cs typeface="Courier New" pitchFamily="34" charset="-120"/>
              </a:rPr>
              <a:t>patients.group</a:t>
            </a:r>
            <a:endParaRPr lang="en-US" sz="1200" dirty="0"/>
          </a:p>
        </p:txBody>
      </p:sp>
      <p:sp>
        <p:nvSpPr>
          <p:cNvPr id="8" name="Text 5"/>
          <p:cNvSpPr txBox="1"/>
          <p:nvPr/>
        </p:nvSpPr>
        <p:spPr>
          <a:xfrm>
            <a:off x="822960" y="2148840"/>
            <a:ext cx="2331720" cy="201168"/>
          </a:xfrm>
          <a:prstGeom prst="rect">
            <a:avLst/>
          </a:prstGeom>
          <a:noFill/>
          <a:ln/>
        </p:spPr>
        <p:txBody>
          <a:bodyPr wrap="square" lIns="0" tIns="0" rIns="0" bIns="0" rtlCol="0" anchor="ctr"/>
          <a:lstStyle/>
          <a:p>
            <a:pPr marL="0" indent="0">
              <a:buNone/>
            </a:pPr>
            <a:r>
              <a:rPr lang="en-US" sz="950" b="1" kern="0" spc="100" dirty="0">
                <a:solidFill>
                  <a:srgbClr val="9B9690"/>
                </a:solidFill>
                <a:latin typeface="Arial" pitchFamily="34" charset="0"/>
                <a:ea typeface="Arial" pitchFamily="34" charset="-122"/>
                <a:cs typeface="Arial" pitchFamily="34" charset="-120"/>
              </a:rPr>
              <a:t>BEFORE</a:t>
            </a:r>
            <a:endParaRPr lang="en-US" sz="950" dirty="0"/>
          </a:p>
        </p:txBody>
      </p:sp>
      <p:sp>
        <p:nvSpPr>
          <p:cNvPr id="9" name="Text 6"/>
          <p:cNvSpPr txBox="1"/>
          <p:nvPr/>
        </p:nvSpPr>
        <p:spPr>
          <a:xfrm>
            <a:off x="822960" y="2423160"/>
            <a:ext cx="594360" cy="219456"/>
          </a:xfrm>
          <a:prstGeom prst="rect">
            <a:avLst/>
          </a:prstGeom>
          <a:noFill/>
          <a:ln/>
        </p:spPr>
        <p:txBody>
          <a:bodyPr wrap="square" lIns="0" tIns="0" rIns="0" bIns="0"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B</a:t>
            </a:r>
            <a:endParaRPr lang="en-US" sz="1100" dirty="0"/>
          </a:p>
        </p:txBody>
      </p:sp>
      <p:sp>
        <p:nvSpPr>
          <p:cNvPr id="10" name="Shape 7"/>
          <p:cNvSpPr/>
          <p:nvPr/>
        </p:nvSpPr>
        <p:spPr>
          <a:xfrm>
            <a:off x="1463040" y="2450592"/>
            <a:ext cx="1011115" cy="164592"/>
          </a:xfrm>
          <a:prstGeom prst="rect">
            <a:avLst/>
          </a:prstGeom>
          <a:solidFill>
            <a:srgbClr val="B3C9CD"/>
          </a:solidFill>
          <a:ln/>
        </p:spPr>
        <p:txBody>
          <a:bodyPr/>
          <a:lstStyle/>
          <a:p>
            <a:endParaRPr lang="en-US"/>
          </a:p>
        </p:txBody>
      </p:sp>
      <p:sp>
        <p:nvSpPr>
          <p:cNvPr id="11" name="Text 8"/>
          <p:cNvSpPr txBox="1"/>
          <p:nvPr/>
        </p:nvSpPr>
        <p:spPr>
          <a:xfrm>
            <a:off x="2547307" y="242316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125</a:t>
            </a:r>
            <a:endParaRPr lang="en-US" sz="1100" dirty="0"/>
          </a:p>
        </p:txBody>
      </p:sp>
      <p:sp>
        <p:nvSpPr>
          <p:cNvPr id="12" name="Text 9"/>
          <p:cNvSpPr txBox="1"/>
          <p:nvPr/>
        </p:nvSpPr>
        <p:spPr>
          <a:xfrm>
            <a:off x="822960" y="2697480"/>
            <a:ext cx="594360" cy="219456"/>
          </a:xfrm>
          <a:prstGeom prst="rect">
            <a:avLst/>
          </a:prstGeom>
          <a:noFill/>
          <a:ln/>
        </p:spPr>
        <p:txBody>
          <a:bodyPr wrap="square" lIns="0" tIns="0" rIns="0" bIns="0"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A</a:t>
            </a:r>
            <a:endParaRPr lang="en-US" sz="1100" dirty="0"/>
          </a:p>
        </p:txBody>
      </p:sp>
      <p:sp>
        <p:nvSpPr>
          <p:cNvPr id="13" name="Shape 10"/>
          <p:cNvSpPr/>
          <p:nvPr/>
        </p:nvSpPr>
        <p:spPr>
          <a:xfrm>
            <a:off x="1463040" y="2724912"/>
            <a:ext cx="687558" cy="164592"/>
          </a:xfrm>
          <a:prstGeom prst="rect">
            <a:avLst/>
          </a:prstGeom>
          <a:solidFill>
            <a:srgbClr val="B3C9CD"/>
          </a:solidFill>
          <a:ln/>
        </p:spPr>
        <p:txBody>
          <a:bodyPr/>
          <a:lstStyle/>
          <a:p>
            <a:endParaRPr lang="en-US"/>
          </a:p>
        </p:txBody>
      </p:sp>
      <p:sp>
        <p:nvSpPr>
          <p:cNvPr id="14" name="Text 11"/>
          <p:cNvSpPr txBox="1"/>
          <p:nvPr/>
        </p:nvSpPr>
        <p:spPr>
          <a:xfrm>
            <a:off x="2223750" y="269748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85</a:t>
            </a:r>
            <a:endParaRPr lang="en-US" sz="1100" dirty="0"/>
          </a:p>
        </p:txBody>
      </p:sp>
      <p:sp>
        <p:nvSpPr>
          <p:cNvPr id="15" name="Text 12"/>
          <p:cNvSpPr txBox="1"/>
          <p:nvPr/>
        </p:nvSpPr>
        <p:spPr>
          <a:xfrm>
            <a:off x="822960" y="2971800"/>
            <a:ext cx="594360" cy="219456"/>
          </a:xfrm>
          <a:prstGeom prst="rect">
            <a:avLst/>
          </a:prstGeom>
          <a:noFill/>
          <a:ln/>
        </p:spPr>
        <p:txBody>
          <a:bodyPr wrap="square" lIns="0" tIns="0" rIns="0" bIns="0" rtlCol="0" anchor="ctr"/>
          <a:lstStyle/>
          <a:p>
            <a:pPr marL="0" indent="0">
              <a:buNone/>
            </a:pPr>
            <a:r>
              <a:rPr lang="en-US" sz="1100" dirty="0">
                <a:solidFill>
                  <a:srgbClr val="D64550"/>
                </a:solidFill>
                <a:latin typeface="Courier New" pitchFamily="34" charset="0"/>
                <a:ea typeface="Courier New" pitchFamily="34" charset="-122"/>
                <a:cs typeface="Courier New" pitchFamily="34" charset="-120"/>
              </a:rPr>
              <a:t>"A "</a:t>
            </a:r>
            <a:endParaRPr lang="en-US" sz="1100" dirty="0"/>
          </a:p>
        </p:txBody>
      </p:sp>
      <p:sp>
        <p:nvSpPr>
          <p:cNvPr id="16" name="Shape 13"/>
          <p:cNvSpPr/>
          <p:nvPr/>
        </p:nvSpPr>
        <p:spPr>
          <a:xfrm>
            <a:off x="1463040" y="2999232"/>
            <a:ext cx="323557" cy="164592"/>
          </a:xfrm>
          <a:prstGeom prst="rect">
            <a:avLst/>
          </a:prstGeom>
          <a:solidFill>
            <a:srgbClr val="D64550"/>
          </a:solidFill>
          <a:ln/>
        </p:spPr>
        <p:txBody>
          <a:bodyPr/>
          <a:lstStyle/>
          <a:p>
            <a:endParaRPr lang="en-US"/>
          </a:p>
        </p:txBody>
      </p:sp>
      <p:sp>
        <p:nvSpPr>
          <p:cNvPr id="17" name="Text 14"/>
          <p:cNvSpPr txBox="1"/>
          <p:nvPr/>
        </p:nvSpPr>
        <p:spPr>
          <a:xfrm>
            <a:off x="1859749" y="297180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40</a:t>
            </a:r>
            <a:endParaRPr lang="en-US" sz="1100" dirty="0"/>
          </a:p>
        </p:txBody>
      </p:sp>
      <p:sp>
        <p:nvSpPr>
          <p:cNvPr id="18" name="Text 15"/>
          <p:cNvSpPr txBox="1"/>
          <p:nvPr/>
        </p:nvSpPr>
        <p:spPr>
          <a:xfrm>
            <a:off x="822960" y="3657600"/>
            <a:ext cx="2331720" cy="201168"/>
          </a:xfrm>
          <a:prstGeom prst="rect">
            <a:avLst/>
          </a:prstGeom>
          <a:noFill/>
          <a:ln/>
        </p:spPr>
        <p:txBody>
          <a:bodyPr wrap="square" lIns="0" tIns="0" rIns="0" bIns="0" rtlCol="0" anchor="ctr"/>
          <a:lstStyle/>
          <a:p>
            <a:pPr marL="0" indent="0">
              <a:buNone/>
            </a:pPr>
            <a:r>
              <a:rPr lang="en-US" sz="950" b="1" kern="0" spc="100" dirty="0">
                <a:solidFill>
                  <a:srgbClr val="9B9690"/>
                </a:solidFill>
                <a:latin typeface="Arial" pitchFamily="34" charset="0"/>
                <a:ea typeface="Arial" pitchFamily="34" charset="-122"/>
                <a:cs typeface="Arial" pitchFamily="34" charset="-120"/>
              </a:rPr>
              <a:t>AFTER</a:t>
            </a:r>
            <a:endParaRPr lang="en-US" sz="950" dirty="0"/>
          </a:p>
        </p:txBody>
      </p:sp>
      <p:sp>
        <p:nvSpPr>
          <p:cNvPr id="19" name="Text 16"/>
          <p:cNvSpPr txBox="1"/>
          <p:nvPr/>
        </p:nvSpPr>
        <p:spPr>
          <a:xfrm>
            <a:off x="822960" y="3931920"/>
            <a:ext cx="594360" cy="219456"/>
          </a:xfrm>
          <a:prstGeom prst="rect">
            <a:avLst/>
          </a:prstGeom>
          <a:noFill/>
          <a:ln/>
        </p:spPr>
        <p:txBody>
          <a:bodyPr wrap="square" lIns="0" tIns="0" rIns="0" bIns="0"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A</a:t>
            </a:r>
            <a:endParaRPr lang="en-US" sz="1100" dirty="0"/>
          </a:p>
        </p:txBody>
      </p:sp>
      <p:sp>
        <p:nvSpPr>
          <p:cNvPr id="20" name="Shape 17"/>
          <p:cNvSpPr/>
          <p:nvPr/>
        </p:nvSpPr>
        <p:spPr>
          <a:xfrm>
            <a:off x="1463040" y="3959352"/>
            <a:ext cx="1011115" cy="164592"/>
          </a:xfrm>
          <a:prstGeom prst="rect">
            <a:avLst/>
          </a:prstGeom>
          <a:solidFill>
            <a:srgbClr val="ECB748"/>
          </a:solidFill>
          <a:ln/>
        </p:spPr>
        <p:txBody>
          <a:bodyPr/>
          <a:lstStyle/>
          <a:p>
            <a:endParaRPr lang="en-US"/>
          </a:p>
        </p:txBody>
      </p:sp>
      <p:sp>
        <p:nvSpPr>
          <p:cNvPr id="21" name="Text 18"/>
          <p:cNvSpPr txBox="1"/>
          <p:nvPr/>
        </p:nvSpPr>
        <p:spPr>
          <a:xfrm>
            <a:off x="2547307" y="393192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125</a:t>
            </a:r>
            <a:endParaRPr lang="en-US" sz="1100" dirty="0"/>
          </a:p>
        </p:txBody>
      </p:sp>
      <p:sp>
        <p:nvSpPr>
          <p:cNvPr id="22" name="Text 19"/>
          <p:cNvSpPr txBox="1"/>
          <p:nvPr/>
        </p:nvSpPr>
        <p:spPr>
          <a:xfrm>
            <a:off x="822960" y="4206240"/>
            <a:ext cx="594360" cy="219456"/>
          </a:xfrm>
          <a:prstGeom prst="rect">
            <a:avLst/>
          </a:prstGeom>
          <a:noFill/>
          <a:ln/>
        </p:spPr>
        <p:txBody>
          <a:bodyPr wrap="square" lIns="0" tIns="0" rIns="0" bIns="0"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B</a:t>
            </a:r>
            <a:endParaRPr lang="en-US" sz="1100" dirty="0"/>
          </a:p>
        </p:txBody>
      </p:sp>
      <p:sp>
        <p:nvSpPr>
          <p:cNvPr id="23" name="Shape 20"/>
          <p:cNvSpPr/>
          <p:nvPr/>
        </p:nvSpPr>
        <p:spPr>
          <a:xfrm>
            <a:off x="1463040" y="4233672"/>
            <a:ext cx="1011115" cy="164592"/>
          </a:xfrm>
          <a:prstGeom prst="rect">
            <a:avLst/>
          </a:prstGeom>
          <a:solidFill>
            <a:srgbClr val="ECB748"/>
          </a:solidFill>
          <a:ln/>
        </p:spPr>
        <p:txBody>
          <a:bodyPr/>
          <a:lstStyle/>
          <a:p>
            <a:endParaRPr lang="en-US"/>
          </a:p>
        </p:txBody>
      </p:sp>
      <p:sp>
        <p:nvSpPr>
          <p:cNvPr id="24" name="Text 21"/>
          <p:cNvSpPr txBox="1"/>
          <p:nvPr/>
        </p:nvSpPr>
        <p:spPr>
          <a:xfrm>
            <a:off x="2547307" y="420624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125</a:t>
            </a:r>
            <a:endParaRPr lang="en-US" sz="1100" dirty="0"/>
          </a:p>
        </p:txBody>
      </p:sp>
      <p:sp>
        <p:nvSpPr>
          <p:cNvPr id="25" name="Text 22"/>
          <p:cNvSpPr txBox="1"/>
          <p:nvPr/>
        </p:nvSpPr>
        <p:spPr>
          <a:xfrm>
            <a:off x="822960" y="4526280"/>
            <a:ext cx="2331720" cy="457200"/>
          </a:xfrm>
          <a:prstGeom prst="rect">
            <a:avLst/>
          </a:prstGeom>
          <a:noFill/>
          <a:ln/>
        </p:spPr>
        <p:txBody>
          <a:bodyPr wrap="square" lIns="0" tIns="0" rIns="0" bIns="0" rtlCol="0" anchor="t"/>
          <a:lstStyle/>
          <a:p>
            <a:pPr marL="0" indent="0">
              <a:buNone/>
            </a:pPr>
            <a:r>
              <a:rPr lang="en-US" sz="1050" dirty="0">
                <a:solidFill>
                  <a:srgbClr val="9B9690"/>
                </a:solidFill>
                <a:latin typeface="Arial" pitchFamily="34" charset="0"/>
                <a:ea typeface="Arial" pitchFamily="34" charset="-122"/>
                <a:cs typeface="Arial" pitchFamily="34" charset="-120"/>
              </a:rPr>
              <a:t>The trailing space makes "A " its own group.</a:t>
            </a:r>
            <a:endParaRPr lang="en-US" sz="1050" dirty="0"/>
          </a:p>
        </p:txBody>
      </p:sp>
      <p:sp>
        <p:nvSpPr>
          <p:cNvPr id="26" name="Shape 23"/>
          <p:cNvSpPr/>
          <p:nvPr/>
        </p:nvSpPr>
        <p:spPr>
          <a:xfrm>
            <a:off x="3474720" y="1691640"/>
            <a:ext cx="2697480" cy="3383280"/>
          </a:xfrm>
          <a:prstGeom prst="roundRect">
            <a:avLst>
              <a:gd name="adj" fmla="val 3390"/>
            </a:avLst>
          </a:prstGeom>
          <a:solidFill>
            <a:srgbClr val="2E2E2E"/>
          </a:solidFill>
          <a:ln w="12700">
            <a:solidFill>
              <a:srgbClr val="444444"/>
            </a:solidFill>
            <a:prstDash val="solid"/>
          </a:ln>
        </p:spPr>
        <p:txBody>
          <a:bodyPr/>
          <a:lstStyle/>
          <a:p>
            <a:endParaRPr lang="en-US"/>
          </a:p>
        </p:txBody>
      </p:sp>
      <p:sp>
        <p:nvSpPr>
          <p:cNvPr id="27" name="Text 24"/>
          <p:cNvSpPr txBox="1"/>
          <p:nvPr/>
        </p:nvSpPr>
        <p:spPr>
          <a:xfrm>
            <a:off x="3657600" y="1801368"/>
            <a:ext cx="2331720" cy="274320"/>
          </a:xfrm>
          <a:prstGeom prst="rect">
            <a:avLst/>
          </a:prstGeom>
          <a:noFill/>
          <a:ln/>
        </p:spPr>
        <p:txBody>
          <a:bodyPr wrap="square" lIns="0" tIns="0" rIns="0" bIns="0" rtlCol="0" anchor="ctr"/>
          <a:lstStyle/>
          <a:p>
            <a:pPr marL="0" indent="0">
              <a:buNone/>
            </a:pPr>
            <a:r>
              <a:rPr lang="en-US" sz="1200" b="1" dirty="0">
                <a:solidFill>
                  <a:srgbClr val="ECB748"/>
                </a:solidFill>
                <a:latin typeface="Courier New" pitchFamily="34" charset="0"/>
                <a:ea typeface="Courier New" pitchFamily="34" charset="-122"/>
                <a:cs typeface="Courier New" pitchFamily="34" charset="-120"/>
              </a:rPr>
              <a:t>patients.sex</a:t>
            </a:r>
            <a:endParaRPr lang="en-US" sz="1200" dirty="0"/>
          </a:p>
        </p:txBody>
      </p:sp>
      <p:sp>
        <p:nvSpPr>
          <p:cNvPr id="28" name="Text 25"/>
          <p:cNvSpPr txBox="1"/>
          <p:nvPr/>
        </p:nvSpPr>
        <p:spPr>
          <a:xfrm>
            <a:off x="3657600" y="2148840"/>
            <a:ext cx="2331720" cy="201168"/>
          </a:xfrm>
          <a:prstGeom prst="rect">
            <a:avLst/>
          </a:prstGeom>
          <a:noFill/>
          <a:ln/>
        </p:spPr>
        <p:txBody>
          <a:bodyPr wrap="square" lIns="0" tIns="0" rIns="0" bIns="0" rtlCol="0" anchor="ctr"/>
          <a:lstStyle/>
          <a:p>
            <a:pPr marL="0" indent="0">
              <a:buNone/>
            </a:pPr>
            <a:r>
              <a:rPr lang="en-US" sz="950" b="1" kern="0" spc="100" dirty="0">
                <a:solidFill>
                  <a:srgbClr val="9B9690"/>
                </a:solidFill>
                <a:latin typeface="Arial" pitchFamily="34" charset="0"/>
                <a:ea typeface="Arial" pitchFamily="34" charset="-122"/>
                <a:cs typeface="Arial" pitchFamily="34" charset="-120"/>
              </a:rPr>
              <a:t>BEFORE</a:t>
            </a:r>
            <a:endParaRPr lang="en-US" sz="950" dirty="0"/>
          </a:p>
        </p:txBody>
      </p:sp>
      <p:sp>
        <p:nvSpPr>
          <p:cNvPr id="29" name="Text 26"/>
          <p:cNvSpPr txBox="1"/>
          <p:nvPr/>
        </p:nvSpPr>
        <p:spPr>
          <a:xfrm>
            <a:off x="3657600" y="2423160"/>
            <a:ext cx="594360" cy="219456"/>
          </a:xfrm>
          <a:prstGeom prst="rect">
            <a:avLst/>
          </a:prstGeom>
          <a:noFill/>
          <a:ln/>
        </p:spPr>
        <p:txBody>
          <a:bodyPr wrap="square" lIns="0" tIns="0" rIns="0" bIns="0"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M</a:t>
            </a:r>
            <a:endParaRPr lang="en-US" sz="1100" dirty="0"/>
          </a:p>
        </p:txBody>
      </p:sp>
      <p:sp>
        <p:nvSpPr>
          <p:cNvPr id="30" name="Shape 27"/>
          <p:cNvSpPr/>
          <p:nvPr/>
        </p:nvSpPr>
        <p:spPr>
          <a:xfrm>
            <a:off x="4297680" y="2450592"/>
            <a:ext cx="962582" cy="164592"/>
          </a:xfrm>
          <a:prstGeom prst="rect">
            <a:avLst/>
          </a:prstGeom>
          <a:solidFill>
            <a:srgbClr val="B3C9CD"/>
          </a:solidFill>
          <a:ln/>
        </p:spPr>
        <p:txBody>
          <a:bodyPr/>
          <a:lstStyle/>
          <a:p>
            <a:endParaRPr lang="en-US"/>
          </a:p>
        </p:txBody>
      </p:sp>
      <p:sp>
        <p:nvSpPr>
          <p:cNvPr id="31" name="Text 28"/>
          <p:cNvSpPr txBox="1"/>
          <p:nvPr/>
        </p:nvSpPr>
        <p:spPr>
          <a:xfrm>
            <a:off x="5333414" y="242316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119</a:t>
            </a:r>
            <a:endParaRPr lang="en-US" sz="1100" dirty="0"/>
          </a:p>
        </p:txBody>
      </p:sp>
      <p:sp>
        <p:nvSpPr>
          <p:cNvPr id="32" name="Text 29"/>
          <p:cNvSpPr txBox="1"/>
          <p:nvPr/>
        </p:nvSpPr>
        <p:spPr>
          <a:xfrm>
            <a:off x="3657600" y="2697480"/>
            <a:ext cx="594360" cy="219456"/>
          </a:xfrm>
          <a:prstGeom prst="rect">
            <a:avLst/>
          </a:prstGeom>
          <a:noFill/>
          <a:ln/>
        </p:spPr>
        <p:txBody>
          <a:bodyPr wrap="square" lIns="0" tIns="0" rIns="0" bIns="0"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F</a:t>
            </a:r>
            <a:endParaRPr lang="en-US" sz="1100" dirty="0"/>
          </a:p>
        </p:txBody>
      </p:sp>
      <p:sp>
        <p:nvSpPr>
          <p:cNvPr id="33" name="Shape 30"/>
          <p:cNvSpPr/>
          <p:nvPr/>
        </p:nvSpPr>
        <p:spPr>
          <a:xfrm>
            <a:off x="4297680" y="2724912"/>
            <a:ext cx="905959" cy="164592"/>
          </a:xfrm>
          <a:prstGeom prst="rect">
            <a:avLst/>
          </a:prstGeom>
          <a:solidFill>
            <a:srgbClr val="B3C9CD"/>
          </a:solidFill>
          <a:ln/>
        </p:spPr>
        <p:txBody>
          <a:bodyPr/>
          <a:lstStyle/>
          <a:p>
            <a:endParaRPr lang="en-US"/>
          </a:p>
        </p:txBody>
      </p:sp>
      <p:sp>
        <p:nvSpPr>
          <p:cNvPr id="34" name="Text 31"/>
          <p:cNvSpPr txBox="1"/>
          <p:nvPr/>
        </p:nvSpPr>
        <p:spPr>
          <a:xfrm>
            <a:off x="5276791" y="269748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112</a:t>
            </a:r>
            <a:endParaRPr lang="en-US" sz="1100" dirty="0"/>
          </a:p>
        </p:txBody>
      </p:sp>
      <p:sp>
        <p:nvSpPr>
          <p:cNvPr id="35" name="Text 32"/>
          <p:cNvSpPr txBox="1"/>
          <p:nvPr/>
        </p:nvSpPr>
        <p:spPr>
          <a:xfrm>
            <a:off x="3657600" y="2971800"/>
            <a:ext cx="594360" cy="219456"/>
          </a:xfrm>
          <a:prstGeom prst="rect">
            <a:avLst/>
          </a:prstGeom>
          <a:noFill/>
          <a:ln/>
        </p:spPr>
        <p:txBody>
          <a:bodyPr wrap="square" lIns="0" tIns="0" rIns="0" bIns="0" rtlCol="0" anchor="ctr"/>
          <a:lstStyle/>
          <a:p>
            <a:pPr marL="0" indent="0">
              <a:buNone/>
            </a:pPr>
            <a:r>
              <a:rPr lang="en-US" sz="1100" dirty="0">
                <a:solidFill>
                  <a:srgbClr val="D64550"/>
                </a:solidFill>
                <a:latin typeface="Courier New" pitchFamily="34" charset="0"/>
                <a:ea typeface="Courier New" pitchFamily="34" charset="-122"/>
                <a:cs typeface="Courier New" pitchFamily="34" charset="-120"/>
              </a:rPr>
              <a:t>m</a:t>
            </a:r>
            <a:endParaRPr lang="en-US" sz="1100" dirty="0"/>
          </a:p>
        </p:txBody>
      </p:sp>
      <p:sp>
        <p:nvSpPr>
          <p:cNvPr id="36" name="Shape 33"/>
          <p:cNvSpPr/>
          <p:nvPr/>
        </p:nvSpPr>
        <p:spPr>
          <a:xfrm>
            <a:off x="4297680" y="2999232"/>
            <a:ext cx="80889" cy="164592"/>
          </a:xfrm>
          <a:prstGeom prst="rect">
            <a:avLst/>
          </a:prstGeom>
          <a:solidFill>
            <a:srgbClr val="D64550"/>
          </a:solidFill>
          <a:ln/>
        </p:spPr>
        <p:txBody>
          <a:bodyPr/>
          <a:lstStyle/>
          <a:p>
            <a:endParaRPr lang="en-US"/>
          </a:p>
        </p:txBody>
      </p:sp>
      <p:sp>
        <p:nvSpPr>
          <p:cNvPr id="37" name="Text 34"/>
          <p:cNvSpPr txBox="1"/>
          <p:nvPr/>
        </p:nvSpPr>
        <p:spPr>
          <a:xfrm>
            <a:off x="4451721" y="297180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10</a:t>
            </a:r>
            <a:endParaRPr lang="en-US" sz="1100" dirty="0"/>
          </a:p>
        </p:txBody>
      </p:sp>
      <p:sp>
        <p:nvSpPr>
          <p:cNvPr id="38" name="Text 35"/>
          <p:cNvSpPr txBox="1"/>
          <p:nvPr/>
        </p:nvSpPr>
        <p:spPr>
          <a:xfrm>
            <a:off x="3657600" y="3246120"/>
            <a:ext cx="594360" cy="219456"/>
          </a:xfrm>
          <a:prstGeom prst="rect">
            <a:avLst/>
          </a:prstGeom>
          <a:noFill/>
          <a:ln/>
        </p:spPr>
        <p:txBody>
          <a:bodyPr wrap="square" lIns="0" tIns="0" rIns="0" bIns="0" rtlCol="0" anchor="ctr"/>
          <a:lstStyle/>
          <a:p>
            <a:pPr marL="0" indent="0">
              <a:buNone/>
            </a:pPr>
            <a:r>
              <a:rPr lang="en-US" sz="1100" dirty="0">
                <a:solidFill>
                  <a:srgbClr val="D64550"/>
                </a:solidFill>
                <a:latin typeface="Courier New" pitchFamily="34" charset="0"/>
                <a:ea typeface="Courier New" pitchFamily="34" charset="-122"/>
                <a:cs typeface="Courier New" pitchFamily="34" charset="-120"/>
              </a:rPr>
              <a:t>f</a:t>
            </a:r>
            <a:endParaRPr lang="en-US" sz="1100" dirty="0"/>
          </a:p>
        </p:txBody>
      </p:sp>
      <p:sp>
        <p:nvSpPr>
          <p:cNvPr id="39" name="Shape 36"/>
          <p:cNvSpPr/>
          <p:nvPr/>
        </p:nvSpPr>
        <p:spPr>
          <a:xfrm>
            <a:off x="4297680" y="3273552"/>
            <a:ext cx="72800" cy="164592"/>
          </a:xfrm>
          <a:prstGeom prst="rect">
            <a:avLst/>
          </a:prstGeom>
          <a:solidFill>
            <a:srgbClr val="D64550"/>
          </a:solidFill>
          <a:ln/>
        </p:spPr>
        <p:txBody>
          <a:bodyPr/>
          <a:lstStyle/>
          <a:p>
            <a:endParaRPr lang="en-US"/>
          </a:p>
        </p:txBody>
      </p:sp>
      <p:sp>
        <p:nvSpPr>
          <p:cNvPr id="40" name="Text 37"/>
          <p:cNvSpPr txBox="1"/>
          <p:nvPr/>
        </p:nvSpPr>
        <p:spPr>
          <a:xfrm>
            <a:off x="4443632" y="324612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9</a:t>
            </a:r>
            <a:endParaRPr lang="en-US" sz="1100" dirty="0"/>
          </a:p>
        </p:txBody>
      </p:sp>
      <p:sp>
        <p:nvSpPr>
          <p:cNvPr id="41" name="Text 38"/>
          <p:cNvSpPr txBox="1"/>
          <p:nvPr/>
        </p:nvSpPr>
        <p:spPr>
          <a:xfrm>
            <a:off x="3657600" y="3657600"/>
            <a:ext cx="2331720" cy="201168"/>
          </a:xfrm>
          <a:prstGeom prst="rect">
            <a:avLst/>
          </a:prstGeom>
          <a:noFill/>
          <a:ln/>
        </p:spPr>
        <p:txBody>
          <a:bodyPr wrap="square" lIns="0" tIns="0" rIns="0" bIns="0" rtlCol="0" anchor="ctr"/>
          <a:lstStyle/>
          <a:p>
            <a:pPr marL="0" indent="0">
              <a:buNone/>
            </a:pPr>
            <a:r>
              <a:rPr lang="en-US" sz="950" b="1" kern="0" spc="100" dirty="0">
                <a:solidFill>
                  <a:srgbClr val="9B9690"/>
                </a:solidFill>
                <a:latin typeface="Arial" pitchFamily="34" charset="0"/>
                <a:ea typeface="Arial" pitchFamily="34" charset="-122"/>
                <a:cs typeface="Arial" pitchFamily="34" charset="-120"/>
              </a:rPr>
              <a:t>AFTER</a:t>
            </a:r>
            <a:endParaRPr lang="en-US" sz="950" dirty="0"/>
          </a:p>
        </p:txBody>
      </p:sp>
      <p:sp>
        <p:nvSpPr>
          <p:cNvPr id="42" name="Text 39"/>
          <p:cNvSpPr txBox="1"/>
          <p:nvPr/>
        </p:nvSpPr>
        <p:spPr>
          <a:xfrm>
            <a:off x="3657600" y="3931920"/>
            <a:ext cx="594360" cy="219456"/>
          </a:xfrm>
          <a:prstGeom prst="rect">
            <a:avLst/>
          </a:prstGeom>
          <a:noFill/>
          <a:ln/>
        </p:spPr>
        <p:txBody>
          <a:bodyPr wrap="square" lIns="0" tIns="0" rIns="0" bIns="0"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M</a:t>
            </a:r>
            <a:endParaRPr lang="en-US" sz="1100" dirty="0"/>
          </a:p>
        </p:txBody>
      </p:sp>
      <p:sp>
        <p:nvSpPr>
          <p:cNvPr id="43" name="Shape 40"/>
          <p:cNvSpPr/>
          <p:nvPr/>
        </p:nvSpPr>
        <p:spPr>
          <a:xfrm>
            <a:off x="4297680" y="3959352"/>
            <a:ext cx="1043471" cy="164592"/>
          </a:xfrm>
          <a:prstGeom prst="rect">
            <a:avLst/>
          </a:prstGeom>
          <a:solidFill>
            <a:srgbClr val="ECB748"/>
          </a:solidFill>
          <a:ln/>
        </p:spPr>
        <p:txBody>
          <a:bodyPr/>
          <a:lstStyle/>
          <a:p>
            <a:endParaRPr lang="en-US"/>
          </a:p>
        </p:txBody>
      </p:sp>
      <p:sp>
        <p:nvSpPr>
          <p:cNvPr id="44" name="Text 41"/>
          <p:cNvSpPr txBox="1"/>
          <p:nvPr/>
        </p:nvSpPr>
        <p:spPr>
          <a:xfrm>
            <a:off x="5414303" y="393192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129</a:t>
            </a:r>
            <a:endParaRPr lang="en-US" sz="1100" dirty="0"/>
          </a:p>
        </p:txBody>
      </p:sp>
      <p:sp>
        <p:nvSpPr>
          <p:cNvPr id="45" name="Text 42"/>
          <p:cNvSpPr txBox="1"/>
          <p:nvPr/>
        </p:nvSpPr>
        <p:spPr>
          <a:xfrm>
            <a:off x="3657600" y="4206240"/>
            <a:ext cx="594360" cy="219456"/>
          </a:xfrm>
          <a:prstGeom prst="rect">
            <a:avLst/>
          </a:prstGeom>
          <a:noFill/>
          <a:ln/>
        </p:spPr>
        <p:txBody>
          <a:bodyPr wrap="square" lIns="0" tIns="0" rIns="0" bIns="0"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F</a:t>
            </a:r>
            <a:endParaRPr lang="en-US" sz="1100" dirty="0"/>
          </a:p>
        </p:txBody>
      </p:sp>
      <p:sp>
        <p:nvSpPr>
          <p:cNvPr id="46" name="Shape 43"/>
          <p:cNvSpPr/>
          <p:nvPr/>
        </p:nvSpPr>
        <p:spPr>
          <a:xfrm>
            <a:off x="4297680" y="4233672"/>
            <a:ext cx="978760" cy="164592"/>
          </a:xfrm>
          <a:prstGeom prst="rect">
            <a:avLst/>
          </a:prstGeom>
          <a:solidFill>
            <a:srgbClr val="ECB748"/>
          </a:solidFill>
          <a:ln/>
        </p:spPr>
        <p:txBody>
          <a:bodyPr/>
          <a:lstStyle/>
          <a:p>
            <a:endParaRPr lang="en-US"/>
          </a:p>
        </p:txBody>
      </p:sp>
      <p:sp>
        <p:nvSpPr>
          <p:cNvPr id="47" name="Text 44"/>
          <p:cNvSpPr txBox="1"/>
          <p:nvPr/>
        </p:nvSpPr>
        <p:spPr>
          <a:xfrm>
            <a:off x="5349592" y="4206240"/>
            <a:ext cx="457200" cy="219456"/>
          </a:xfrm>
          <a:prstGeom prst="rect">
            <a:avLst/>
          </a:prstGeom>
          <a:noFill/>
          <a:ln/>
        </p:spPr>
        <p:txBody>
          <a:bodyPr wrap="square" lIns="0" tIns="0" rIns="0" bIns="0" rtlCol="0" anchor="ctr"/>
          <a:lstStyle/>
          <a:p>
            <a:pPr marL="0" indent="0">
              <a:buNone/>
            </a:pPr>
            <a:r>
              <a:rPr lang="en-US" sz="1100" dirty="0">
                <a:solidFill>
                  <a:srgbClr val="F5F3EF"/>
                </a:solidFill>
                <a:latin typeface="Arial" pitchFamily="34" charset="0"/>
                <a:ea typeface="Arial" pitchFamily="34" charset="-122"/>
                <a:cs typeface="Arial" pitchFamily="34" charset="-120"/>
              </a:rPr>
              <a:t>121</a:t>
            </a:r>
            <a:endParaRPr lang="en-US" sz="1100" dirty="0"/>
          </a:p>
        </p:txBody>
      </p:sp>
      <p:sp>
        <p:nvSpPr>
          <p:cNvPr id="48" name="Text 45"/>
          <p:cNvSpPr txBox="1"/>
          <p:nvPr/>
        </p:nvSpPr>
        <p:spPr>
          <a:xfrm>
            <a:off x="3657600" y="4526280"/>
            <a:ext cx="2331720" cy="457200"/>
          </a:xfrm>
          <a:prstGeom prst="rect">
            <a:avLst/>
          </a:prstGeom>
          <a:noFill/>
          <a:ln/>
        </p:spPr>
        <p:txBody>
          <a:bodyPr wrap="square" lIns="0" tIns="0" rIns="0" bIns="0" rtlCol="0" anchor="t"/>
          <a:lstStyle/>
          <a:p>
            <a:pPr marL="0" indent="0">
              <a:buNone/>
            </a:pPr>
            <a:r>
              <a:rPr lang="en-US" sz="1050" dirty="0">
                <a:solidFill>
                  <a:srgbClr val="9B9690"/>
                </a:solidFill>
                <a:latin typeface="Arial" pitchFamily="34" charset="0"/>
                <a:ea typeface="Arial" pitchFamily="34" charset="-122"/>
                <a:cs typeface="Arial" pitchFamily="34" charset="-120"/>
              </a:rPr>
              <a:t>Lowercase makes m and f their own groups.</a:t>
            </a:r>
            <a:endParaRPr lang="en-US" sz="1050" dirty="0"/>
          </a:p>
        </p:txBody>
      </p:sp>
      <p:sp>
        <p:nvSpPr>
          <p:cNvPr id="49" name="Shape 46"/>
          <p:cNvSpPr/>
          <p:nvPr/>
        </p:nvSpPr>
        <p:spPr>
          <a:xfrm>
            <a:off x="6355080" y="1691640"/>
            <a:ext cx="5166360" cy="1783080"/>
          </a:xfrm>
          <a:prstGeom prst="roundRect">
            <a:avLst>
              <a:gd name="adj" fmla="val 5128"/>
            </a:avLst>
          </a:prstGeom>
          <a:solidFill>
            <a:srgbClr val="2E2E2E"/>
          </a:solidFill>
          <a:ln w="12700">
            <a:solidFill>
              <a:srgbClr val="444444"/>
            </a:solidFill>
            <a:prstDash val="solid"/>
          </a:ln>
        </p:spPr>
        <p:txBody>
          <a:bodyPr/>
          <a:lstStyle/>
          <a:p>
            <a:endParaRPr lang="en-US"/>
          </a:p>
        </p:txBody>
      </p:sp>
      <p:sp>
        <p:nvSpPr>
          <p:cNvPr id="50" name="Shape 47"/>
          <p:cNvSpPr/>
          <p:nvPr/>
        </p:nvSpPr>
        <p:spPr>
          <a:xfrm>
            <a:off x="6583680" y="1892808"/>
            <a:ext cx="146304" cy="146304"/>
          </a:xfrm>
          <a:prstGeom prst="ellipse">
            <a:avLst/>
          </a:prstGeom>
          <a:solidFill>
            <a:srgbClr val="D64550"/>
          </a:solidFill>
          <a:ln/>
        </p:spPr>
        <p:txBody>
          <a:bodyPr/>
          <a:lstStyle/>
          <a:p>
            <a:endParaRPr lang="en-US"/>
          </a:p>
        </p:txBody>
      </p:sp>
      <p:sp>
        <p:nvSpPr>
          <p:cNvPr id="51" name="Shape 48"/>
          <p:cNvSpPr/>
          <p:nvPr/>
        </p:nvSpPr>
        <p:spPr>
          <a:xfrm>
            <a:off x="6839712" y="1892808"/>
            <a:ext cx="146304" cy="146304"/>
          </a:xfrm>
          <a:prstGeom prst="ellipse">
            <a:avLst/>
          </a:prstGeom>
          <a:solidFill>
            <a:srgbClr val="ECB748"/>
          </a:solidFill>
          <a:ln/>
        </p:spPr>
        <p:txBody>
          <a:bodyPr/>
          <a:lstStyle/>
          <a:p>
            <a:endParaRPr lang="en-US"/>
          </a:p>
        </p:txBody>
      </p:sp>
      <p:sp>
        <p:nvSpPr>
          <p:cNvPr id="52" name="Shape 49"/>
          <p:cNvSpPr/>
          <p:nvPr/>
        </p:nvSpPr>
        <p:spPr>
          <a:xfrm>
            <a:off x="7095744" y="1892808"/>
            <a:ext cx="146304" cy="146304"/>
          </a:xfrm>
          <a:prstGeom prst="ellipse">
            <a:avLst/>
          </a:prstGeom>
          <a:solidFill>
            <a:srgbClr val="6B6B6B"/>
          </a:solidFill>
          <a:ln/>
        </p:spPr>
        <p:txBody>
          <a:bodyPr/>
          <a:lstStyle/>
          <a:p>
            <a:endParaRPr lang="en-US"/>
          </a:p>
        </p:txBody>
      </p:sp>
      <p:sp>
        <p:nvSpPr>
          <p:cNvPr id="53" name="Text 50"/>
          <p:cNvSpPr txBox="1"/>
          <p:nvPr/>
        </p:nvSpPr>
        <p:spPr>
          <a:xfrm>
            <a:off x="7498080" y="1837944"/>
            <a:ext cx="388620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clean.R</a:t>
            </a:r>
            <a:endParaRPr lang="en-US" sz="1050" dirty="0"/>
          </a:p>
        </p:txBody>
      </p:sp>
      <p:sp>
        <p:nvSpPr>
          <p:cNvPr id="54" name="Shape 51"/>
          <p:cNvSpPr/>
          <p:nvPr/>
        </p:nvSpPr>
        <p:spPr>
          <a:xfrm>
            <a:off x="6400800" y="2194560"/>
            <a:ext cx="5074920" cy="0"/>
          </a:xfrm>
          <a:prstGeom prst="line">
            <a:avLst/>
          </a:prstGeom>
          <a:noFill/>
          <a:ln w="12700">
            <a:solidFill>
              <a:srgbClr val="444444"/>
            </a:solidFill>
            <a:prstDash val="solid"/>
          </a:ln>
        </p:spPr>
        <p:txBody>
          <a:bodyPr/>
          <a:lstStyle/>
          <a:p>
            <a:endParaRPr lang="en-US"/>
          </a:p>
        </p:txBody>
      </p:sp>
      <p:sp>
        <p:nvSpPr>
          <p:cNvPr id="55" name="Text 52"/>
          <p:cNvSpPr txBox="1"/>
          <p:nvPr/>
        </p:nvSpPr>
        <p:spPr>
          <a:xfrm>
            <a:off x="6629400" y="2331720"/>
            <a:ext cx="461772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patients &lt;- patients %&gt;% mutate(</a:t>
            </a:r>
            <a:endParaRPr lang="en-US" sz="1200" dirty="0"/>
          </a:p>
        </p:txBody>
      </p:sp>
      <p:sp>
        <p:nvSpPr>
          <p:cNvPr id="56" name="Text 53"/>
          <p:cNvSpPr txBox="1"/>
          <p:nvPr/>
        </p:nvSpPr>
        <p:spPr>
          <a:xfrm>
            <a:off x="6629400" y="2660904"/>
            <a:ext cx="461772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  group = str_trim(group),</a:t>
            </a:r>
            <a:endParaRPr lang="en-US" sz="1200" dirty="0"/>
          </a:p>
        </p:txBody>
      </p:sp>
      <p:sp>
        <p:nvSpPr>
          <p:cNvPr id="57" name="Text 54"/>
          <p:cNvSpPr txBox="1"/>
          <p:nvPr/>
        </p:nvSpPr>
        <p:spPr>
          <a:xfrm>
            <a:off x="6629400" y="2990088"/>
            <a:ext cx="461772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  sex = str_to_upper(sex))</a:t>
            </a:r>
            <a:endParaRPr lang="en-US" sz="1200" dirty="0"/>
          </a:p>
        </p:txBody>
      </p:sp>
      <p:sp>
        <p:nvSpPr>
          <p:cNvPr id="58" name="Shape 55"/>
          <p:cNvSpPr/>
          <p:nvPr/>
        </p:nvSpPr>
        <p:spPr>
          <a:xfrm>
            <a:off x="6355080" y="3611880"/>
            <a:ext cx="5166360" cy="1463040"/>
          </a:xfrm>
          <a:prstGeom prst="roundRect">
            <a:avLst>
              <a:gd name="adj" fmla="val 6250"/>
            </a:avLst>
          </a:prstGeom>
          <a:solidFill>
            <a:srgbClr val="2E2E2E"/>
          </a:solidFill>
          <a:ln w="12700">
            <a:solidFill>
              <a:srgbClr val="444444"/>
            </a:solidFill>
            <a:prstDash val="solid"/>
          </a:ln>
        </p:spPr>
        <p:txBody>
          <a:bodyPr/>
          <a:lstStyle/>
          <a:p>
            <a:endParaRPr lang="en-US"/>
          </a:p>
        </p:txBody>
      </p:sp>
      <p:sp>
        <p:nvSpPr>
          <p:cNvPr id="59" name="Shape 56"/>
          <p:cNvSpPr/>
          <p:nvPr/>
        </p:nvSpPr>
        <p:spPr>
          <a:xfrm>
            <a:off x="6583680" y="3813048"/>
            <a:ext cx="146304" cy="146304"/>
          </a:xfrm>
          <a:prstGeom prst="ellipse">
            <a:avLst/>
          </a:prstGeom>
          <a:solidFill>
            <a:srgbClr val="D64550"/>
          </a:solidFill>
          <a:ln/>
        </p:spPr>
        <p:txBody>
          <a:bodyPr/>
          <a:lstStyle/>
          <a:p>
            <a:endParaRPr lang="en-US"/>
          </a:p>
        </p:txBody>
      </p:sp>
      <p:sp>
        <p:nvSpPr>
          <p:cNvPr id="60" name="Shape 57"/>
          <p:cNvSpPr/>
          <p:nvPr/>
        </p:nvSpPr>
        <p:spPr>
          <a:xfrm>
            <a:off x="6839712" y="3813048"/>
            <a:ext cx="146304" cy="146304"/>
          </a:xfrm>
          <a:prstGeom prst="ellipse">
            <a:avLst/>
          </a:prstGeom>
          <a:solidFill>
            <a:srgbClr val="ECB748"/>
          </a:solidFill>
          <a:ln/>
        </p:spPr>
        <p:txBody>
          <a:bodyPr/>
          <a:lstStyle/>
          <a:p>
            <a:endParaRPr lang="en-US"/>
          </a:p>
        </p:txBody>
      </p:sp>
      <p:sp>
        <p:nvSpPr>
          <p:cNvPr id="61" name="Shape 58"/>
          <p:cNvSpPr/>
          <p:nvPr/>
        </p:nvSpPr>
        <p:spPr>
          <a:xfrm>
            <a:off x="7095744" y="3813048"/>
            <a:ext cx="146304" cy="146304"/>
          </a:xfrm>
          <a:prstGeom prst="ellipse">
            <a:avLst/>
          </a:prstGeom>
          <a:solidFill>
            <a:srgbClr val="6B6B6B"/>
          </a:solidFill>
          <a:ln/>
        </p:spPr>
        <p:txBody>
          <a:bodyPr/>
          <a:lstStyle/>
          <a:p>
            <a:endParaRPr lang="en-US"/>
          </a:p>
        </p:txBody>
      </p:sp>
      <p:sp>
        <p:nvSpPr>
          <p:cNvPr id="62" name="Text 59"/>
          <p:cNvSpPr txBox="1"/>
          <p:nvPr/>
        </p:nvSpPr>
        <p:spPr>
          <a:xfrm>
            <a:off x="7498080" y="3758184"/>
            <a:ext cx="388620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clean.py</a:t>
            </a:r>
            <a:endParaRPr lang="en-US" sz="1050" dirty="0"/>
          </a:p>
        </p:txBody>
      </p:sp>
      <p:sp>
        <p:nvSpPr>
          <p:cNvPr id="63" name="Shape 60"/>
          <p:cNvSpPr/>
          <p:nvPr/>
        </p:nvSpPr>
        <p:spPr>
          <a:xfrm>
            <a:off x="6400800" y="4114800"/>
            <a:ext cx="5074920" cy="0"/>
          </a:xfrm>
          <a:prstGeom prst="line">
            <a:avLst/>
          </a:prstGeom>
          <a:noFill/>
          <a:ln w="12700">
            <a:solidFill>
              <a:srgbClr val="444444"/>
            </a:solidFill>
            <a:prstDash val="solid"/>
          </a:ln>
        </p:spPr>
        <p:txBody>
          <a:bodyPr/>
          <a:lstStyle/>
          <a:p>
            <a:endParaRPr lang="en-US"/>
          </a:p>
        </p:txBody>
      </p:sp>
      <p:sp>
        <p:nvSpPr>
          <p:cNvPr id="64" name="Text 61"/>
          <p:cNvSpPr txBox="1"/>
          <p:nvPr/>
        </p:nvSpPr>
        <p:spPr>
          <a:xfrm>
            <a:off x="6629400" y="4251960"/>
            <a:ext cx="4617720" cy="329184"/>
          </a:xfrm>
          <a:prstGeom prst="rect">
            <a:avLst/>
          </a:prstGeom>
          <a:noFill/>
          <a:ln/>
        </p:spPr>
        <p:txBody>
          <a:bodyPr wrap="square"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patients["group"] = patients["group"].str.strip()</a:t>
            </a:r>
            <a:endParaRPr lang="en-US" sz="1100" dirty="0"/>
          </a:p>
        </p:txBody>
      </p:sp>
      <p:sp>
        <p:nvSpPr>
          <p:cNvPr id="65" name="Text 62"/>
          <p:cNvSpPr txBox="1"/>
          <p:nvPr/>
        </p:nvSpPr>
        <p:spPr>
          <a:xfrm>
            <a:off x="6629400" y="4581144"/>
            <a:ext cx="4617720" cy="329184"/>
          </a:xfrm>
          <a:prstGeom prst="rect">
            <a:avLst/>
          </a:prstGeom>
          <a:noFill/>
          <a:ln/>
        </p:spPr>
        <p:txBody>
          <a:bodyPr wrap="square"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patients["sex"] = patients["sex"].str.upper()</a:t>
            </a:r>
            <a:endParaRPr lang="en-US" sz="1100" dirty="0"/>
          </a:p>
        </p:txBody>
      </p:sp>
      <p:sp>
        <p:nvSpPr>
          <p:cNvPr id="66" name="Shape 63"/>
          <p:cNvSpPr/>
          <p:nvPr/>
        </p:nvSpPr>
        <p:spPr>
          <a:xfrm>
            <a:off x="640080" y="5212080"/>
            <a:ext cx="10881360" cy="1005840"/>
          </a:xfrm>
          <a:prstGeom prst="roundRect">
            <a:avLst>
              <a:gd name="adj" fmla="val 7273"/>
            </a:avLst>
          </a:prstGeom>
          <a:solidFill>
            <a:srgbClr val="1C1C1C"/>
          </a:solidFill>
          <a:ln/>
        </p:spPr>
        <p:txBody>
          <a:bodyPr/>
          <a:lstStyle/>
          <a:p>
            <a:endParaRPr lang="en-US"/>
          </a:p>
        </p:txBody>
      </p:sp>
      <p:sp>
        <p:nvSpPr>
          <p:cNvPr id="67" name="Text 64"/>
          <p:cNvSpPr txBox="1"/>
          <p:nvPr/>
        </p:nvSpPr>
        <p:spPr>
          <a:xfrm>
            <a:off x="914400" y="5212080"/>
            <a:ext cx="10332720" cy="1005840"/>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THE REAL NUMBERS:  </a:t>
            </a:r>
            <a:r>
              <a:rPr lang="en-US" sz="1300" dirty="0">
                <a:solidFill>
                  <a:srgbClr val="E3E3E3"/>
                </a:solidFill>
                <a:latin typeface="Arial" pitchFamily="34" charset="0"/>
                <a:ea typeface="Arial" pitchFamily="34" charset="-122"/>
                <a:cs typeface="Arial" pitchFamily="34" charset="-120"/>
              </a:rPr>
              <a:t>before cleaning, group has three values (B 125, A 85, "A " 40) and sex has four (M 119, F 112, m 10, f 9). After one mutate(), group is A 125 and B 125, and sex is M 129 and F 121. Counting the values first is how you find the problem. The fix itself is one line per column.</a:t>
            </a:r>
            <a:endParaRPr lang="en-US" sz="1300" dirty="0"/>
          </a:p>
        </p:txBody>
      </p:sp>
      <p:sp>
        <p:nvSpPr>
          <p:cNvPr id="68" name="Text 65"/>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69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85800"/>
          </a:xfrm>
          <a:prstGeom prst="rect">
            <a:avLst/>
          </a:prstGeom>
          <a:noFill/>
          <a:ln/>
        </p:spPr>
        <p:txBody>
          <a:bodyPr wrap="square" rtlCol="0" anchor="ctr"/>
          <a:lstStyle/>
          <a:p>
            <a:pPr marL="0" indent="0">
              <a:buNone/>
            </a:pPr>
            <a:r>
              <a:rPr lang="en-US" sz="2600" b="1" dirty="0">
                <a:solidFill>
                  <a:srgbClr val="1C1C1C"/>
                </a:solidFill>
                <a:latin typeface="Arial" pitchFamily="34" charset="0"/>
                <a:ea typeface="Arial" pitchFamily="34" charset="-122"/>
                <a:cs typeface="Arial" pitchFamily="34" charset="-120"/>
              </a:rPr>
              <a:t>Decide what each missing value means</a:t>
            </a:r>
            <a:endParaRPr lang="en-US" sz="2600" dirty="0"/>
          </a:p>
        </p:txBody>
      </p:sp>
      <p:sp>
        <p:nvSpPr>
          <p:cNvPr id="6" name="Shape 3"/>
          <p:cNvSpPr/>
          <p:nvPr/>
        </p:nvSpPr>
        <p:spPr>
          <a:xfrm>
            <a:off x="640080" y="1627632"/>
            <a:ext cx="3504895" cy="1325880"/>
          </a:xfrm>
          <a:prstGeom prst="roundRect">
            <a:avLst>
              <a:gd name="adj" fmla="val 6897"/>
            </a:avLst>
          </a:prstGeom>
          <a:solidFill>
            <a:srgbClr val="FFFFFF"/>
          </a:solidFill>
          <a:ln w="12700">
            <a:solidFill>
              <a:srgbClr val="E3E3E3"/>
            </a:solidFill>
            <a:prstDash val="solid"/>
          </a:ln>
        </p:spPr>
        <p:txBody>
          <a:bodyPr/>
          <a:lstStyle/>
          <a:p>
            <a:endParaRPr lang="en-US"/>
          </a:p>
        </p:txBody>
      </p:sp>
      <p:sp>
        <p:nvSpPr>
          <p:cNvPr id="7" name="Shape 4"/>
          <p:cNvSpPr/>
          <p:nvPr/>
        </p:nvSpPr>
        <p:spPr>
          <a:xfrm>
            <a:off x="822960" y="1755648"/>
            <a:ext cx="457200" cy="73152"/>
          </a:xfrm>
          <a:prstGeom prst="roundRect">
            <a:avLst/>
          </a:prstGeom>
          <a:solidFill>
            <a:srgbClr val="ECB748"/>
          </a:solidFill>
          <a:ln/>
        </p:spPr>
        <p:txBody>
          <a:bodyPr/>
          <a:lstStyle/>
          <a:p>
            <a:endParaRPr lang="en-US"/>
          </a:p>
        </p:txBody>
      </p:sp>
      <p:sp>
        <p:nvSpPr>
          <p:cNvPr id="8" name="Text 5"/>
          <p:cNvSpPr txBox="1"/>
          <p:nvPr/>
        </p:nvSpPr>
        <p:spPr>
          <a:xfrm>
            <a:off x="822960" y="1874520"/>
            <a:ext cx="3139135" cy="201168"/>
          </a:xfrm>
          <a:prstGeom prst="rect">
            <a:avLst/>
          </a:prstGeom>
          <a:noFill/>
          <a:ln/>
        </p:spPr>
        <p:txBody>
          <a:bodyPr wrap="square" lIns="0" tIns="0" rIns="0" bIns="0" rtlCol="0" anchor="ctr"/>
          <a:lstStyle/>
          <a:p>
            <a:pPr marL="0" indent="0">
              <a:buNone/>
            </a:pPr>
            <a:r>
              <a:rPr lang="en-US" sz="1000" dirty="0">
                <a:solidFill>
                  <a:srgbClr val="595959"/>
                </a:solidFill>
                <a:latin typeface="Courier New" pitchFamily="34" charset="0"/>
                <a:ea typeface="Courier New" pitchFamily="34" charset="-122"/>
                <a:cs typeface="Courier New" pitchFamily="34" charset="-120"/>
              </a:rPr>
              <a:t>patients.csv</a:t>
            </a:r>
            <a:endParaRPr lang="en-US" sz="1000" dirty="0"/>
          </a:p>
        </p:txBody>
      </p:sp>
      <p:sp>
        <p:nvSpPr>
          <p:cNvPr id="9" name="Text 6"/>
          <p:cNvSpPr txBox="1"/>
          <p:nvPr/>
        </p:nvSpPr>
        <p:spPr>
          <a:xfrm>
            <a:off x="822960" y="2084832"/>
            <a:ext cx="3139135" cy="292608"/>
          </a:xfrm>
          <a:prstGeom prst="rect">
            <a:avLst/>
          </a:prstGeom>
          <a:noFill/>
          <a:ln/>
        </p:spPr>
        <p:txBody>
          <a:bodyPr wrap="square" lIns="0" tIns="0" rIns="0" bIns="0" rtlCol="0" anchor="ctr"/>
          <a:lstStyle/>
          <a:p>
            <a:pPr marL="0" indent="0">
              <a:buNone/>
            </a:pPr>
            <a:r>
              <a:rPr lang="en-US" sz="1400" b="1" dirty="0">
                <a:solidFill>
                  <a:srgbClr val="1C1C1C"/>
                </a:solidFill>
                <a:latin typeface="Arial" pitchFamily="34" charset="0"/>
                <a:ea typeface="Arial" pitchFamily="34" charset="-122"/>
                <a:cs typeface="Arial" pitchFamily="34" charset="-120"/>
              </a:rPr>
              <a:t>Unknown becomes NA</a:t>
            </a:r>
            <a:endParaRPr lang="en-US" sz="1400" dirty="0"/>
          </a:p>
        </p:txBody>
      </p:sp>
      <p:sp>
        <p:nvSpPr>
          <p:cNvPr id="10" name="Text 7"/>
          <p:cNvSpPr txBox="1"/>
          <p:nvPr/>
        </p:nvSpPr>
        <p:spPr>
          <a:xfrm>
            <a:off x="822960" y="2404872"/>
            <a:ext cx="3139135" cy="530352"/>
          </a:xfrm>
          <a:prstGeom prst="rect">
            <a:avLst/>
          </a:prstGeom>
          <a:noFill/>
          <a:ln/>
        </p:spPr>
        <p:txBody>
          <a:bodyPr wrap="square" lIns="0" tIns="0" rIns="0" bIns="0" rtlCol="0" anchor="t"/>
          <a:lstStyle/>
          <a:p>
            <a:pPr marL="0" indent="0">
              <a:buNone/>
            </a:pPr>
            <a:r>
              <a:rPr lang="en-US" sz="1150" dirty="0">
                <a:solidFill>
                  <a:srgbClr val="595959"/>
                </a:solidFill>
                <a:latin typeface="Arial" pitchFamily="34" charset="0"/>
                <a:ea typeface="Arial" pitchFamily="34" charset="-122"/>
                <a:cs typeface="Arial" pitchFamily="34" charset="-120"/>
              </a:rPr>
              <a:t>age loads as text because 6 rows say "unknown". Converting to numbers makes them NA.</a:t>
            </a:r>
            <a:endParaRPr lang="en-US" sz="1150" dirty="0"/>
          </a:p>
        </p:txBody>
      </p:sp>
      <p:sp>
        <p:nvSpPr>
          <p:cNvPr id="11" name="Shape 8"/>
          <p:cNvSpPr/>
          <p:nvPr/>
        </p:nvSpPr>
        <p:spPr>
          <a:xfrm>
            <a:off x="4327855" y="1627632"/>
            <a:ext cx="3504895" cy="1325880"/>
          </a:xfrm>
          <a:prstGeom prst="roundRect">
            <a:avLst>
              <a:gd name="adj" fmla="val 6897"/>
            </a:avLst>
          </a:prstGeom>
          <a:solidFill>
            <a:srgbClr val="FFFFFF"/>
          </a:solidFill>
          <a:ln w="12700">
            <a:solidFill>
              <a:srgbClr val="E3E3E3"/>
            </a:solidFill>
            <a:prstDash val="solid"/>
          </a:ln>
        </p:spPr>
        <p:txBody>
          <a:bodyPr/>
          <a:lstStyle/>
          <a:p>
            <a:endParaRPr lang="en-US"/>
          </a:p>
        </p:txBody>
      </p:sp>
      <p:sp>
        <p:nvSpPr>
          <p:cNvPr id="12" name="Shape 9"/>
          <p:cNvSpPr/>
          <p:nvPr/>
        </p:nvSpPr>
        <p:spPr>
          <a:xfrm>
            <a:off x="4510735" y="1755648"/>
            <a:ext cx="457200" cy="73152"/>
          </a:xfrm>
          <a:prstGeom prst="roundRect">
            <a:avLst/>
          </a:prstGeom>
          <a:solidFill>
            <a:srgbClr val="B3C9CD"/>
          </a:solidFill>
          <a:ln/>
        </p:spPr>
        <p:txBody>
          <a:bodyPr/>
          <a:lstStyle/>
          <a:p>
            <a:endParaRPr lang="en-US"/>
          </a:p>
        </p:txBody>
      </p:sp>
      <p:sp>
        <p:nvSpPr>
          <p:cNvPr id="13" name="Text 10"/>
          <p:cNvSpPr txBox="1"/>
          <p:nvPr/>
        </p:nvSpPr>
        <p:spPr>
          <a:xfrm>
            <a:off x="4510735" y="1874520"/>
            <a:ext cx="3139135" cy="201168"/>
          </a:xfrm>
          <a:prstGeom prst="rect">
            <a:avLst/>
          </a:prstGeom>
          <a:noFill/>
          <a:ln/>
        </p:spPr>
        <p:txBody>
          <a:bodyPr wrap="square" lIns="0" tIns="0" rIns="0" bIns="0" rtlCol="0" anchor="ctr"/>
          <a:lstStyle/>
          <a:p>
            <a:pPr marL="0" indent="0">
              <a:buNone/>
            </a:pPr>
            <a:r>
              <a:rPr lang="en-US" sz="1000" dirty="0">
                <a:solidFill>
                  <a:srgbClr val="595959"/>
                </a:solidFill>
                <a:latin typeface="Courier New" pitchFamily="34" charset="0"/>
                <a:ea typeface="Courier New" pitchFamily="34" charset="-122"/>
                <a:cs typeface="Courier New" pitchFamily="34" charset="-120"/>
              </a:rPr>
              <a:t>schools_tibble.csv</a:t>
            </a:r>
            <a:endParaRPr lang="en-US" sz="1000" dirty="0"/>
          </a:p>
        </p:txBody>
      </p:sp>
      <p:sp>
        <p:nvSpPr>
          <p:cNvPr id="14" name="Text 11"/>
          <p:cNvSpPr txBox="1"/>
          <p:nvPr/>
        </p:nvSpPr>
        <p:spPr>
          <a:xfrm>
            <a:off x="4510735" y="2084832"/>
            <a:ext cx="3139135" cy="292608"/>
          </a:xfrm>
          <a:prstGeom prst="rect">
            <a:avLst/>
          </a:prstGeom>
          <a:noFill/>
          <a:ln/>
        </p:spPr>
        <p:txBody>
          <a:bodyPr wrap="square" lIns="0" tIns="0" rIns="0" bIns="0" rtlCol="0" anchor="ctr"/>
          <a:lstStyle/>
          <a:p>
            <a:pPr marL="0" indent="0">
              <a:buNone/>
            </a:pPr>
            <a:r>
              <a:rPr lang="en-US" sz="1400" b="1" dirty="0">
                <a:solidFill>
                  <a:srgbClr val="1C1C1C"/>
                </a:solidFill>
                <a:latin typeface="Arial" pitchFamily="34" charset="0"/>
                <a:ea typeface="Arial" pitchFamily="34" charset="-122"/>
                <a:cs typeface="Arial" pitchFamily="34" charset="-120"/>
              </a:rPr>
              <a:t>Not offered</a:t>
            </a:r>
            <a:endParaRPr lang="en-US" sz="1400" dirty="0"/>
          </a:p>
        </p:txBody>
      </p:sp>
      <p:sp>
        <p:nvSpPr>
          <p:cNvPr id="15" name="Text 12"/>
          <p:cNvSpPr txBox="1"/>
          <p:nvPr/>
        </p:nvSpPr>
        <p:spPr>
          <a:xfrm>
            <a:off x="4510735" y="2404872"/>
            <a:ext cx="3139135" cy="530352"/>
          </a:xfrm>
          <a:prstGeom prst="rect">
            <a:avLst/>
          </a:prstGeom>
          <a:noFill/>
          <a:ln/>
        </p:spPr>
        <p:txBody>
          <a:bodyPr wrap="square" lIns="0" tIns="0" rIns="0" bIns="0" rtlCol="0" anchor="t"/>
          <a:lstStyle/>
          <a:p>
            <a:pPr marL="0" indent="0">
              <a:buNone/>
            </a:pPr>
            <a:r>
              <a:rPr lang="en-US" sz="1150" dirty="0">
                <a:solidFill>
                  <a:srgbClr val="595959"/>
                </a:solidFill>
                <a:latin typeface="Arial" pitchFamily="34" charset="0"/>
                <a:ea typeface="Arial" pitchFamily="34" charset="-122"/>
                <a:cs typeface="Arial" pitchFamily="34" charset="-120"/>
              </a:rPr>
              <a:t>All 31 middle schools have NA for grade_9. That grade does not exist there.</a:t>
            </a:r>
            <a:endParaRPr lang="en-US" sz="1150" dirty="0"/>
          </a:p>
        </p:txBody>
      </p:sp>
      <p:sp>
        <p:nvSpPr>
          <p:cNvPr id="16" name="Shape 13"/>
          <p:cNvSpPr/>
          <p:nvPr/>
        </p:nvSpPr>
        <p:spPr>
          <a:xfrm>
            <a:off x="8015630" y="1627632"/>
            <a:ext cx="3504895" cy="1325880"/>
          </a:xfrm>
          <a:prstGeom prst="roundRect">
            <a:avLst>
              <a:gd name="adj" fmla="val 6897"/>
            </a:avLst>
          </a:prstGeom>
          <a:solidFill>
            <a:srgbClr val="FFFFFF"/>
          </a:solidFill>
          <a:ln w="12700">
            <a:solidFill>
              <a:srgbClr val="E3E3E3"/>
            </a:solidFill>
            <a:prstDash val="solid"/>
          </a:ln>
        </p:spPr>
        <p:txBody>
          <a:bodyPr/>
          <a:lstStyle/>
          <a:p>
            <a:endParaRPr lang="en-US"/>
          </a:p>
        </p:txBody>
      </p:sp>
      <p:sp>
        <p:nvSpPr>
          <p:cNvPr id="17" name="Shape 14"/>
          <p:cNvSpPr/>
          <p:nvPr/>
        </p:nvSpPr>
        <p:spPr>
          <a:xfrm>
            <a:off x="8198510" y="1755648"/>
            <a:ext cx="457200" cy="73152"/>
          </a:xfrm>
          <a:prstGeom prst="roundRect">
            <a:avLst/>
          </a:prstGeom>
          <a:solidFill>
            <a:srgbClr val="ECB748"/>
          </a:solidFill>
          <a:ln/>
        </p:spPr>
        <p:txBody>
          <a:bodyPr/>
          <a:lstStyle/>
          <a:p>
            <a:endParaRPr lang="en-US"/>
          </a:p>
        </p:txBody>
      </p:sp>
      <p:sp>
        <p:nvSpPr>
          <p:cNvPr id="18" name="Text 15"/>
          <p:cNvSpPr txBox="1"/>
          <p:nvPr/>
        </p:nvSpPr>
        <p:spPr>
          <a:xfrm>
            <a:off x="8198510" y="1874520"/>
            <a:ext cx="3139135" cy="201168"/>
          </a:xfrm>
          <a:prstGeom prst="rect">
            <a:avLst/>
          </a:prstGeom>
          <a:noFill/>
          <a:ln/>
        </p:spPr>
        <p:txBody>
          <a:bodyPr wrap="square" lIns="0" tIns="0" rIns="0" bIns="0" rtlCol="0" anchor="ctr"/>
          <a:lstStyle/>
          <a:p>
            <a:pPr marL="0" indent="0">
              <a:buNone/>
            </a:pPr>
            <a:r>
              <a:rPr lang="en-US" sz="1000" dirty="0">
                <a:solidFill>
                  <a:srgbClr val="595959"/>
                </a:solidFill>
                <a:latin typeface="Courier New" pitchFamily="34" charset="0"/>
                <a:ea typeface="Courier New" pitchFamily="34" charset="-122"/>
                <a:cs typeface="Courier New" pitchFamily="34" charset="-120"/>
              </a:rPr>
              <a:t>penguins</a:t>
            </a:r>
            <a:endParaRPr lang="en-US" sz="1000" dirty="0"/>
          </a:p>
        </p:txBody>
      </p:sp>
      <p:sp>
        <p:nvSpPr>
          <p:cNvPr id="19" name="Text 16"/>
          <p:cNvSpPr txBox="1"/>
          <p:nvPr/>
        </p:nvSpPr>
        <p:spPr>
          <a:xfrm>
            <a:off x="8198510" y="2084832"/>
            <a:ext cx="3139135" cy="292608"/>
          </a:xfrm>
          <a:prstGeom prst="rect">
            <a:avLst/>
          </a:prstGeom>
          <a:noFill/>
          <a:ln/>
        </p:spPr>
        <p:txBody>
          <a:bodyPr wrap="square" lIns="0" tIns="0" rIns="0" bIns="0" rtlCol="0" anchor="ctr"/>
          <a:lstStyle/>
          <a:p>
            <a:pPr marL="0" indent="0">
              <a:buNone/>
            </a:pPr>
            <a:r>
              <a:rPr lang="en-US" sz="1400" b="1" dirty="0">
                <a:solidFill>
                  <a:srgbClr val="1C1C1C"/>
                </a:solidFill>
                <a:latin typeface="Arial" pitchFamily="34" charset="0"/>
                <a:ea typeface="Arial" pitchFamily="34" charset="-122"/>
                <a:cs typeface="Arial" pitchFamily="34" charset="-120"/>
              </a:rPr>
              <a:t>Not measured</a:t>
            </a:r>
            <a:endParaRPr lang="en-US" sz="1400" dirty="0"/>
          </a:p>
        </p:txBody>
      </p:sp>
      <p:sp>
        <p:nvSpPr>
          <p:cNvPr id="20" name="Text 17"/>
          <p:cNvSpPr txBox="1"/>
          <p:nvPr/>
        </p:nvSpPr>
        <p:spPr>
          <a:xfrm>
            <a:off x="8198510" y="2404872"/>
            <a:ext cx="3139135" cy="530352"/>
          </a:xfrm>
          <a:prstGeom prst="rect">
            <a:avLst/>
          </a:prstGeom>
          <a:noFill/>
          <a:ln/>
        </p:spPr>
        <p:txBody>
          <a:bodyPr wrap="square" lIns="0" tIns="0" rIns="0" bIns="0" rtlCol="0" anchor="t"/>
          <a:lstStyle/>
          <a:p>
            <a:pPr marL="0" indent="0">
              <a:buNone/>
            </a:pPr>
            <a:r>
              <a:rPr lang="en-US" sz="1150" dirty="0">
                <a:solidFill>
                  <a:srgbClr val="595959"/>
                </a:solidFill>
                <a:latin typeface="Arial" pitchFamily="34" charset="0"/>
                <a:ea typeface="Arial" pitchFamily="34" charset="-122"/>
                <a:cs typeface="Arial" pitchFamily="34" charset="-120"/>
              </a:rPr>
              <a:t>2 penguins have no bill_length_mm and 11 have no sex. The measurement was missed.</a:t>
            </a:r>
            <a:endParaRPr lang="en-US" sz="1150" dirty="0"/>
          </a:p>
        </p:txBody>
      </p:sp>
      <p:sp>
        <p:nvSpPr>
          <p:cNvPr id="21" name="Shape 18"/>
          <p:cNvSpPr/>
          <p:nvPr/>
        </p:nvSpPr>
        <p:spPr>
          <a:xfrm>
            <a:off x="640080" y="3090672"/>
            <a:ext cx="5349240" cy="2514600"/>
          </a:xfrm>
          <a:prstGeom prst="roundRect">
            <a:avLst>
              <a:gd name="adj" fmla="val 3636"/>
            </a:avLst>
          </a:prstGeom>
          <a:solidFill>
            <a:srgbClr val="2E2E2E"/>
          </a:solidFill>
          <a:ln w="12700">
            <a:solidFill>
              <a:srgbClr val="444444"/>
            </a:solidFill>
            <a:prstDash val="solid"/>
          </a:ln>
        </p:spPr>
        <p:txBody>
          <a:bodyPr/>
          <a:lstStyle/>
          <a:p>
            <a:endParaRPr lang="en-US"/>
          </a:p>
        </p:txBody>
      </p:sp>
      <p:sp>
        <p:nvSpPr>
          <p:cNvPr id="22" name="Shape 19"/>
          <p:cNvSpPr/>
          <p:nvPr/>
        </p:nvSpPr>
        <p:spPr>
          <a:xfrm>
            <a:off x="868680" y="3291840"/>
            <a:ext cx="146304" cy="146304"/>
          </a:xfrm>
          <a:prstGeom prst="ellipse">
            <a:avLst/>
          </a:prstGeom>
          <a:solidFill>
            <a:srgbClr val="D64550"/>
          </a:solidFill>
          <a:ln/>
        </p:spPr>
        <p:txBody>
          <a:bodyPr/>
          <a:lstStyle/>
          <a:p>
            <a:endParaRPr lang="en-US"/>
          </a:p>
        </p:txBody>
      </p:sp>
      <p:sp>
        <p:nvSpPr>
          <p:cNvPr id="23" name="Shape 20"/>
          <p:cNvSpPr/>
          <p:nvPr/>
        </p:nvSpPr>
        <p:spPr>
          <a:xfrm>
            <a:off x="1124712" y="3291840"/>
            <a:ext cx="146304" cy="146304"/>
          </a:xfrm>
          <a:prstGeom prst="ellipse">
            <a:avLst/>
          </a:prstGeom>
          <a:solidFill>
            <a:srgbClr val="ECB748"/>
          </a:solidFill>
          <a:ln/>
        </p:spPr>
        <p:txBody>
          <a:bodyPr/>
          <a:lstStyle/>
          <a:p>
            <a:endParaRPr lang="en-US"/>
          </a:p>
        </p:txBody>
      </p:sp>
      <p:sp>
        <p:nvSpPr>
          <p:cNvPr id="24" name="Shape 21"/>
          <p:cNvSpPr/>
          <p:nvPr/>
        </p:nvSpPr>
        <p:spPr>
          <a:xfrm>
            <a:off x="1380744" y="3291840"/>
            <a:ext cx="146304" cy="146304"/>
          </a:xfrm>
          <a:prstGeom prst="ellipse">
            <a:avLst/>
          </a:prstGeom>
          <a:solidFill>
            <a:srgbClr val="6B6B6B"/>
          </a:solidFill>
          <a:ln/>
        </p:spPr>
        <p:txBody>
          <a:bodyPr/>
          <a:lstStyle/>
          <a:p>
            <a:endParaRPr lang="en-US"/>
          </a:p>
        </p:txBody>
      </p:sp>
      <p:sp>
        <p:nvSpPr>
          <p:cNvPr id="25" name="Text 22"/>
          <p:cNvSpPr txBox="1"/>
          <p:nvPr/>
        </p:nvSpPr>
        <p:spPr>
          <a:xfrm>
            <a:off x="1783080" y="3236976"/>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missing.R</a:t>
            </a:r>
            <a:endParaRPr lang="en-US" sz="1050" dirty="0"/>
          </a:p>
        </p:txBody>
      </p:sp>
      <p:sp>
        <p:nvSpPr>
          <p:cNvPr id="26" name="Shape 23"/>
          <p:cNvSpPr/>
          <p:nvPr/>
        </p:nvSpPr>
        <p:spPr>
          <a:xfrm>
            <a:off x="685800" y="3593592"/>
            <a:ext cx="5257800" cy="0"/>
          </a:xfrm>
          <a:prstGeom prst="line">
            <a:avLst/>
          </a:prstGeom>
          <a:noFill/>
          <a:ln w="12700">
            <a:solidFill>
              <a:srgbClr val="444444"/>
            </a:solidFill>
            <a:prstDash val="solid"/>
          </a:ln>
        </p:spPr>
        <p:txBody>
          <a:bodyPr/>
          <a:lstStyle/>
          <a:p>
            <a:endParaRPr lang="en-US"/>
          </a:p>
        </p:txBody>
      </p:sp>
      <p:sp>
        <p:nvSpPr>
          <p:cNvPr id="27" name="Text 24"/>
          <p:cNvSpPr txBox="1"/>
          <p:nvPr/>
        </p:nvSpPr>
        <p:spPr>
          <a:xfrm>
            <a:off x="914400" y="3730752"/>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patients$age &lt;- as.numeric(patients$age)</a:t>
            </a:r>
            <a:endParaRPr lang="en-US" sz="1200" dirty="0"/>
          </a:p>
        </p:txBody>
      </p:sp>
      <p:sp>
        <p:nvSpPr>
          <p:cNvPr id="28" name="Text 25"/>
          <p:cNvSpPr txBox="1"/>
          <p:nvPr/>
        </p:nvSpPr>
        <p:spPr>
          <a:xfrm>
            <a:off x="914400" y="4059936"/>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sum(is.na(patients$age))   </a:t>
            </a:r>
            <a:r>
              <a:rPr lang="en-US" sz="1200" dirty="0">
                <a:solidFill>
                  <a:srgbClr val="ECB748"/>
                </a:solidFill>
                <a:latin typeface="Courier New" pitchFamily="34" charset="0"/>
                <a:ea typeface="Courier New" pitchFamily="34" charset="-122"/>
                <a:cs typeface="Courier New" pitchFamily="34" charset="-120"/>
              </a:rPr>
              <a:t># 6</a:t>
            </a:r>
            <a:endParaRPr lang="en-US" sz="1200" dirty="0"/>
          </a:p>
        </p:txBody>
      </p:sp>
      <p:sp>
        <p:nvSpPr>
          <p:cNvPr id="29" name="Text 26"/>
          <p:cNvSpPr txBox="1"/>
          <p:nvPr/>
        </p:nvSpPr>
        <p:spPr>
          <a:xfrm>
            <a:off x="914400" y="4389120"/>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mean(penguins$bill_length_mm)   </a:t>
            </a:r>
            <a:r>
              <a:rPr lang="en-US" sz="1200" dirty="0">
                <a:solidFill>
                  <a:srgbClr val="ECB748"/>
                </a:solidFill>
                <a:latin typeface="Courier New" pitchFamily="34" charset="0"/>
                <a:ea typeface="Courier New" pitchFamily="34" charset="-122"/>
                <a:cs typeface="Courier New" pitchFamily="34" charset="-120"/>
              </a:rPr>
              <a:t># NA</a:t>
            </a:r>
            <a:endParaRPr lang="en-US" sz="1200" dirty="0"/>
          </a:p>
        </p:txBody>
      </p:sp>
      <p:sp>
        <p:nvSpPr>
          <p:cNvPr id="30" name="Text 27"/>
          <p:cNvSpPr txBox="1"/>
          <p:nvPr/>
        </p:nvSpPr>
        <p:spPr>
          <a:xfrm>
            <a:off x="914400" y="4718304"/>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mean(penguins$bill_length_mm, na.rm = TRUE)</a:t>
            </a:r>
            <a:endParaRPr lang="en-US" sz="1200" dirty="0"/>
          </a:p>
        </p:txBody>
      </p:sp>
      <p:sp>
        <p:nvSpPr>
          <p:cNvPr id="31" name="Text 28"/>
          <p:cNvSpPr txBox="1"/>
          <p:nvPr/>
        </p:nvSpPr>
        <p:spPr>
          <a:xfrm>
            <a:off x="914400" y="5047488"/>
            <a:ext cx="4800600" cy="329184"/>
          </a:xfrm>
          <a:prstGeom prst="rect">
            <a:avLst/>
          </a:prstGeom>
          <a:noFill/>
          <a:ln/>
        </p:spPr>
        <p:txBody>
          <a:bodyPr wrap="square" rtlCol="0" anchor="ctr"/>
          <a:lstStyle/>
          <a:p>
            <a:pPr marL="0" indent="0">
              <a:buNone/>
            </a:pPr>
            <a:r>
              <a:rPr lang="en-US" sz="1200" dirty="0">
                <a:solidFill>
                  <a:srgbClr val="ECB748"/>
                </a:solidFill>
                <a:latin typeface="Courier New" pitchFamily="34" charset="0"/>
                <a:ea typeface="Courier New" pitchFamily="34" charset="-122"/>
                <a:cs typeface="Courier New" pitchFamily="34" charset="-120"/>
              </a:rPr>
              <a:t># 43.92</a:t>
            </a:r>
            <a:endParaRPr lang="en-US" sz="1200" dirty="0"/>
          </a:p>
        </p:txBody>
      </p:sp>
      <p:sp>
        <p:nvSpPr>
          <p:cNvPr id="32" name="Shape 29"/>
          <p:cNvSpPr/>
          <p:nvPr/>
        </p:nvSpPr>
        <p:spPr>
          <a:xfrm>
            <a:off x="6172200" y="3090672"/>
            <a:ext cx="5349240" cy="2514600"/>
          </a:xfrm>
          <a:prstGeom prst="roundRect">
            <a:avLst>
              <a:gd name="adj" fmla="val 3636"/>
            </a:avLst>
          </a:prstGeom>
          <a:solidFill>
            <a:srgbClr val="2E2E2E"/>
          </a:solidFill>
          <a:ln w="12700">
            <a:solidFill>
              <a:srgbClr val="444444"/>
            </a:solidFill>
            <a:prstDash val="solid"/>
          </a:ln>
        </p:spPr>
        <p:txBody>
          <a:bodyPr/>
          <a:lstStyle/>
          <a:p>
            <a:endParaRPr lang="en-US"/>
          </a:p>
        </p:txBody>
      </p:sp>
      <p:sp>
        <p:nvSpPr>
          <p:cNvPr id="33" name="Shape 30"/>
          <p:cNvSpPr/>
          <p:nvPr/>
        </p:nvSpPr>
        <p:spPr>
          <a:xfrm>
            <a:off x="6400800" y="3291840"/>
            <a:ext cx="146304" cy="146304"/>
          </a:xfrm>
          <a:prstGeom prst="ellipse">
            <a:avLst/>
          </a:prstGeom>
          <a:solidFill>
            <a:srgbClr val="D64550"/>
          </a:solidFill>
          <a:ln/>
        </p:spPr>
        <p:txBody>
          <a:bodyPr/>
          <a:lstStyle/>
          <a:p>
            <a:endParaRPr lang="en-US"/>
          </a:p>
        </p:txBody>
      </p:sp>
      <p:sp>
        <p:nvSpPr>
          <p:cNvPr id="34" name="Shape 31"/>
          <p:cNvSpPr/>
          <p:nvPr/>
        </p:nvSpPr>
        <p:spPr>
          <a:xfrm>
            <a:off x="6656832" y="3291840"/>
            <a:ext cx="146304" cy="146304"/>
          </a:xfrm>
          <a:prstGeom prst="ellipse">
            <a:avLst/>
          </a:prstGeom>
          <a:solidFill>
            <a:srgbClr val="ECB748"/>
          </a:solidFill>
          <a:ln/>
        </p:spPr>
        <p:txBody>
          <a:bodyPr/>
          <a:lstStyle/>
          <a:p>
            <a:endParaRPr lang="en-US"/>
          </a:p>
        </p:txBody>
      </p:sp>
      <p:sp>
        <p:nvSpPr>
          <p:cNvPr id="35" name="Shape 32"/>
          <p:cNvSpPr/>
          <p:nvPr/>
        </p:nvSpPr>
        <p:spPr>
          <a:xfrm>
            <a:off x="6912864" y="3291840"/>
            <a:ext cx="146304" cy="146304"/>
          </a:xfrm>
          <a:prstGeom prst="ellipse">
            <a:avLst/>
          </a:prstGeom>
          <a:solidFill>
            <a:srgbClr val="6B6B6B"/>
          </a:solidFill>
          <a:ln/>
        </p:spPr>
        <p:txBody>
          <a:bodyPr/>
          <a:lstStyle/>
          <a:p>
            <a:endParaRPr lang="en-US"/>
          </a:p>
        </p:txBody>
      </p:sp>
      <p:sp>
        <p:nvSpPr>
          <p:cNvPr id="36" name="Text 33"/>
          <p:cNvSpPr txBox="1"/>
          <p:nvPr/>
        </p:nvSpPr>
        <p:spPr>
          <a:xfrm>
            <a:off x="7315200" y="3236976"/>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missing.py</a:t>
            </a:r>
            <a:endParaRPr lang="en-US" sz="1050" dirty="0"/>
          </a:p>
        </p:txBody>
      </p:sp>
      <p:sp>
        <p:nvSpPr>
          <p:cNvPr id="37" name="Shape 34"/>
          <p:cNvSpPr/>
          <p:nvPr/>
        </p:nvSpPr>
        <p:spPr>
          <a:xfrm>
            <a:off x="6217920" y="3593592"/>
            <a:ext cx="5257800" cy="0"/>
          </a:xfrm>
          <a:prstGeom prst="line">
            <a:avLst/>
          </a:prstGeom>
          <a:noFill/>
          <a:ln w="12700">
            <a:solidFill>
              <a:srgbClr val="444444"/>
            </a:solidFill>
            <a:prstDash val="solid"/>
          </a:ln>
        </p:spPr>
        <p:txBody>
          <a:bodyPr/>
          <a:lstStyle/>
          <a:p>
            <a:endParaRPr lang="en-US"/>
          </a:p>
        </p:txBody>
      </p:sp>
      <p:sp>
        <p:nvSpPr>
          <p:cNvPr id="38" name="Text 35"/>
          <p:cNvSpPr txBox="1"/>
          <p:nvPr/>
        </p:nvSpPr>
        <p:spPr>
          <a:xfrm>
            <a:off x="6446520" y="3730752"/>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patients["age"] = pd.to_numeric(</a:t>
            </a:r>
            <a:endParaRPr lang="en-US" sz="1200" dirty="0"/>
          </a:p>
        </p:txBody>
      </p:sp>
      <p:sp>
        <p:nvSpPr>
          <p:cNvPr id="39" name="Text 36"/>
          <p:cNvSpPr txBox="1"/>
          <p:nvPr/>
        </p:nvSpPr>
        <p:spPr>
          <a:xfrm>
            <a:off x="6446520" y="4059936"/>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    patients["age"], errors="coerce")</a:t>
            </a:r>
            <a:endParaRPr lang="en-US" sz="1200" dirty="0"/>
          </a:p>
        </p:txBody>
      </p:sp>
      <p:sp>
        <p:nvSpPr>
          <p:cNvPr id="40" name="Text 37"/>
          <p:cNvSpPr txBox="1"/>
          <p:nvPr/>
        </p:nvSpPr>
        <p:spPr>
          <a:xfrm>
            <a:off x="6446520" y="4389120"/>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patients["age"].isna().sum()   </a:t>
            </a:r>
            <a:r>
              <a:rPr lang="en-US" sz="1200" dirty="0">
                <a:solidFill>
                  <a:srgbClr val="ECB748"/>
                </a:solidFill>
                <a:latin typeface="Courier New" pitchFamily="34" charset="0"/>
                <a:ea typeface="Courier New" pitchFamily="34" charset="-122"/>
                <a:cs typeface="Courier New" pitchFamily="34" charset="-120"/>
              </a:rPr>
              <a:t># 6</a:t>
            </a:r>
            <a:endParaRPr lang="en-US" sz="1200" dirty="0"/>
          </a:p>
        </p:txBody>
      </p:sp>
      <p:sp>
        <p:nvSpPr>
          <p:cNvPr id="41" name="Text 38"/>
          <p:cNvSpPr txBox="1"/>
          <p:nvPr/>
        </p:nvSpPr>
        <p:spPr>
          <a:xfrm>
            <a:off x="6446520" y="4718304"/>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penguins["bill_length_mm"].mean()   </a:t>
            </a:r>
            <a:r>
              <a:rPr lang="en-US" sz="1200" dirty="0">
                <a:solidFill>
                  <a:srgbClr val="ECB748"/>
                </a:solidFill>
                <a:latin typeface="Courier New" pitchFamily="34" charset="0"/>
                <a:ea typeface="Courier New" pitchFamily="34" charset="-122"/>
                <a:cs typeface="Courier New" pitchFamily="34" charset="-120"/>
              </a:rPr>
              <a:t># 43.92</a:t>
            </a:r>
            <a:endParaRPr lang="en-US" sz="1200" dirty="0"/>
          </a:p>
        </p:txBody>
      </p:sp>
      <p:sp>
        <p:nvSpPr>
          <p:cNvPr id="42" name="Text 39"/>
          <p:cNvSpPr txBox="1"/>
          <p:nvPr/>
        </p:nvSpPr>
        <p:spPr>
          <a:xfrm>
            <a:off x="6446520" y="5047488"/>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penguins["bill_length_mm"].mean(skipna=False)</a:t>
            </a:r>
            <a:endParaRPr lang="en-US" sz="1200" dirty="0"/>
          </a:p>
        </p:txBody>
      </p:sp>
      <p:sp>
        <p:nvSpPr>
          <p:cNvPr id="43" name="Shape 40"/>
          <p:cNvSpPr/>
          <p:nvPr/>
        </p:nvSpPr>
        <p:spPr>
          <a:xfrm>
            <a:off x="640080" y="5696712"/>
            <a:ext cx="10881360" cy="713232"/>
          </a:xfrm>
          <a:prstGeom prst="roundRect">
            <a:avLst>
              <a:gd name="adj" fmla="val 10256"/>
            </a:avLst>
          </a:prstGeom>
          <a:solidFill>
            <a:srgbClr val="F5F3EF"/>
          </a:solidFill>
          <a:ln w="12700">
            <a:solidFill>
              <a:srgbClr val="E3E3E3"/>
            </a:solidFill>
            <a:prstDash val="solid"/>
          </a:ln>
        </p:spPr>
        <p:txBody>
          <a:bodyPr/>
          <a:lstStyle/>
          <a:p>
            <a:endParaRPr lang="en-US"/>
          </a:p>
        </p:txBody>
      </p:sp>
      <p:sp>
        <p:nvSpPr>
          <p:cNvPr id="44" name="Text 41"/>
          <p:cNvSpPr txBox="1"/>
          <p:nvPr/>
        </p:nvSpPr>
        <p:spPr>
          <a:xfrm>
            <a:off x="914400" y="5696712"/>
            <a:ext cx="10332720" cy="713232"/>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OPPOSITE DEFAULTS:  </a:t>
            </a:r>
            <a:r>
              <a:rPr lang="en-US" sz="1300" dirty="0">
                <a:solidFill>
                  <a:srgbClr val="595959"/>
                </a:solidFill>
                <a:latin typeface="Arial" pitchFamily="34" charset="0"/>
                <a:ea typeface="Arial" pitchFamily="34" charset="-122"/>
                <a:cs typeface="Arial" pitchFamily="34" charset="-120"/>
              </a:rPr>
              <a:t>R's mean() returns NA when any value is missing, unless you add na.rm = TRUE. pandas' .mean() skips missing values unless you pass skipna=False. Either way, skipping rows is a decision about your data.</a:t>
            </a:r>
            <a:endParaRPr lang="en-US" sz="1300" dirty="0"/>
          </a:p>
        </p:txBody>
      </p:sp>
      <p:sp>
        <p:nvSpPr>
          <p:cNvPr id="45" name="Text 42"/>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60120"/>
            <a:ext cx="10881360" cy="68580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Two tables, one shared key</a:t>
            </a:r>
            <a:endParaRPr lang="en-US" sz="2600" dirty="0"/>
          </a:p>
        </p:txBody>
      </p:sp>
      <p:sp>
        <p:nvSpPr>
          <p:cNvPr id="6" name="Text 3"/>
          <p:cNvSpPr txBox="1"/>
          <p:nvPr/>
        </p:nvSpPr>
        <p:spPr>
          <a:xfrm>
            <a:off x="640080" y="1600200"/>
            <a:ext cx="3108960" cy="201168"/>
          </a:xfrm>
          <a:prstGeom prst="rect">
            <a:avLst/>
          </a:prstGeom>
          <a:noFill/>
          <a:ln/>
        </p:spPr>
        <p:txBody>
          <a:bodyPr wrap="square" lIns="0" tIns="0" rIns="0" bIns="0" rtlCol="0" anchor="ctr"/>
          <a:lstStyle/>
          <a:p>
            <a:pPr marL="0" indent="0">
              <a:buNone/>
            </a:pPr>
            <a:r>
              <a:rPr lang="en-US" sz="950" b="1" kern="0" spc="100" dirty="0">
                <a:solidFill>
                  <a:srgbClr val="9B9690"/>
                </a:solidFill>
                <a:latin typeface="Arial" pitchFamily="34" charset="0"/>
                <a:ea typeface="Arial" pitchFamily="34" charset="-122"/>
                <a:cs typeface="Arial" pitchFamily="34" charset="-120"/>
              </a:rPr>
              <a:t>LEFT TABLE  (L)</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3108960" cy="932688"/>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310896">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species</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mean_mass</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310896">
                <a:tc>
                  <a:txBody>
                    <a:bodyPr/>
                    <a:lstStyle/>
                    <a:p>
                      <a:pPr marL="0" indent="0" algn="l">
                        <a:buNone/>
                      </a:pPr>
                      <a:r>
                        <a:rPr lang="en-US" sz="1100" dirty="0">
                          <a:solidFill>
                            <a:srgbClr val="1C1C1C"/>
                          </a:solidFill>
                          <a:latin typeface="Arial" pitchFamily="34" charset="0"/>
                          <a:ea typeface="Arial" pitchFamily="34" charset="-122"/>
                          <a:cs typeface="Arial" pitchFamily="34" charset="-120"/>
                        </a:rPr>
                        <a:t>Adelie</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3701</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00" dirty="0">
                          <a:solidFill>
                            <a:srgbClr val="1C1C1C"/>
                          </a:solidFill>
                          <a:latin typeface="Arial" pitchFamily="34" charset="0"/>
                          <a:ea typeface="Arial" pitchFamily="34" charset="-122"/>
                          <a:cs typeface="Arial" pitchFamily="34" charset="-120"/>
                        </a:rPr>
                        <a:t>Gentoo</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5076</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bl>
          </a:graphicData>
        </a:graphic>
      </p:graphicFrame>
      <p:sp>
        <p:nvSpPr>
          <p:cNvPr id="8" name="Text 4"/>
          <p:cNvSpPr txBox="1"/>
          <p:nvPr/>
        </p:nvSpPr>
        <p:spPr>
          <a:xfrm>
            <a:off x="4160520" y="1600200"/>
            <a:ext cx="3108960" cy="201168"/>
          </a:xfrm>
          <a:prstGeom prst="rect">
            <a:avLst/>
          </a:prstGeom>
          <a:noFill/>
          <a:ln/>
        </p:spPr>
        <p:txBody>
          <a:bodyPr wrap="square" lIns="0" tIns="0" rIns="0" bIns="0" rtlCol="0" anchor="ctr"/>
          <a:lstStyle/>
          <a:p>
            <a:pPr marL="0" indent="0">
              <a:buNone/>
            </a:pPr>
            <a:r>
              <a:rPr lang="en-US" sz="950" b="1" kern="0" spc="100" dirty="0">
                <a:solidFill>
                  <a:srgbClr val="9B9690"/>
                </a:solidFill>
                <a:latin typeface="Arial" pitchFamily="34" charset="0"/>
                <a:ea typeface="Arial" pitchFamily="34" charset="-122"/>
                <a:cs typeface="Arial" pitchFamily="34" charset="-120"/>
              </a:rPr>
              <a:t>RIGHT TABLE  (R)</a:t>
            </a:r>
            <a:endParaRPr lang="en-US" sz="9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160520" y="1828800"/>
          <a:ext cx="3108960" cy="932688"/>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310896">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species</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mean_bill</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310896">
                <a:tc>
                  <a:txBody>
                    <a:bodyPr/>
                    <a:lstStyle/>
                    <a:p>
                      <a:pPr marL="0" indent="0" algn="l">
                        <a:buNone/>
                      </a:pPr>
                      <a:r>
                        <a:rPr lang="en-US" sz="1100" dirty="0">
                          <a:solidFill>
                            <a:srgbClr val="1C1C1C"/>
                          </a:solidFill>
                          <a:latin typeface="Arial" pitchFamily="34" charset="0"/>
                          <a:ea typeface="Arial" pitchFamily="34" charset="-122"/>
                          <a:cs typeface="Arial" pitchFamily="34" charset="-120"/>
                        </a:rPr>
                        <a:t>Adelie</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38.8</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00" dirty="0">
                          <a:solidFill>
                            <a:srgbClr val="1C1C1C"/>
                          </a:solidFill>
                          <a:latin typeface="Arial" pitchFamily="34" charset="0"/>
                          <a:ea typeface="Arial" pitchFamily="34" charset="-122"/>
                          <a:cs typeface="Arial" pitchFamily="34" charset="-120"/>
                        </a:rPr>
                        <a:t>Chinstrap</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48.8</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bl>
          </a:graphicData>
        </a:graphic>
      </p:graphicFrame>
      <p:sp>
        <p:nvSpPr>
          <p:cNvPr id="10" name="Text 5"/>
          <p:cNvSpPr txBox="1"/>
          <p:nvPr/>
        </p:nvSpPr>
        <p:spPr>
          <a:xfrm>
            <a:off x="640080" y="2852928"/>
            <a:ext cx="6400800" cy="256032"/>
          </a:xfrm>
          <a:prstGeom prst="rect">
            <a:avLst/>
          </a:prstGeom>
          <a:noFill/>
          <a:ln/>
        </p:spPr>
        <p:txBody>
          <a:bodyPr wrap="square" lIns="0" tIns="0" rIns="0" bIns="0" rtlCol="0" anchor="ctr"/>
          <a:lstStyle/>
          <a:p>
            <a:pPr marL="0" indent="0">
              <a:buNone/>
            </a:pPr>
            <a:r>
              <a:rPr lang="en-US" sz="1100" dirty="0">
                <a:solidFill>
                  <a:srgbClr val="ECB748"/>
                </a:solidFill>
                <a:latin typeface="Courier New" pitchFamily="34" charset="0"/>
                <a:ea typeface="Courier New" pitchFamily="34" charset="-122"/>
                <a:cs typeface="Courier New" pitchFamily="34" charset="-120"/>
              </a:rPr>
              <a:t>shared key: species</a:t>
            </a:r>
            <a:endParaRPr lang="en-US" sz="1100" dirty="0"/>
          </a:p>
        </p:txBody>
      </p:sp>
      <p:sp>
        <p:nvSpPr>
          <p:cNvPr id="13" name="Shape 8"/>
          <p:cNvSpPr/>
          <p:nvPr/>
        </p:nvSpPr>
        <p:spPr>
          <a:xfrm>
            <a:off x="640080" y="3246120"/>
            <a:ext cx="3538728" cy="2194560"/>
          </a:xfrm>
          <a:prstGeom prst="roundRect">
            <a:avLst>
              <a:gd name="adj" fmla="val 4167"/>
            </a:avLst>
          </a:prstGeom>
          <a:solidFill>
            <a:srgbClr val="2E2E2E"/>
          </a:solidFill>
          <a:ln w="12700">
            <a:solidFill>
              <a:srgbClr val="444444"/>
            </a:solidFill>
            <a:prstDash val="solid"/>
          </a:ln>
        </p:spPr>
        <p:txBody>
          <a:bodyPr/>
          <a:lstStyle/>
          <a:p>
            <a:endParaRPr lang="en-US"/>
          </a:p>
        </p:txBody>
      </p:sp>
      <p:sp>
        <p:nvSpPr>
          <p:cNvPr id="14" name="Text 9"/>
          <p:cNvSpPr txBox="1"/>
          <p:nvPr/>
        </p:nvSpPr>
        <p:spPr>
          <a:xfrm>
            <a:off x="822960" y="3337560"/>
            <a:ext cx="3172968" cy="274320"/>
          </a:xfrm>
          <a:prstGeom prst="rect">
            <a:avLst/>
          </a:prstGeom>
          <a:noFill/>
          <a:ln/>
        </p:spPr>
        <p:txBody>
          <a:bodyPr wrap="square" lIns="0" tIns="0" rIns="0" bIns="0" rtlCol="0" anchor="ctr"/>
          <a:lstStyle/>
          <a:p>
            <a:pPr marL="0" indent="0">
              <a:buNone/>
            </a:pPr>
            <a:r>
              <a:rPr lang="en-US" sz="1300" b="1" dirty="0">
                <a:solidFill>
                  <a:srgbClr val="ECB748"/>
                </a:solidFill>
                <a:latin typeface="Courier New" pitchFamily="34" charset="0"/>
                <a:ea typeface="Courier New" pitchFamily="34" charset="-122"/>
                <a:cs typeface="Courier New" pitchFamily="34" charset="-120"/>
              </a:rPr>
              <a:t>left_join</a:t>
            </a:r>
            <a:endParaRPr lang="en-US" sz="1300" dirty="0"/>
          </a:p>
        </p:txBody>
      </p:sp>
      <p:sp>
        <p:nvSpPr>
          <p:cNvPr id="15" name="Text 10"/>
          <p:cNvSpPr txBox="1"/>
          <p:nvPr/>
        </p:nvSpPr>
        <p:spPr>
          <a:xfrm>
            <a:off x="822960" y="3611880"/>
            <a:ext cx="3172968" cy="228600"/>
          </a:xfrm>
          <a:prstGeom prst="rect">
            <a:avLst/>
          </a:prstGeom>
          <a:noFill/>
          <a:ln/>
        </p:spPr>
        <p:txBody>
          <a:bodyPr wrap="square" lIns="0" tIns="0" rIns="0" bIns="0" rtlCol="0" anchor="ctr"/>
          <a:lstStyle/>
          <a:p>
            <a:pPr marL="0" indent="0">
              <a:buNone/>
            </a:pPr>
            <a:r>
              <a:rPr lang="en-US" sz="1050" dirty="0">
                <a:solidFill>
                  <a:srgbClr val="F5F3EF"/>
                </a:solidFill>
                <a:latin typeface="Arial" pitchFamily="34" charset="0"/>
                <a:ea typeface="Arial" pitchFamily="34" charset="-122"/>
                <a:cs typeface="Arial" pitchFamily="34" charset="-120"/>
              </a:rPr>
              <a:t>Every row of L. NA where R has no match.</a:t>
            </a:r>
            <a:endParaRPr lang="en-US" sz="105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822960" y="3904488"/>
          <a:ext cx="3172968" cy="740664"/>
        </p:xfrm>
        <a:graphic>
          <a:graphicData uri="http://schemas.openxmlformats.org/drawingml/2006/table">
            <a:tbl>
              <a:tblPr/>
              <a:tblGrid>
                <a:gridCol w="10972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species</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mass</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bill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Adelie</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3701</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38.8</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Gentoo</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5076</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BF0DA"/>
                    </a:solidFill>
                  </a:tcPr>
                </a:tc>
                <a:extLst>
                  <a:ext uri="{0D108BD9-81ED-4DB2-BD59-A6C34878D82A}">
                    <a16:rowId xmlns:a16="http://schemas.microsoft.com/office/drawing/2014/main" val="10002"/>
                  </a:ext>
                </a:extLst>
              </a:tr>
            </a:tbl>
          </a:graphicData>
        </a:graphic>
      </p:graphicFrame>
      <p:sp>
        <p:nvSpPr>
          <p:cNvPr id="7" name="Text 11"/>
          <p:cNvSpPr txBox="1"/>
          <p:nvPr/>
        </p:nvSpPr>
        <p:spPr>
          <a:xfrm>
            <a:off x="822960" y="4965192"/>
            <a:ext cx="3172968" cy="20116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left_join(L, R, by = "species")</a:t>
            </a:r>
            <a:endParaRPr lang="en-US" sz="950" dirty="0"/>
          </a:p>
        </p:txBody>
      </p:sp>
      <p:sp>
        <p:nvSpPr>
          <p:cNvPr id="18" name="Text 12"/>
          <p:cNvSpPr txBox="1"/>
          <p:nvPr/>
        </p:nvSpPr>
        <p:spPr>
          <a:xfrm>
            <a:off x="822960" y="5166360"/>
            <a:ext cx="3172968" cy="201168"/>
          </a:xfrm>
          <a:prstGeom prst="rect">
            <a:avLst/>
          </a:prstGeom>
          <a:noFill/>
          <a:ln/>
        </p:spPr>
        <p:txBody>
          <a:bodyPr wrap="square" lIns="0" tIns="0" rIns="0" bIns="0" rtlCol="0" anchor="ctr"/>
          <a:lstStyle/>
          <a:p>
            <a:pPr marL="0" indent="0">
              <a:buNone/>
            </a:pPr>
            <a:r>
              <a:rPr lang="en-US" sz="950" dirty="0">
                <a:solidFill>
                  <a:srgbClr val="B3C9CD"/>
                </a:solidFill>
                <a:latin typeface="Courier New" pitchFamily="34" charset="0"/>
                <a:ea typeface="Courier New" pitchFamily="34" charset="-122"/>
                <a:cs typeface="Courier New" pitchFamily="34" charset="-120"/>
              </a:rPr>
              <a:t>L.merge(R, on="species", how="left")</a:t>
            </a:r>
            <a:endParaRPr lang="en-US" sz="950" dirty="0"/>
          </a:p>
        </p:txBody>
      </p:sp>
      <p:sp>
        <p:nvSpPr>
          <p:cNvPr id="19" name="Shape 13"/>
          <p:cNvSpPr/>
          <p:nvPr/>
        </p:nvSpPr>
        <p:spPr>
          <a:xfrm>
            <a:off x="4306824" y="3246120"/>
            <a:ext cx="3538728" cy="2194560"/>
          </a:xfrm>
          <a:prstGeom prst="roundRect">
            <a:avLst>
              <a:gd name="adj" fmla="val 4167"/>
            </a:avLst>
          </a:prstGeom>
          <a:solidFill>
            <a:srgbClr val="2E2E2E"/>
          </a:solidFill>
          <a:ln w="12700">
            <a:solidFill>
              <a:srgbClr val="444444"/>
            </a:solidFill>
            <a:prstDash val="solid"/>
          </a:ln>
        </p:spPr>
        <p:txBody>
          <a:bodyPr/>
          <a:lstStyle/>
          <a:p>
            <a:endParaRPr lang="en-US"/>
          </a:p>
        </p:txBody>
      </p:sp>
      <p:sp>
        <p:nvSpPr>
          <p:cNvPr id="20" name="Text 14"/>
          <p:cNvSpPr txBox="1"/>
          <p:nvPr/>
        </p:nvSpPr>
        <p:spPr>
          <a:xfrm>
            <a:off x="4489704" y="3337560"/>
            <a:ext cx="3172968" cy="274320"/>
          </a:xfrm>
          <a:prstGeom prst="rect">
            <a:avLst/>
          </a:prstGeom>
          <a:noFill/>
          <a:ln/>
        </p:spPr>
        <p:txBody>
          <a:bodyPr wrap="square" lIns="0" tIns="0" rIns="0" bIns="0" rtlCol="0" anchor="ctr"/>
          <a:lstStyle/>
          <a:p>
            <a:pPr marL="0" indent="0">
              <a:buNone/>
            </a:pPr>
            <a:r>
              <a:rPr lang="en-US" sz="1300" b="1" dirty="0">
                <a:solidFill>
                  <a:srgbClr val="ECB748"/>
                </a:solidFill>
                <a:latin typeface="Courier New" pitchFamily="34" charset="0"/>
                <a:ea typeface="Courier New" pitchFamily="34" charset="-122"/>
                <a:cs typeface="Courier New" pitchFamily="34" charset="-120"/>
              </a:rPr>
              <a:t>inner_join</a:t>
            </a:r>
            <a:endParaRPr lang="en-US" sz="1300" dirty="0"/>
          </a:p>
        </p:txBody>
      </p:sp>
      <p:sp>
        <p:nvSpPr>
          <p:cNvPr id="21" name="Text 15"/>
          <p:cNvSpPr txBox="1"/>
          <p:nvPr/>
        </p:nvSpPr>
        <p:spPr>
          <a:xfrm>
            <a:off x="4489704" y="3611880"/>
            <a:ext cx="3172968" cy="228600"/>
          </a:xfrm>
          <a:prstGeom prst="rect">
            <a:avLst/>
          </a:prstGeom>
          <a:noFill/>
          <a:ln/>
        </p:spPr>
        <p:txBody>
          <a:bodyPr wrap="square" lIns="0" tIns="0" rIns="0" bIns="0" rtlCol="0" anchor="ctr"/>
          <a:lstStyle/>
          <a:p>
            <a:pPr marL="0" indent="0">
              <a:buNone/>
            </a:pPr>
            <a:r>
              <a:rPr lang="en-US" sz="1050" dirty="0">
                <a:solidFill>
                  <a:srgbClr val="F5F3EF"/>
                </a:solidFill>
                <a:latin typeface="Arial" pitchFamily="34" charset="0"/>
                <a:ea typeface="Arial" pitchFamily="34" charset="-122"/>
                <a:cs typeface="Arial" pitchFamily="34" charset="-120"/>
              </a:rPr>
              <a:t>Only rows with a match in both.</a:t>
            </a:r>
            <a:endParaRPr lang="en-US" sz="1050" dirty="0"/>
          </a:p>
        </p:txBody>
      </p:sp>
      <p:graphicFrame>
        <p:nvGraphicFramePr>
          <p:cNvPr id="33" name="Table 3"/>
          <p:cNvGraphicFramePr>
            <a:graphicFrameLocks noGrp="1"/>
          </p:cNvGraphicFramePr>
          <p:nvPr>
            <p:extLst>
              <p:ext uri="{D42A27DB-BD31-4B8C-83A1-F6EECF244321}">
                <p14:modId xmlns:p14="http://schemas.microsoft.com/office/powerpoint/2010/main" val="1579011935"/>
              </p:ext>
            </p:extLst>
          </p:nvPr>
        </p:nvGraphicFramePr>
        <p:xfrm>
          <a:off x="4489704" y="3904488"/>
          <a:ext cx="3172968"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species</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mass</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bill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Adelie</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3701</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38.8</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3" name="Text 16"/>
          <p:cNvSpPr txBox="1"/>
          <p:nvPr/>
        </p:nvSpPr>
        <p:spPr>
          <a:xfrm>
            <a:off x="4489704" y="4965192"/>
            <a:ext cx="3172968" cy="20116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inner_join(L, R, by = "species")</a:t>
            </a:r>
            <a:endParaRPr lang="en-US" sz="950" dirty="0"/>
          </a:p>
        </p:txBody>
      </p:sp>
      <p:sp>
        <p:nvSpPr>
          <p:cNvPr id="24" name="Text 17"/>
          <p:cNvSpPr txBox="1"/>
          <p:nvPr/>
        </p:nvSpPr>
        <p:spPr>
          <a:xfrm>
            <a:off x="4489704" y="5166360"/>
            <a:ext cx="3172968" cy="201168"/>
          </a:xfrm>
          <a:prstGeom prst="rect">
            <a:avLst/>
          </a:prstGeom>
          <a:noFill/>
          <a:ln/>
        </p:spPr>
        <p:txBody>
          <a:bodyPr wrap="square" lIns="0" tIns="0" rIns="0" bIns="0" rtlCol="0" anchor="ctr"/>
          <a:lstStyle/>
          <a:p>
            <a:pPr marL="0" indent="0">
              <a:buNone/>
            </a:pPr>
            <a:r>
              <a:rPr lang="en-US" sz="950" dirty="0">
                <a:solidFill>
                  <a:srgbClr val="B3C9CD"/>
                </a:solidFill>
                <a:latin typeface="Courier New" pitchFamily="34" charset="0"/>
                <a:ea typeface="Courier New" pitchFamily="34" charset="-122"/>
                <a:cs typeface="Courier New" pitchFamily="34" charset="-120"/>
              </a:rPr>
              <a:t>L.merge(R, on="species", how="inner")</a:t>
            </a:r>
            <a:endParaRPr lang="en-US" sz="950" dirty="0"/>
          </a:p>
        </p:txBody>
      </p:sp>
      <p:sp>
        <p:nvSpPr>
          <p:cNvPr id="16" name="Shape 18"/>
          <p:cNvSpPr/>
          <p:nvPr/>
        </p:nvSpPr>
        <p:spPr>
          <a:xfrm>
            <a:off x="7973568" y="3246120"/>
            <a:ext cx="3538728" cy="2194560"/>
          </a:xfrm>
          <a:prstGeom prst="roundRect">
            <a:avLst>
              <a:gd name="adj" fmla="val 4167"/>
            </a:avLst>
          </a:prstGeom>
          <a:solidFill>
            <a:srgbClr val="2E2E2E"/>
          </a:solidFill>
          <a:ln w="12700">
            <a:solidFill>
              <a:srgbClr val="444444"/>
            </a:solidFill>
            <a:prstDash val="solid"/>
          </a:ln>
        </p:spPr>
        <p:txBody>
          <a:bodyPr/>
          <a:lstStyle/>
          <a:p>
            <a:endParaRPr lang="en-US"/>
          </a:p>
        </p:txBody>
      </p:sp>
      <p:sp>
        <p:nvSpPr>
          <p:cNvPr id="26" name="Text 19"/>
          <p:cNvSpPr txBox="1"/>
          <p:nvPr/>
        </p:nvSpPr>
        <p:spPr>
          <a:xfrm>
            <a:off x="8156448" y="3337560"/>
            <a:ext cx="3172968" cy="274320"/>
          </a:xfrm>
          <a:prstGeom prst="rect">
            <a:avLst/>
          </a:prstGeom>
          <a:noFill/>
          <a:ln/>
        </p:spPr>
        <p:txBody>
          <a:bodyPr wrap="square" lIns="0" tIns="0" rIns="0" bIns="0" rtlCol="0" anchor="ctr"/>
          <a:lstStyle/>
          <a:p>
            <a:pPr marL="0" indent="0">
              <a:buNone/>
            </a:pPr>
            <a:r>
              <a:rPr lang="en-US" sz="1300" b="1" dirty="0">
                <a:solidFill>
                  <a:srgbClr val="ECB748"/>
                </a:solidFill>
                <a:latin typeface="Courier New" pitchFamily="34" charset="0"/>
                <a:ea typeface="Courier New" pitchFamily="34" charset="-122"/>
                <a:cs typeface="Courier New" pitchFamily="34" charset="-120"/>
              </a:rPr>
              <a:t>full_join</a:t>
            </a:r>
            <a:endParaRPr lang="en-US" sz="1300" dirty="0"/>
          </a:p>
        </p:txBody>
      </p:sp>
      <p:sp>
        <p:nvSpPr>
          <p:cNvPr id="27" name="Text 20"/>
          <p:cNvSpPr txBox="1"/>
          <p:nvPr/>
        </p:nvSpPr>
        <p:spPr>
          <a:xfrm>
            <a:off x="8156448" y="3611880"/>
            <a:ext cx="3172968" cy="228600"/>
          </a:xfrm>
          <a:prstGeom prst="rect">
            <a:avLst/>
          </a:prstGeom>
          <a:noFill/>
          <a:ln/>
        </p:spPr>
        <p:txBody>
          <a:bodyPr wrap="square" lIns="0" tIns="0" rIns="0" bIns="0" rtlCol="0" anchor="ctr"/>
          <a:lstStyle/>
          <a:p>
            <a:pPr marL="0" indent="0">
              <a:buNone/>
            </a:pPr>
            <a:r>
              <a:rPr lang="en-US" sz="1050" dirty="0">
                <a:solidFill>
                  <a:srgbClr val="F5F3EF"/>
                </a:solidFill>
                <a:latin typeface="Arial" pitchFamily="34" charset="0"/>
                <a:ea typeface="Arial" pitchFamily="34" charset="-122"/>
                <a:cs typeface="Arial" pitchFamily="34" charset="-120"/>
              </a:rPr>
              <a:t>Every row from both. NA where missing.</a:t>
            </a:r>
            <a:endParaRPr lang="en-US" sz="1050" dirty="0"/>
          </a:p>
        </p:txBody>
      </p:sp>
      <p:graphicFrame>
        <p:nvGraphicFramePr>
          <p:cNvPr id="41" name="Table 4"/>
          <p:cNvGraphicFramePr>
            <a:graphicFrameLocks noGrp="1"/>
          </p:cNvGraphicFramePr>
          <p:nvPr>
            <p:extLst>
              <p:ext uri="{D42A27DB-BD31-4B8C-83A1-F6EECF244321}">
                <p14:modId xmlns:p14="http://schemas.microsoft.com/office/powerpoint/2010/main" val="1579011935"/>
              </p:ext>
            </p:extLst>
          </p:nvPr>
        </p:nvGraphicFramePr>
        <p:xfrm>
          <a:off x="8156448" y="3904488"/>
          <a:ext cx="3172968" cy="987552"/>
        </p:xfrm>
        <a:graphic>
          <a:graphicData uri="http://schemas.openxmlformats.org/drawingml/2006/table">
            <a:tbl>
              <a:tblPr/>
              <a:tblGrid>
                <a:gridCol w="10972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species</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mass</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bill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Adelie</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3701</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38.8</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Gentoo</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5076</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BF0DA"/>
                    </a:solidFill>
                  </a:tcPr>
                </a:tc>
                <a:extLst>
                  <a:ext uri="{0D108BD9-81ED-4DB2-BD59-A6C34878D82A}">
                    <a16:rowId xmlns:a16="http://schemas.microsoft.com/office/drawing/2014/main" val="10002"/>
                  </a:ext>
                </a:extLst>
              </a:tr>
              <a:tr h="24688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Chinstrap</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BF0DA"/>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48.8</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9" name="Text 21"/>
          <p:cNvSpPr txBox="1"/>
          <p:nvPr/>
        </p:nvSpPr>
        <p:spPr>
          <a:xfrm>
            <a:off x="8156448" y="4965192"/>
            <a:ext cx="3172968" cy="20116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full_join(L, R, by = "species")</a:t>
            </a:r>
            <a:endParaRPr lang="en-US" sz="950" dirty="0"/>
          </a:p>
        </p:txBody>
      </p:sp>
      <p:sp>
        <p:nvSpPr>
          <p:cNvPr id="30" name="Text 22"/>
          <p:cNvSpPr txBox="1"/>
          <p:nvPr/>
        </p:nvSpPr>
        <p:spPr>
          <a:xfrm>
            <a:off x="8156448" y="5166360"/>
            <a:ext cx="3172968" cy="201168"/>
          </a:xfrm>
          <a:prstGeom prst="rect">
            <a:avLst/>
          </a:prstGeom>
          <a:noFill/>
          <a:ln/>
        </p:spPr>
        <p:txBody>
          <a:bodyPr wrap="square" lIns="0" tIns="0" rIns="0" bIns="0" rtlCol="0" anchor="ctr"/>
          <a:lstStyle/>
          <a:p>
            <a:pPr marL="0" indent="0">
              <a:buNone/>
            </a:pPr>
            <a:r>
              <a:rPr lang="en-US" sz="950" dirty="0">
                <a:solidFill>
                  <a:srgbClr val="B3C9CD"/>
                </a:solidFill>
                <a:latin typeface="Courier New" pitchFamily="34" charset="0"/>
                <a:ea typeface="Courier New" pitchFamily="34" charset="-122"/>
                <a:cs typeface="Courier New" pitchFamily="34" charset="-120"/>
              </a:rPr>
              <a:t>L.merge(R, on="species", how="outer")</a:t>
            </a:r>
            <a:endParaRPr lang="en-US" sz="950" dirty="0"/>
          </a:p>
        </p:txBody>
      </p:sp>
      <p:sp>
        <p:nvSpPr>
          <p:cNvPr id="31" name="Shape 23"/>
          <p:cNvSpPr/>
          <p:nvPr/>
        </p:nvSpPr>
        <p:spPr>
          <a:xfrm>
            <a:off x="640080" y="5532120"/>
            <a:ext cx="10881360" cy="822960"/>
          </a:xfrm>
          <a:prstGeom prst="roundRect">
            <a:avLst>
              <a:gd name="adj" fmla="val 8889"/>
            </a:avLst>
          </a:prstGeom>
          <a:solidFill>
            <a:srgbClr val="1C1C1C"/>
          </a:solidFill>
          <a:ln/>
        </p:spPr>
        <p:txBody>
          <a:bodyPr/>
          <a:lstStyle/>
          <a:p>
            <a:endParaRPr lang="en-US"/>
          </a:p>
        </p:txBody>
      </p:sp>
      <p:sp>
        <p:nvSpPr>
          <p:cNvPr id="32" name="Text 24"/>
          <p:cNvSpPr txBox="1"/>
          <p:nvPr/>
        </p:nvSpPr>
        <p:spPr>
          <a:xfrm>
            <a:off x="914400" y="5532120"/>
            <a:ext cx="10332720" cy="822960"/>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THE SANITY CHECK:  </a:t>
            </a:r>
            <a:r>
              <a:rPr lang="en-US" sz="1300" dirty="0">
                <a:solidFill>
                  <a:srgbClr val="E3E3E3"/>
                </a:solidFill>
                <a:latin typeface="Arial" pitchFamily="34" charset="0"/>
                <a:ea typeface="Arial" pitchFamily="34" charset="-122"/>
                <a:cs typeface="Arial" pitchFamily="34" charset="-120"/>
              </a:rPr>
              <a:t>in dplyr you pick the join by name. pandas merge() does an inner join unless you set how=. After every join, check the row count. Joining island averages (3 rows) to species counts by island returns 5 rows, because Biscoe and Dream each appear twice on the right.</a:t>
            </a:r>
            <a:endParaRPr lang="en-US" sz="1300" dirty="0"/>
          </a:p>
        </p:txBody>
      </p:sp>
      <p:sp>
        <p:nvSpPr>
          <p:cNvPr id="22" name="Text 25"/>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69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85800"/>
          </a:xfrm>
          <a:prstGeom prst="rect">
            <a:avLst/>
          </a:prstGeom>
          <a:noFill/>
          <a:ln/>
        </p:spPr>
        <p:txBody>
          <a:bodyPr wrap="square" rtlCol="0" anchor="ctr"/>
          <a:lstStyle/>
          <a:p>
            <a:pPr marL="0" indent="0">
              <a:buNone/>
            </a:pPr>
            <a:r>
              <a:rPr lang="en-US" sz="2400" b="1" dirty="0">
                <a:solidFill>
                  <a:srgbClr val="1C1C1C"/>
                </a:solidFill>
                <a:latin typeface="Arial" pitchFamily="34" charset="0"/>
                <a:ea typeface="Arial" pitchFamily="34" charset="-122"/>
                <a:cs typeface="Arial" pitchFamily="34" charset="-120"/>
              </a:rPr>
              <a:t>Wide to long: the grade columns from Session 7</a:t>
            </a:r>
            <a:endParaRPr lang="en-US" sz="2400" dirty="0"/>
          </a:p>
        </p:txBody>
      </p:sp>
      <p:sp>
        <p:nvSpPr>
          <p:cNvPr id="6" name="Text 3"/>
          <p:cNvSpPr txBox="1"/>
          <p:nvPr/>
        </p:nvSpPr>
        <p:spPr>
          <a:xfrm>
            <a:off x="640080" y="1572768"/>
            <a:ext cx="4572000" cy="201168"/>
          </a:xfrm>
          <a:prstGeom prst="rect">
            <a:avLst/>
          </a:prstGeom>
          <a:noFill/>
          <a:ln/>
        </p:spPr>
        <p:txBody>
          <a:bodyPr wrap="square" lIns="0" tIns="0" rIns="0" bIns="0" rtlCol="0" anchor="ctr"/>
          <a:lstStyle/>
          <a:p>
            <a:pPr marL="0" indent="0">
              <a:buNone/>
            </a:pPr>
            <a:r>
              <a:rPr lang="en-US" sz="950" b="1" kern="0" spc="100" dirty="0">
                <a:solidFill>
                  <a:srgbClr val="595959"/>
                </a:solidFill>
                <a:latin typeface="Arial" pitchFamily="34" charset="0"/>
                <a:ea typeface="Arial" pitchFamily="34" charset="-122"/>
                <a:cs typeface="Arial" pitchFamily="34" charset="-120"/>
              </a:rPr>
              <a:t>WIDE  (what the file has)</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810512"/>
          <a:ext cx="5468112" cy="1463040"/>
        </p:xfrm>
        <a:graphic>
          <a:graphicData uri="http://schemas.openxmlformats.org/drawingml/2006/table">
            <a:tbl>
              <a:tblPr/>
              <a:tblGrid>
                <a:gridCol w="210312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841248">
                  <a:extLst>
                    <a:ext uri="{9D8B030D-6E8A-4147-A177-3AD203B41FA5}">
                      <a16:colId xmlns:a16="http://schemas.microsoft.com/office/drawing/2014/main" val="20003"/>
                    </a:ext>
                  </a:extLst>
                </a:gridCol>
                <a:gridCol w="841248">
                  <a:extLst>
                    <a:ext uri="{9D8B030D-6E8A-4147-A177-3AD203B41FA5}">
                      <a16:colId xmlns:a16="http://schemas.microsoft.com/office/drawing/2014/main" val="20004"/>
                    </a:ext>
                  </a:extLst>
                </a:gridCol>
              </a:tblGrid>
              <a:tr h="292608">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school_name</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grade_9</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grade_10</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grade_11</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grade_12</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29260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Antioch High School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474</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476</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544</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462</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Cane Ridge High School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395</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480</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439</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422</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29260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Glencliff High School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295</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287</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315</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275</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Hillsboro High</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312</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304</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294</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294</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4"/>
                  </a:ext>
                </a:extLst>
              </a:tr>
            </a:tbl>
          </a:graphicData>
        </a:graphic>
      </p:graphicFrame>
      <p:sp>
        <p:nvSpPr>
          <p:cNvPr id="8" name="Text 4"/>
          <p:cNvSpPr txBox="1"/>
          <p:nvPr/>
        </p:nvSpPr>
        <p:spPr>
          <a:xfrm>
            <a:off x="6172200" y="2011680"/>
            <a:ext cx="640080" cy="457200"/>
          </a:xfrm>
          <a:prstGeom prst="rect">
            <a:avLst/>
          </a:prstGeom>
          <a:noFill/>
          <a:ln/>
        </p:spPr>
        <p:txBody>
          <a:bodyPr wrap="square" lIns="0" tIns="0" rIns="0" bIns="0" rtlCol="0" anchor="ctr"/>
          <a:lstStyle/>
          <a:p>
            <a:pPr marL="0" indent="0" algn="ctr">
              <a:buNone/>
            </a:pPr>
            <a:r>
              <a:rPr lang="en-US" sz="2600" b="1" dirty="0">
                <a:solidFill>
                  <a:srgbClr val="ECB748"/>
                </a:solidFill>
                <a:latin typeface="Arial" pitchFamily="34" charset="0"/>
                <a:ea typeface="Arial" pitchFamily="34" charset="-122"/>
                <a:cs typeface="Arial" pitchFamily="34" charset="-120"/>
              </a:rPr>
              <a:t>→</a:t>
            </a:r>
            <a:endParaRPr lang="en-US" sz="2600" dirty="0"/>
          </a:p>
        </p:txBody>
      </p:sp>
      <p:sp>
        <p:nvSpPr>
          <p:cNvPr id="9" name="Text 5"/>
          <p:cNvSpPr txBox="1"/>
          <p:nvPr/>
        </p:nvSpPr>
        <p:spPr>
          <a:xfrm>
            <a:off x="6035040" y="2468880"/>
            <a:ext cx="914400" cy="457200"/>
          </a:xfrm>
          <a:prstGeom prst="rect">
            <a:avLst/>
          </a:prstGeom>
          <a:noFill/>
          <a:ln/>
        </p:spPr>
        <p:txBody>
          <a:bodyPr wrap="square" lIns="0" tIns="0" rIns="0" bIns="0" rtlCol="0" anchor="ctr"/>
          <a:lstStyle/>
          <a:p>
            <a:pPr marL="0" indent="0" algn="ctr">
              <a:buNone/>
            </a:pPr>
            <a:r>
              <a:rPr lang="en-US" sz="900" dirty="0">
                <a:solidFill>
                  <a:srgbClr val="595959"/>
                </a:solidFill>
                <a:latin typeface="Courier New" pitchFamily="34" charset="0"/>
                <a:ea typeface="Courier New" pitchFamily="34" charset="-122"/>
                <a:cs typeface="Courier New" pitchFamily="34" charset="-120"/>
              </a:rPr>
              <a:t>pivot_longer</a:t>
            </a:r>
            <a:endParaRPr lang="en-US" sz="900" dirty="0"/>
          </a:p>
          <a:p>
            <a:pPr marL="0" indent="0" algn="ctr">
              <a:buNone/>
            </a:pPr>
            <a:r>
              <a:rPr lang="en-US" sz="900" dirty="0">
                <a:solidFill>
                  <a:srgbClr val="595959"/>
                </a:solidFill>
                <a:latin typeface="Courier New" pitchFamily="34" charset="0"/>
                <a:ea typeface="Courier New" pitchFamily="34" charset="-122"/>
                <a:cs typeface="Courier New" pitchFamily="34" charset="-120"/>
              </a:rPr>
              <a:t>melt</a:t>
            </a:r>
            <a:endParaRPr lang="en-US" sz="900" dirty="0"/>
          </a:p>
        </p:txBody>
      </p:sp>
      <p:sp>
        <p:nvSpPr>
          <p:cNvPr id="7" name="Text 6"/>
          <p:cNvSpPr txBox="1"/>
          <p:nvPr/>
        </p:nvSpPr>
        <p:spPr>
          <a:xfrm>
            <a:off x="7040880" y="1572768"/>
            <a:ext cx="4572000" cy="201168"/>
          </a:xfrm>
          <a:prstGeom prst="rect">
            <a:avLst/>
          </a:prstGeom>
          <a:noFill/>
          <a:ln/>
        </p:spPr>
        <p:txBody>
          <a:bodyPr wrap="square" lIns="0" tIns="0" rIns="0" bIns="0" rtlCol="0" anchor="ctr"/>
          <a:lstStyle/>
          <a:p>
            <a:pPr marL="0" indent="0">
              <a:buNone/>
            </a:pPr>
            <a:r>
              <a:rPr lang="en-US" sz="950" b="1" kern="0" spc="100" dirty="0">
                <a:solidFill>
                  <a:srgbClr val="595959"/>
                </a:solidFill>
                <a:latin typeface="Arial" pitchFamily="34" charset="0"/>
                <a:ea typeface="Arial" pitchFamily="34" charset="-122"/>
                <a:cs typeface="Arial" pitchFamily="34" charset="-120"/>
              </a:rPr>
              <a:t>LONG  (one row per school per grade)</a:t>
            </a:r>
            <a:endParaRPr lang="en-US" sz="9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040880" y="1810512"/>
          <a:ext cx="4480560" cy="1706880"/>
        </p:xfrm>
        <a:graphic>
          <a:graphicData uri="http://schemas.openxmlformats.org/drawingml/2006/table">
            <a:tbl>
              <a:tblPr/>
              <a:tblGrid>
                <a:gridCol w="21945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28600">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school_name</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grade</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students</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228600">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Antioch High School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grade_9</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474</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Antioch High School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grade_10</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476</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228600">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Antioch High School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grade_11</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544</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Antioch High School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grade_12</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462</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4"/>
                  </a:ext>
                </a:extLst>
              </a:tr>
              <a:tr h="228600">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Cane Ridge High School</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grade_9</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395</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lang="en-US" sz="1000" dirty="0">
                          <a:solidFill>
                            <a:srgbClr val="1C1C1C"/>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00" dirty="0">
                          <a:solidFill>
                            <a:srgbClr val="59595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6"/>
                  </a:ext>
                </a:extLst>
              </a:tr>
            </a:tbl>
          </a:graphicData>
        </a:graphic>
      </p:graphicFrame>
      <p:sp>
        <p:nvSpPr>
          <p:cNvPr id="12" name="Shape 7"/>
          <p:cNvSpPr/>
          <p:nvPr/>
        </p:nvSpPr>
        <p:spPr>
          <a:xfrm>
            <a:off x="640080" y="3611880"/>
            <a:ext cx="5349240" cy="2423160"/>
          </a:xfrm>
          <a:prstGeom prst="roundRect">
            <a:avLst>
              <a:gd name="adj" fmla="val 3774"/>
            </a:avLst>
          </a:prstGeom>
          <a:solidFill>
            <a:srgbClr val="2E2E2E"/>
          </a:solidFill>
          <a:ln w="12700">
            <a:solidFill>
              <a:srgbClr val="444444"/>
            </a:solidFill>
            <a:prstDash val="solid"/>
          </a:ln>
        </p:spPr>
        <p:txBody>
          <a:bodyPr/>
          <a:lstStyle/>
          <a:p>
            <a:endParaRPr lang="en-US"/>
          </a:p>
        </p:txBody>
      </p:sp>
      <p:sp>
        <p:nvSpPr>
          <p:cNvPr id="13" name="Shape 8"/>
          <p:cNvSpPr/>
          <p:nvPr/>
        </p:nvSpPr>
        <p:spPr>
          <a:xfrm>
            <a:off x="868680" y="3813048"/>
            <a:ext cx="146304" cy="146304"/>
          </a:xfrm>
          <a:prstGeom prst="ellipse">
            <a:avLst/>
          </a:prstGeom>
          <a:solidFill>
            <a:srgbClr val="D64550"/>
          </a:solidFill>
          <a:ln/>
        </p:spPr>
        <p:txBody>
          <a:bodyPr/>
          <a:lstStyle/>
          <a:p>
            <a:endParaRPr lang="en-US"/>
          </a:p>
        </p:txBody>
      </p:sp>
      <p:sp>
        <p:nvSpPr>
          <p:cNvPr id="14" name="Shape 9"/>
          <p:cNvSpPr/>
          <p:nvPr/>
        </p:nvSpPr>
        <p:spPr>
          <a:xfrm>
            <a:off x="1124712" y="3813048"/>
            <a:ext cx="146304" cy="146304"/>
          </a:xfrm>
          <a:prstGeom prst="ellipse">
            <a:avLst/>
          </a:prstGeom>
          <a:solidFill>
            <a:srgbClr val="ECB748"/>
          </a:solidFill>
          <a:ln/>
        </p:spPr>
        <p:txBody>
          <a:bodyPr/>
          <a:lstStyle/>
          <a:p>
            <a:endParaRPr lang="en-US"/>
          </a:p>
        </p:txBody>
      </p:sp>
      <p:sp>
        <p:nvSpPr>
          <p:cNvPr id="15" name="Shape 10"/>
          <p:cNvSpPr/>
          <p:nvPr/>
        </p:nvSpPr>
        <p:spPr>
          <a:xfrm>
            <a:off x="1380744" y="3813048"/>
            <a:ext cx="146304" cy="146304"/>
          </a:xfrm>
          <a:prstGeom prst="ellipse">
            <a:avLst/>
          </a:prstGeom>
          <a:solidFill>
            <a:srgbClr val="6B6B6B"/>
          </a:solidFill>
          <a:ln/>
        </p:spPr>
        <p:txBody>
          <a:bodyPr/>
          <a:lstStyle/>
          <a:p>
            <a:endParaRPr lang="en-US"/>
          </a:p>
        </p:txBody>
      </p:sp>
      <p:sp>
        <p:nvSpPr>
          <p:cNvPr id="16" name="Text 11"/>
          <p:cNvSpPr txBox="1"/>
          <p:nvPr/>
        </p:nvSpPr>
        <p:spPr>
          <a:xfrm>
            <a:off x="1783080" y="375818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reshape.R</a:t>
            </a:r>
            <a:endParaRPr lang="en-US" sz="1050" dirty="0"/>
          </a:p>
        </p:txBody>
      </p:sp>
      <p:sp>
        <p:nvSpPr>
          <p:cNvPr id="17" name="Shape 12"/>
          <p:cNvSpPr/>
          <p:nvPr/>
        </p:nvSpPr>
        <p:spPr>
          <a:xfrm>
            <a:off x="685800" y="4114800"/>
            <a:ext cx="5257800" cy="0"/>
          </a:xfrm>
          <a:prstGeom prst="line">
            <a:avLst/>
          </a:prstGeom>
          <a:noFill/>
          <a:ln w="12700">
            <a:solidFill>
              <a:srgbClr val="444444"/>
            </a:solidFill>
            <a:prstDash val="solid"/>
          </a:ln>
        </p:spPr>
        <p:txBody>
          <a:bodyPr/>
          <a:lstStyle/>
          <a:p>
            <a:endParaRPr lang="en-US"/>
          </a:p>
        </p:txBody>
      </p:sp>
      <p:sp>
        <p:nvSpPr>
          <p:cNvPr id="18" name="Text 13"/>
          <p:cNvSpPr txBox="1"/>
          <p:nvPr/>
        </p:nvSpPr>
        <p:spPr>
          <a:xfrm>
            <a:off x="914400" y="4251960"/>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schools %&gt;% pivot_longer(</a:t>
            </a:r>
            <a:endParaRPr lang="en-US" sz="1200" dirty="0"/>
          </a:p>
        </p:txBody>
      </p:sp>
      <p:sp>
        <p:nvSpPr>
          <p:cNvPr id="11" name="Text 14"/>
          <p:cNvSpPr txBox="1"/>
          <p:nvPr/>
        </p:nvSpPr>
        <p:spPr>
          <a:xfrm>
            <a:off x="914400" y="4581144"/>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  cols = starts_with("grade_"),</a:t>
            </a:r>
            <a:endParaRPr lang="en-US" sz="1200" dirty="0"/>
          </a:p>
        </p:txBody>
      </p:sp>
      <p:sp>
        <p:nvSpPr>
          <p:cNvPr id="20" name="Text 15"/>
          <p:cNvSpPr txBox="1"/>
          <p:nvPr/>
        </p:nvSpPr>
        <p:spPr>
          <a:xfrm>
            <a:off x="914400" y="4910328"/>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  names_to = "grade", values_to = "students",</a:t>
            </a:r>
            <a:endParaRPr lang="en-US" sz="1200" dirty="0"/>
          </a:p>
        </p:txBody>
      </p:sp>
      <p:sp>
        <p:nvSpPr>
          <p:cNvPr id="21" name="Text 16"/>
          <p:cNvSpPr txBox="1"/>
          <p:nvPr/>
        </p:nvSpPr>
        <p:spPr>
          <a:xfrm>
            <a:off x="914400" y="5239512"/>
            <a:ext cx="4800600" cy="329184"/>
          </a:xfrm>
          <a:prstGeom prst="rect">
            <a:avLst/>
          </a:prstGeom>
          <a:noFill/>
          <a:ln/>
        </p:spPr>
        <p:txBody>
          <a:bodyPr wrap="square" rtlCol="0" anchor="ctr"/>
          <a:lstStyle/>
          <a:p>
            <a:pPr marL="0" indent="0">
              <a:buNone/>
            </a:pPr>
            <a:r>
              <a:rPr lang="en-US" sz="1200" dirty="0">
                <a:solidFill>
                  <a:srgbClr val="ECB748"/>
                </a:solidFill>
                <a:latin typeface="Courier New" pitchFamily="34" charset="0"/>
                <a:ea typeface="Courier New" pitchFamily="34" charset="-122"/>
                <a:cs typeface="Courier New" pitchFamily="34" charset="-120"/>
              </a:rPr>
              <a:t>  values_drop_na = TRUE)</a:t>
            </a:r>
            <a:endParaRPr lang="en-US" sz="1200" dirty="0"/>
          </a:p>
        </p:txBody>
      </p:sp>
      <p:sp>
        <p:nvSpPr>
          <p:cNvPr id="22" name="Shape 17"/>
          <p:cNvSpPr/>
          <p:nvPr/>
        </p:nvSpPr>
        <p:spPr>
          <a:xfrm>
            <a:off x="6172200" y="3611880"/>
            <a:ext cx="5349240" cy="2423160"/>
          </a:xfrm>
          <a:prstGeom prst="roundRect">
            <a:avLst>
              <a:gd name="adj" fmla="val 3774"/>
            </a:avLst>
          </a:prstGeom>
          <a:solidFill>
            <a:srgbClr val="2E2E2E"/>
          </a:solidFill>
          <a:ln w="12700">
            <a:solidFill>
              <a:srgbClr val="444444"/>
            </a:solidFill>
            <a:prstDash val="solid"/>
          </a:ln>
        </p:spPr>
        <p:txBody>
          <a:bodyPr/>
          <a:lstStyle/>
          <a:p>
            <a:endParaRPr lang="en-US"/>
          </a:p>
        </p:txBody>
      </p:sp>
      <p:sp>
        <p:nvSpPr>
          <p:cNvPr id="23" name="Shape 18"/>
          <p:cNvSpPr/>
          <p:nvPr/>
        </p:nvSpPr>
        <p:spPr>
          <a:xfrm>
            <a:off x="6400800" y="3813048"/>
            <a:ext cx="146304" cy="146304"/>
          </a:xfrm>
          <a:prstGeom prst="ellipse">
            <a:avLst/>
          </a:prstGeom>
          <a:solidFill>
            <a:srgbClr val="D64550"/>
          </a:solidFill>
          <a:ln/>
        </p:spPr>
        <p:txBody>
          <a:bodyPr/>
          <a:lstStyle/>
          <a:p>
            <a:endParaRPr lang="en-US"/>
          </a:p>
        </p:txBody>
      </p:sp>
      <p:sp>
        <p:nvSpPr>
          <p:cNvPr id="24" name="Shape 19"/>
          <p:cNvSpPr/>
          <p:nvPr/>
        </p:nvSpPr>
        <p:spPr>
          <a:xfrm>
            <a:off x="6656832" y="3813048"/>
            <a:ext cx="146304" cy="146304"/>
          </a:xfrm>
          <a:prstGeom prst="ellipse">
            <a:avLst/>
          </a:prstGeom>
          <a:solidFill>
            <a:srgbClr val="ECB748"/>
          </a:solidFill>
          <a:ln/>
        </p:spPr>
        <p:txBody>
          <a:bodyPr/>
          <a:lstStyle/>
          <a:p>
            <a:endParaRPr lang="en-US"/>
          </a:p>
        </p:txBody>
      </p:sp>
      <p:sp>
        <p:nvSpPr>
          <p:cNvPr id="25" name="Shape 20"/>
          <p:cNvSpPr/>
          <p:nvPr/>
        </p:nvSpPr>
        <p:spPr>
          <a:xfrm>
            <a:off x="6912864" y="3813048"/>
            <a:ext cx="146304" cy="146304"/>
          </a:xfrm>
          <a:prstGeom prst="ellipse">
            <a:avLst/>
          </a:prstGeom>
          <a:solidFill>
            <a:srgbClr val="6B6B6B"/>
          </a:solidFill>
          <a:ln/>
        </p:spPr>
        <p:txBody>
          <a:bodyPr/>
          <a:lstStyle/>
          <a:p>
            <a:endParaRPr lang="en-US"/>
          </a:p>
        </p:txBody>
      </p:sp>
      <p:sp>
        <p:nvSpPr>
          <p:cNvPr id="26" name="Text 21"/>
          <p:cNvSpPr txBox="1"/>
          <p:nvPr/>
        </p:nvSpPr>
        <p:spPr>
          <a:xfrm>
            <a:off x="7315200" y="375818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reshape.py</a:t>
            </a:r>
            <a:endParaRPr lang="en-US" sz="1050" dirty="0"/>
          </a:p>
        </p:txBody>
      </p:sp>
      <p:sp>
        <p:nvSpPr>
          <p:cNvPr id="27" name="Shape 22"/>
          <p:cNvSpPr/>
          <p:nvPr/>
        </p:nvSpPr>
        <p:spPr>
          <a:xfrm>
            <a:off x="6217920" y="4114800"/>
            <a:ext cx="5257800" cy="0"/>
          </a:xfrm>
          <a:prstGeom prst="line">
            <a:avLst/>
          </a:prstGeom>
          <a:noFill/>
          <a:ln w="12700">
            <a:solidFill>
              <a:srgbClr val="444444"/>
            </a:solidFill>
            <a:prstDash val="solid"/>
          </a:ln>
        </p:spPr>
        <p:txBody>
          <a:bodyPr/>
          <a:lstStyle/>
          <a:p>
            <a:endParaRPr lang="en-US"/>
          </a:p>
        </p:txBody>
      </p:sp>
      <p:sp>
        <p:nvSpPr>
          <p:cNvPr id="28" name="Text 23"/>
          <p:cNvSpPr txBox="1"/>
          <p:nvPr/>
        </p:nvSpPr>
        <p:spPr>
          <a:xfrm>
            <a:off x="6446520" y="4251960"/>
            <a:ext cx="4800600" cy="329184"/>
          </a:xfrm>
          <a:prstGeom prst="rect">
            <a:avLst/>
          </a:prstGeom>
          <a:noFill/>
          <a:ln/>
        </p:spPr>
        <p:txBody>
          <a:bodyPr wrap="square"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grade_cols = schools.filter(like="grade_").columns</a:t>
            </a:r>
            <a:endParaRPr lang="en-US" sz="1100" dirty="0"/>
          </a:p>
        </p:txBody>
      </p:sp>
      <p:sp>
        <p:nvSpPr>
          <p:cNvPr id="29" name="Text 24"/>
          <p:cNvSpPr txBox="1"/>
          <p:nvPr/>
        </p:nvSpPr>
        <p:spPr>
          <a:xfrm>
            <a:off x="6446520" y="4581144"/>
            <a:ext cx="4800600" cy="329184"/>
          </a:xfrm>
          <a:prstGeom prst="rect">
            <a:avLst/>
          </a:prstGeom>
          <a:noFill/>
          <a:ln/>
        </p:spPr>
        <p:txBody>
          <a:bodyPr wrap="square"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schools.melt(id_vars="school_name",</a:t>
            </a:r>
            <a:endParaRPr lang="en-US" sz="1100" dirty="0"/>
          </a:p>
        </p:txBody>
      </p:sp>
      <p:sp>
        <p:nvSpPr>
          <p:cNvPr id="30" name="Text 25"/>
          <p:cNvSpPr txBox="1"/>
          <p:nvPr/>
        </p:nvSpPr>
        <p:spPr>
          <a:xfrm>
            <a:off x="6446520" y="4910328"/>
            <a:ext cx="4800600" cy="329184"/>
          </a:xfrm>
          <a:prstGeom prst="rect">
            <a:avLst/>
          </a:prstGeom>
          <a:noFill/>
          <a:ln/>
        </p:spPr>
        <p:txBody>
          <a:bodyPr wrap="square"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            value_vars=grade_cols,</a:t>
            </a:r>
            <a:endParaRPr lang="en-US" sz="1100" dirty="0"/>
          </a:p>
        </p:txBody>
      </p:sp>
      <p:sp>
        <p:nvSpPr>
          <p:cNvPr id="31" name="Text 26"/>
          <p:cNvSpPr txBox="1"/>
          <p:nvPr/>
        </p:nvSpPr>
        <p:spPr>
          <a:xfrm>
            <a:off x="6446520" y="5239512"/>
            <a:ext cx="4800600" cy="329184"/>
          </a:xfrm>
          <a:prstGeom prst="rect">
            <a:avLst/>
          </a:prstGeom>
          <a:noFill/>
          <a:ln/>
        </p:spPr>
        <p:txBody>
          <a:bodyPr wrap="square" rtlCol="0" anchor="ctr"/>
          <a:lstStyle/>
          <a:p>
            <a:pPr marL="0" indent="0">
              <a:buNone/>
            </a:pPr>
            <a:r>
              <a:rPr lang="en-US" sz="1100" dirty="0">
                <a:solidFill>
                  <a:srgbClr val="F5F3EF"/>
                </a:solidFill>
                <a:latin typeface="Courier New" pitchFamily="34" charset="0"/>
                <a:ea typeface="Courier New" pitchFamily="34" charset="-122"/>
                <a:cs typeface="Courier New" pitchFamily="34" charset="-120"/>
              </a:rPr>
              <a:t>            var_name="grade", value_name="students"</a:t>
            </a:r>
            <a:endParaRPr lang="en-US" sz="1100" dirty="0"/>
          </a:p>
        </p:txBody>
      </p:sp>
      <p:sp>
        <p:nvSpPr>
          <p:cNvPr id="32" name="Text 27"/>
          <p:cNvSpPr txBox="1"/>
          <p:nvPr/>
        </p:nvSpPr>
        <p:spPr>
          <a:xfrm>
            <a:off x="6446520" y="5568696"/>
            <a:ext cx="4800600" cy="329184"/>
          </a:xfrm>
          <a:prstGeom prst="rect">
            <a:avLst/>
          </a:prstGeom>
          <a:noFill/>
          <a:ln/>
        </p:spPr>
        <p:txBody>
          <a:bodyPr wrap="square" rtlCol="0" anchor="ctr"/>
          <a:lstStyle/>
          <a:p>
            <a:pPr marL="0" indent="0">
              <a:buNone/>
            </a:pPr>
            <a:r>
              <a:rPr lang="en-US" sz="1100" dirty="0">
                <a:solidFill>
                  <a:srgbClr val="ECB748"/>
                </a:solidFill>
                <a:latin typeface="Courier New" pitchFamily="34" charset="0"/>
                <a:ea typeface="Courier New" pitchFamily="34" charset="-122"/>
                <a:cs typeface="Courier New" pitchFamily="34" charset="-120"/>
              </a:rPr>
              <a:t>           ).dropna(subset=["students"])</a:t>
            </a:r>
            <a:endParaRPr lang="en-US" sz="1100" dirty="0"/>
          </a:p>
        </p:txBody>
      </p:sp>
      <p:sp>
        <p:nvSpPr>
          <p:cNvPr id="33" name="Text 28"/>
          <p:cNvSpPr txBox="1"/>
          <p:nvPr/>
        </p:nvSpPr>
        <p:spPr>
          <a:xfrm>
            <a:off x="640080" y="6126480"/>
            <a:ext cx="10881360" cy="320040"/>
          </a:xfrm>
          <a:prstGeom prst="rect">
            <a:avLst/>
          </a:prstGeom>
          <a:noFill/>
          <a:ln/>
        </p:spPr>
        <p:txBody>
          <a:bodyPr wrap="square" rtlCol="0" anchor="ctr"/>
          <a:lstStyle/>
          <a:p>
            <a:pPr marL="0" indent="0">
              <a:buNone/>
            </a:pPr>
            <a:r>
              <a:rPr lang="en-US" sz="1200" dirty="0">
                <a:solidFill>
                  <a:srgbClr val="595959"/>
                </a:solidFill>
                <a:latin typeface="Arial" pitchFamily="34" charset="0"/>
                <a:ea typeface="Arial" pitchFamily="34" charset="-122"/>
                <a:cs typeface="Arial" pitchFamily="34" charset="-120"/>
              </a:rPr>
              <a:t>Four schools shown. In the whole file, 15 grade columns become 868 rows, and the students add up to 86,527.</a:t>
            </a:r>
            <a:endParaRPr lang="en-US" sz="1200" dirty="0"/>
          </a:p>
        </p:txBody>
      </p:sp>
      <p:sp>
        <p:nvSpPr>
          <p:cNvPr id="34" name="Text 29"/>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85800"/>
          </a:xfrm>
          <a:prstGeom prst="rect">
            <a:avLst/>
          </a:prstGeom>
          <a:noFill/>
          <a:ln/>
        </p:spPr>
        <p:txBody>
          <a:bodyPr wrap="square" rtlCol="0" anchor="ctr"/>
          <a:lstStyle/>
          <a:p>
            <a:pPr marL="0" indent="0">
              <a:buNone/>
            </a:pPr>
            <a:r>
              <a:rPr lang="en-US" sz="2400" b="1" dirty="0">
                <a:solidFill>
                  <a:srgbClr val="1C1C1C"/>
                </a:solidFill>
                <a:latin typeface="Arial" pitchFamily="34" charset="0"/>
                <a:ea typeface="Arial" pitchFamily="34" charset="-122"/>
                <a:cs typeface="Arial" pitchFamily="34" charset="-120"/>
              </a:rPr>
              <a:t>Long to wide: a table a person can read</a:t>
            </a:r>
            <a:endParaRPr lang="en-US" sz="2400" dirty="0"/>
          </a:p>
        </p:txBody>
      </p:sp>
      <p:sp>
        <p:nvSpPr>
          <p:cNvPr id="6" name="Text 3"/>
          <p:cNvSpPr txBox="1"/>
          <p:nvPr/>
        </p:nvSpPr>
        <p:spPr>
          <a:xfrm>
            <a:off x="640080" y="1572768"/>
            <a:ext cx="4572000" cy="201168"/>
          </a:xfrm>
          <a:prstGeom prst="rect">
            <a:avLst/>
          </a:prstGeom>
          <a:noFill/>
          <a:ln/>
        </p:spPr>
        <p:txBody>
          <a:bodyPr wrap="square" lIns="0" tIns="0" rIns="0" bIns="0" rtlCol="0" anchor="ctr"/>
          <a:lstStyle/>
          <a:p>
            <a:pPr marL="0" indent="0">
              <a:buNone/>
            </a:pPr>
            <a:r>
              <a:rPr lang="en-US" sz="950" b="1" kern="0" spc="100" dirty="0">
                <a:solidFill>
                  <a:srgbClr val="595959"/>
                </a:solidFill>
                <a:latin typeface="Arial" pitchFamily="34" charset="0"/>
                <a:ea typeface="Arial" pitchFamily="34" charset="-122"/>
                <a:cs typeface="Arial" pitchFamily="34" charset="-120"/>
              </a:rPr>
              <a:t>LONG  (penguins counted by species and island)</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810512"/>
          <a:ext cx="3749040" cy="1645920"/>
        </p:xfrm>
        <a:graphic>
          <a:graphicData uri="http://schemas.openxmlformats.org/drawingml/2006/table">
            <a:tbl>
              <a:tblPr/>
              <a:tblGrid>
                <a:gridCol w="1554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74320">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species</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island</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n</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274320">
                <a:tc>
                  <a:txBody>
                    <a:bodyPr/>
                    <a:lstStyle/>
                    <a:p>
                      <a:pPr marL="0" indent="0" algn="l">
                        <a:buNone/>
                      </a:pPr>
                      <a:r>
                        <a:rPr lang="en-US" sz="1050" dirty="0">
                          <a:solidFill>
                            <a:srgbClr val="1C1C1C"/>
                          </a:solidFill>
                          <a:latin typeface="Arial" pitchFamily="34" charset="0"/>
                          <a:ea typeface="Arial" pitchFamily="34" charset="-122"/>
                          <a:cs typeface="Arial" pitchFamily="34" charset="-120"/>
                        </a:rPr>
                        <a:t>Adelie</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Biscoe</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44</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50" dirty="0">
                          <a:solidFill>
                            <a:srgbClr val="1C1C1C"/>
                          </a:solidFill>
                          <a:latin typeface="Arial" pitchFamily="34" charset="0"/>
                          <a:ea typeface="Arial" pitchFamily="34" charset="-122"/>
                          <a:cs typeface="Arial" pitchFamily="34" charset="-120"/>
                        </a:rPr>
                        <a:t>Adelie</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Dream</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56</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274320">
                <a:tc>
                  <a:txBody>
                    <a:bodyPr/>
                    <a:lstStyle/>
                    <a:p>
                      <a:pPr marL="0" indent="0" algn="l">
                        <a:buNone/>
                      </a:pPr>
                      <a:r>
                        <a:rPr lang="en-US" sz="1050" dirty="0">
                          <a:solidFill>
                            <a:srgbClr val="1C1C1C"/>
                          </a:solidFill>
                          <a:latin typeface="Arial" pitchFamily="34" charset="0"/>
                          <a:ea typeface="Arial" pitchFamily="34" charset="-122"/>
                          <a:cs typeface="Arial" pitchFamily="34" charset="-120"/>
                        </a:rPr>
                        <a:t>Adelie</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Torgersen</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52</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050" dirty="0">
                          <a:solidFill>
                            <a:srgbClr val="1C1C1C"/>
                          </a:solidFill>
                          <a:latin typeface="Arial" pitchFamily="34" charset="0"/>
                          <a:ea typeface="Arial" pitchFamily="34" charset="-122"/>
                          <a:cs typeface="Arial" pitchFamily="34" charset="-120"/>
                        </a:rPr>
                        <a:t>Chinstrap</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Dream</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68</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4"/>
                  </a:ext>
                </a:extLst>
              </a:tr>
              <a:tr h="274320">
                <a:tc>
                  <a:txBody>
                    <a:bodyPr/>
                    <a:lstStyle/>
                    <a:p>
                      <a:pPr marL="0" indent="0" algn="l">
                        <a:buNone/>
                      </a:pPr>
                      <a:r>
                        <a:rPr lang="en-US" sz="1050" dirty="0">
                          <a:solidFill>
                            <a:srgbClr val="1C1C1C"/>
                          </a:solidFill>
                          <a:latin typeface="Arial" pitchFamily="34" charset="0"/>
                          <a:ea typeface="Arial" pitchFamily="34" charset="-122"/>
                          <a:cs typeface="Arial" pitchFamily="34" charset="-120"/>
                        </a:rPr>
                        <a:t>Gentoo</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Biscoe</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95959"/>
                          </a:solidFill>
                          <a:latin typeface="Arial" pitchFamily="34" charset="0"/>
                          <a:ea typeface="Arial" pitchFamily="34" charset="-122"/>
                          <a:cs typeface="Arial" pitchFamily="34" charset="-120"/>
                        </a:rPr>
                        <a:t>124</a:t>
                      </a:r>
                      <a:endParaRPr lang="en-US" sz="10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txBox="1"/>
          <p:nvPr/>
        </p:nvSpPr>
        <p:spPr>
          <a:xfrm>
            <a:off x="4572000" y="2103120"/>
            <a:ext cx="640080" cy="457200"/>
          </a:xfrm>
          <a:prstGeom prst="rect">
            <a:avLst/>
          </a:prstGeom>
          <a:noFill/>
          <a:ln/>
        </p:spPr>
        <p:txBody>
          <a:bodyPr wrap="square" lIns="0" tIns="0" rIns="0" bIns="0" rtlCol="0" anchor="ctr"/>
          <a:lstStyle/>
          <a:p>
            <a:pPr marL="0" indent="0" algn="ctr">
              <a:buNone/>
            </a:pPr>
            <a:r>
              <a:rPr lang="en-US" sz="2600" b="1" dirty="0">
                <a:solidFill>
                  <a:srgbClr val="ECB748"/>
                </a:solidFill>
                <a:latin typeface="Arial" pitchFamily="34" charset="0"/>
                <a:ea typeface="Arial" pitchFamily="34" charset="-122"/>
                <a:cs typeface="Arial" pitchFamily="34" charset="-120"/>
              </a:rPr>
              <a:t>→</a:t>
            </a:r>
            <a:endParaRPr lang="en-US" sz="2600" dirty="0"/>
          </a:p>
        </p:txBody>
      </p:sp>
      <p:sp>
        <p:nvSpPr>
          <p:cNvPr id="9" name="Text 5"/>
          <p:cNvSpPr txBox="1"/>
          <p:nvPr/>
        </p:nvSpPr>
        <p:spPr>
          <a:xfrm>
            <a:off x="4434840" y="2560320"/>
            <a:ext cx="914400" cy="457200"/>
          </a:xfrm>
          <a:prstGeom prst="rect">
            <a:avLst/>
          </a:prstGeom>
          <a:noFill/>
          <a:ln/>
        </p:spPr>
        <p:txBody>
          <a:bodyPr wrap="square" lIns="0" tIns="0" rIns="0" bIns="0" rtlCol="0" anchor="ctr"/>
          <a:lstStyle/>
          <a:p>
            <a:pPr marL="0" indent="0" algn="ctr">
              <a:buNone/>
            </a:pPr>
            <a:r>
              <a:rPr lang="en-US" sz="900" dirty="0">
                <a:solidFill>
                  <a:srgbClr val="595959"/>
                </a:solidFill>
                <a:latin typeface="Courier New" pitchFamily="34" charset="0"/>
                <a:ea typeface="Courier New" pitchFamily="34" charset="-122"/>
                <a:cs typeface="Courier New" pitchFamily="34" charset="-120"/>
              </a:rPr>
              <a:t>pivot_wider</a:t>
            </a:r>
            <a:endParaRPr lang="en-US" sz="900" dirty="0"/>
          </a:p>
          <a:p>
            <a:pPr marL="0" indent="0" algn="ctr">
              <a:buNone/>
            </a:pPr>
            <a:r>
              <a:rPr lang="en-US" sz="900" dirty="0">
                <a:solidFill>
                  <a:srgbClr val="595959"/>
                </a:solidFill>
                <a:latin typeface="Courier New" pitchFamily="34" charset="0"/>
                <a:ea typeface="Courier New" pitchFamily="34" charset="-122"/>
                <a:cs typeface="Courier New" pitchFamily="34" charset="-120"/>
              </a:rPr>
              <a:t>unstack</a:t>
            </a:r>
            <a:endParaRPr lang="en-US" sz="900" dirty="0"/>
          </a:p>
        </p:txBody>
      </p:sp>
      <p:sp>
        <p:nvSpPr>
          <p:cNvPr id="10" name="Text 6"/>
          <p:cNvSpPr txBox="1"/>
          <p:nvPr/>
        </p:nvSpPr>
        <p:spPr>
          <a:xfrm>
            <a:off x="5486400" y="1572768"/>
            <a:ext cx="4572000" cy="201168"/>
          </a:xfrm>
          <a:prstGeom prst="rect">
            <a:avLst/>
          </a:prstGeom>
          <a:noFill/>
          <a:ln/>
        </p:spPr>
        <p:txBody>
          <a:bodyPr wrap="square" lIns="0" tIns="0" rIns="0" bIns="0" rtlCol="0" anchor="ctr"/>
          <a:lstStyle/>
          <a:p>
            <a:pPr marL="0" indent="0">
              <a:buNone/>
            </a:pPr>
            <a:r>
              <a:rPr lang="en-US" sz="950" b="1" kern="0" spc="100" dirty="0">
                <a:solidFill>
                  <a:srgbClr val="595959"/>
                </a:solidFill>
                <a:latin typeface="Arial" pitchFamily="34" charset="0"/>
                <a:ea typeface="Arial" pitchFamily="34" charset="-122"/>
                <a:cs typeface="Arial" pitchFamily="34" charset="-120"/>
              </a:rPr>
              <a:t>WIDE  (one row per species)</a:t>
            </a:r>
            <a:endParaRPr lang="en-US" sz="95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486400" y="1810512"/>
          <a:ext cx="4937760" cy="1316736"/>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2918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species</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Biscoe</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Dream</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Torgersen</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329184">
                <a:tc>
                  <a:txBody>
                    <a:bodyPr/>
                    <a:lstStyle/>
                    <a:p>
                      <a:pPr marL="0" indent="0" algn="l">
                        <a:buNone/>
                      </a:pPr>
                      <a:r>
                        <a:rPr lang="en-US" sz="1100" dirty="0">
                          <a:solidFill>
                            <a:srgbClr val="1C1C1C"/>
                          </a:solidFill>
                          <a:latin typeface="Arial" pitchFamily="34" charset="0"/>
                          <a:ea typeface="Arial" pitchFamily="34" charset="-122"/>
                          <a:cs typeface="Arial" pitchFamily="34" charset="-120"/>
                        </a:rPr>
                        <a:t>Adelie</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44</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56</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52</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00" dirty="0">
                          <a:solidFill>
                            <a:srgbClr val="1C1C1C"/>
                          </a:solidFill>
                          <a:latin typeface="Arial" pitchFamily="34" charset="0"/>
                          <a:ea typeface="Arial" pitchFamily="34" charset="-122"/>
                          <a:cs typeface="Arial" pitchFamily="34" charset="-120"/>
                        </a:rPr>
                        <a:t>Chinstrap</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68</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329184">
                <a:tc>
                  <a:txBody>
                    <a:bodyPr/>
                    <a:lstStyle/>
                    <a:p>
                      <a:pPr marL="0" indent="0" algn="l">
                        <a:buNone/>
                      </a:pPr>
                      <a:r>
                        <a:rPr lang="en-US" sz="1100" dirty="0">
                          <a:solidFill>
                            <a:srgbClr val="1C1C1C"/>
                          </a:solidFill>
                          <a:latin typeface="Arial" pitchFamily="34" charset="0"/>
                          <a:ea typeface="Arial" pitchFamily="34" charset="-122"/>
                          <a:cs typeface="Arial" pitchFamily="34" charset="-120"/>
                        </a:rPr>
                        <a:t>Gentoo</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124</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95959"/>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Shape 7"/>
          <p:cNvSpPr/>
          <p:nvPr/>
        </p:nvSpPr>
        <p:spPr>
          <a:xfrm>
            <a:off x="640080" y="3657600"/>
            <a:ext cx="5349240" cy="1783080"/>
          </a:xfrm>
          <a:prstGeom prst="roundRect">
            <a:avLst>
              <a:gd name="adj" fmla="val 5128"/>
            </a:avLst>
          </a:prstGeom>
          <a:solidFill>
            <a:srgbClr val="2E2E2E"/>
          </a:solidFill>
          <a:ln w="12700">
            <a:solidFill>
              <a:srgbClr val="444444"/>
            </a:solidFill>
            <a:prstDash val="solid"/>
          </a:ln>
        </p:spPr>
        <p:txBody>
          <a:bodyPr/>
          <a:lstStyle/>
          <a:p>
            <a:endParaRPr lang="en-US"/>
          </a:p>
        </p:txBody>
      </p:sp>
      <p:sp>
        <p:nvSpPr>
          <p:cNvPr id="13" name="Shape 8"/>
          <p:cNvSpPr/>
          <p:nvPr/>
        </p:nvSpPr>
        <p:spPr>
          <a:xfrm>
            <a:off x="868680" y="3858768"/>
            <a:ext cx="146304" cy="146304"/>
          </a:xfrm>
          <a:prstGeom prst="ellipse">
            <a:avLst/>
          </a:prstGeom>
          <a:solidFill>
            <a:srgbClr val="D64550"/>
          </a:solidFill>
          <a:ln/>
        </p:spPr>
        <p:txBody>
          <a:bodyPr/>
          <a:lstStyle/>
          <a:p>
            <a:endParaRPr lang="en-US"/>
          </a:p>
        </p:txBody>
      </p:sp>
      <p:sp>
        <p:nvSpPr>
          <p:cNvPr id="14" name="Shape 9"/>
          <p:cNvSpPr/>
          <p:nvPr/>
        </p:nvSpPr>
        <p:spPr>
          <a:xfrm>
            <a:off x="1124712" y="3858768"/>
            <a:ext cx="146304" cy="146304"/>
          </a:xfrm>
          <a:prstGeom prst="ellipse">
            <a:avLst/>
          </a:prstGeom>
          <a:solidFill>
            <a:srgbClr val="ECB748"/>
          </a:solidFill>
          <a:ln/>
        </p:spPr>
        <p:txBody>
          <a:bodyPr/>
          <a:lstStyle/>
          <a:p>
            <a:endParaRPr lang="en-US"/>
          </a:p>
        </p:txBody>
      </p:sp>
      <p:sp>
        <p:nvSpPr>
          <p:cNvPr id="15" name="Shape 10"/>
          <p:cNvSpPr/>
          <p:nvPr/>
        </p:nvSpPr>
        <p:spPr>
          <a:xfrm>
            <a:off x="1380744" y="3858768"/>
            <a:ext cx="146304" cy="146304"/>
          </a:xfrm>
          <a:prstGeom prst="ellipse">
            <a:avLst/>
          </a:prstGeom>
          <a:solidFill>
            <a:srgbClr val="6B6B6B"/>
          </a:solidFill>
          <a:ln/>
        </p:spPr>
        <p:txBody>
          <a:bodyPr/>
          <a:lstStyle/>
          <a:p>
            <a:endParaRPr lang="en-US"/>
          </a:p>
        </p:txBody>
      </p:sp>
      <p:sp>
        <p:nvSpPr>
          <p:cNvPr id="16" name="Text 11"/>
          <p:cNvSpPr txBox="1"/>
          <p:nvPr/>
        </p:nvSpPr>
        <p:spPr>
          <a:xfrm>
            <a:off x="1783080" y="380390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wider.R</a:t>
            </a:r>
            <a:endParaRPr lang="en-US" sz="1050" dirty="0"/>
          </a:p>
        </p:txBody>
      </p:sp>
      <p:sp>
        <p:nvSpPr>
          <p:cNvPr id="17" name="Shape 12"/>
          <p:cNvSpPr/>
          <p:nvPr/>
        </p:nvSpPr>
        <p:spPr>
          <a:xfrm>
            <a:off x="685800" y="4160520"/>
            <a:ext cx="5257800" cy="0"/>
          </a:xfrm>
          <a:prstGeom prst="line">
            <a:avLst/>
          </a:prstGeom>
          <a:noFill/>
          <a:ln w="12700">
            <a:solidFill>
              <a:srgbClr val="444444"/>
            </a:solidFill>
            <a:prstDash val="solid"/>
          </a:ln>
        </p:spPr>
        <p:txBody>
          <a:bodyPr/>
          <a:lstStyle/>
          <a:p>
            <a:endParaRPr lang="en-US"/>
          </a:p>
        </p:txBody>
      </p:sp>
      <p:sp>
        <p:nvSpPr>
          <p:cNvPr id="18" name="Text 13"/>
          <p:cNvSpPr txBox="1"/>
          <p:nvPr/>
        </p:nvSpPr>
        <p:spPr>
          <a:xfrm>
            <a:off x="914400" y="4297680"/>
            <a:ext cx="4800600" cy="329184"/>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penguins %&gt;% count(species, island) %&gt;%</a:t>
            </a:r>
            <a:endParaRPr lang="en-US" sz="1200" dirty="0"/>
          </a:p>
        </p:txBody>
      </p:sp>
      <p:sp>
        <p:nvSpPr>
          <p:cNvPr id="19" name="Text 14"/>
          <p:cNvSpPr txBox="1"/>
          <p:nvPr/>
        </p:nvSpPr>
        <p:spPr>
          <a:xfrm>
            <a:off x="914400" y="4626864"/>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  pivot_wider(names_from = island,</a:t>
            </a:r>
            <a:endParaRPr lang="en-US" sz="1200" dirty="0"/>
          </a:p>
        </p:txBody>
      </p:sp>
      <p:sp>
        <p:nvSpPr>
          <p:cNvPr id="20" name="Text 15"/>
          <p:cNvSpPr txBox="1"/>
          <p:nvPr/>
        </p:nvSpPr>
        <p:spPr>
          <a:xfrm>
            <a:off x="914400" y="4956048"/>
            <a:ext cx="4800600" cy="329184"/>
          </a:xfrm>
          <a:prstGeom prst="rect">
            <a:avLst/>
          </a:prstGeom>
          <a:noFill/>
          <a:ln/>
        </p:spPr>
        <p:txBody>
          <a:bodyPr wrap="square" rtlCol="0" anchor="ctr"/>
          <a:lstStyle/>
          <a:p>
            <a:pPr marL="0" indent="0">
              <a:buNone/>
            </a:pPr>
            <a:r>
              <a:rPr lang="en-US" sz="1200" dirty="0">
                <a:solidFill>
                  <a:srgbClr val="F5F3EF"/>
                </a:solidFill>
                <a:latin typeface="Courier New" pitchFamily="34" charset="0"/>
                <a:ea typeface="Courier New" pitchFamily="34" charset="-122"/>
                <a:cs typeface="Courier New" pitchFamily="34" charset="-120"/>
              </a:rPr>
              <a:t>              values_from = n, values_fill = 0)</a:t>
            </a:r>
            <a:endParaRPr lang="en-US" sz="1200" dirty="0"/>
          </a:p>
        </p:txBody>
      </p:sp>
      <p:sp>
        <p:nvSpPr>
          <p:cNvPr id="7" name="Shape 16"/>
          <p:cNvSpPr/>
          <p:nvPr/>
        </p:nvSpPr>
        <p:spPr>
          <a:xfrm>
            <a:off x="6172200" y="3657600"/>
            <a:ext cx="5349240" cy="1783080"/>
          </a:xfrm>
          <a:prstGeom prst="roundRect">
            <a:avLst>
              <a:gd name="adj" fmla="val 5128"/>
            </a:avLst>
          </a:prstGeom>
          <a:solidFill>
            <a:srgbClr val="2E2E2E"/>
          </a:solidFill>
          <a:ln w="12700">
            <a:solidFill>
              <a:srgbClr val="444444"/>
            </a:solidFill>
            <a:prstDash val="solid"/>
          </a:ln>
        </p:spPr>
        <p:txBody>
          <a:bodyPr/>
          <a:lstStyle/>
          <a:p>
            <a:endParaRPr lang="en-US"/>
          </a:p>
        </p:txBody>
      </p:sp>
      <p:sp>
        <p:nvSpPr>
          <p:cNvPr id="22" name="Shape 17"/>
          <p:cNvSpPr/>
          <p:nvPr/>
        </p:nvSpPr>
        <p:spPr>
          <a:xfrm>
            <a:off x="6400800" y="3858768"/>
            <a:ext cx="146304" cy="146304"/>
          </a:xfrm>
          <a:prstGeom prst="ellipse">
            <a:avLst/>
          </a:prstGeom>
          <a:solidFill>
            <a:srgbClr val="D64550"/>
          </a:solidFill>
          <a:ln/>
        </p:spPr>
        <p:txBody>
          <a:bodyPr/>
          <a:lstStyle/>
          <a:p>
            <a:endParaRPr lang="en-US"/>
          </a:p>
        </p:txBody>
      </p:sp>
      <p:sp>
        <p:nvSpPr>
          <p:cNvPr id="23" name="Shape 18"/>
          <p:cNvSpPr/>
          <p:nvPr/>
        </p:nvSpPr>
        <p:spPr>
          <a:xfrm>
            <a:off x="6656832" y="3858768"/>
            <a:ext cx="146304" cy="146304"/>
          </a:xfrm>
          <a:prstGeom prst="ellipse">
            <a:avLst/>
          </a:prstGeom>
          <a:solidFill>
            <a:srgbClr val="ECB748"/>
          </a:solidFill>
          <a:ln/>
        </p:spPr>
        <p:txBody>
          <a:bodyPr/>
          <a:lstStyle/>
          <a:p>
            <a:endParaRPr lang="en-US"/>
          </a:p>
        </p:txBody>
      </p:sp>
      <p:sp>
        <p:nvSpPr>
          <p:cNvPr id="24" name="Shape 19"/>
          <p:cNvSpPr/>
          <p:nvPr/>
        </p:nvSpPr>
        <p:spPr>
          <a:xfrm>
            <a:off x="6912864" y="3858768"/>
            <a:ext cx="146304" cy="146304"/>
          </a:xfrm>
          <a:prstGeom prst="ellipse">
            <a:avLst/>
          </a:prstGeom>
          <a:solidFill>
            <a:srgbClr val="6B6B6B"/>
          </a:solidFill>
          <a:ln/>
        </p:spPr>
        <p:txBody>
          <a:bodyPr/>
          <a:lstStyle/>
          <a:p>
            <a:endParaRPr lang="en-US"/>
          </a:p>
        </p:txBody>
      </p:sp>
      <p:sp>
        <p:nvSpPr>
          <p:cNvPr id="25" name="Text 20"/>
          <p:cNvSpPr txBox="1"/>
          <p:nvPr/>
        </p:nvSpPr>
        <p:spPr>
          <a:xfrm>
            <a:off x="7315200" y="380390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wider.py</a:t>
            </a:r>
            <a:endParaRPr lang="en-US" sz="1050" dirty="0"/>
          </a:p>
        </p:txBody>
      </p:sp>
      <p:sp>
        <p:nvSpPr>
          <p:cNvPr id="26" name="Shape 21"/>
          <p:cNvSpPr/>
          <p:nvPr/>
        </p:nvSpPr>
        <p:spPr>
          <a:xfrm>
            <a:off x="6217920" y="4160520"/>
            <a:ext cx="5257800" cy="0"/>
          </a:xfrm>
          <a:prstGeom prst="line">
            <a:avLst/>
          </a:prstGeom>
          <a:noFill/>
          <a:ln w="12700">
            <a:solidFill>
              <a:srgbClr val="444444"/>
            </a:solidFill>
            <a:prstDash val="solid"/>
          </a:ln>
        </p:spPr>
        <p:txBody>
          <a:bodyPr/>
          <a:lstStyle/>
          <a:p>
            <a:endParaRPr lang="en-US"/>
          </a:p>
        </p:txBody>
      </p:sp>
      <p:sp>
        <p:nvSpPr>
          <p:cNvPr id="27" name="Text 22"/>
          <p:cNvSpPr txBox="1"/>
          <p:nvPr/>
        </p:nvSpPr>
        <p:spPr>
          <a:xfrm>
            <a:off x="6446520" y="4297680"/>
            <a:ext cx="4800600" cy="329184"/>
          </a:xfrm>
          <a:prstGeom prst="rect">
            <a:avLst/>
          </a:prstGeom>
          <a:noFill/>
          <a:ln/>
        </p:spPr>
        <p:txBody>
          <a:bodyPr wrap="square"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counts = penguins.value_counts(["species", "island"])</a:t>
            </a:r>
            <a:endParaRPr lang="en-US" sz="1100" dirty="0"/>
          </a:p>
        </p:txBody>
      </p:sp>
      <p:sp>
        <p:nvSpPr>
          <p:cNvPr id="28" name="Text 23"/>
          <p:cNvSpPr txBox="1"/>
          <p:nvPr/>
        </p:nvSpPr>
        <p:spPr>
          <a:xfrm>
            <a:off x="6446520" y="4626864"/>
            <a:ext cx="4800600" cy="329184"/>
          </a:xfrm>
          <a:prstGeom prst="rect">
            <a:avLst/>
          </a:prstGeom>
          <a:noFill/>
          <a:ln/>
        </p:spPr>
        <p:txBody>
          <a:bodyPr wrap="square" rtlCol="0" anchor="ctr"/>
          <a:lstStyle/>
          <a:p>
            <a:pPr marL="0" indent="0">
              <a:buNone/>
            </a:pPr>
            <a:r>
              <a:rPr lang="en-US" sz="1100" dirty="0">
                <a:solidFill>
                  <a:srgbClr val="ECB748"/>
                </a:solidFill>
                <a:latin typeface="Courier New" pitchFamily="34" charset="0"/>
                <a:ea typeface="Courier New" pitchFamily="34" charset="-122"/>
                <a:cs typeface="Courier New" pitchFamily="34" charset="-120"/>
              </a:rPr>
              <a:t>counts.unstack(fill_value=0)</a:t>
            </a:r>
            <a:endParaRPr lang="en-US" sz="1100" dirty="0"/>
          </a:p>
        </p:txBody>
      </p:sp>
      <p:sp>
        <p:nvSpPr>
          <p:cNvPr id="29" name="Shape 24"/>
          <p:cNvSpPr/>
          <p:nvPr/>
        </p:nvSpPr>
        <p:spPr>
          <a:xfrm>
            <a:off x="640080" y="5577840"/>
            <a:ext cx="10881360" cy="777240"/>
          </a:xfrm>
          <a:prstGeom prst="roundRect">
            <a:avLst>
              <a:gd name="adj" fmla="val 9412"/>
            </a:avLst>
          </a:prstGeom>
          <a:solidFill>
            <a:srgbClr val="F5F3EF"/>
          </a:solidFill>
          <a:ln w="12700">
            <a:solidFill>
              <a:srgbClr val="E3E3E3"/>
            </a:solidFill>
            <a:prstDash val="solid"/>
          </a:ln>
        </p:spPr>
        <p:txBody>
          <a:bodyPr/>
          <a:lstStyle/>
          <a:p>
            <a:endParaRPr lang="en-US"/>
          </a:p>
        </p:txBody>
      </p:sp>
      <p:sp>
        <p:nvSpPr>
          <p:cNvPr id="30" name="Text 25"/>
          <p:cNvSpPr txBox="1"/>
          <p:nvPr/>
        </p:nvSpPr>
        <p:spPr>
          <a:xfrm>
            <a:off x="914400" y="5577840"/>
            <a:ext cx="10332720" cy="77724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ONE RULE OF THUMB:  </a:t>
            </a:r>
            <a:r>
              <a:rPr lang="en-US" sz="1300" dirty="0">
                <a:solidFill>
                  <a:srgbClr val="595959"/>
                </a:solidFill>
                <a:latin typeface="Arial" pitchFamily="34" charset="0"/>
                <a:ea typeface="Arial" pitchFamily="34" charset="-122"/>
                <a:cs typeface="Arial" pitchFamily="34" charset="-120"/>
              </a:rPr>
              <a:t>for plotting and modeling you almost always want long, which is Session 7's tidy shape. For a table a person reads, wide is often better. You will pivot back and forth all semester, and that is normal.</a:t>
            </a:r>
            <a:endParaRPr lang="en-US" sz="1300" dirty="0"/>
          </a:p>
        </p:txBody>
      </p:sp>
      <p:sp>
        <p:nvSpPr>
          <p:cNvPr id="31" name="Text 26"/>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40080"/>
          </a:xfrm>
          <a:prstGeom prst="rect">
            <a:avLst/>
          </a:prstGeom>
          <a:noFill/>
          <a:ln/>
        </p:spPr>
        <p:txBody>
          <a:bodyPr wrap="square" rtlCol="0" anchor="ctr"/>
          <a:lstStyle/>
          <a:p>
            <a:pPr marL="0" indent="0">
              <a:buNone/>
            </a:pPr>
            <a:r>
              <a:rPr lang="en-US" sz="2600" b="1" dirty="0">
                <a:solidFill>
                  <a:srgbClr val="1C1C1C"/>
                </a:solidFill>
                <a:latin typeface="Arial" pitchFamily="34" charset="0"/>
                <a:ea typeface="Arial" pitchFamily="34" charset="-122"/>
                <a:cs typeface="Arial" pitchFamily="34" charset="-120"/>
              </a:rPr>
              <a:t>Vocabulary from today</a:t>
            </a:r>
            <a:endParaRPr lang="en-US" sz="2600" dirty="0"/>
          </a:p>
        </p:txBody>
      </p:sp>
      <p:sp>
        <p:nvSpPr>
          <p:cNvPr id="6" name="Shape 3"/>
          <p:cNvSpPr/>
          <p:nvPr/>
        </p:nvSpPr>
        <p:spPr>
          <a:xfrm>
            <a:off x="640080" y="173736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7" name="Shape 4"/>
          <p:cNvSpPr/>
          <p:nvPr/>
        </p:nvSpPr>
        <p:spPr>
          <a:xfrm>
            <a:off x="822960" y="1920240"/>
            <a:ext cx="457200" cy="73152"/>
          </a:xfrm>
          <a:prstGeom prst="roundRect">
            <a:avLst/>
          </a:prstGeom>
          <a:solidFill>
            <a:srgbClr val="ECB748"/>
          </a:solidFill>
          <a:ln/>
        </p:spPr>
        <p:txBody>
          <a:bodyPr/>
          <a:lstStyle/>
          <a:p>
            <a:endParaRPr lang="en-US"/>
          </a:p>
        </p:txBody>
      </p:sp>
      <p:sp>
        <p:nvSpPr>
          <p:cNvPr id="8" name="Text 5"/>
          <p:cNvSpPr txBox="1"/>
          <p:nvPr/>
        </p:nvSpPr>
        <p:spPr>
          <a:xfrm>
            <a:off x="822960" y="202996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Function / verb</a:t>
            </a:r>
            <a:endParaRPr lang="en-US" sz="1500" dirty="0"/>
          </a:p>
        </p:txBody>
      </p:sp>
      <p:sp>
        <p:nvSpPr>
          <p:cNvPr id="9" name="Text 6"/>
          <p:cNvSpPr txBox="1"/>
          <p:nvPr/>
        </p:nvSpPr>
        <p:spPr>
          <a:xfrm>
            <a:off x="822960" y="242316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One wrangling operation, such as filter or mutate. dplyr calls them verbs.</a:t>
            </a:r>
            <a:endParaRPr lang="en-US" sz="1150" dirty="0"/>
          </a:p>
        </p:txBody>
      </p:sp>
      <p:sp>
        <p:nvSpPr>
          <p:cNvPr id="10" name="Shape 7"/>
          <p:cNvSpPr/>
          <p:nvPr/>
        </p:nvSpPr>
        <p:spPr>
          <a:xfrm>
            <a:off x="4306824" y="173736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11" name="Shape 8"/>
          <p:cNvSpPr/>
          <p:nvPr/>
        </p:nvSpPr>
        <p:spPr>
          <a:xfrm>
            <a:off x="4489704" y="1920240"/>
            <a:ext cx="457200" cy="73152"/>
          </a:xfrm>
          <a:prstGeom prst="roundRect">
            <a:avLst/>
          </a:prstGeom>
          <a:solidFill>
            <a:srgbClr val="B3C9CD"/>
          </a:solidFill>
          <a:ln/>
        </p:spPr>
        <p:txBody>
          <a:bodyPr/>
          <a:lstStyle/>
          <a:p>
            <a:endParaRPr lang="en-US"/>
          </a:p>
        </p:txBody>
      </p:sp>
      <p:sp>
        <p:nvSpPr>
          <p:cNvPr id="12" name="Text 9"/>
          <p:cNvSpPr txBox="1"/>
          <p:nvPr/>
        </p:nvSpPr>
        <p:spPr>
          <a:xfrm>
            <a:off x="4489704" y="202996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Pipe</a:t>
            </a:r>
            <a:endParaRPr lang="en-US" sz="1500" dirty="0"/>
          </a:p>
        </p:txBody>
      </p:sp>
      <p:sp>
        <p:nvSpPr>
          <p:cNvPr id="13" name="Text 10"/>
          <p:cNvSpPr txBox="1"/>
          <p:nvPr/>
        </p:nvSpPr>
        <p:spPr>
          <a:xfrm>
            <a:off x="4489704" y="242316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Passes one step's output to the next: %&gt;% in R, method chaining in pandas.</a:t>
            </a:r>
            <a:endParaRPr lang="en-US" sz="1150" dirty="0"/>
          </a:p>
        </p:txBody>
      </p:sp>
      <p:sp>
        <p:nvSpPr>
          <p:cNvPr id="14" name="Shape 11"/>
          <p:cNvSpPr/>
          <p:nvPr/>
        </p:nvSpPr>
        <p:spPr>
          <a:xfrm>
            <a:off x="7973568" y="173736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15" name="Shape 12"/>
          <p:cNvSpPr/>
          <p:nvPr/>
        </p:nvSpPr>
        <p:spPr>
          <a:xfrm>
            <a:off x="8156448" y="1920240"/>
            <a:ext cx="457200" cy="73152"/>
          </a:xfrm>
          <a:prstGeom prst="roundRect">
            <a:avLst/>
          </a:prstGeom>
          <a:solidFill>
            <a:srgbClr val="ECB748"/>
          </a:solidFill>
          <a:ln/>
        </p:spPr>
        <p:txBody>
          <a:bodyPr/>
          <a:lstStyle/>
          <a:p>
            <a:endParaRPr lang="en-US"/>
          </a:p>
        </p:txBody>
      </p:sp>
      <p:sp>
        <p:nvSpPr>
          <p:cNvPr id="16" name="Text 13"/>
          <p:cNvSpPr txBox="1"/>
          <p:nvPr/>
        </p:nvSpPr>
        <p:spPr>
          <a:xfrm>
            <a:off x="8156448" y="202996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Split-apply-combine</a:t>
            </a:r>
            <a:endParaRPr lang="en-US" sz="1500" dirty="0"/>
          </a:p>
        </p:txBody>
      </p:sp>
      <p:sp>
        <p:nvSpPr>
          <p:cNvPr id="17" name="Text 14"/>
          <p:cNvSpPr txBox="1"/>
          <p:nvPr/>
        </p:nvSpPr>
        <p:spPr>
          <a:xfrm>
            <a:off x="8156448" y="242316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group_by, then summarise: split into groups, compute, put the results back together.</a:t>
            </a:r>
            <a:endParaRPr lang="en-US" sz="1150" dirty="0"/>
          </a:p>
        </p:txBody>
      </p:sp>
      <p:sp>
        <p:nvSpPr>
          <p:cNvPr id="18" name="Shape 15"/>
          <p:cNvSpPr/>
          <p:nvPr/>
        </p:nvSpPr>
        <p:spPr>
          <a:xfrm>
            <a:off x="640080" y="329184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19" name="Shape 16"/>
          <p:cNvSpPr/>
          <p:nvPr/>
        </p:nvSpPr>
        <p:spPr>
          <a:xfrm>
            <a:off x="822960" y="3474720"/>
            <a:ext cx="457200" cy="73152"/>
          </a:xfrm>
          <a:prstGeom prst="roundRect">
            <a:avLst/>
          </a:prstGeom>
          <a:solidFill>
            <a:srgbClr val="B3C9CD"/>
          </a:solidFill>
          <a:ln/>
        </p:spPr>
        <p:txBody>
          <a:bodyPr/>
          <a:lstStyle/>
          <a:p>
            <a:endParaRPr lang="en-US"/>
          </a:p>
        </p:txBody>
      </p:sp>
      <p:sp>
        <p:nvSpPr>
          <p:cNvPr id="20" name="Text 17"/>
          <p:cNvSpPr txBox="1"/>
          <p:nvPr/>
        </p:nvSpPr>
        <p:spPr>
          <a:xfrm>
            <a:off x="822960" y="358444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NA / NaN</a:t>
            </a:r>
            <a:endParaRPr lang="en-US" sz="1500" dirty="0"/>
          </a:p>
        </p:txBody>
      </p:sp>
      <p:sp>
        <p:nvSpPr>
          <p:cNvPr id="21" name="Text 18"/>
          <p:cNvSpPr txBox="1"/>
          <p:nvPr/>
        </p:nvSpPr>
        <p:spPr>
          <a:xfrm>
            <a:off x="822960" y="397764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Missing-value markers: NA in R, NaN in pandas.</a:t>
            </a:r>
            <a:endParaRPr lang="en-US" sz="1150" dirty="0"/>
          </a:p>
        </p:txBody>
      </p:sp>
      <p:sp>
        <p:nvSpPr>
          <p:cNvPr id="22" name="Shape 19"/>
          <p:cNvSpPr/>
          <p:nvPr/>
        </p:nvSpPr>
        <p:spPr>
          <a:xfrm>
            <a:off x="4306824" y="329184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23" name="Shape 20"/>
          <p:cNvSpPr/>
          <p:nvPr/>
        </p:nvSpPr>
        <p:spPr>
          <a:xfrm>
            <a:off x="4489704" y="3474720"/>
            <a:ext cx="457200" cy="73152"/>
          </a:xfrm>
          <a:prstGeom prst="roundRect">
            <a:avLst/>
          </a:prstGeom>
          <a:solidFill>
            <a:srgbClr val="ECB748"/>
          </a:solidFill>
          <a:ln/>
        </p:spPr>
        <p:txBody>
          <a:bodyPr/>
          <a:lstStyle/>
          <a:p>
            <a:endParaRPr lang="en-US"/>
          </a:p>
        </p:txBody>
      </p:sp>
      <p:sp>
        <p:nvSpPr>
          <p:cNvPr id="24" name="Text 21"/>
          <p:cNvSpPr txBox="1"/>
          <p:nvPr/>
        </p:nvSpPr>
        <p:spPr>
          <a:xfrm>
            <a:off x="4489704" y="358444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Join / merge</a:t>
            </a:r>
            <a:endParaRPr lang="en-US" sz="1500" dirty="0"/>
          </a:p>
        </p:txBody>
      </p:sp>
      <p:sp>
        <p:nvSpPr>
          <p:cNvPr id="25" name="Text 22"/>
          <p:cNvSpPr txBox="1"/>
          <p:nvPr/>
        </p:nvSpPr>
        <p:spPr>
          <a:xfrm>
            <a:off x="4489704" y="397764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Combine two tables on a shared key column.</a:t>
            </a:r>
            <a:endParaRPr lang="en-US" sz="1150" dirty="0"/>
          </a:p>
        </p:txBody>
      </p:sp>
      <p:sp>
        <p:nvSpPr>
          <p:cNvPr id="26" name="Shape 23"/>
          <p:cNvSpPr/>
          <p:nvPr/>
        </p:nvSpPr>
        <p:spPr>
          <a:xfrm>
            <a:off x="7973568" y="329184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27" name="Shape 24"/>
          <p:cNvSpPr/>
          <p:nvPr/>
        </p:nvSpPr>
        <p:spPr>
          <a:xfrm>
            <a:off x="8156448" y="3474720"/>
            <a:ext cx="457200" cy="73152"/>
          </a:xfrm>
          <a:prstGeom prst="roundRect">
            <a:avLst/>
          </a:prstGeom>
          <a:solidFill>
            <a:srgbClr val="B3C9CD"/>
          </a:solidFill>
          <a:ln/>
        </p:spPr>
        <p:txBody>
          <a:bodyPr/>
          <a:lstStyle/>
          <a:p>
            <a:endParaRPr lang="en-US"/>
          </a:p>
        </p:txBody>
      </p:sp>
      <p:sp>
        <p:nvSpPr>
          <p:cNvPr id="28" name="Text 25"/>
          <p:cNvSpPr txBox="1"/>
          <p:nvPr/>
        </p:nvSpPr>
        <p:spPr>
          <a:xfrm>
            <a:off x="8156448" y="358444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Pivot / reshape</a:t>
            </a:r>
            <a:endParaRPr lang="en-US" sz="1500" dirty="0"/>
          </a:p>
        </p:txBody>
      </p:sp>
      <p:sp>
        <p:nvSpPr>
          <p:cNvPr id="29" name="Text 26"/>
          <p:cNvSpPr txBox="1"/>
          <p:nvPr/>
        </p:nvSpPr>
        <p:spPr>
          <a:xfrm>
            <a:off x="8156448" y="397764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Switch between long and wide layouts.</a:t>
            </a:r>
            <a:endParaRPr lang="en-US" sz="1150" dirty="0"/>
          </a:p>
        </p:txBody>
      </p:sp>
      <p:sp>
        <p:nvSpPr>
          <p:cNvPr id="30" name="Text 27"/>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8/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4008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Your activity, and next week</a:t>
            </a:r>
            <a:endParaRPr lang="en-US" sz="2600" dirty="0"/>
          </a:p>
        </p:txBody>
      </p:sp>
      <p:sp>
        <p:nvSpPr>
          <p:cNvPr id="6" name="Shape 3"/>
          <p:cNvSpPr/>
          <p:nvPr/>
        </p:nvSpPr>
        <p:spPr>
          <a:xfrm>
            <a:off x="640080" y="1737360"/>
            <a:ext cx="5212080" cy="3108960"/>
          </a:xfrm>
          <a:prstGeom prst="roundRect">
            <a:avLst>
              <a:gd name="adj" fmla="val 2941"/>
            </a:avLst>
          </a:prstGeom>
          <a:solidFill>
            <a:srgbClr val="ECB748"/>
          </a:solidFill>
          <a:ln/>
        </p:spPr>
        <p:txBody>
          <a:bodyPr/>
          <a:lstStyle/>
          <a:p>
            <a:endParaRPr lang="en-US"/>
          </a:p>
        </p:txBody>
      </p:sp>
      <p:sp>
        <p:nvSpPr>
          <p:cNvPr id="7" name="Text 4"/>
          <p:cNvSpPr txBox="1"/>
          <p:nvPr/>
        </p:nvSpPr>
        <p:spPr>
          <a:xfrm>
            <a:off x="914400" y="1965960"/>
            <a:ext cx="4663440" cy="320040"/>
          </a:xfrm>
          <a:prstGeom prst="rect">
            <a:avLst/>
          </a:prstGeom>
          <a:noFill/>
          <a:ln/>
        </p:spPr>
        <p:txBody>
          <a:bodyPr wrap="square" rtlCol="0" anchor="ctr"/>
          <a:lstStyle/>
          <a:p>
            <a:pPr marL="0" indent="0">
              <a:buNone/>
            </a:pPr>
            <a:r>
              <a:rPr lang="en-US" sz="1200" b="1" kern="0" spc="100" dirty="0">
                <a:solidFill>
                  <a:srgbClr val="1C1C1C"/>
                </a:solidFill>
                <a:latin typeface="Arial" pitchFamily="34" charset="0"/>
                <a:ea typeface="Arial" pitchFamily="34" charset="-122"/>
                <a:cs typeface="Arial" pitchFamily="34" charset="-120"/>
              </a:rPr>
              <a:t>THIS WEEK'S PROBLEM SET</a:t>
            </a:r>
            <a:endParaRPr lang="en-US" sz="1200" dirty="0"/>
          </a:p>
        </p:txBody>
      </p:sp>
      <p:sp>
        <p:nvSpPr>
          <p:cNvPr id="8" name="Text 5"/>
          <p:cNvSpPr txBox="1"/>
          <p:nvPr/>
        </p:nvSpPr>
        <p:spPr>
          <a:xfrm>
            <a:off x="914400" y="2423160"/>
            <a:ext cx="4663440" cy="2286000"/>
          </a:xfrm>
          <a:prstGeom prst="rect">
            <a:avLst/>
          </a:prstGeom>
          <a:noFill/>
          <a:ln/>
        </p:spPr>
        <p:txBody>
          <a:bodyPr wrap="square" rtlCol="0" anchor="ctr"/>
          <a:lstStyle/>
          <a:p>
            <a:pPr marL="0" indent="0">
              <a:lnSpc>
                <a:spcPct val="125000"/>
              </a:lnSpc>
              <a:buNone/>
            </a:pPr>
            <a:r>
              <a:rPr lang="en-US" sz="1350" dirty="0">
                <a:solidFill>
                  <a:srgbClr val="1C1C1C"/>
                </a:solidFill>
                <a:latin typeface="Arial" pitchFamily="34" charset="0"/>
                <a:ea typeface="Arial" pitchFamily="34" charset="-122"/>
                <a:cs typeface="Arial" pitchFamily="34" charset="-120"/>
              </a:rPr>
              <a:t>Download </a:t>
            </a:r>
            <a:r>
              <a:rPr lang="en-US" sz="1350" b="1" dirty="0">
                <a:solidFill>
                  <a:srgbClr val="1C1C1C"/>
                </a:solidFill>
                <a:latin typeface="Courier New" pitchFamily="34" charset="0"/>
                <a:ea typeface="Courier New" pitchFamily="34" charset="-122"/>
                <a:cs typeface="Courier New" pitchFamily="34" charset="-120"/>
              </a:rPr>
              <a:t>penguins.csv</a:t>
            </a:r>
            <a:r>
              <a:rPr lang="en-US" sz="1350" dirty="0">
                <a:solidFill>
                  <a:srgbClr val="1C1C1C"/>
                </a:solidFill>
                <a:latin typeface="Arial" pitchFamily="34" charset="0"/>
                <a:ea typeface="Arial" pitchFamily="34" charset="-122"/>
                <a:cs typeface="Arial" pitchFamily="34" charset="-120"/>
              </a:rPr>
              <a:t>, </a:t>
            </a:r>
            <a:r>
              <a:rPr lang="en-US" sz="1350" b="1" dirty="0">
                <a:solidFill>
                  <a:srgbClr val="1C1C1C"/>
                </a:solidFill>
                <a:latin typeface="Courier New" pitchFamily="34" charset="0"/>
                <a:ea typeface="Courier New" pitchFamily="34" charset="-122"/>
                <a:cs typeface="Courier New" pitchFamily="34" charset="-120"/>
              </a:rPr>
              <a:t>patients.csv</a:t>
            </a:r>
            <a:r>
              <a:rPr lang="en-US" sz="1350" dirty="0">
                <a:solidFill>
                  <a:srgbClr val="1C1C1C"/>
                </a:solidFill>
                <a:latin typeface="Arial" pitchFamily="34" charset="0"/>
                <a:ea typeface="Arial" pitchFamily="34" charset="-122"/>
                <a:cs typeface="Arial" pitchFamily="34" charset="-120"/>
              </a:rPr>
              <a:t> and </a:t>
            </a:r>
            <a:r>
              <a:rPr lang="en-US" sz="1350" b="1" dirty="0">
                <a:solidFill>
                  <a:srgbClr val="1C1C1C"/>
                </a:solidFill>
                <a:latin typeface="Courier New" pitchFamily="34" charset="0"/>
                <a:ea typeface="Courier New" pitchFamily="34" charset="-122"/>
                <a:cs typeface="Courier New" pitchFamily="34" charset="-120"/>
              </a:rPr>
              <a:t>schools_tibble.csv</a:t>
            </a:r>
            <a:r>
              <a:rPr lang="en-US" sz="1350" dirty="0">
                <a:solidFill>
                  <a:srgbClr val="1C1C1C"/>
                </a:solidFill>
                <a:latin typeface="Arial" pitchFamily="34" charset="0"/>
                <a:ea typeface="Arial" pitchFamily="34" charset="-122"/>
                <a:cs typeface="Arial" pitchFamily="34" charset="-120"/>
              </a:rPr>
              <a:t> from Brightspace if you don't have them, open the Course Tutor (</a:t>
            </a:r>
            <a:r>
              <a:rPr lang="en-US" sz="1350" b="1" dirty="0">
                <a:solidFill>
                  <a:srgbClr val="1C1C1C"/>
                </a:solidFill>
                <a:latin typeface="Courier New" pitchFamily="34" charset="0"/>
                <a:ea typeface="Courier New" pitchFamily="34" charset="-122"/>
                <a:cs typeface="Courier New" pitchFamily="34" charset="-120"/>
              </a:rPr>
              <a:t>general_tutor_gpt.md</a:t>
            </a:r>
            <a:r>
              <a:rPr lang="en-US" sz="1350" dirty="0">
                <a:solidFill>
                  <a:srgbClr val="1C1C1C"/>
                </a:solidFill>
                <a:latin typeface="Arial" pitchFamily="34" charset="0"/>
                <a:ea typeface="Arial" pitchFamily="34" charset="-122"/>
                <a:cs typeface="Arial" pitchFamily="34" charset="-120"/>
              </a:rPr>
              <a:t>) and paste in </a:t>
            </a:r>
            <a:r>
              <a:rPr lang="en-US" sz="1350" b="1" dirty="0">
                <a:solidFill>
                  <a:srgbClr val="1C1C1C"/>
                </a:solidFill>
                <a:latin typeface="Courier New" pitchFamily="34" charset="0"/>
                <a:ea typeface="Courier New" pitchFamily="34" charset="-122"/>
                <a:cs typeface="Courier New" pitchFamily="34" charset="-120"/>
              </a:rPr>
              <a:t>08_wrangling_join_reshape_problems.md</a:t>
            </a:r>
            <a:endParaRPr lang="en-US" sz="1350" dirty="0"/>
          </a:p>
          <a:p>
            <a:pPr marL="0" indent="0">
              <a:lnSpc>
                <a:spcPct val="125000"/>
              </a:lnSpc>
              <a:buNone/>
            </a:pPr>
            <a:r>
              <a:rPr lang="en-US" sz="1350" dirty="0">
                <a:solidFill>
                  <a:srgbClr val="1C1C1C"/>
                </a:solidFill>
                <a:latin typeface="Arial" pitchFamily="34" charset="0"/>
                <a:ea typeface="Arial" pitchFamily="34" charset="-122"/>
                <a:cs typeface="Arial" pitchFamily="34" charset="-120"/>
              </a:rPr>
              <a:t>It will restate the first problem, ask what you expect, then show you the code and walk it through. You run it, tweak it, and save your own copy.</a:t>
            </a:r>
            <a:endParaRPr lang="en-US" sz="1350" dirty="0"/>
          </a:p>
        </p:txBody>
      </p:sp>
      <p:sp>
        <p:nvSpPr>
          <p:cNvPr id="9" name="Shape 6"/>
          <p:cNvSpPr/>
          <p:nvPr/>
        </p:nvSpPr>
        <p:spPr>
          <a:xfrm>
            <a:off x="5989320" y="1737360"/>
            <a:ext cx="5532120" cy="3108960"/>
          </a:xfrm>
          <a:prstGeom prst="roundRect">
            <a:avLst>
              <a:gd name="adj" fmla="val 2941"/>
            </a:avLst>
          </a:prstGeom>
          <a:solidFill>
            <a:srgbClr val="2E2E2E"/>
          </a:solidFill>
          <a:ln/>
        </p:spPr>
        <p:txBody>
          <a:bodyPr/>
          <a:lstStyle/>
          <a:p>
            <a:endParaRPr lang="en-US"/>
          </a:p>
        </p:txBody>
      </p:sp>
      <p:sp>
        <p:nvSpPr>
          <p:cNvPr id="10" name="Text 7"/>
          <p:cNvSpPr txBox="1"/>
          <p:nvPr/>
        </p:nvSpPr>
        <p:spPr>
          <a:xfrm>
            <a:off x="6263640" y="1965960"/>
            <a:ext cx="4983480" cy="320040"/>
          </a:xfrm>
          <a:prstGeom prst="rect">
            <a:avLst/>
          </a:prstGeom>
          <a:noFill/>
          <a:ln/>
        </p:spPr>
        <p:txBody>
          <a:bodyPr wrap="square" rtlCol="0" anchor="ctr"/>
          <a:lstStyle/>
          <a:p>
            <a:pPr marL="0" indent="0">
              <a:buNone/>
            </a:pPr>
            <a:r>
              <a:rPr lang="en-US" sz="1200" b="1" kern="0" spc="100" dirty="0">
                <a:solidFill>
                  <a:srgbClr val="ECB748"/>
                </a:solidFill>
                <a:latin typeface="Arial" pitchFamily="34" charset="0"/>
                <a:ea typeface="Arial" pitchFamily="34" charset="-122"/>
                <a:cs typeface="Arial" pitchFamily="34" charset="-120"/>
              </a:rPr>
              <a:t>NEXT WEEK  ·  SESSION 9</a:t>
            </a:r>
            <a:endParaRPr lang="en-US" sz="1200" dirty="0"/>
          </a:p>
        </p:txBody>
      </p:sp>
      <p:sp>
        <p:nvSpPr>
          <p:cNvPr id="11" name="Text 8"/>
          <p:cNvSpPr txBox="1"/>
          <p:nvPr/>
        </p:nvSpPr>
        <p:spPr>
          <a:xfrm>
            <a:off x="6263640" y="2331720"/>
            <a:ext cx="4983480" cy="41148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Exploratory Data Analysis</a:t>
            </a:r>
            <a:endParaRPr lang="en-US" sz="1700" dirty="0"/>
          </a:p>
        </p:txBody>
      </p:sp>
      <p:sp>
        <p:nvSpPr>
          <p:cNvPr id="12" name="Text 9"/>
          <p:cNvSpPr txBox="1"/>
          <p:nvPr/>
        </p:nvSpPr>
        <p:spPr>
          <a:xfrm>
            <a:off x="6263640" y="2834640"/>
            <a:ext cx="4983480" cy="1005840"/>
          </a:xfrm>
          <a:prstGeom prst="rect">
            <a:avLst/>
          </a:prstGeom>
          <a:noFill/>
          <a:ln/>
        </p:spPr>
        <p:txBody>
          <a:bodyPr wrap="square" rtlCol="0" anchor="ctr"/>
          <a:lstStyle/>
          <a:p>
            <a:pPr marL="0" indent="0">
              <a:buNone/>
            </a:pPr>
            <a:r>
              <a:rPr lang="en-US" sz="1300" dirty="0">
                <a:solidFill>
                  <a:srgbClr val="F5F3EF"/>
                </a:solidFill>
                <a:latin typeface="Arial" pitchFamily="34" charset="0"/>
                <a:ea typeface="Arial" pitchFamily="34" charset="-122"/>
                <a:cs typeface="Arial" pitchFamily="34" charset="-120"/>
              </a:rPr>
              <a:t>Look before you test. A histogram of the cleaned group A will show you why the Session 1 bug mattered.</a:t>
            </a:r>
            <a:endParaRPr lang="en-US" sz="1300" dirty="0"/>
          </a:p>
        </p:txBody>
      </p:sp>
      <p:sp>
        <p:nvSpPr>
          <p:cNvPr id="13" name="Shape 10"/>
          <p:cNvSpPr/>
          <p:nvPr/>
        </p:nvSpPr>
        <p:spPr>
          <a:xfrm>
            <a:off x="6263640" y="3886200"/>
            <a:ext cx="4983480" cy="0"/>
          </a:xfrm>
          <a:prstGeom prst="line">
            <a:avLst/>
          </a:prstGeom>
          <a:noFill/>
          <a:ln w="12700">
            <a:solidFill>
              <a:srgbClr val="444444"/>
            </a:solidFill>
            <a:prstDash val="solid"/>
          </a:ln>
        </p:spPr>
        <p:txBody>
          <a:bodyPr/>
          <a:lstStyle/>
          <a:p>
            <a:endParaRPr lang="en-US"/>
          </a:p>
        </p:txBody>
      </p:sp>
      <p:sp>
        <p:nvSpPr>
          <p:cNvPr id="14" name="Text 11"/>
          <p:cNvSpPr txBox="1"/>
          <p:nvPr/>
        </p:nvSpPr>
        <p:spPr>
          <a:xfrm>
            <a:off x="6263640" y="4069080"/>
            <a:ext cx="4983480" cy="640080"/>
          </a:xfrm>
          <a:prstGeom prst="rect">
            <a:avLst/>
          </a:prstGeom>
          <a:noFill/>
          <a:ln/>
        </p:spPr>
        <p:txBody>
          <a:bodyPr wrap="square" rtlCol="0" anchor="ctr"/>
          <a:lstStyle/>
          <a:p>
            <a:pPr marL="0" indent="0">
              <a:buNone/>
            </a:pPr>
            <a:r>
              <a:rPr lang="en-US" sz="1200" dirty="0">
                <a:solidFill>
                  <a:srgbClr val="9B9690"/>
                </a:solidFill>
                <a:latin typeface="Arial" pitchFamily="34" charset="0"/>
                <a:ea typeface="Arial" pitchFamily="34" charset="-122"/>
                <a:cs typeface="Arial" pitchFamily="34" charset="-120"/>
              </a:rPr>
              <a:t>Your project dataset should be cleaned by then. That is the deadline. Paste your tutor transcript to Brightspace before Session 9.</a:t>
            </a:r>
            <a:endParaRPr lang="en-US" sz="1200" dirty="0"/>
          </a:p>
        </p:txBody>
      </p:sp>
      <p:sp>
        <p:nvSpPr>
          <p:cNvPr id="15" name="Text 12"/>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69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3707</Words>
  <Application>Microsoft Macintosh PowerPoint</Application>
  <PresentationFormat>Widescreen</PresentationFormat>
  <Paragraphs>403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Vanderbilt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CPBP 8306 - Session 8</dc:title>
  <dc:subject>PptxGenJS Presentation</dc:subject>
  <dc:creator>Joshua Borycz &amp; Daniel Genkins</dc:creator>
  <cp:lastModifiedBy>Borycz, Joshua D</cp:lastModifiedBy>
  <cp:revision>6</cp:revision>
  <dcterms:created xsi:type="dcterms:W3CDTF">2026-10-12T17:10:36Z</dcterms:created>
  <dcterms:modified xsi:type="dcterms:W3CDTF">2026-10-13T20:15:29Z</dcterms:modified>
</cp:coreProperties>
</file>