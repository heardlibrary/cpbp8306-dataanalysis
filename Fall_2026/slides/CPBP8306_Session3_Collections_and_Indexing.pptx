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extended-properties" Target="docProps/app.xml"/><Relationship Id="rId2" Type="http://schemas.openxmlformats.org/package/2006/relationships/metadata/core-properties" Target="docProps/core.xml"/><Relationship Id="rId3"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64" r:id="rId15"/>
    <p:sldId id="258" r:id="rId4"/>
    <p:sldId id="265" r:id="rId16"/>
    <p:sldId id="259" r:id="rId5"/>
    <p:sldId id="260" r:id="rId6"/>
    <p:sldId id="266" r:id="rId17"/>
    <p:sldId id="261" r:id="rId7"/>
    <p:sldId id="262" r:id="rId8"/>
    <p:sldId id="267" r:id="rId18"/>
    <p:sldId id="263" r:id="rId9"/>
    <p:sldId id="268" r:id="rId19"/>
  </p:sldIdLst>
  <p:notesMasterIdLst>
    <p:notesMasterId r:id="rId10"/>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4.xml"/><Relationship Id="rId5" Type="http://schemas.openxmlformats.org/officeDocument/2006/relationships/slide" Target="slides/slide6.xml"/><Relationship Id="rId6" Type="http://schemas.openxmlformats.org/officeDocument/2006/relationships/slide" Target="slides/slide7.xml"/><Relationship Id="rId7" Type="http://schemas.openxmlformats.org/officeDocument/2006/relationships/slide" Target="slides/slide9.xml"/><Relationship Id="rId8" Type="http://schemas.openxmlformats.org/officeDocument/2006/relationships/slide" Target="slides/slide10.xml"/><Relationship Id="rId9" Type="http://schemas.openxmlformats.org/officeDocument/2006/relationships/slide" Target="slides/slide12.xml"/><Relationship Id="rId10" Type="http://schemas.openxmlformats.org/officeDocument/2006/relationships/notesMaster" Target="notesMasters/notesMaster1.xml"/><Relationship Id="rId11" Type="http://schemas.openxmlformats.org/officeDocument/2006/relationships/presProps" Target="presProps.xml"/><Relationship Id="rId12" Type="http://schemas.openxmlformats.org/officeDocument/2006/relationships/viewProps" Target="viewProps.xml"/><Relationship Id="rId13" Type="http://schemas.openxmlformats.org/officeDocument/2006/relationships/theme" Target="theme/theme1.xml"/><Relationship Id="rId14" Type="http://schemas.openxmlformats.org/officeDocument/2006/relationships/tableStyles" Target="tableStyles.xml"/><Relationship Id="rId15" Type="http://schemas.openxmlformats.org/officeDocument/2006/relationships/slide" Target="slides/slide3.xml"/><Relationship Id="rId16" Type="http://schemas.openxmlformats.org/officeDocument/2006/relationships/slide" Target="slides/slide5.xml"/><Relationship Id="rId17" Type="http://schemas.openxmlformats.org/officeDocument/2006/relationships/slide" Target="slides/slide8.xml"/><Relationship Id="rId18" Type="http://schemas.openxmlformats.org/officeDocument/2006/relationships/slide" Target="slides/slide11.xml"/><Relationship Id="rId19"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Open before class: a Python REPL and an R console SIDE BY SIDE, both visible. This is the week the two languages actually differ, and the side-by-side live demo is the only thing that makes it stick.</a:t>
            </a:r>
          </a:p>
          <a:p/>
          <a:p>
            <a:r>
              <a:t>Whiteboard needed for the indexing ruler on slide 6 — do not skip drawing it.</a:t>
            </a:r>
          </a:p>
          <a:p/>
          <a:p>
            <a:r>
              <a:t>Run demos/03_collections_demo.py and demos/03_collections_demo.R one section at a time, alternately, in the two consoles. Say which language you are in, out loud, every single time you type. Students who lose track of which console they are watching leave more confused than they arrived.</a:t>
            </a:r>
          </a:p>
          <a:p/>
          <a:p>
            <a:r>
              <a:t>Quick install check as people settle: anyone still broken needs R this week, not just Python.</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Ask the room: what is the type of [1, 2, 3]? If anyone says "int" — excellent, that is exactly the confusion worth surfacing now.</a:t>
            </a:r>
          </a:p>
          <a:p/>
          <a:p>
            <a:r>
              <a:t>The answer is list. The CONTENTS are ints. A container's type is not its contents' type.</a:t>
            </a:r>
          </a:p>
          <a:p/>
          <a:p>
            <a:r>
              <a:t>This distinction pays off enormously in Session 7, when a dataframe column has a dtype separate from the dataframe itself. Plant it now.</a:t>
            </a:r>
          </a:p>
          <a:p/>
          <a:p>
            <a:r>
              <a:t>Thirty seconds on the left-hand framing, then move.</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Run both consoles here, alternating. Say the language out loud each time.</a:t>
            </a:r>
          </a:p>
          <a:p/>
          <a:p>
            <a:r>
              <a:t>c() is short for combine. They will type it ten thousand times this semester.</a:t>
            </a:r>
          </a:p>
          <a:p/>
          <a:p>
            <a:r>
              <a:t>"Both are ordered" is the load-bearing idea: position is meaningful and stable, which is what makes a column a column.</a:t>
            </a:r>
          </a:p>
          <a:p/>
          <a:p>
            <a:r>
              <a:t>The growth asymmetry (append in place vs rebuild) is a thirty-second aside. Do not belabour it — it exists to explain why R code looks the way it does.</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DRAW THE RULER ON THE WHITEBOARD BEFORE SHOWING THE SLIDE. The visual is what sticks; the slide is the confirmation.</a:t>
            </a:r>
          </a:p>
          <a:p/>
          <a:p>
            <a:r>
              <a:t>Useful mental model for Python: the index is the number of steps FROM THE START, not the position.</a:t>
            </a:r>
          </a:p>
          <a:p/>
          <a:p>
            <a:r>
              <a:t>Do NOT explain R's bp[-1] yet. Let the "?!" hang for a beat and ask the room what they think happened. The next slide explains it.</a:t>
            </a:r>
          </a:p>
          <a:p/>
          <a:p>
            <a:r>
              <a:t>This is the highest-value five minutes in the deck for the final quiz.</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The justification box matters: students accept the exclusive-stop rule far better once they see it is not arbitrary. bp[:3] and bp[3:] split the list with no overlap and no gap, and len(bp[a:b]) == b - a.</a:t>
            </a:r>
          </a:p>
          <a:p/>
          <a:p>
            <a:r>
              <a:t>Ask them to predict len(bp[1:4]) before revealing. Answer: 3.</a:t>
            </a:r>
          </a:p>
          <a:p/>
          <a:p>
            <a:r>
              <a:t>Then the classic trap at the bottom. Say plainly: this is the single most common silent bug when code moves between the two languages, and it is exactly what an AI does when asked to translate.</a:t>
            </a:r>
          </a:p>
          <a:p/>
          <a:p>
            <a:r>
              <a:t>This one is on the final quiz (A2). Tell them.</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THE MOST IMPORTANT SLIDE IN THE DECK. Spend three minutes here, not one.</a:t>
            </a:r>
          </a:p>
          <a:p/>
          <a:p>
            <a:r>
              <a:t>Build it in stages, live, in R: first print the mask ALONE (bp &gt; 130), then use it, then count with it. The mask is invisible to students until you print it by itself — that is the whole trick.</a:t>
            </a:r>
          </a:p>
          <a:p/>
          <a:p>
            <a:r>
              <a:t>Ring the bell loudly: every filtering operation for the rest of the course is this. dplyr::filter() is this. df[df.age &gt; 65] is this.</a:t>
            </a:r>
          </a:p>
          <a:p/>
          <a:p>
            <a:r>
              <a:t>Read bp[bp &gt; 130] aloud as "the elements of bp, where bp is over 130."</a:t>
            </a:r>
          </a:p>
          <a:p/>
          <a:p>
            <a:r>
              <a:t>Note the Python asymmetry honestly: plain Python lists do NOT vectorise — bp &gt; 130 is a TypeError. It needs numpy, which is Session 7. That is genuinely why numpy and pandas exist. Do not teach the list comprehension version; that is Session 4.</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A dict is unordered by concept — you never ask for "the third key," you ask by name. Say that.</a:t>
            </a:r>
          </a:p>
          <a:p/>
          <a:p>
            <a:r>
              <a:t>R also allows patient[["age"]], which is what you need when the name is itself in a variable. Mention briefly, do not dwell.</a:t>
            </a:r>
          </a:p>
          <a:p/>
          <a:p>
            <a:r>
              <a:t>The table at the bottom is the real payload, and the last row is the foreshadow that ties Unit 1 to Unit 2: a dataframe is a list of dicts stood on end — one dict per row, sharing the same keys. Everything today is the machinery underneath Session 7.</a:t>
            </a:r>
          </a:p>
          <a:p/>
          <a:p>
            <a:r>
              <a:t>Give the foreshadow real emphasis. Students otherwise experience Session 7 as a hard reset.</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Leave this up during the transition to the tutor activity. Students refer to it, and the tutor sends them here by name.</a:t>
            </a:r>
          </a:p>
          <a:p/>
          <a:p>
            <a:r>
              <a:t>Do not read it. Say it is a reference slide and move.</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Fifteen seconds. Do not read the objectives aloud verbatim.</a:t>
            </a:r>
          </a:p>
          <a:p/>
          <a:p>
            <a:r>
              <a:t>Objective 2 (0- vs 1-indexing) is on the final quiz — say so. Objective 4 (boolean masks) is the one they will use every week for the rest of the course.</a:t>
            </a:r>
          </a:p>
          <a:p/>
          <a:p>
            <a:r>
              <a:t>The right-hand panel is the real message: predict, then run. Say it once, clearly, because every problem in today's tutor enforces it.</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RUN THIS LIVE. The silence is the lesson — students need to SEE that nothing happens. No warning, no error, the vector just quietly becomes text.</a:t>
            </a:r>
          </a:p>
          <a:p/>
          <a:p>
            <a:r>
              <a:t>Explicitly connect to last week: Python REFUSED to mix types and raised a TypeError. R silently converts. Loud failure beats quiet wrongness.</a:t>
            </a:r>
          </a:p>
          <a:p/>
          <a:p>
            <a:r>
              <a:t>Ask: "which behaviour would you rather have?" There is no clean answer, and that is a good discussion — it is the deepest philosophical difference between the two languages and it shapes how you debug in each.</a:t>
            </a:r>
          </a:p>
          <a:p/>
          <a:p>
            <a:r>
              <a:t>Tie it to patients.csv: six rows say "unknown" in the age column. That is this bug, in the real course data, and they met it last week.</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PROTECT THIS SLIDE. Ninety seconds, in pairs, all eight answers written down before anyone runs anything.</a:t>
            </a:r>
          </a:p>
          <a:p/>
          <a:p>
            <a:r>
              <a:t>Python: bp[2] = 141 · bp[1:3] = [122, 141] · bp[-2] = 130 · bp[:0] = [] (empty)</a:t>
            </a:r>
          </a:p>
          <a:p>
            <a:r>
              <a:t>R: bp[2] = 122 · bp[1:3] = 117 122 141 · bp[-2] = 117 141 130 118 (drops the 2nd) · bp[0] = numeric(0) (empty)</a:t>
            </a:r>
          </a:p>
          <a:p/>
          <a:p>
            <a:r>
              <a:t>The two empty results are worth dwelling on. An empty result is NOT an error. An analysis that quietly runs on zero rows is a real failure mode, and it is the same shape as Session 1's trailing space.</a:t>
            </a:r>
          </a:p>
          <a:p/>
          <a:p>
            <a:r>
              <a:t>Take answers out loud before revealing. If a pair got bp[-2] in R wrong, that is the point of the exercise — do not rush past it.</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PROTECT THIS SLIDE. It is the AI-literacy core of the week.</a:t>
            </a:r>
          </a:p>
          <a:p/>
          <a:p>
            <a:r>
              <a:t>Be honest with them: current models often get this one RIGHT if asked carefully. The point is not that AI is stupid. The point is that when it is wrong here, nothing signals it — no error, no warning, plausible-looking output, and your "last reading" is quietly four values.</a:t>
            </a:r>
          </a:p>
          <a:p/>
          <a:p>
            <a:r>
              <a:t>Tie back to Session 1's loop: this is caught at step 3, Compare — and only if you had an expectation in the first place.</a:t>
            </a:r>
          </a:p>
          <a:p/>
          <a:p>
            <a:r>
              <a:t>If you have thirty spare seconds, ask: "what would you have to know to catch this?" Answer: the rule. Nothing else catches it.</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activity is IN CLASS. Six problems, about nineteen minutes.</a:t>
            </a:r>
          </a:p>
          <a:p/>
          <a:p>
            <a:r>
              <a:t>Say the rule out loud before they start: the tutor will not move on until you commit to a prediction. Predicting wrong is fine and expected; refusing to predict is not.</a:t>
            </a:r>
          </a:p>
          <a:p/>
          <a:p>
            <a:r>
              <a:t>FROM LAST WEEK'S TRANSCRIPTS — two things worth saying explicitly:</a:t>
            </a:r>
          </a:p>
          <a:p>
            <a:r>
              <a:t>(1) Most students finished in about ten minutes and stopped early. Tell them the tutor has six problems and they should expect to reach all six. If they finish, go back and try the ones they got wrong in the other language.</a:t>
            </a:r>
          </a:p>
          <a:p>
            <a:r>
              <a:t>(2) Transcripts came in as PDFs, Word docs and screenshots, several missing half the conversation. Ask for PLAIN TEXT, and ask them to label who said what. It takes them ten seconds and it makes the difference between a gradable transcript and an ungradable one.</a:t>
            </a:r>
          </a:p>
          <a:p/>
          <a:p>
            <a:r>
              <a:t>Repeat the dataset deadline: a candidate dataset next week, even a bad one. They can switch by Session 6.</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slideLayout" Target="../slideLayouts/slideLayout1.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2-1.png"/><Relationship Id="rId3" Type="http://schemas.openxmlformats.org/officeDocument/2006/relationships/notesSlide" Target="../notesSlides/notesSlide9.xml"/></Relationships>
</file>

<file path=ppt/slides/_rels/slide4.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slideLayout" Target="../slideLayouts/slideLayout1.xml"/><Relationship Id="rId3" Type="http://schemas.openxmlformats.org/officeDocument/2006/relationships/notesSlide" Target="../notesSlides/notesSlide3.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3-1.png"/><Relationship Id="rId3" Type="http://schemas.openxmlformats.org/officeDocument/2006/relationships/notesSlide" Target="../notesSlides/notesSlide10.xml"/></Relationships>
</file>

<file path=ppt/slides/_rels/slide6.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1.xml"/><Relationship Id="rId3" Type="http://schemas.openxmlformats.org/officeDocument/2006/relationships/notesSlide" Target="../notesSlides/notesSlide4.xml"/></Relationships>
</file>

<file path=ppt/slides/_rels/slide7.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1.xml"/><Relationship Id="rId3" Type="http://schemas.openxmlformats.org/officeDocument/2006/relationships/notesSlide" Target="../notesSlides/notesSlide5.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5-1.png"/><Relationship Id="rId3" Type="http://schemas.openxmlformats.org/officeDocument/2006/relationships/notesSlide" Target="../notesSlides/notesSlide11.xml"/></Relationships>
</file>

<file path=ppt/slides/_rels/slide9.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1.xml"/><Relationship Id="rId3" Type="http://schemas.openxmlformats.org/officeDocument/2006/relationships/notesSlide" Target="../notesSlides/notesSlide6.xml"/></Relationships>
</file>

<file path=ppt/slides/_rels/slide10.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5-1.png"/><Relationship Id="rId3" Type="http://schemas.openxmlformats.org/officeDocument/2006/relationships/notesSlide" Target="../notesSlides/notesSlide12.xml"/></Relationships>
</file>

<file path=ppt/slides/_rels/slide12.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1.xml"/><Relationship Id="rId3" Type="http://schemas.openxmlformats.org/officeDocument/2006/relationships/notesSlide" Target="../notesSlides/notesSlide8.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2-1.png"/><Relationship Id="rId3" Type="http://schemas.openxmlformats.org/officeDocument/2006/relationships/notesSlide" Target="../notesSlides/notesSlide13.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C1C1C"/>
        </a:solidFill>
      </p:bgPr>
    </p:bg>
    <p:spTree>
      <p:nvGrpSpPr>
        <p:cNvPr id="1" name=""/>
        <p:cNvGrpSpPr/>
        <p:nvPr/>
      </p:nvGrpSpPr>
      <p:grpSpPr>
        <a:xfrm>
          <a:off x="0" y="0"/>
          <a:ext cx="0" cy="0"/>
          <a:chOff x="0" y="0"/>
          <a:chExt cx="0" cy="0"/>
        </a:xfrm>
      </p:grpSpPr>
      <p:pic>
        <p:nvPicPr>
          <p:cNvPr id="2" name="Image 0" descr="/private/tmp/claude-503/-Users-boryczjd-claude-vanderbilt-database-assistant--claude-worktrees-publishing-citation-data-uses-8ba05f/250e4720-0954-4187-8930-09caab2cbef2/scratchpad/slides_build/vu_logo_white.png">    </p:cNvPr>
          <p:cNvPicPr>
            <a:picLocks noChangeAspect="1"/>
          </p:cNvPicPr>
          <p:nvPr/>
        </p:nvPicPr>
        <p:blipFill>
          <a:blip r:embed="rId1"/>
          <a:stretch>
            <a:fillRect/>
          </a:stretch>
        </p:blipFill>
        <p:spPr>
          <a:xfrm>
            <a:off x="640080" y="594360"/>
            <a:ext cx="2377440" cy="516257"/>
          </a:xfrm>
          <a:prstGeom prst="rect">
            <a:avLst/>
          </a:prstGeom>
        </p:spPr>
      </p:pic>
      <p:sp>
        <p:nvSpPr>
          <p:cNvPr id="3" name="Text 0"/>
          <p:cNvSpPr/>
          <p:nvPr/>
        </p:nvSpPr>
        <p:spPr>
          <a:xfrm>
            <a:off x="640080" y="1508760"/>
            <a:ext cx="6675120" cy="365760"/>
          </a:xfrm>
          <a:prstGeom prst="rect">
            <a:avLst/>
          </a:prstGeom>
          <a:noFill/>
          <a:ln/>
        </p:spPr>
        <p:txBody>
          <a:bodyPr wrap="square" rtlCol="0" anchor="ctr"/>
          <a:lstStyle/>
          <a:p>
            <a:pPr indent="0" marL="0">
              <a:buNone/>
            </a:pPr>
            <a:r>
              <a:rPr lang="en-US" sz="1300" b="1" spc="200" kern="0" dirty="0">
                <a:solidFill>
                  <a:srgbClr val="ECB748"/>
                </a:solidFill>
                <a:latin typeface="Arial" pitchFamily="34" charset="0"/>
                <a:ea typeface="Arial" pitchFamily="34" charset="-122"/>
                <a:cs typeface="Arial" pitchFamily="34" charset="-120"/>
              </a:rPr>
              <a:t>SESSION 3  ·  UNIT 1 — FOUNDATIONS</a:t>
            </a:r>
            <a:endParaRPr lang="en-US" sz="1300" dirty="0"/>
          </a:p>
        </p:txBody>
      </p:sp>
      <p:sp>
        <p:nvSpPr>
          <p:cNvPr id="4" name="Text 1"/>
          <p:cNvSpPr/>
          <p:nvPr/>
        </p:nvSpPr>
        <p:spPr>
          <a:xfrm>
            <a:off x="594360" y="1920240"/>
            <a:ext cx="6766560" cy="1600200"/>
          </a:xfrm>
          <a:prstGeom prst="rect">
            <a:avLst/>
          </a:prstGeom>
          <a:noFill/>
          <a:ln/>
        </p:spPr>
        <p:txBody>
          <a:bodyPr wrap="square" rtlCol="0" anchor="ctr"/>
          <a:lstStyle/>
          <a:p>
            <a:pPr indent="0" marL="0">
              <a:lnSpc>
                <a:spcPct val="108000"/>
              </a:lnSpc>
              <a:buNone/>
            </a:pPr>
            <a:r>
              <a:rPr lang="en-US" sz="3600" b="1" dirty="0">
                <a:solidFill>
                  <a:srgbClr val="FFFFFF"/>
                </a:solidFill>
                <a:latin typeface="Arial" pitchFamily="34" charset="0"/>
                <a:ea typeface="Arial" pitchFamily="34" charset="-122"/>
                <a:cs typeface="Arial" pitchFamily="34" charset="-120"/>
              </a:rPr>
              <a:t>Lists, Vectors, and</a:t>
            </a:r>
            <a:endParaRPr lang="en-US" sz="3600" dirty="0"/>
          </a:p>
          <a:p>
            <a:pPr indent="0" marL="0">
              <a:lnSpc>
                <a:spcPct val="108000"/>
              </a:lnSpc>
              <a:buNone/>
            </a:pPr>
            <a:r>
              <a:rPr lang="en-US" sz="3600" b="1" dirty="0">
                <a:solidFill>
                  <a:srgbClr val="FFFFFF"/>
                </a:solidFill>
                <a:latin typeface="Arial" pitchFamily="34" charset="0"/>
                <a:ea typeface="Arial" pitchFamily="34" charset="-122"/>
                <a:cs typeface="Arial" pitchFamily="34" charset="-120"/>
              </a:rPr>
              <a:t>Dictionaries</a:t>
            </a:r>
            <a:endParaRPr lang="en-US" sz="3600" dirty="0"/>
          </a:p>
        </p:txBody>
      </p:sp>
      <p:sp>
        <p:nvSpPr>
          <p:cNvPr id="5" name="Text 2"/>
          <p:cNvSpPr/>
          <p:nvPr/>
        </p:nvSpPr>
        <p:spPr>
          <a:xfrm>
            <a:off x="640080" y="3520440"/>
            <a:ext cx="6675120" cy="548640"/>
          </a:xfrm>
          <a:prstGeom prst="rect">
            <a:avLst/>
          </a:prstGeom>
          <a:noFill/>
          <a:ln/>
        </p:spPr>
        <p:txBody>
          <a:bodyPr wrap="square" rtlCol="0" anchor="ctr"/>
          <a:lstStyle/>
          <a:p>
            <a:pPr indent="0" marL="0">
              <a:buNone/>
            </a:pPr>
            <a:r>
              <a:rPr lang="en-US" sz="1600" dirty="0">
                <a:solidFill>
                  <a:srgbClr val="F5F3EF"/>
                </a:solidFill>
                <a:latin typeface="Arial" pitchFamily="34" charset="0"/>
                <a:ea typeface="Arial" pitchFamily="34" charset="-122"/>
                <a:cs typeface="Arial" pitchFamily="34" charset="-120"/>
              </a:rPr>
              <a:t>Holding many values — and reaching in to grab the ones you want</a:t>
            </a:r>
            <a:endParaRPr lang="en-US" sz="1600" dirty="0"/>
          </a:p>
        </p:txBody>
      </p:sp>
      <p:sp>
        <p:nvSpPr>
          <p:cNvPr id="6" name="Text 3"/>
          <p:cNvSpPr/>
          <p:nvPr/>
        </p:nvSpPr>
        <p:spPr>
          <a:xfrm>
            <a:off x="640080" y="5349240"/>
            <a:ext cx="6675120" cy="1005840"/>
          </a:xfrm>
          <a:prstGeom prst="rect">
            <a:avLst/>
          </a:prstGeom>
          <a:noFill/>
          <a:ln/>
        </p:spPr>
        <p:txBody>
          <a:bodyPr wrap="square" rtlCol="0" anchor="ctr"/>
          <a:lstStyle/>
          <a:p>
            <a:pPr indent="0" marL="0">
              <a:lnSpc>
                <a:spcPct val="130000"/>
              </a:lnSpc>
              <a:buNone/>
            </a:pPr>
            <a:r>
              <a:rPr lang="en-US" sz="1250" b="1" dirty="0">
                <a:solidFill>
                  <a:srgbClr val="FFFFFF"/>
                </a:solidFill>
                <a:latin typeface="Arial" pitchFamily="34" charset="0"/>
                <a:ea typeface="Arial" pitchFamily="34" charset="-122"/>
                <a:cs typeface="Arial" pitchFamily="34" charset="-120"/>
              </a:rPr>
              <a:t>CPBP 8306 — Coding for Research</a:t>
            </a:r>
            <a:endParaRPr lang="en-US" sz="1250" dirty="0"/>
          </a:p>
          <a:p>
            <a:pPr indent="0" marL="0">
              <a:lnSpc>
                <a:spcPct val="130000"/>
              </a:lnSpc>
              <a:buNone/>
            </a:pPr>
            <a:r>
              <a:rPr lang="en-US" sz="1250" dirty="0">
                <a:solidFill>
                  <a:srgbClr val="9B9690"/>
                </a:solidFill>
                <a:latin typeface="Arial" pitchFamily="34" charset="0"/>
                <a:ea typeface="Arial" pitchFamily="34" charset="-122"/>
                <a:cs typeface="Arial" pitchFamily="34" charset="-120"/>
              </a:rPr>
              <a:t>Joshua Borycz  &amp;  Daniel Genkins   |   TA: Peyton Coleman</a:t>
            </a:r>
            <a:endParaRPr lang="en-US" sz="1250" dirty="0"/>
          </a:p>
          <a:p>
            <a:pPr indent="0" marL="0">
              <a:lnSpc>
                <a:spcPct val="130000"/>
              </a:lnSpc>
              <a:buNone/>
            </a:pPr>
            <a:r>
              <a:rPr lang="en-US" sz="1250" dirty="0">
                <a:solidFill>
                  <a:srgbClr val="9B9690"/>
                </a:solidFill>
                <a:latin typeface="Arial" pitchFamily="34" charset="0"/>
                <a:ea typeface="Arial" pitchFamily="34" charset="-122"/>
                <a:cs typeface="Arial" pitchFamily="34" charset="-120"/>
              </a:rPr>
              <a:t>Thursdays 10:00–10:55am  ·  Light Hall 439</a:t>
            </a:r>
            <a:endParaRPr lang="en-US" sz="1250" dirty="0"/>
          </a:p>
        </p:txBody>
      </p:sp>
      <p:sp>
        <p:nvSpPr>
          <p:cNvPr id="7" name="Shape 4"/>
          <p:cNvSpPr/>
          <p:nvPr/>
        </p:nvSpPr>
        <p:spPr>
          <a:xfrm>
            <a:off x="8001000" y="2286000"/>
            <a:ext cx="3566160" cy="2651760"/>
          </a:xfrm>
          <a:prstGeom prst="roundRect">
            <a:avLst>
              <a:gd name="adj" fmla="val 4138"/>
            </a:avLst>
          </a:prstGeom>
          <a:solidFill>
            <a:srgbClr val="2E2E2E"/>
          </a:solidFill>
          <a:ln w="12700">
            <a:solidFill>
              <a:srgbClr val="444444"/>
            </a:solidFill>
            <a:prstDash val="solid"/>
          </a:ln>
        </p:spPr>
      </p:sp>
      <p:sp>
        <p:nvSpPr>
          <p:cNvPr id="8" name="Shape 5"/>
          <p:cNvSpPr/>
          <p:nvPr/>
        </p:nvSpPr>
        <p:spPr>
          <a:xfrm>
            <a:off x="8229600" y="2514600"/>
            <a:ext cx="146304" cy="146304"/>
          </a:xfrm>
          <a:prstGeom prst="ellipse">
            <a:avLst/>
          </a:prstGeom>
          <a:solidFill>
            <a:srgbClr val="D64550"/>
          </a:solidFill>
          <a:ln/>
        </p:spPr>
      </p:sp>
      <p:sp>
        <p:nvSpPr>
          <p:cNvPr id="9" name="Shape 6"/>
          <p:cNvSpPr/>
          <p:nvPr/>
        </p:nvSpPr>
        <p:spPr>
          <a:xfrm>
            <a:off x="8485632" y="2514600"/>
            <a:ext cx="146304" cy="146304"/>
          </a:xfrm>
          <a:prstGeom prst="ellipse">
            <a:avLst/>
          </a:prstGeom>
          <a:solidFill>
            <a:srgbClr val="ECB748"/>
          </a:solidFill>
          <a:ln/>
        </p:spPr>
      </p:sp>
      <p:sp>
        <p:nvSpPr>
          <p:cNvPr id="10" name="Shape 7"/>
          <p:cNvSpPr/>
          <p:nvPr/>
        </p:nvSpPr>
        <p:spPr>
          <a:xfrm>
            <a:off x="8741664" y="2514600"/>
            <a:ext cx="146304" cy="146304"/>
          </a:xfrm>
          <a:prstGeom prst="ellipse">
            <a:avLst/>
          </a:prstGeom>
          <a:solidFill>
            <a:srgbClr val="6B6B6B"/>
          </a:solidFill>
          <a:ln/>
        </p:spPr>
      </p:sp>
      <p:sp>
        <p:nvSpPr>
          <p:cNvPr id="11" name="Text 8"/>
          <p:cNvSpPr/>
          <p:nvPr/>
        </p:nvSpPr>
        <p:spPr>
          <a:xfrm>
            <a:off x="9189720" y="2450592"/>
            <a:ext cx="2194560" cy="274320"/>
          </a:xfrm>
          <a:prstGeom prst="rect">
            <a:avLst/>
          </a:prstGeom>
          <a:noFill/>
          <a:ln/>
        </p:spPr>
        <p:txBody>
          <a:bodyPr wrap="square" rtlCol="0" anchor="ctr"/>
          <a:lstStyle/>
          <a:p>
            <a:pPr indent="0" marL="0">
              <a:buNone/>
            </a:pPr>
            <a:r>
              <a:rPr lang="en-US" sz="1050" dirty="0">
                <a:solidFill>
                  <a:srgbClr val="9B9690"/>
                </a:solidFill>
                <a:latin typeface="Courier New" pitchFamily="34" charset="0"/>
                <a:ea typeface="Courier New" pitchFamily="34" charset="-122"/>
                <a:cs typeface="Courier New" pitchFamily="34" charset="-120"/>
              </a:rPr>
              <a:t>collections.py</a:t>
            </a:r>
            <a:endParaRPr lang="en-US" sz="1050" dirty="0"/>
          </a:p>
        </p:txBody>
      </p:sp>
      <p:sp>
        <p:nvSpPr>
          <p:cNvPr id="12" name="Shape 9"/>
          <p:cNvSpPr/>
          <p:nvPr/>
        </p:nvSpPr>
        <p:spPr>
          <a:xfrm>
            <a:off x="8046720" y="2834640"/>
            <a:ext cx="3474720" cy="0"/>
          </a:xfrm>
          <a:prstGeom prst="line">
            <a:avLst/>
          </a:prstGeom>
          <a:noFill/>
          <a:ln w="12700">
            <a:solidFill>
              <a:srgbClr val="444444"/>
            </a:solidFill>
            <a:prstDash val="solid"/>
          </a:ln>
        </p:spPr>
      </p:sp>
      <p:sp>
        <p:nvSpPr>
          <p:cNvPr id="13" name="Text 10"/>
          <p:cNvSpPr/>
          <p:nvPr/>
        </p:nvSpPr>
        <p:spPr>
          <a:xfrm>
            <a:off x="8275320" y="3063240"/>
            <a:ext cx="3017520" cy="365760"/>
          </a:xfrm>
          <a:prstGeom prst="rect">
            <a:avLst/>
          </a:prstGeom>
          <a:noFill/>
          <a:ln/>
        </p:spPr>
        <p:txBody>
          <a:bodyPr wrap="square" rtlCol="0" anchor="ctr"/>
          <a:lstStyle/>
          <a:p>
            <a:pPr indent="0" marL="0">
              <a:buNone/>
            </a:pPr>
            <a:r>
              <a:rPr lang="en-US" sz="1350" dirty="0">
                <a:solidFill>
                  <a:srgbClr val="F5F3EF"/>
                </a:solidFill>
                <a:latin typeface="Courier New" pitchFamily="34" charset="0"/>
                <a:ea typeface="Courier New" pitchFamily="34" charset="-122"/>
                <a:cs typeface="Courier New" pitchFamily="34" charset="-120"/>
              </a:rPr>
              <a:t>bp_systolic</a:t>
            </a:r>
            <a:pPr indent="0" marL="0">
              <a:buNone/>
            </a:pPr>
            <a:r>
              <a:rPr lang="en-US" sz="1350" dirty="0">
                <a:solidFill>
                  <a:srgbClr val="FFFFFF"/>
                </a:solidFill>
                <a:latin typeface="Courier New" pitchFamily="34" charset="0"/>
                <a:ea typeface="Courier New" pitchFamily="34" charset="-122"/>
                <a:cs typeface="Courier New" pitchFamily="34" charset="-120"/>
              </a:rPr>
              <a:t> = [</a:t>
            </a:r>
            <a:pPr indent="0" marL="0">
              <a:buNone/>
            </a:pPr>
            <a:r>
              <a:rPr lang="en-US" sz="1350" dirty="0">
                <a:solidFill>
                  <a:srgbClr val="ECB748"/>
                </a:solidFill>
                <a:latin typeface="Courier New" pitchFamily="34" charset="0"/>
                <a:ea typeface="Courier New" pitchFamily="34" charset="-122"/>
                <a:cs typeface="Courier New" pitchFamily="34" charset="-120"/>
              </a:rPr>
              <a:t>117, 122, 141</a:t>
            </a:r>
            <a:pPr indent="0" marL="0">
              <a:buNone/>
            </a:pPr>
            <a:r>
              <a:rPr lang="en-US" sz="1350" dirty="0">
                <a:solidFill>
                  <a:srgbClr val="FFFFFF"/>
                </a:solidFill>
                <a:latin typeface="Courier New" pitchFamily="34" charset="0"/>
                <a:ea typeface="Courier New" pitchFamily="34" charset="-122"/>
                <a:cs typeface="Courier New" pitchFamily="34" charset="-120"/>
              </a:rPr>
              <a:t>, …]</a:t>
            </a:r>
            <a:endParaRPr lang="en-US" sz="1350" dirty="0"/>
          </a:p>
        </p:txBody>
      </p:sp>
      <p:sp>
        <p:nvSpPr>
          <p:cNvPr id="14" name="Text 11"/>
          <p:cNvSpPr/>
          <p:nvPr/>
        </p:nvSpPr>
        <p:spPr>
          <a:xfrm>
            <a:off x="8275320" y="3520440"/>
            <a:ext cx="3017520" cy="365760"/>
          </a:xfrm>
          <a:prstGeom prst="rect">
            <a:avLst/>
          </a:prstGeom>
          <a:noFill/>
          <a:ln/>
        </p:spPr>
        <p:txBody>
          <a:bodyPr wrap="square" rtlCol="0" anchor="ctr"/>
          <a:lstStyle/>
          <a:p>
            <a:pPr indent="0" marL="0">
              <a:buNone/>
            </a:pPr>
            <a:r>
              <a:rPr lang="en-US" sz="1400" dirty="0">
                <a:solidFill>
                  <a:srgbClr val="F5F3EF"/>
                </a:solidFill>
                <a:latin typeface="Courier New" pitchFamily="34" charset="0"/>
                <a:ea typeface="Courier New" pitchFamily="34" charset="-122"/>
                <a:cs typeface="Courier New" pitchFamily="34" charset="-120"/>
              </a:rPr>
              <a:t>bp_systolic</a:t>
            </a:r>
            <a:pPr indent="0" marL="0">
              <a:buNone/>
            </a:pPr>
            <a:r>
              <a:rPr lang="en-US" sz="1400" dirty="0">
                <a:solidFill>
                  <a:srgbClr val="FFFFFF"/>
                </a:solidFill>
                <a:latin typeface="Courier New" pitchFamily="34" charset="0"/>
                <a:ea typeface="Courier New" pitchFamily="34" charset="-122"/>
                <a:cs typeface="Courier New" pitchFamily="34" charset="-120"/>
              </a:rPr>
              <a:t>[</a:t>
            </a:r>
            <a:pPr indent="0" marL="0">
              <a:buNone/>
            </a:pPr>
            <a:r>
              <a:rPr lang="en-US" sz="1400" dirty="0">
                <a:solidFill>
                  <a:srgbClr val="ECB748"/>
                </a:solidFill>
                <a:latin typeface="Courier New" pitchFamily="34" charset="0"/>
                <a:ea typeface="Courier New" pitchFamily="34" charset="-122"/>
                <a:cs typeface="Courier New" pitchFamily="34" charset="-120"/>
              </a:rPr>
              <a:t>0</a:t>
            </a:r>
            <a:pPr indent="0" marL="0">
              <a:buNone/>
            </a:pPr>
            <a:r>
              <a:rPr lang="en-US" sz="1400" dirty="0">
                <a:solidFill>
                  <a:srgbClr val="FFFFFF"/>
                </a:solidFill>
                <a:latin typeface="Courier New" pitchFamily="34" charset="0"/>
                <a:ea typeface="Courier New" pitchFamily="34" charset="-122"/>
                <a:cs typeface="Courier New" pitchFamily="34" charset="-120"/>
              </a:rPr>
              <a:t>]</a:t>
            </a:r>
            <a:endParaRPr lang="en-US" sz="1400" dirty="0"/>
          </a:p>
        </p:txBody>
      </p:sp>
      <p:sp>
        <p:nvSpPr>
          <p:cNvPr id="15" name="Text 12"/>
          <p:cNvSpPr/>
          <p:nvPr/>
        </p:nvSpPr>
        <p:spPr>
          <a:xfrm>
            <a:off x="8275320" y="3977640"/>
            <a:ext cx="3017520" cy="365760"/>
          </a:xfrm>
          <a:prstGeom prst="rect">
            <a:avLst/>
          </a:prstGeom>
          <a:noFill/>
          <a:ln/>
        </p:spPr>
        <p:txBody>
          <a:bodyPr wrap="square" rtlCol="0" anchor="ctr"/>
          <a:lstStyle/>
          <a:p>
            <a:pPr indent="0" marL="0">
              <a:buNone/>
            </a:pPr>
            <a:r>
              <a:rPr lang="en-US" sz="1300" dirty="0">
                <a:solidFill>
                  <a:srgbClr val="ECB748"/>
                </a:solidFill>
                <a:latin typeface="Courier New" pitchFamily="34" charset="0"/>
                <a:ea typeface="Courier New" pitchFamily="34" charset="-122"/>
                <a:cs typeface="Courier New" pitchFamily="34" charset="-120"/>
              </a:rPr>
              <a:t>&gt; 117</a:t>
            </a:r>
            <a:endParaRPr lang="en-US" sz="1300" dirty="0"/>
          </a:p>
        </p:txBody>
      </p:sp>
      <p:sp>
        <p:nvSpPr>
          <p:cNvPr id="16" name="Text 13"/>
          <p:cNvSpPr/>
          <p:nvPr/>
        </p:nvSpPr>
        <p:spPr>
          <a:xfrm>
            <a:off x="8001000" y="5074920"/>
            <a:ext cx="3566160" cy="365760"/>
          </a:xfrm>
          <a:prstGeom prst="rect">
            <a:avLst/>
          </a:prstGeom>
          <a:noFill/>
          <a:ln/>
        </p:spPr>
        <p:txBody>
          <a:bodyPr wrap="square" rtlCol="0" anchor="ctr"/>
          <a:lstStyle/>
          <a:p>
            <a:pPr algn="ctr" indent="0" marL="0">
              <a:buNone/>
            </a:pPr>
            <a:r>
              <a:rPr lang="en-US" sz="1100" i="1" dirty="0">
                <a:solidFill>
                  <a:srgbClr val="9B9690"/>
                </a:solidFill>
                <a:latin typeface="Arial" pitchFamily="34" charset="0"/>
                <a:ea typeface="Arial" pitchFamily="34" charset="-122"/>
                <a:cs typeface="Arial" pitchFamily="34" charset="-120"/>
              </a:rPr>
              <a:t>Same data, two containers, two conventions.</a:t>
            </a:r>
            <a:endParaRPr lang="en-US" sz="11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pic>
        <p:nvPicPr>
          <p:cNvPr id="2" name="Image 0" descr="/private/tmp/claude-503/-Users-boryczjd-claude-vanderbilt-database-assistant--claude-worktrees-publishing-citation-data-uses-8ba05f/250e4720-0954-4187-8930-09caab2cbef2/scratchpad/slides_build/vu_mark_gold.png">    </p:cNvPr>
          <p:cNvPicPr>
            <a:picLocks noChangeAspect="1"/>
          </p:cNvPicPr>
          <p:nvPr/>
        </p:nvPicPr>
        <p:blipFill>
          <a:blip r:embed="rId1"/>
          <a:stretch>
            <a:fillRect/>
          </a:stretch>
        </p:blipFill>
        <p:spPr>
          <a:xfrm>
            <a:off x="11231575" y="365760"/>
            <a:ext cx="457200" cy="327660"/>
          </a:xfrm>
          <a:prstGeom prst="rect">
            <a:avLst/>
          </a:prstGeom>
        </p:spPr>
      </p:pic>
      <p:sp>
        <p:nvSpPr>
          <p:cNvPr id="3" name="Shape 0"/>
          <p:cNvSpPr/>
          <p:nvPr/>
        </p:nvSpPr>
        <p:spPr>
          <a:xfrm>
            <a:off x="640080" y="502920"/>
            <a:ext cx="1737360" cy="292608"/>
          </a:xfrm>
          <a:prstGeom prst="roundRect">
            <a:avLst>
              <a:gd name="adj" fmla="val 50000"/>
            </a:avLst>
          </a:prstGeom>
          <a:solidFill>
            <a:srgbClr val="ECB748"/>
          </a:solidFill>
          <a:ln/>
        </p:spPr>
      </p:sp>
      <p:sp>
        <p:nvSpPr>
          <p:cNvPr id="4" name="Text 1"/>
          <p:cNvSpPr/>
          <p:nvPr/>
        </p:nvSpPr>
        <p:spPr>
          <a:xfrm>
            <a:off x="640080" y="502920"/>
            <a:ext cx="1737360" cy="292608"/>
          </a:xfrm>
          <a:prstGeom prst="rect">
            <a:avLst/>
          </a:prstGeom>
          <a:noFill/>
          <a:ln/>
        </p:spPr>
        <p:txBody>
          <a:bodyPr wrap="square" rtlCol="0" anchor="ctr"/>
          <a:lstStyle/>
          <a:p>
            <a:pPr algn="ctr" indent="0" marL="0">
              <a:buNone/>
            </a:pPr>
            <a:r>
              <a:rPr lang="en-US" sz="1100" b="1" spc="100" kern="0" dirty="0">
                <a:solidFill>
                  <a:srgbClr val="1C1C1C"/>
                </a:solidFill>
                <a:latin typeface="Arial" pitchFamily="34" charset="0"/>
                <a:ea typeface="Arial" pitchFamily="34" charset="-122"/>
                <a:cs typeface="Arial" pitchFamily="34" charset="-120"/>
              </a:rPr>
              <a:t>0–4 MIN  ·  RECAP</a:t>
            </a:r>
            <a:endParaRPr lang="en-US" sz="1100" dirty="0"/>
          </a:p>
        </p:txBody>
      </p:sp>
      <p:sp>
        <p:nvSpPr>
          <p:cNvPr id="5" name="Text 2"/>
          <p:cNvSpPr/>
          <p:nvPr/>
        </p:nvSpPr>
        <p:spPr>
          <a:xfrm>
            <a:off x="640080" y="868680"/>
            <a:ext cx="9144000" cy="640080"/>
          </a:xfrm>
          <a:prstGeom prst="rect">
            <a:avLst/>
          </a:prstGeom>
          <a:noFill/>
          <a:ln/>
        </p:spPr>
        <p:txBody>
          <a:bodyPr wrap="square" rtlCol="0" anchor="ctr"/>
          <a:lstStyle/>
          <a:p>
            <a:pPr indent="0" marL="0">
              <a:buNone/>
            </a:pPr>
            <a:r>
              <a:rPr lang="en-US" sz="3200" b="1" dirty="0">
                <a:solidFill>
                  <a:srgbClr val="1C1C1C"/>
                </a:solidFill>
                <a:latin typeface="Arial" pitchFamily="34" charset="0"/>
                <a:ea typeface="Arial" pitchFamily="34" charset="-122"/>
                <a:cs typeface="Arial" pitchFamily="34" charset="-120"/>
              </a:rPr>
              <a:t>Containers Hold Many Values</a:t>
            </a:r>
            <a:endParaRPr lang="en-US" sz="3200" dirty="0"/>
          </a:p>
        </p:txBody>
      </p:sp>
      <p:sp>
        <p:nvSpPr>
          <p:cNvPr id="6" name="Text 3"/>
          <p:cNvSpPr/>
          <p:nvPr/>
        </p:nvSpPr>
        <p:spPr>
          <a:xfrm>
            <a:off x="640080" y="1783080"/>
            <a:ext cx="6309360" cy="914400"/>
          </a:xfrm>
          <a:prstGeom prst="rect">
            <a:avLst/>
          </a:prstGeom>
          <a:noFill/>
          <a:ln/>
        </p:spPr>
        <p:txBody>
          <a:bodyPr wrap="square" rtlCol="0" anchor="ctr"/>
          <a:lstStyle/>
          <a:p>
            <a:pPr indent="0" marL="0">
              <a:lnSpc>
                <a:spcPct val="125000"/>
              </a:lnSpc>
              <a:buNone/>
            </a:pPr>
            <a:r>
              <a:rPr lang="en-US" sz="1600" b="1" dirty="0">
                <a:solidFill>
                  <a:srgbClr val="1C1C1C"/>
                </a:solidFill>
                <a:latin typeface="Arial" pitchFamily="34" charset="0"/>
                <a:ea typeface="Arial" pitchFamily="34" charset="-122"/>
                <a:cs typeface="Arial" pitchFamily="34" charset="-120"/>
              </a:rPr>
              <a:t>Real research data is never one value. </a:t>
            </a:r>
            <a:pPr indent="0" marL="0">
              <a:lnSpc>
                <a:spcPct val="125000"/>
              </a:lnSpc>
              <a:buNone/>
            </a:pPr>
            <a:r>
              <a:rPr lang="en-US" sz="1600" dirty="0">
                <a:solidFill>
                  <a:srgbClr val="1C1C1C"/>
                </a:solidFill>
                <a:latin typeface="Arial" pitchFamily="34" charset="0"/>
                <a:ea typeface="Arial" pitchFamily="34" charset="-122"/>
                <a:cs typeface="Arial" pitchFamily="34" charset="-120"/>
              </a:rPr>
              <a:t>It is a column of blood pressures, a set of patient IDs, a table of gene expressions.</a:t>
            </a:r>
            <a:endParaRPr lang="en-US" sz="1600" dirty="0"/>
          </a:p>
        </p:txBody>
      </p:sp>
      <p:sp>
        <p:nvSpPr>
          <p:cNvPr id="7" name="Text 4"/>
          <p:cNvSpPr/>
          <p:nvPr/>
        </p:nvSpPr>
        <p:spPr>
          <a:xfrm>
            <a:off x="640080" y="2743200"/>
            <a:ext cx="6309360" cy="1554480"/>
          </a:xfrm>
          <a:prstGeom prst="rect">
            <a:avLst/>
          </a:prstGeom>
          <a:noFill/>
          <a:ln/>
        </p:spPr>
        <p:txBody>
          <a:bodyPr wrap="square" rtlCol="0" anchor="ctr"/>
          <a:lstStyle/>
          <a:p>
            <a:pPr indent="0" marL="0">
              <a:lnSpc>
                <a:spcPct val="125000"/>
              </a:lnSpc>
              <a:buNone/>
            </a:pPr>
            <a:r>
              <a:rPr lang="en-US" sz="1600" dirty="0">
                <a:solidFill>
                  <a:srgbClr val="1C1C1C"/>
                </a:solidFill>
                <a:latin typeface="Arial" pitchFamily="34" charset="0"/>
                <a:ea typeface="Arial" pitchFamily="34" charset="-122"/>
                <a:cs typeface="Arial" pitchFamily="34" charset="-120"/>
              </a:rPr>
              <a:t>Before we can analyze data, we need </a:t>
            </a:r>
            <a:pPr indent="0" marL="0">
              <a:lnSpc>
                <a:spcPct val="125000"/>
              </a:lnSpc>
              <a:buNone/>
            </a:pPr>
            <a:r>
              <a:rPr lang="en-US" sz="1600" b="1" dirty="0">
                <a:solidFill>
                  <a:srgbClr val="1C1C1C"/>
                </a:solidFill>
                <a:latin typeface="Arial" pitchFamily="34" charset="0"/>
                <a:ea typeface="Arial" pitchFamily="34" charset="-122"/>
                <a:cs typeface="Arial" pitchFamily="34" charset="-120"/>
              </a:rPr>
              <a:t>containers</a:t>
            </a:r>
            <a:pPr indent="0" marL="0">
              <a:lnSpc>
                <a:spcPct val="125000"/>
              </a:lnSpc>
              <a:buNone/>
            </a:pPr>
            <a:r>
              <a:rPr lang="en-US" sz="1600" dirty="0">
                <a:solidFill>
                  <a:srgbClr val="1C1C1C"/>
                </a:solidFill>
                <a:latin typeface="Arial" pitchFamily="34" charset="0"/>
                <a:ea typeface="Arial" pitchFamily="34" charset="-122"/>
                <a:cs typeface="Arial" pitchFamily="34" charset="-120"/>
              </a:rPr>
              <a:t> to hold many values — and a way to reach in and grab the ones we want. This session covers the three you'll use every day: lists / vectors, and dictionaries.</a:t>
            </a:r>
            <a:endParaRPr lang="en-US" sz="1600" dirty="0"/>
          </a:p>
        </p:txBody>
      </p:sp>
      <p:sp>
        <p:nvSpPr>
          <p:cNvPr id="8" name="Shape 5"/>
          <p:cNvSpPr/>
          <p:nvPr/>
        </p:nvSpPr>
        <p:spPr>
          <a:xfrm>
            <a:off x="640080" y="4663440"/>
            <a:ext cx="6309360" cy="1005840"/>
          </a:xfrm>
          <a:prstGeom prst="roundRect">
            <a:avLst>
              <a:gd name="adj" fmla="val 7273"/>
            </a:avLst>
          </a:prstGeom>
          <a:solidFill>
            <a:srgbClr val="F5F3EF"/>
          </a:solidFill>
          <a:ln w="12700">
            <a:solidFill>
              <a:srgbClr val="E3E3E3"/>
            </a:solidFill>
            <a:prstDash val="solid"/>
          </a:ln>
        </p:spPr>
      </p:sp>
      <p:sp>
        <p:nvSpPr>
          <p:cNvPr id="9" name="Text 6"/>
          <p:cNvSpPr/>
          <p:nvPr/>
        </p:nvSpPr>
        <p:spPr>
          <a:xfrm>
            <a:off x="868680" y="4663440"/>
            <a:ext cx="5852160" cy="1005840"/>
          </a:xfrm>
          <a:prstGeom prst="rect">
            <a:avLst/>
          </a:prstGeom>
          <a:noFill/>
          <a:ln/>
        </p:spPr>
        <p:txBody>
          <a:bodyPr wrap="square" rtlCol="0" anchor="ctr"/>
          <a:lstStyle/>
          <a:p>
            <a:pPr indent="0" marL="0">
              <a:buNone/>
            </a:pPr>
            <a:r>
              <a:rPr lang="en-US" sz="1300" b="1" dirty="0">
                <a:solidFill>
                  <a:srgbClr val="1C1C1C"/>
                </a:solidFill>
                <a:latin typeface="Arial" pitchFamily="34" charset="0"/>
                <a:ea typeface="Arial" pitchFamily="34" charset="-122"/>
                <a:cs typeface="Arial" pitchFamily="34" charset="-120"/>
              </a:rPr>
              <a:t>Recap check:  </a:t>
            </a:r>
            <a:pPr indent="0" marL="0">
              <a:buNone/>
            </a:pPr>
            <a:r>
              <a:rPr lang="en-US" sz="1300" dirty="0">
                <a:solidFill>
                  <a:srgbClr val="595959"/>
                </a:solidFill>
                <a:latin typeface="Arial" pitchFamily="34" charset="0"/>
                <a:ea typeface="Arial" pitchFamily="34" charset="-122"/>
                <a:cs typeface="Arial" pitchFamily="34" charset="-120"/>
              </a:rPr>
              <a:t>what's the type of [1, 2, 3]? Not “int” — a container's type is not its contents.</a:t>
            </a:r>
            <a:endParaRPr lang="en-US" sz="1300" dirty="0"/>
          </a:p>
        </p:txBody>
      </p:sp>
      <p:sp>
        <p:nvSpPr>
          <p:cNvPr id="10" name="Shape 7"/>
          <p:cNvSpPr/>
          <p:nvPr/>
        </p:nvSpPr>
        <p:spPr>
          <a:xfrm>
            <a:off x="7223760" y="1783080"/>
            <a:ext cx="4297680" cy="3886200"/>
          </a:xfrm>
          <a:prstGeom prst="roundRect">
            <a:avLst>
              <a:gd name="adj" fmla="val 2353"/>
            </a:avLst>
          </a:prstGeom>
          <a:solidFill>
            <a:srgbClr val="1C1C1C"/>
          </a:solidFill>
          <a:ln/>
        </p:spPr>
      </p:sp>
      <p:sp>
        <p:nvSpPr>
          <p:cNvPr id="11" name="Text 8"/>
          <p:cNvSpPr/>
          <p:nvPr/>
        </p:nvSpPr>
        <p:spPr>
          <a:xfrm>
            <a:off x="7589520" y="2103120"/>
            <a:ext cx="3566160" cy="320040"/>
          </a:xfrm>
          <a:prstGeom prst="rect">
            <a:avLst/>
          </a:prstGeom>
          <a:noFill/>
          <a:ln/>
        </p:spPr>
        <p:txBody>
          <a:bodyPr wrap="square" rtlCol="0" anchor="ctr"/>
          <a:lstStyle/>
          <a:p>
            <a:pPr indent="0" marL="0">
              <a:buNone/>
            </a:pPr>
            <a:r>
              <a:rPr lang="en-US" sz="1100" b="1" spc="200" kern="0" dirty="0">
                <a:solidFill>
                  <a:srgbClr val="ECB748"/>
                </a:solidFill>
                <a:latin typeface="Arial" pitchFamily="34" charset="0"/>
                <a:ea typeface="Arial" pitchFamily="34" charset="-122"/>
                <a:cs typeface="Arial" pitchFamily="34" charset="-120"/>
              </a:rPr>
              <a:t>TYPE ≠ CONTENTS</a:t>
            </a:r>
            <a:endParaRPr lang="en-US" sz="1100" dirty="0"/>
          </a:p>
        </p:txBody>
      </p:sp>
      <p:sp>
        <p:nvSpPr>
          <p:cNvPr id="12" name="Text 9"/>
          <p:cNvSpPr/>
          <p:nvPr/>
        </p:nvSpPr>
        <p:spPr>
          <a:xfrm>
            <a:off x="7589520" y="2606040"/>
            <a:ext cx="3566160" cy="1097280"/>
          </a:xfrm>
          <a:prstGeom prst="rect">
            <a:avLst/>
          </a:prstGeom>
          <a:noFill/>
          <a:ln/>
        </p:spPr>
        <p:txBody>
          <a:bodyPr wrap="square" rtlCol="0" anchor="ctr"/>
          <a:lstStyle/>
          <a:p>
            <a:pPr indent="0" marL="0">
              <a:buNone/>
            </a:pPr>
            <a:r>
              <a:rPr lang="en-US" sz="2000" b="1" dirty="0">
                <a:solidFill>
                  <a:srgbClr val="B3C9CD"/>
                </a:solidFill>
                <a:latin typeface="Courier New" pitchFamily="34" charset="0"/>
                <a:ea typeface="Courier New" pitchFamily="34" charset="-122"/>
                <a:cs typeface="Courier New" pitchFamily="34" charset="-120"/>
              </a:rPr>
              <a:t>type</a:t>
            </a:r>
            <a:pPr indent="0" marL="0">
              <a:buNone/>
            </a:pPr>
            <a:r>
              <a:rPr lang="en-US" sz="2000" b="1" dirty="0">
                <a:solidFill>
                  <a:srgbClr val="FFFFFF"/>
                </a:solidFill>
                <a:latin typeface="Courier New" pitchFamily="34" charset="0"/>
                <a:ea typeface="Courier New" pitchFamily="34" charset="-122"/>
                <a:cs typeface="Courier New" pitchFamily="34" charset="-120"/>
              </a:rPr>
              <a:t>([1, 2, 3])</a:t>
            </a:r>
            <a:endParaRPr lang="en-US" sz="2000" dirty="0"/>
          </a:p>
          <a:p>
            <a:pPr indent="0" marL="0">
              <a:buNone/>
            </a:pPr>
            <a:r>
              <a:rPr lang="en-US" sz="2000" dirty="0">
                <a:solidFill>
                  <a:srgbClr val="ECB748"/>
                </a:solidFill>
                <a:latin typeface="Courier New" pitchFamily="34" charset="0"/>
                <a:ea typeface="Courier New" pitchFamily="34" charset="-122"/>
                <a:cs typeface="Courier New" pitchFamily="34" charset="-120"/>
              </a:rPr>
              <a:t>list</a:t>
            </a:r>
            <a:endParaRPr lang="en-US" sz="2000" dirty="0"/>
          </a:p>
        </p:txBody>
      </p:sp>
      <p:sp>
        <p:nvSpPr>
          <p:cNvPr id="13" name="Shape 10"/>
          <p:cNvSpPr/>
          <p:nvPr/>
        </p:nvSpPr>
        <p:spPr>
          <a:xfrm>
            <a:off x="7589520" y="3931920"/>
            <a:ext cx="3566160" cy="0"/>
          </a:xfrm>
          <a:prstGeom prst="line">
            <a:avLst/>
          </a:prstGeom>
          <a:noFill/>
          <a:ln w="12700">
            <a:solidFill>
              <a:srgbClr val="444444"/>
            </a:solidFill>
            <a:prstDash val="solid"/>
          </a:ln>
        </p:spPr>
      </p:sp>
      <p:sp>
        <p:nvSpPr>
          <p:cNvPr id="14" name="Text 11"/>
          <p:cNvSpPr/>
          <p:nvPr/>
        </p:nvSpPr>
        <p:spPr>
          <a:xfrm>
            <a:off x="7589520" y="4160520"/>
            <a:ext cx="3566160" cy="1280160"/>
          </a:xfrm>
          <a:prstGeom prst="rect">
            <a:avLst/>
          </a:prstGeom>
          <a:noFill/>
          <a:ln/>
        </p:spPr>
        <p:txBody>
          <a:bodyPr wrap="square" rtlCol="0" anchor="ctr"/>
          <a:lstStyle/>
          <a:p>
            <a:pPr indent="0" marL="0">
              <a:lnSpc>
                <a:spcPct val="130000"/>
              </a:lnSpc>
              <a:buNone/>
            </a:pPr>
            <a:r>
              <a:rPr lang="en-US" sz="1350" dirty="0">
                <a:solidFill>
                  <a:srgbClr val="F5F3EF"/>
                </a:solidFill>
                <a:latin typeface="Arial" pitchFamily="34" charset="0"/>
                <a:ea typeface="Arial" pitchFamily="34" charset="-122"/>
                <a:cs typeface="Arial" pitchFamily="34" charset="-120"/>
              </a:rPr>
              <a:t>The container is a </a:t>
            </a:r>
            <a:pPr indent="0" marL="0">
              <a:lnSpc>
                <a:spcPct val="130000"/>
              </a:lnSpc>
              <a:buNone/>
            </a:pPr>
            <a:r>
              <a:rPr lang="en-US" sz="1350" b="1" dirty="0">
                <a:solidFill>
                  <a:srgbClr val="ECB748"/>
                </a:solidFill>
                <a:latin typeface="Arial" pitchFamily="34" charset="0"/>
                <a:ea typeface="Arial" pitchFamily="34" charset="-122"/>
                <a:cs typeface="Arial" pitchFamily="34" charset="-120"/>
              </a:rPr>
              <a:t>list</a:t>
            </a:r>
            <a:pPr indent="0" marL="0">
              <a:lnSpc>
                <a:spcPct val="130000"/>
              </a:lnSpc>
              <a:buNone/>
            </a:pPr>
            <a:r>
              <a:rPr lang="en-US" sz="1350" dirty="0">
                <a:solidFill>
                  <a:srgbClr val="F5F3EF"/>
                </a:solidFill>
                <a:latin typeface="Arial" pitchFamily="34" charset="0"/>
                <a:ea typeface="Arial" pitchFamily="34" charset="-122"/>
                <a:cs typeface="Arial" pitchFamily="34" charset="-120"/>
              </a:rPr>
              <a:t>. The contents are </a:t>
            </a:r>
            <a:pPr indent="0" marL="0">
              <a:lnSpc>
                <a:spcPct val="130000"/>
              </a:lnSpc>
              <a:buNone/>
            </a:pPr>
            <a:r>
              <a:rPr lang="en-US" sz="1350" b="1" dirty="0">
                <a:solidFill>
                  <a:srgbClr val="ECB748"/>
                </a:solidFill>
                <a:latin typeface="Arial" pitchFamily="34" charset="0"/>
                <a:ea typeface="Arial" pitchFamily="34" charset="-122"/>
                <a:cs typeface="Arial" pitchFamily="34" charset="-120"/>
              </a:rPr>
              <a:t>ints</a:t>
            </a:r>
            <a:pPr indent="0" marL="0">
              <a:lnSpc>
                <a:spcPct val="130000"/>
              </a:lnSpc>
              <a:buNone/>
            </a:pPr>
            <a:r>
              <a:rPr lang="en-US" sz="1350" dirty="0">
                <a:solidFill>
                  <a:srgbClr val="F5F3EF"/>
                </a:solidFill>
                <a:latin typeface="Arial" pitchFamily="34" charset="0"/>
                <a:ea typeface="Arial" pitchFamily="34" charset="-122"/>
                <a:cs typeface="Arial" pitchFamily="34" charset="-120"/>
              </a:rPr>
              <a:t>. These are two different questions — keep them separate.</a:t>
            </a:r>
            <a:endParaRPr lang="en-US" sz="1350" dirty="0"/>
          </a:p>
        </p:txBody>
      </p:sp>
      <p:sp>
        <p:nvSpPr>
          <p:cNvPr id="15" name="Text 12"/>
          <p:cNvSpPr/>
          <p:nvPr/>
        </p:nvSpPr>
        <p:spPr>
          <a:xfrm>
            <a:off x="11368735" y="6492240"/>
            <a:ext cx="457200" cy="274320"/>
          </a:xfrm>
          <a:prstGeom prst="rect">
            <a:avLst/>
          </a:prstGeom>
          <a:noFill/>
          <a:ln/>
        </p:spPr>
        <p:txBody>
          <a:bodyPr wrap="square" rtlCol="0" anchor="ctr"/>
          <a:lstStyle/>
          <a:p>
            <a:pPr algn="r" indent="0" marL="0">
              <a:buNone/>
            </a:pPr>
            <a:r>
              <a:rPr lang="en-US" sz="900" dirty="0">
                <a:solidFill>
                  <a:srgbClr val="9B9B9B"/>
                </a:solidFill>
                <a:latin typeface="Arial" pitchFamily="34" charset="0"/>
                <a:ea typeface="Arial" pitchFamily="34" charset="-122"/>
                <a:cs typeface="Arial" pitchFamily="34" charset="-120"/>
              </a:rPr>
              <a:t>2</a:t>
            </a:r>
            <a:endParaRPr lang="en-US" sz="900" dirty="0"/>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Image 0" descr="/private/tmp/claude-503/-Users-boryczjd-claude-vanderbilt-database-assistant--claude-worktrees-publishing-citation-data-uses-8ba05f/250e4720-0954-4187-8930-09caab2cbef2/scratchpad/slides_build/vu_mark_gold.png">    </p:cNvPr>
          <p:cNvPicPr>
            <a:picLocks noChangeAspect="1"/>
          </p:cNvPicPr>
          <p:nvPr/>
        </p:nvPicPr>
        <p:blipFill>
          <a:blip r:embed="rId2"/>
          <a:stretch>
            <a:fillRect/>
          </a:stretch>
        </p:blipFill>
        <p:spPr>
          <a:xfrm>
            <a:off x="11231575" y="365760"/>
            <a:ext cx="457200" cy="327660"/>
          </a:xfrm>
          <a:prstGeom prst="rect">
            <a:avLst/>
          </a:prstGeom>
        </p:spPr>
      </p:pic>
      <p:sp>
        <p:nvSpPr>
          <p:cNvPr id="3" name="Shape 0"/>
          <p:cNvSpPr/>
          <p:nvPr/>
        </p:nvSpPr>
        <p:spPr>
          <a:xfrm>
            <a:off x="640080" y="502920"/>
            <a:ext cx="1737360" cy="292608"/>
          </a:xfrm>
          <a:prstGeom prst="roundRect">
            <a:avLst>
              <a:gd name="adj" fmla="val 50000"/>
            </a:avLst>
          </a:prstGeom>
          <a:solidFill>
            <a:srgbClr val="ECB748"/>
          </a:solidFill>
          <a:ln/>
        </p:spPr>
      </p:sp>
      <p:sp>
        <p:nvSpPr>
          <p:cNvPr id="4" name="Text 1"/>
          <p:cNvSpPr/>
          <p:nvPr/>
        </p:nvSpPr>
        <p:spPr>
          <a:xfrm>
            <a:off x="640080" y="502920"/>
            <a:ext cx="1737360" cy="292608"/>
          </a:xfrm>
          <a:prstGeom prst="rect">
            <a:avLst/>
          </a:prstGeom>
          <a:noFill/>
          <a:ln/>
        </p:spPr>
        <p:txBody>
          <a:bodyPr wrap="square" rtlCol="0" anchor="ctr"/>
          <a:lstStyle/>
          <a:p>
            <a:pPr algn="ctr" indent="0" marL="0">
              <a:buNone/>
            </a:pPr>
            <a:r>
              <a:rPr lang="en-US" sz="1100" b="1" spc="100" kern="0" dirty="0">
                <a:solidFill>
                  <a:srgbClr val="1C1C1C"/>
                </a:solidFill>
                <a:latin typeface="Arial" pitchFamily="34" charset="0"/>
                <a:ea typeface="Arial" pitchFamily="34" charset="-122"/>
                <a:cs typeface="Arial" pitchFamily="34" charset="-120"/>
              </a:rPr>
              <a:t>ROADMAP</a:t>
            </a:r>
            <a:endParaRPr lang="en-US" sz="1100" dirty="0"/>
          </a:p>
        </p:txBody>
      </p:sp>
      <p:sp>
        <p:nvSpPr>
          <p:cNvPr id="5" name="Text 2"/>
          <p:cNvSpPr/>
          <p:nvPr/>
        </p:nvSpPr>
        <p:spPr>
          <a:xfrm>
            <a:off x="640080" y="868680"/>
            <a:ext cx="9144000" cy="640080"/>
          </a:xfrm>
          <a:prstGeom prst="rect">
            <a:avLst/>
          </a:prstGeom>
          <a:noFill/>
          <a:ln/>
        </p:spPr>
        <p:txBody>
          <a:bodyPr wrap="square" rtlCol="0" anchor="ctr"/>
          <a:lstStyle/>
          <a:p>
            <a:pPr indent="0" marL="0">
              <a:buNone/>
            </a:pPr>
            <a:r>
              <a:rPr lang="en-US" sz="3200" b="1" dirty="0">
                <a:solidFill>
                  <a:srgbClr val="1C1C1C"/>
                </a:solidFill>
                <a:latin typeface="Arial" pitchFamily="34" charset="0"/>
                <a:ea typeface="Arial" pitchFamily="34" charset="-122"/>
                <a:cs typeface="Arial" pitchFamily="34" charset="-120"/>
              </a:rPr>
              <a:t>By the end of today you can…</a:t>
            </a:r>
            <a:endParaRPr lang="en-US" sz="3200" dirty="0"/>
          </a:p>
        </p:txBody>
      </p:sp>
      <p:sp>
        <p:nvSpPr>
          <p:cNvPr id="6" name="Text 3"/>
          <p:cNvSpPr/>
          <p:nvPr/>
        </p:nvSpPr>
        <p:spPr>
          <a:xfrm>
            <a:off x="640080" y="1783080"/>
            <a:ext cx="6309360" cy="914400"/>
          </a:xfrm>
          <a:prstGeom prst="rect">
            <a:avLst/>
          </a:prstGeom>
          <a:noFill/>
          <a:ln/>
        </p:spPr>
        <p:txBody>
          <a:bodyPr wrap="square" rtlCol="0" anchor="ctr"/>
          <a:lstStyle/>
          <a:p>
            <a:pPr indent="0" marL="0">
              <a:lnSpc>
                <a:spcPct val="125000"/>
              </a:lnSpc>
              <a:buNone/>
            </a:pPr>
            <a:r>
              <a:rPr lang="en-US" sz="1600" b="1" dirty="0">
                <a:solidFill>
                  <a:srgbClr val="1C1C1C"/>
                </a:solidFill>
                <a:latin typeface="Arial" pitchFamily="34" charset="0"/>
                <a:ea typeface="Arial" pitchFamily="34" charset="-122"/>
                <a:cs typeface="Arial" pitchFamily="34" charset="-120"/>
              </a:rPr>
              <a:t>1.  Build a list (Python) or vector (R) and pull out an element by position.</a:t>
            </a:r>
            <a:pPr indent="0" marL="0">
              <a:lnSpc>
                <a:spcPct val="125000"/>
              </a:lnSpc>
              <a:buNone/>
            </a:pPr>
            <a:endParaRPr lang="en-US" sz="1600" dirty="0"/>
          </a:p>
          <a:p>
            <a:pPr indent="0" marL="0">
              <a:lnSpc>
                <a:spcPct val="125000"/>
              </a:lnSpc>
              <a:buNone/>
            </a:pPr>
            <a:r>
              <a:rPr lang="en-US" sz="1600" b="1" dirty="0">
                <a:solidFill>
                  <a:srgbClr val="1C1C1C"/>
                </a:solidFill>
                <a:latin typeface="Arial" pitchFamily="34" charset="0"/>
                <a:ea typeface="Arial" pitchFamily="34" charset="-122"/>
                <a:cs typeface="Arial" pitchFamily="34" charset="-120"/>
              </a:rPr>
              <a:t>2.  Explain why Python starts at 0 and R starts at 1 — and what breaks when you forget.</a:t>
            </a:r>
            <a:pPr indent="0" marL="0">
              <a:lnSpc>
                <a:spcPct val="125000"/>
              </a:lnSpc>
              <a:buNone/>
            </a:pPr>
            <a:endParaRPr lang="en-US" sz="1600" dirty="0"/>
          </a:p>
          <a:p>
            <a:pPr indent="0" marL="0">
              <a:lnSpc>
                <a:spcPct val="125000"/>
              </a:lnSpc>
              <a:buNone/>
            </a:pPr>
            <a:r>
              <a:rPr lang="en-US" sz="1600" b="1" dirty="0">
                <a:solidFill>
                  <a:srgbClr val="1C1C1C"/>
                </a:solidFill>
                <a:latin typeface="Arial" pitchFamily="34" charset="0"/>
                <a:ea typeface="Arial" pitchFamily="34" charset="-122"/>
                <a:cs typeface="Arial" pitchFamily="34" charset="-120"/>
              </a:rPr>
              <a:t>3.  Predict what a slice returns before you run it.</a:t>
            </a:r>
            <a:pPr indent="0" marL="0">
              <a:lnSpc>
                <a:spcPct val="125000"/>
              </a:lnSpc>
              <a:buNone/>
            </a:pPr>
            <a:endParaRPr lang="en-US" sz="1600" dirty="0"/>
          </a:p>
        </p:txBody>
      </p:sp>
      <p:sp>
        <p:nvSpPr>
          <p:cNvPr id="7" name="Text 4"/>
          <p:cNvSpPr/>
          <p:nvPr/>
        </p:nvSpPr>
        <p:spPr>
          <a:xfrm>
            <a:off x="640080" y="2743200"/>
            <a:ext cx="6309360" cy="1554480"/>
          </a:xfrm>
          <a:prstGeom prst="rect">
            <a:avLst/>
          </a:prstGeom>
          <a:noFill/>
          <a:ln/>
        </p:spPr>
        <p:txBody>
          <a:bodyPr wrap="square" rtlCol="0" anchor="ctr"/>
          <a:lstStyle/>
          <a:p>
            <a:pPr indent="0" marL="0">
              <a:lnSpc>
                <a:spcPct val="125000"/>
              </a:lnSpc>
              <a:buNone/>
            </a:pPr>
            <a:r>
              <a:rPr lang="en-US" sz="1600" dirty="0">
                <a:solidFill>
                  <a:srgbClr val="1C1C1C"/>
                </a:solidFill>
                <a:latin typeface="Arial" pitchFamily="34" charset="0"/>
                <a:ea typeface="Arial" pitchFamily="34" charset="-122"/>
                <a:cs typeface="Arial" pitchFamily="34" charset="-120"/>
              </a:rPr>
              <a:t>4.  Use a boolean mask to keep only the values you want.</a:t>
            </a:r>
            <a:pPr indent="0" marL="0">
              <a:lnSpc>
                <a:spcPct val="125000"/>
              </a:lnSpc>
              <a:buNone/>
            </a:pPr>
            <a:pPr indent="0" marL="0">
              <a:lnSpc>
                <a:spcPct val="125000"/>
              </a:lnSpc>
              <a:buNone/>
            </a:pPr>
            <a:endParaRPr lang="en-US" sz="1600" dirty="0"/>
          </a:p>
          <a:p>
            <a:pPr indent="0" marL="0">
              <a:lnSpc>
                <a:spcPct val="125000"/>
              </a:lnSpc>
              <a:buNone/>
            </a:pPr>
            <a:r>
              <a:rPr lang="en-US" sz="1600" dirty="0">
                <a:solidFill>
                  <a:srgbClr val="1C1C1C"/>
                </a:solidFill>
                <a:latin typeface="Arial" pitchFamily="34" charset="0"/>
                <a:ea typeface="Arial" pitchFamily="34" charset="-122"/>
                <a:cs typeface="Arial" pitchFamily="34" charset="-120"/>
              </a:rPr>
              <a:t>5.  Build a dictionary or named list, and know when to reach for one.</a:t>
            </a:r>
            <a:pPr indent="0" marL="0">
              <a:lnSpc>
                <a:spcPct val="125000"/>
              </a:lnSpc>
              <a:buNone/>
            </a:pPr>
            <a:pPr indent="0" marL="0">
              <a:lnSpc>
                <a:spcPct val="125000"/>
              </a:lnSpc>
              <a:buNone/>
            </a:pPr>
            <a:endParaRPr lang="en-US" sz="1600" dirty="0"/>
          </a:p>
        </p:txBody>
      </p:sp>
      <p:sp>
        <p:nvSpPr>
          <p:cNvPr id="8" name="Shape 5"/>
          <p:cNvSpPr/>
          <p:nvPr/>
        </p:nvSpPr>
        <p:spPr>
          <a:xfrm>
            <a:off x="640080" y="4663440"/>
            <a:ext cx="6309360" cy="1005840"/>
          </a:xfrm>
          <a:prstGeom prst="roundRect">
            <a:avLst>
              <a:gd name="adj" fmla="val 7273"/>
            </a:avLst>
          </a:prstGeom>
          <a:solidFill>
            <a:srgbClr val="F5F3EF"/>
          </a:solidFill>
          <a:ln w="12700">
            <a:solidFill>
              <a:srgbClr val="E3E3E3"/>
            </a:solidFill>
            <a:prstDash val="solid"/>
          </a:ln>
        </p:spPr>
      </p:sp>
      <p:sp>
        <p:nvSpPr>
          <p:cNvPr id="9" name="Text 6"/>
          <p:cNvSpPr/>
          <p:nvPr/>
        </p:nvSpPr>
        <p:spPr>
          <a:xfrm>
            <a:off x="868680" y="4663440"/>
            <a:ext cx="5852160" cy="1005840"/>
          </a:xfrm>
          <a:prstGeom prst="rect">
            <a:avLst/>
          </a:prstGeom>
          <a:noFill/>
          <a:ln/>
        </p:spPr>
        <p:txBody>
          <a:bodyPr wrap="square" rtlCol="0" anchor="ctr"/>
          <a:lstStyle/>
          <a:p>
            <a:pPr indent="0" marL="0">
              <a:buNone/>
            </a:pPr>
            <a:r>
              <a:rPr lang="en-US" sz="1300" b="1" dirty="0">
                <a:solidFill>
                  <a:srgbClr val="1C1C1C"/>
                </a:solidFill>
                <a:latin typeface="Arial" pitchFamily="34" charset="0"/>
                <a:ea typeface="Arial" pitchFamily="34" charset="-122"/>
                <a:cs typeface="Arial" pitchFamily="34" charset="-120"/>
              </a:rPr>
              <a:t>Objective 2 is the one on the final quiz. Objective 4 is the one you will use every week for the rest of the course.</a:t>
            </a:r>
            <a:pPr indent="0" marL="0">
              <a:buNone/>
            </a:pPr>
            <a:endParaRPr lang="en-US" sz="1300" dirty="0"/>
          </a:p>
        </p:txBody>
      </p:sp>
      <p:sp>
        <p:nvSpPr>
          <p:cNvPr id="10" name="Shape 7"/>
          <p:cNvSpPr/>
          <p:nvPr/>
        </p:nvSpPr>
        <p:spPr>
          <a:xfrm>
            <a:off x="7223760" y="1783080"/>
            <a:ext cx="4297680" cy="3886200"/>
          </a:xfrm>
          <a:prstGeom prst="roundRect">
            <a:avLst>
              <a:gd name="adj" fmla="val 2353"/>
            </a:avLst>
          </a:prstGeom>
          <a:solidFill>
            <a:srgbClr val="1C1C1C"/>
          </a:solidFill>
          <a:ln/>
        </p:spPr>
      </p:sp>
      <p:sp>
        <p:nvSpPr>
          <p:cNvPr id="11" name="Text 8"/>
          <p:cNvSpPr/>
          <p:nvPr/>
        </p:nvSpPr>
        <p:spPr>
          <a:xfrm>
            <a:off x="7589520" y="2103120"/>
            <a:ext cx="3566160" cy="320040"/>
          </a:xfrm>
          <a:prstGeom prst="rect">
            <a:avLst/>
          </a:prstGeom>
          <a:noFill/>
          <a:ln/>
        </p:spPr>
        <p:txBody>
          <a:bodyPr wrap="square" rtlCol="0" anchor="ctr"/>
          <a:lstStyle/>
          <a:p>
            <a:pPr indent="0" marL="0">
              <a:buNone/>
            </a:pPr>
            <a:r>
              <a:rPr lang="en-US" sz="1100" b="1" spc="200" kern="0" dirty="0">
                <a:solidFill>
                  <a:srgbClr val="ECB748"/>
                </a:solidFill>
                <a:latin typeface="Arial" pitchFamily="34" charset="0"/>
                <a:ea typeface="Arial" pitchFamily="34" charset="-122"/>
                <a:cs typeface="Arial" pitchFamily="34" charset="-120"/>
              </a:rPr>
              <a:t>THE METHOD, ALL WEEK</a:t>
            </a:r>
            <a:endParaRPr lang="en-US" sz="1100" dirty="0"/>
          </a:p>
        </p:txBody>
      </p:sp>
      <p:sp>
        <p:nvSpPr>
          <p:cNvPr id="12" name="Text 9"/>
          <p:cNvSpPr/>
          <p:nvPr/>
        </p:nvSpPr>
        <p:spPr>
          <a:xfrm>
            <a:off x="7589520" y="2606040"/>
            <a:ext cx="3566160" cy="1097280"/>
          </a:xfrm>
          <a:prstGeom prst="rect">
            <a:avLst/>
          </a:prstGeom>
          <a:noFill/>
          <a:ln/>
        </p:spPr>
        <p:txBody>
          <a:bodyPr wrap="square" rtlCol="0" anchor="ctr"/>
          <a:lstStyle/>
          <a:p>
            <a:pPr indent="0" marL="0">
              <a:buNone/>
            </a:pPr>
            <a:r>
              <a:rPr lang="en-US" sz="2000" b="1" dirty="0">
                <a:solidFill>
                  <a:srgbClr val="B3C9CD"/>
                </a:solidFill>
                <a:latin typeface="Courier New" pitchFamily="34" charset="0"/>
                <a:ea typeface="Courier New" pitchFamily="34" charset="-122"/>
                <a:cs typeface="Courier New" pitchFamily="34" charset="-120"/>
              </a:rPr>
              <a:t>Predict, then run.</a:t>
            </a:r>
            <a:pPr indent="0" marL="0">
              <a:buNone/>
            </a:pPr>
            <a:endParaRPr lang="en-US" sz="2000" dirty="0"/>
          </a:p>
        </p:txBody>
      </p:sp>
      <p:sp>
        <p:nvSpPr>
          <p:cNvPr id="13" name="Shape 10"/>
          <p:cNvSpPr/>
          <p:nvPr/>
        </p:nvSpPr>
        <p:spPr>
          <a:xfrm>
            <a:off x="7589520" y="3931920"/>
            <a:ext cx="3566160" cy="0"/>
          </a:xfrm>
          <a:prstGeom prst="line">
            <a:avLst/>
          </a:prstGeom>
          <a:noFill/>
          <a:ln w="12700">
            <a:solidFill>
              <a:srgbClr val="444444"/>
            </a:solidFill>
            <a:prstDash val="solid"/>
          </a:ln>
        </p:spPr>
      </p:sp>
      <p:sp>
        <p:nvSpPr>
          <p:cNvPr id="14" name="Text 11"/>
          <p:cNvSpPr/>
          <p:nvPr/>
        </p:nvSpPr>
        <p:spPr>
          <a:xfrm>
            <a:off x="7589520" y="4160520"/>
            <a:ext cx="3566160" cy="1280160"/>
          </a:xfrm>
          <a:prstGeom prst="rect">
            <a:avLst/>
          </a:prstGeom>
          <a:noFill/>
          <a:ln/>
        </p:spPr>
        <p:txBody>
          <a:bodyPr wrap="square" rtlCol="0" anchor="ctr"/>
          <a:lstStyle/>
          <a:p>
            <a:pPr indent="0" marL="0">
              <a:lnSpc>
                <a:spcPct val="130000"/>
              </a:lnSpc>
              <a:buNone/>
            </a:pPr>
            <a:r>
              <a:rPr lang="en-US" sz="1350" dirty="0">
                <a:solidFill>
                  <a:srgbClr val="F5F3EF"/>
                </a:solidFill>
                <a:latin typeface="Arial" pitchFamily="34" charset="0"/>
                <a:ea typeface="Arial" pitchFamily="34" charset="-122"/>
                <a:cs typeface="Arial" pitchFamily="34" charset="-120"/>
              </a:rPr>
              <a:t>This is the week Python and R genuinely disagree. Every problem today asks you to commit to an answer before the computer gives you one — because a prediction you got wrong is the only kind you remember.</a:t>
            </a:r>
            <a:pPr indent="0" marL="0">
              <a:lnSpc>
                <a:spcPct val="130000"/>
              </a:lnSpc>
              <a:buNone/>
            </a:pPr>
            <a:pPr indent="0" marL="0">
              <a:lnSpc>
                <a:spcPct val="130000"/>
              </a:lnSpc>
              <a:buNone/>
            </a:pPr>
            <a:pPr indent="0" marL="0">
              <a:lnSpc>
                <a:spcPct val="130000"/>
              </a:lnSpc>
              <a:buNone/>
            </a:pPr>
            <a:pPr indent="0" marL="0">
              <a:lnSpc>
                <a:spcPct val="130000"/>
              </a:lnSpc>
              <a:buNone/>
            </a:pPr>
            <a:endParaRPr lang="en-US" sz="1350" dirty="0"/>
          </a:p>
        </p:txBody>
      </p:sp>
      <p:sp>
        <p:nvSpPr>
          <p:cNvPr id="15" name="Text 12"/>
          <p:cNvSpPr/>
          <p:nvPr/>
        </p:nvSpPr>
        <p:spPr>
          <a:xfrm>
            <a:off x="11368735" y="6492240"/>
            <a:ext cx="457200" cy="274320"/>
          </a:xfrm>
          <a:prstGeom prst="rect">
            <a:avLst/>
          </a:prstGeom>
          <a:noFill/>
          <a:ln/>
        </p:spPr>
        <p:txBody>
          <a:bodyPr wrap="square" rtlCol="0" anchor="ctr"/>
          <a:lstStyle/>
          <a:p>
            <a:pPr algn="r" indent="0" marL="0">
              <a:buNone/>
            </a:pPr>
            <a:r>
              <a:rPr lang="en-US" sz="900" dirty="0">
                <a:solidFill>
                  <a:srgbClr val="9B9B9B"/>
                </a:solidFill>
                <a:latin typeface="Arial" pitchFamily="34" charset="0"/>
                <a:ea typeface="Arial" pitchFamily="34" charset="-122"/>
                <a:cs typeface="Arial" pitchFamily="34" charset="-120"/>
              </a:rPr>
              <a:t>3</a:t>
            </a:r>
            <a:endParaRPr lang="en-US" sz="9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pic>
        <p:nvPicPr>
          <p:cNvPr id="2" name="Image 0" descr="/private/tmp/claude-503/-Users-boryczjd-claude-vanderbilt-database-assistant--claude-worktrees-publishing-citation-data-uses-8ba05f/250e4720-0954-4187-8930-09caab2cbef2/scratchpad/slides_build/vu_mark_gold.png">    </p:cNvPr>
          <p:cNvPicPr>
            <a:picLocks noChangeAspect="1"/>
          </p:cNvPicPr>
          <p:nvPr/>
        </p:nvPicPr>
        <p:blipFill>
          <a:blip r:embed="rId1"/>
          <a:stretch>
            <a:fillRect/>
          </a:stretch>
        </p:blipFill>
        <p:spPr>
          <a:xfrm>
            <a:off x="11231575" y="365760"/>
            <a:ext cx="457200" cy="327660"/>
          </a:xfrm>
          <a:prstGeom prst="rect">
            <a:avLst/>
          </a:prstGeom>
        </p:spPr>
      </p:pic>
      <p:sp>
        <p:nvSpPr>
          <p:cNvPr id="3" name="Shape 0"/>
          <p:cNvSpPr/>
          <p:nvPr/>
        </p:nvSpPr>
        <p:spPr>
          <a:xfrm>
            <a:off x="640080" y="457200"/>
            <a:ext cx="1870862" cy="292608"/>
          </a:xfrm>
          <a:prstGeom prst="roundRect">
            <a:avLst>
              <a:gd name="adj" fmla="val 50000"/>
            </a:avLst>
          </a:prstGeom>
          <a:solidFill>
            <a:srgbClr val="ECB748"/>
          </a:solidFill>
          <a:ln/>
        </p:spPr>
      </p:sp>
      <p:sp>
        <p:nvSpPr>
          <p:cNvPr id="4" name="Text 1"/>
          <p:cNvSpPr/>
          <p:nvPr/>
        </p:nvSpPr>
        <p:spPr>
          <a:xfrm>
            <a:off x="640080" y="457200"/>
            <a:ext cx="1870862" cy="292608"/>
          </a:xfrm>
          <a:prstGeom prst="rect">
            <a:avLst/>
          </a:prstGeom>
          <a:noFill/>
          <a:ln/>
        </p:spPr>
        <p:txBody>
          <a:bodyPr wrap="square" rtlCol="0" anchor="ctr"/>
          <a:lstStyle/>
          <a:p>
            <a:pPr algn="ctr" indent="0" marL="0">
              <a:buNone/>
            </a:pPr>
            <a:r>
              <a:rPr lang="en-US" sz="1100" b="1" spc="100" kern="0" dirty="0">
                <a:solidFill>
                  <a:srgbClr val="1C1C1C"/>
                </a:solidFill>
                <a:latin typeface="Arial" pitchFamily="34" charset="0"/>
                <a:ea typeface="Arial" pitchFamily="34" charset="-122"/>
                <a:cs typeface="Arial" pitchFamily="34" charset="-120"/>
              </a:rPr>
              <a:t>4–10 MIN  ·  SEGMENT 2</a:t>
            </a:r>
            <a:endParaRPr lang="en-US" sz="1100" dirty="0"/>
          </a:p>
        </p:txBody>
      </p:sp>
      <p:sp>
        <p:nvSpPr>
          <p:cNvPr id="5" name="Text 2"/>
          <p:cNvSpPr/>
          <p:nvPr/>
        </p:nvSpPr>
        <p:spPr>
          <a:xfrm>
            <a:off x="640080" y="822960"/>
            <a:ext cx="9144000" cy="594360"/>
          </a:xfrm>
          <a:prstGeom prst="rect">
            <a:avLst/>
          </a:prstGeom>
          <a:noFill/>
          <a:ln/>
        </p:spPr>
        <p:txBody>
          <a:bodyPr wrap="square" rtlCol="0" anchor="ctr"/>
          <a:lstStyle/>
          <a:p>
            <a:pPr indent="0" marL="0">
              <a:buNone/>
            </a:pPr>
            <a:r>
              <a:rPr lang="en-US" sz="3000" b="1" dirty="0">
                <a:solidFill>
                  <a:srgbClr val="1C1C1C"/>
                </a:solidFill>
                <a:latin typeface="Arial" pitchFamily="34" charset="0"/>
                <a:ea typeface="Arial" pitchFamily="34" charset="-122"/>
                <a:cs typeface="Arial" pitchFamily="34" charset="-120"/>
              </a:rPr>
              <a:t>Lists and Vectors</a:t>
            </a:r>
            <a:endParaRPr lang="en-US" sz="3000" dirty="0"/>
          </a:p>
        </p:txBody>
      </p:sp>
      <p:sp>
        <p:nvSpPr>
          <p:cNvPr id="6" name="Shape 3"/>
          <p:cNvSpPr/>
          <p:nvPr/>
        </p:nvSpPr>
        <p:spPr>
          <a:xfrm>
            <a:off x="640080" y="1600200"/>
            <a:ext cx="5257800" cy="1737360"/>
          </a:xfrm>
          <a:prstGeom prst="roundRect">
            <a:avLst>
              <a:gd name="adj" fmla="val 5263"/>
            </a:avLst>
          </a:prstGeom>
          <a:solidFill>
            <a:srgbClr val="2E2E2E"/>
          </a:solidFill>
          <a:ln w="12700">
            <a:solidFill>
              <a:srgbClr val="444444"/>
            </a:solidFill>
            <a:prstDash val="solid"/>
          </a:ln>
        </p:spPr>
      </p:sp>
      <p:sp>
        <p:nvSpPr>
          <p:cNvPr id="7" name="Shape 4"/>
          <p:cNvSpPr/>
          <p:nvPr/>
        </p:nvSpPr>
        <p:spPr>
          <a:xfrm>
            <a:off x="868680" y="1801368"/>
            <a:ext cx="146304" cy="146304"/>
          </a:xfrm>
          <a:prstGeom prst="ellipse">
            <a:avLst/>
          </a:prstGeom>
          <a:solidFill>
            <a:srgbClr val="D64550"/>
          </a:solidFill>
          <a:ln/>
        </p:spPr>
      </p:sp>
      <p:sp>
        <p:nvSpPr>
          <p:cNvPr id="8" name="Shape 5"/>
          <p:cNvSpPr/>
          <p:nvPr/>
        </p:nvSpPr>
        <p:spPr>
          <a:xfrm>
            <a:off x="1124712" y="1801368"/>
            <a:ext cx="146304" cy="146304"/>
          </a:xfrm>
          <a:prstGeom prst="ellipse">
            <a:avLst/>
          </a:prstGeom>
          <a:solidFill>
            <a:srgbClr val="ECB748"/>
          </a:solidFill>
          <a:ln/>
        </p:spPr>
      </p:sp>
      <p:sp>
        <p:nvSpPr>
          <p:cNvPr id="9" name="Shape 6"/>
          <p:cNvSpPr/>
          <p:nvPr/>
        </p:nvSpPr>
        <p:spPr>
          <a:xfrm>
            <a:off x="1380744" y="1801368"/>
            <a:ext cx="146304" cy="146304"/>
          </a:xfrm>
          <a:prstGeom prst="ellipse">
            <a:avLst/>
          </a:prstGeom>
          <a:solidFill>
            <a:srgbClr val="6B6B6B"/>
          </a:solidFill>
          <a:ln/>
        </p:spPr>
      </p:sp>
      <p:sp>
        <p:nvSpPr>
          <p:cNvPr id="10" name="Text 7"/>
          <p:cNvSpPr/>
          <p:nvPr/>
        </p:nvSpPr>
        <p:spPr>
          <a:xfrm>
            <a:off x="1783080" y="1746504"/>
            <a:ext cx="3977640" cy="256032"/>
          </a:xfrm>
          <a:prstGeom prst="rect">
            <a:avLst/>
          </a:prstGeom>
          <a:noFill/>
          <a:ln/>
        </p:spPr>
        <p:txBody>
          <a:bodyPr wrap="square" rtlCol="0" anchor="ctr"/>
          <a:lstStyle/>
          <a:p>
            <a:pPr indent="0" marL="0">
              <a:buNone/>
            </a:pPr>
            <a:r>
              <a:rPr lang="en-US" sz="1050" dirty="0">
                <a:solidFill>
                  <a:srgbClr val="9B9690"/>
                </a:solidFill>
                <a:latin typeface="Courier New" pitchFamily="34" charset="0"/>
                <a:ea typeface="Courier New" pitchFamily="34" charset="-122"/>
                <a:cs typeface="Courier New" pitchFamily="34" charset="-120"/>
              </a:rPr>
              <a:t>cohort.py</a:t>
            </a:r>
            <a:endParaRPr lang="en-US" sz="1050" dirty="0"/>
          </a:p>
        </p:txBody>
      </p:sp>
      <p:sp>
        <p:nvSpPr>
          <p:cNvPr id="11" name="Shape 8"/>
          <p:cNvSpPr/>
          <p:nvPr/>
        </p:nvSpPr>
        <p:spPr>
          <a:xfrm>
            <a:off x="685800" y="2103120"/>
            <a:ext cx="5166360" cy="0"/>
          </a:xfrm>
          <a:prstGeom prst="line">
            <a:avLst/>
          </a:prstGeom>
          <a:noFill/>
          <a:ln w="12700">
            <a:solidFill>
              <a:srgbClr val="444444"/>
            </a:solidFill>
            <a:prstDash val="solid"/>
          </a:ln>
        </p:spPr>
      </p:sp>
      <p:sp>
        <p:nvSpPr>
          <p:cNvPr id="12" name="Text 9"/>
          <p:cNvSpPr/>
          <p:nvPr/>
        </p:nvSpPr>
        <p:spPr>
          <a:xfrm>
            <a:off x="914400" y="2240280"/>
            <a:ext cx="4709160" cy="329184"/>
          </a:xfrm>
          <a:prstGeom prst="rect">
            <a:avLst/>
          </a:prstGeom>
          <a:noFill/>
          <a:ln/>
        </p:spPr>
        <p:txBody>
          <a:bodyPr wrap="square" rtlCol="0" anchor="ctr"/>
          <a:lstStyle/>
          <a:p>
            <a:pPr indent="0" marL="0">
              <a:buNone/>
            </a:pPr>
            <a:r>
              <a:rPr lang="en-US" sz="1300" dirty="0">
                <a:solidFill>
                  <a:srgbClr val="F5F3EF"/>
                </a:solidFill>
                <a:latin typeface="Courier New" pitchFamily="34" charset="0"/>
                <a:ea typeface="Courier New" pitchFamily="34" charset="-122"/>
                <a:cs typeface="Courier New" pitchFamily="34" charset="-120"/>
              </a:rPr>
              <a:t>bp_systolic</a:t>
            </a:r>
            <a:pPr indent="0" marL="0">
              <a:buNone/>
            </a:pPr>
            <a:r>
              <a:rPr lang="en-US" sz="1300" dirty="0">
                <a:solidFill>
                  <a:srgbClr val="FFFFFF"/>
                </a:solidFill>
                <a:latin typeface="Courier New" pitchFamily="34" charset="0"/>
                <a:ea typeface="Courier New" pitchFamily="34" charset="-122"/>
                <a:cs typeface="Courier New" pitchFamily="34" charset="-120"/>
              </a:rPr>
              <a:t> = [</a:t>
            </a:r>
            <a:pPr indent="0" marL="0">
              <a:buNone/>
            </a:pPr>
            <a:r>
              <a:rPr lang="en-US" sz="1300" dirty="0">
                <a:solidFill>
                  <a:srgbClr val="ECB748"/>
                </a:solidFill>
                <a:latin typeface="Courier New" pitchFamily="34" charset="0"/>
                <a:ea typeface="Courier New" pitchFamily="34" charset="-122"/>
                <a:cs typeface="Courier New" pitchFamily="34" charset="-120"/>
              </a:rPr>
              <a:t>117, 122, 141, 130, 118</a:t>
            </a:r>
            <a:pPr indent="0" marL="0">
              <a:buNone/>
            </a:pPr>
            <a:r>
              <a:rPr lang="en-US" sz="1300" dirty="0">
                <a:solidFill>
                  <a:srgbClr val="FFFFFF"/>
                </a:solidFill>
                <a:latin typeface="Courier New" pitchFamily="34" charset="0"/>
                <a:ea typeface="Courier New" pitchFamily="34" charset="-122"/>
                <a:cs typeface="Courier New" pitchFamily="34" charset="-120"/>
              </a:rPr>
              <a:t>]</a:t>
            </a:r>
            <a:endParaRPr lang="en-US" sz="1300" dirty="0"/>
          </a:p>
        </p:txBody>
      </p:sp>
      <p:sp>
        <p:nvSpPr>
          <p:cNvPr id="13" name="Text 10"/>
          <p:cNvSpPr/>
          <p:nvPr/>
        </p:nvSpPr>
        <p:spPr>
          <a:xfrm>
            <a:off x="914400" y="2569464"/>
            <a:ext cx="4709160" cy="329184"/>
          </a:xfrm>
          <a:prstGeom prst="rect">
            <a:avLst/>
          </a:prstGeom>
          <a:noFill/>
          <a:ln/>
        </p:spPr>
        <p:txBody>
          <a:bodyPr wrap="square" rtlCol="0" anchor="ctr"/>
          <a:lstStyle/>
          <a:p>
            <a:pPr indent="0" marL="0">
              <a:buNone/>
            </a:pPr>
            <a:r>
              <a:rPr lang="en-US" sz="1300" dirty="0">
                <a:solidFill>
                  <a:srgbClr val="F5F3EF"/>
                </a:solidFill>
                <a:latin typeface="Courier New" pitchFamily="34" charset="0"/>
                <a:ea typeface="Courier New" pitchFamily="34" charset="-122"/>
                <a:cs typeface="Courier New" pitchFamily="34" charset="-120"/>
              </a:rPr>
              <a:t>patient_ids</a:t>
            </a:r>
            <a:pPr indent="0" marL="0">
              <a:buNone/>
            </a:pPr>
            <a:r>
              <a:rPr lang="en-US" sz="1300" dirty="0">
                <a:solidFill>
                  <a:srgbClr val="FFFFFF"/>
                </a:solidFill>
                <a:latin typeface="Courier New" pitchFamily="34" charset="0"/>
                <a:ea typeface="Courier New" pitchFamily="34" charset="-122"/>
                <a:cs typeface="Courier New" pitchFamily="34" charset="-120"/>
              </a:rPr>
              <a:t> = ["P001", "P002", "P003"]</a:t>
            </a:r>
            <a:endParaRPr lang="en-US" sz="1300" dirty="0"/>
          </a:p>
        </p:txBody>
      </p:sp>
      <p:sp>
        <p:nvSpPr>
          <p:cNvPr id="14" name="Text 11"/>
          <p:cNvSpPr/>
          <p:nvPr/>
        </p:nvSpPr>
        <p:spPr>
          <a:xfrm>
            <a:off x="914400" y="2898648"/>
            <a:ext cx="4709160" cy="329184"/>
          </a:xfrm>
          <a:prstGeom prst="rect">
            <a:avLst/>
          </a:prstGeom>
          <a:noFill/>
          <a:ln/>
        </p:spPr>
        <p:txBody>
          <a:bodyPr wrap="square" rtlCol="0" anchor="ctr"/>
          <a:lstStyle/>
          <a:p>
            <a:pPr indent="0" marL="0">
              <a:buNone/>
            </a:pPr>
            <a:r>
              <a:rPr lang="en-US" sz="1300" dirty="0">
                <a:solidFill>
                  <a:srgbClr val="ECB748"/>
                </a:solidFill>
                <a:latin typeface="Courier New" pitchFamily="34" charset="0"/>
                <a:ea typeface="Courier New" pitchFamily="34" charset="-122"/>
                <a:cs typeface="Courier New" pitchFamily="34" charset="-120"/>
              </a:rPr>
              <a:t>len</a:t>
            </a:r>
            <a:pPr indent="0" marL="0">
              <a:buNone/>
            </a:pPr>
            <a:r>
              <a:rPr lang="en-US" sz="1300" dirty="0">
                <a:solidFill>
                  <a:srgbClr val="FFFFFF"/>
                </a:solidFill>
                <a:latin typeface="Courier New" pitchFamily="34" charset="0"/>
                <a:ea typeface="Courier New" pitchFamily="34" charset="-122"/>
                <a:cs typeface="Courier New" pitchFamily="34" charset="-120"/>
              </a:rPr>
              <a:t>(bp_systolic)   </a:t>
            </a:r>
            <a:pPr indent="0" marL="0">
              <a:buNone/>
            </a:pPr>
            <a:r>
              <a:rPr lang="en-US" sz="1300" dirty="0">
                <a:solidFill>
                  <a:srgbClr val="8A8A82"/>
                </a:solidFill>
                <a:latin typeface="Courier New" pitchFamily="34" charset="0"/>
                <a:ea typeface="Courier New" pitchFamily="34" charset="-122"/>
                <a:cs typeface="Courier New" pitchFamily="34" charset="-120"/>
              </a:rPr>
              <a:t># 5</a:t>
            </a:r>
            <a:endParaRPr lang="en-US" sz="1300" dirty="0"/>
          </a:p>
        </p:txBody>
      </p:sp>
      <p:sp>
        <p:nvSpPr>
          <p:cNvPr id="15" name="Shape 12"/>
          <p:cNvSpPr/>
          <p:nvPr/>
        </p:nvSpPr>
        <p:spPr>
          <a:xfrm>
            <a:off x="6263640" y="1600200"/>
            <a:ext cx="5257800" cy="1737360"/>
          </a:xfrm>
          <a:prstGeom prst="roundRect">
            <a:avLst>
              <a:gd name="adj" fmla="val 5263"/>
            </a:avLst>
          </a:prstGeom>
          <a:solidFill>
            <a:srgbClr val="2E2E2E"/>
          </a:solidFill>
          <a:ln w="12700">
            <a:solidFill>
              <a:srgbClr val="444444"/>
            </a:solidFill>
            <a:prstDash val="solid"/>
          </a:ln>
        </p:spPr>
      </p:sp>
      <p:sp>
        <p:nvSpPr>
          <p:cNvPr id="16" name="Shape 13"/>
          <p:cNvSpPr/>
          <p:nvPr/>
        </p:nvSpPr>
        <p:spPr>
          <a:xfrm>
            <a:off x="6492240" y="1801368"/>
            <a:ext cx="146304" cy="146304"/>
          </a:xfrm>
          <a:prstGeom prst="ellipse">
            <a:avLst/>
          </a:prstGeom>
          <a:solidFill>
            <a:srgbClr val="D64550"/>
          </a:solidFill>
          <a:ln/>
        </p:spPr>
      </p:sp>
      <p:sp>
        <p:nvSpPr>
          <p:cNvPr id="17" name="Shape 14"/>
          <p:cNvSpPr/>
          <p:nvPr/>
        </p:nvSpPr>
        <p:spPr>
          <a:xfrm>
            <a:off x="6748272" y="1801368"/>
            <a:ext cx="146304" cy="146304"/>
          </a:xfrm>
          <a:prstGeom prst="ellipse">
            <a:avLst/>
          </a:prstGeom>
          <a:solidFill>
            <a:srgbClr val="ECB748"/>
          </a:solidFill>
          <a:ln/>
        </p:spPr>
      </p:sp>
      <p:sp>
        <p:nvSpPr>
          <p:cNvPr id="18" name="Shape 15"/>
          <p:cNvSpPr/>
          <p:nvPr/>
        </p:nvSpPr>
        <p:spPr>
          <a:xfrm>
            <a:off x="7004304" y="1801368"/>
            <a:ext cx="146304" cy="146304"/>
          </a:xfrm>
          <a:prstGeom prst="ellipse">
            <a:avLst/>
          </a:prstGeom>
          <a:solidFill>
            <a:srgbClr val="6B6B6B"/>
          </a:solidFill>
          <a:ln/>
        </p:spPr>
      </p:sp>
      <p:sp>
        <p:nvSpPr>
          <p:cNvPr id="19" name="Text 16"/>
          <p:cNvSpPr/>
          <p:nvPr/>
        </p:nvSpPr>
        <p:spPr>
          <a:xfrm>
            <a:off x="7406640" y="1746504"/>
            <a:ext cx="3977640" cy="256032"/>
          </a:xfrm>
          <a:prstGeom prst="rect">
            <a:avLst/>
          </a:prstGeom>
          <a:noFill/>
          <a:ln/>
        </p:spPr>
        <p:txBody>
          <a:bodyPr wrap="square" rtlCol="0" anchor="ctr"/>
          <a:lstStyle/>
          <a:p>
            <a:pPr indent="0" marL="0">
              <a:buNone/>
            </a:pPr>
            <a:r>
              <a:rPr lang="en-US" sz="1050" dirty="0">
                <a:solidFill>
                  <a:srgbClr val="9B9690"/>
                </a:solidFill>
                <a:latin typeface="Courier New" pitchFamily="34" charset="0"/>
                <a:ea typeface="Courier New" pitchFamily="34" charset="-122"/>
                <a:cs typeface="Courier New" pitchFamily="34" charset="-120"/>
              </a:rPr>
              <a:t>cohort.R</a:t>
            </a:r>
            <a:endParaRPr lang="en-US" sz="1050" dirty="0"/>
          </a:p>
        </p:txBody>
      </p:sp>
      <p:sp>
        <p:nvSpPr>
          <p:cNvPr id="20" name="Shape 17"/>
          <p:cNvSpPr/>
          <p:nvPr/>
        </p:nvSpPr>
        <p:spPr>
          <a:xfrm>
            <a:off x="6309360" y="2103120"/>
            <a:ext cx="5166360" cy="0"/>
          </a:xfrm>
          <a:prstGeom prst="line">
            <a:avLst/>
          </a:prstGeom>
          <a:noFill/>
          <a:ln w="12700">
            <a:solidFill>
              <a:srgbClr val="444444"/>
            </a:solidFill>
            <a:prstDash val="solid"/>
          </a:ln>
        </p:spPr>
      </p:sp>
      <p:sp>
        <p:nvSpPr>
          <p:cNvPr id="21" name="Text 18"/>
          <p:cNvSpPr/>
          <p:nvPr/>
        </p:nvSpPr>
        <p:spPr>
          <a:xfrm>
            <a:off x="6537960" y="2240280"/>
            <a:ext cx="4709160" cy="329184"/>
          </a:xfrm>
          <a:prstGeom prst="rect">
            <a:avLst/>
          </a:prstGeom>
          <a:noFill/>
          <a:ln/>
        </p:spPr>
        <p:txBody>
          <a:bodyPr wrap="square" rtlCol="0" anchor="ctr"/>
          <a:lstStyle/>
          <a:p>
            <a:pPr indent="0" marL="0">
              <a:buNone/>
            </a:pPr>
            <a:r>
              <a:rPr lang="en-US" sz="1300" dirty="0">
                <a:solidFill>
                  <a:srgbClr val="F5F3EF"/>
                </a:solidFill>
                <a:latin typeface="Courier New" pitchFamily="34" charset="0"/>
                <a:ea typeface="Courier New" pitchFamily="34" charset="-122"/>
                <a:cs typeface="Courier New" pitchFamily="34" charset="-120"/>
              </a:rPr>
              <a:t>bp_systolic</a:t>
            </a:r>
            <a:pPr indent="0" marL="0">
              <a:buNone/>
            </a:pPr>
            <a:r>
              <a:rPr lang="en-US" sz="1300" dirty="0">
                <a:solidFill>
                  <a:srgbClr val="FFFFFF"/>
                </a:solidFill>
                <a:latin typeface="Courier New" pitchFamily="34" charset="0"/>
                <a:ea typeface="Courier New" pitchFamily="34" charset="-122"/>
                <a:cs typeface="Courier New" pitchFamily="34" charset="-120"/>
              </a:rPr>
              <a:t> &lt;- c(</a:t>
            </a:r>
            <a:pPr indent="0" marL="0">
              <a:buNone/>
            </a:pPr>
            <a:r>
              <a:rPr lang="en-US" sz="1300" dirty="0">
                <a:solidFill>
                  <a:srgbClr val="B3C9CD"/>
                </a:solidFill>
                <a:latin typeface="Courier New" pitchFamily="34" charset="0"/>
                <a:ea typeface="Courier New" pitchFamily="34" charset="-122"/>
                <a:cs typeface="Courier New" pitchFamily="34" charset="-120"/>
              </a:rPr>
              <a:t>117, 122, 141, 130, 118</a:t>
            </a:r>
            <a:pPr indent="0" marL="0">
              <a:buNone/>
            </a:pPr>
            <a:r>
              <a:rPr lang="en-US" sz="1300" dirty="0">
                <a:solidFill>
                  <a:srgbClr val="FFFFFF"/>
                </a:solidFill>
                <a:latin typeface="Courier New" pitchFamily="34" charset="0"/>
                <a:ea typeface="Courier New" pitchFamily="34" charset="-122"/>
                <a:cs typeface="Courier New" pitchFamily="34" charset="-120"/>
              </a:rPr>
              <a:t>)</a:t>
            </a:r>
            <a:endParaRPr lang="en-US" sz="1300" dirty="0"/>
          </a:p>
        </p:txBody>
      </p:sp>
      <p:sp>
        <p:nvSpPr>
          <p:cNvPr id="22" name="Text 19"/>
          <p:cNvSpPr/>
          <p:nvPr/>
        </p:nvSpPr>
        <p:spPr>
          <a:xfrm>
            <a:off x="6537960" y="2569464"/>
            <a:ext cx="4709160" cy="329184"/>
          </a:xfrm>
          <a:prstGeom prst="rect">
            <a:avLst/>
          </a:prstGeom>
          <a:noFill/>
          <a:ln/>
        </p:spPr>
        <p:txBody>
          <a:bodyPr wrap="square" rtlCol="0" anchor="ctr"/>
          <a:lstStyle/>
          <a:p>
            <a:pPr indent="0" marL="0">
              <a:buNone/>
            </a:pPr>
            <a:r>
              <a:rPr lang="en-US" sz="1300" dirty="0">
                <a:solidFill>
                  <a:srgbClr val="F5F3EF"/>
                </a:solidFill>
                <a:latin typeface="Courier New" pitchFamily="34" charset="0"/>
                <a:ea typeface="Courier New" pitchFamily="34" charset="-122"/>
                <a:cs typeface="Courier New" pitchFamily="34" charset="-120"/>
              </a:rPr>
              <a:t>patient_ids</a:t>
            </a:r>
            <a:pPr indent="0" marL="0">
              <a:buNone/>
            </a:pPr>
            <a:r>
              <a:rPr lang="en-US" sz="1300" dirty="0">
                <a:solidFill>
                  <a:srgbClr val="FFFFFF"/>
                </a:solidFill>
                <a:latin typeface="Courier New" pitchFamily="34" charset="0"/>
                <a:ea typeface="Courier New" pitchFamily="34" charset="-122"/>
                <a:cs typeface="Courier New" pitchFamily="34" charset="-120"/>
              </a:rPr>
              <a:t> &lt;- c("P001", "P002", "P003")</a:t>
            </a:r>
            <a:endParaRPr lang="en-US" sz="1300" dirty="0"/>
          </a:p>
        </p:txBody>
      </p:sp>
      <p:sp>
        <p:nvSpPr>
          <p:cNvPr id="23" name="Text 20"/>
          <p:cNvSpPr/>
          <p:nvPr/>
        </p:nvSpPr>
        <p:spPr>
          <a:xfrm>
            <a:off x="6537960" y="2898648"/>
            <a:ext cx="4709160" cy="329184"/>
          </a:xfrm>
          <a:prstGeom prst="rect">
            <a:avLst/>
          </a:prstGeom>
          <a:noFill/>
          <a:ln/>
        </p:spPr>
        <p:txBody>
          <a:bodyPr wrap="square" rtlCol="0" anchor="ctr"/>
          <a:lstStyle/>
          <a:p>
            <a:pPr indent="0" marL="0">
              <a:buNone/>
            </a:pPr>
            <a:r>
              <a:rPr lang="en-US" sz="1300" dirty="0">
                <a:solidFill>
                  <a:srgbClr val="B3C9CD"/>
                </a:solidFill>
                <a:latin typeface="Courier New" pitchFamily="34" charset="0"/>
                <a:ea typeface="Courier New" pitchFamily="34" charset="-122"/>
                <a:cs typeface="Courier New" pitchFamily="34" charset="-120"/>
              </a:rPr>
              <a:t>length</a:t>
            </a:r>
            <a:pPr indent="0" marL="0">
              <a:buNone/>
            </a:pPr>
            <a:r>
              <a:rPr lang="en-US" sz="1300" dirty="0">
                <a:solidFill>
                  <a:srgbClr val="FFFFFF"/>
                </a:solidFill>
                <a:latin typeface="Courier New" pitchFamily="34" charset="0"/>
                <a:ea typeface="Courier New" pitchFamily="34" charset="-122"/>
                <a:cs typeface="Courier New" pitchFamily="34" charset="-120"/>
              </a:rPr>
              <a:t>(bp_systolic)  </a:t>
            </a:r>
            <a:pPr indent="0" marL="0">
              <a:buNone/>
            </a:pPr>
            <a:r>
              <a:rPr lang="en-US" sz="1300" dirty="0">
                <a:solidFill>
                  <a:srgbClr val="8A8A82"/>
                </a:solidFill>
                <a:latin typeface="Courier New" pitchFamily="34" charset="0"/>
                <a:ea typeface="Courier New" pitchFamily="34" charset="-122"/>
                <a:cs typeface="Courier New" pitchFamily="34" charset="-120"/>
              </a:rPr>
              <a:t># 5</a:t>
            </a:r>
            <a:endParaRPr lang="en-US" sz="1300" dirty="0"/>
          </a:p>
        </p:txBody>
      </p:sp>
      <p:sp>
        <p:nvSpPr>
          <p:cNvPr id="24" name="Text 21"/>
          <p:cNvSpPr/>
          <p:nvPr/>
        </p:nvSpPr>
        <p:spPr>
          <a:xfrm>
            <a:off x="640080" y="3566160"/>
            <a:ext cx="10881360" cy="411480"/>
          </a:xfrm>
          <a:prstGeom prst="rect">
            <a:avLst/>
          </a:prstGeom>
          <a:noFill/>
          <a:ln/>
        </p:spPr>
        <p:txBody>
          <a:bodyPr wrap="square" rtlCol="0" anchor="ctr"/>
          <a:lstStyle/>
          <a:p>
            <a:pPr indent="0" marL="0">
              <a:buNone/>
            </a:pPr>
            <a:r>
              <a:rPr lang="en-US" sz="1400" b="1" dirty="0">
                <a:solidFill>
                  <a:srgbClr val="1C1C1C"/>
                </a:solidFill>
                <a:latin typeface="Arial" pitchFamily="34" charset="0"/>
                <a:ea typeface="Arial" pitchFamily="34" charset="-122"/>
                <a:cs typeface="Arial" pitchFamily="34" charset="-120"/>
              </a:rPr>
              <a:t>1. Both are ordered.  Position is meaningful and stable. That is what makes a column a column.</a:t>
            </a:r>
            <a:pPr indent="0" marL="0">
              <a:buNone/>
            </a:pPr>
            <a:endParaRPr lang="en-US" sz="1400" dirty="0"/>
          </a:p>
        </p:txBody>
      </p:sp>
      <p:sp>
        <p:nvSpPr>
          <p:cNvPr id="25" name="Text 22"/>
          <p:cNvSpPr/>
          <p:nvPr/>
        </p:nvSpPr>
        <p:spPr>
          <a:xfrm>
            <a:off x="640080" y="4023360"/>
            <a:ext cx="10881360" cy="411480"/>
          </a:xfrm>
          <a:prstGeom prst="rect">
            <a:avLst/>
          </a:prstGeom>
          <a:noFill/>
          <a:ln/>
        </p:spPr>
        <p:txBody>
          <a:bodyPr wrap="square" rtlCol="0" anchor="ctr"/>
          <a:lstStyle/>
          <a:p>
            <a:pPr indent="0" marL="0">
              <a:buNone/>
            </a:pPr>
            <a:r>
              <a:rPr lang="en-US" sz="1400" b="1" dirty="0">
                <a:solidFill>
                  <a:srgbClr val="1C1C1C"/>
                </a:solidFill>
                <a:latin typeface="Arial" pitchFamily="34" charset="0"/>
                <a:ea typeface="Arial" pitchFamily="34" charset="-122"/>
                <a:cs typeface="Arial" pitchFamily="34" charset="-120"/>
              </a:rPr>
              <a:t>2. c() means combine.  You will type it ten thousand times this semester.</a:t>
            </a:r>
            <a:pPr indent="0" marL="0">
              <a:buNone/>
            </a:pPr>
            <a:endParaRPr lang="en-US" sz="1400" dirty="0"/>
          </a:p>
        </p:txBody>
      </p:sp>
      <p:sp>
        <p:nvSpPr>
          <p:cNvPr id="26" name="Shape 23"/>
          <p:cNvSpPr/>
          <p:nvPr/>
        </p:nvSpPr>
        <p:spPr>
          <a:xfrm>
            <a:off x="640080" y="4572000"/>
            <a:ext cx="10881360" cy="1600200"/>
          </a:xfrm>
          <a:prstGeom prst="roundRect">
            <a:avLst>
              <a:gd name="adj" fmla="val 5714"/>
            </a:avLst>
          </a:prstGeom>
          <a:solidFill>
            <a:srgbClr val="EAF0F1"/>
          </a:solidFill>
          <a:ln w="19050">
            <a:solidFill>
              <a:srgbClr val="B3C9CD"/>
            </a:solidFill>
            <a:prstDash val="solid"/>
          </a:ln>
        </p:spPr>
      </p:sp>
      <p:sp>
        <p:nvSpPr>
          <p:cNvPr id="27" name="Text 24"/>
          <p:cNvSpPr/>
          <p:nvPr/>
        </p:nvSpPr>
        <p:spPr>
          <a:xfrm>
            <a:off x="960120" y="4754880"/>
            <a:ext cx="10241280" cy="274320"/>
          </a:xfrm>
          <a:prstGeom prst="rect">
            <a:avLst/>
          </a:prstGeom>
          <a:noFill/>
          <a:ln/>
        </p:spPr>
        <p:txBody>
          <a:bodyPr wrap="square" rtlCol="0" anchor="ctr"/>
          <a:lstStyle/>
          <a:p>
            <a:pPr indent="0" marL="0">
              <a:buNone/>
            </a:pPr>
            <a:r>
              <a:rPr lang="en-US" sz="1100" b="1" spc="100" kern="0" dirty="0">
                <a:solidFill>
                  <a:srgbClr val="595959"/>
                </a:solidFill>
                <a:latin typeface="Arial" pitchFamily="34" charset="0"/>
                <a:ea typeface="Arial" pitchFamily="34" charset="-122"/>
                <a:cs typeface="Arial" pitchFamily="34" charset="-120"/>
              </a:rPr>
              <a:t>THEY GROW DIFFERENTLY</a:t>
            </a:r>
            <a:endParaRPr lang="en-US" sz="1100" dirty="0"/>
          </a:p>
        </p:txBody>
      </p:sp>
      <p:sp>
        <p:nvSpPr>
          <p:cNvPr id="28" name="Text 25"/>
          <p:cNvSpPr/>
          <p:nvPr/>
        </p:nvSpPr>
        <p:spPr>
          <a:xfrm>
            <a:off x="960120" y="5074920"/>
            <a:ext cx="10241280" cy="457200"/>
          </a:xfrm>
          <a:prstGeom prst="rect">
            <a:avLst/>
          </a:prstGeom>
          <a:noFill/>
          <a:ln/>
        </p:spPr>
        <p:txBody>
          <a:bodyPr wrap="square" rtlCol="0" anchor="ctr"/>
          <a:lstStyle/>
          <a:p>
            <a:pPr indent="0" marL="0">
              <a:buNone/>
            </a:pPr>
            <a:r>
              <a:rPr lang="en-US" sz="1500" b="1" dirty="0">
                <a:solidFill>
                  <a:srgbClr val="1C1C1C"/>
                </a:solidFill>
                <a:latin typeface="Courier New" pitchFamily="34" charset="0"/>
                <a:ea typeface="Courier New" pitchFamily="34" charset="-122"/>
                <a:cs typeface="Courier New" pitchFamily="34" charset="-120"/>
              </a:rPr>
              <a:t>bp.append(125)   grows the list in place        bp &lt;- c(bp, 125)   rebuilds the vector</a:t>
            </a:r>
            <a:pPr indent="0" marL="0">
              <a:buNone/>
            </a:pPr>
            <a:pPr indent="0" marL="0">
              <a:buNone/>
            </a:pPr>
            <a:pPr indent="0" marL="0">
              <a:buNone/>
            </a:pPr>
            <a:pPr indent="0" marL="0">
              <a:buNone/>
            </a:pPr>
            <a:endParaRPr lang="en-US" sz="1500" dirty="0"/>
          </a:p>
        </p:txBody>
      </p:sp>
      <p:sp>
        <p:nvSpPr>
          <p:cNvPr id="29" name="Text 26"/>
          <p:cNvSpPr/>
          <p:nvPr/>
        </p:nvSpPr>
        <p:spPr>
          <a:xfrm>
            <a:off x="960120" y="5577840"/>
            <a:ext cx="10241280" cy="502920"/>
          </a:xfrm>
          <a:prstGeom prst="rect">
            <a:avLst/>
          </a:prstGeom>
          <a:noFill/>
          <a:ln/>
        </p:spPr>
        <p:txBody>
          <a:bodyPr wrap="square" rtlCol="0" anchor="ctr"/>
          <a:lstStyle/>
          <a:p>
            <a:pPr indent="0" marL="0">
              <a:buNone/>
            </a:pPr>
            <a:r>
              <a:rPr lang="en-US" sz="1250" i="1" dirty="0">
                <a:solidFill>
                  <a:srgbClr val="1C1C1C"/>
                </a:solidFill>
                <a:latin typeface="Arial" pitchFamily="34" charset="0"/>
                <a:ea typeface="Arial" pitchFamily="34" charset="-122"/>
                <a:cs typeface="Arial" pitchFamily="34" charset="-120"/>
              </a:rPr>
              <a:t>Do not belabour this, but it explains why so much R code looks the way it does.</a:t>
            </a:r>
            <a:endParaRPr lang="en-US" sz="1250" dirty="0"/>
          </a:p>
        </p:txBody>
      </p:sp>
      <p:sp>
        <p:nvSpPr>
          <p:cNvPr id="30" name="Text 27"/>
          <p:cNvSpPr/>
          <p:nvPr/>
        </p:nvSpPr>
        <p:spPr>
          <a:xfrm>
            <a:off x="11368735" y="6492240"/>
            <a:ext cx="457200" cy="274320"/>
          </a:xfrm>
          <a:prstGeom prst="rect">
            <a:avLst/>
          </a:prstGeom>
          <a:noFill/>
          <a:ln/>
        </p:spPr>
        <p:txBody>
          <a:bodyPr wrap="square" rtlCol="0" anchor="ctr"/>
          <a:lstStyle/>
          <a:p>
            <a:pPr algn="r" indent="0" marL="0">
              <a:buNone/>
            </a:pPr>
            <a:r>
              <a:rPr lang="en-US" sz="900" dirty="0">
                <a:solidFill>
                  <a:srgbClr val="9B9B9B"/>
                </a:solidFill>
                <a:latin typeface="Arial" pitchFamily="34" charset="0"/>
                <a:ea typeface="Arial" pitchFamily="34" charset="-122"/>
                <a:cs typeface="Arial" pitchFamily="34" charset="-120"/>
              </a:rPr>
              <a:t>4</a:t>
            </a:r>
            <a:endParaRPr lang="en-US" sz="900" dirty="0"/>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Image 0" descr="/private/tmp/claude-503/-Users-boryczjd-claude-vanderbilt-database-assistant--claude-worktrees-publishing-citation-data-uses-8ba05f/250e4720-0954-4187-8930-09caab2cbef2/scratchpad/slides_build/vu_mark_gold.png">    </p:cNvPr>
          <p:cNvPicPr>
            <a:picLocks noChangeAspect="1"/>
          </p:cNvPicPr>
          <p:nvPr/>
        </p:nvPicPr>
        <p:blipFill>
          <a:blip r:embed="rId2"/>
          <a:stretch>
            <a:fillRect/>
          </a:stretch>
        </p:blipFill>
        <p:spPr>
          <a:xfrm>
            <a:off x="11231575" y="365760"/>
            <a:ext cx="457200" cy="327660"/>
          </a:xfrm>
          <a:prstGeom prst="rect">
            <a:avLst/>
          </a:prstGeom>
        </p:spPr>
      </p:pic>
      <p:sp>
        <p:nvSpPr>
          <p:cNvPr id="3" name="Shape 0"/>
          <p:cNvSpPr/>
          <p:nvPr/>
        </p:nvSpPr>
        <p:spPr>
          <a:xfrm>
            <a:off x="640080" y="457200"/>
            <a:ext cx="1870862" cy="292608"/>
          </a:xfrm>
          <a:prstGeom prst="roundRect">
            <a:avLst>
              <a:gd name="adj" fmla="val 50000"/>
            </a:avLst>
          </a:prstGeom>
          <a:solidFill>
            <a:srgbClr val="ECB748"/>
          </a:solidFill>
          <a:ln/>
        </p:spPr>
      </p:sp>
      <p:sp>
        <p:nvSpPr>
          <p:cNvPr id="4" name="Text 1"/>
          <p:cNvSpPr/>
          <p:nvPr/>
        </p:nvSpPr>
        <p:spPr>
          <a:xfrm>
            <a:off x="640080" y="457200"/>
            <a:ext cx="1870862" cy="292608"/>
          </a:xfrm>
          <a:prstGeom prst="rect">
            <a:avLst/>
          </a:prstGeom>
          <a:noFill/>
          <a:ln/>
        </p:spPr>
        <p:txBody>
          <a:bodyPr wrap="square" rtlCol="0" anchor="ctr"/>
          <a:lstStyle/>
          <a:p>
            <a:pPr algn="ctr" indent="0" marL="0">
              <a:buNone/>
            </a:pPr>
            <a:r>
              <a:rPr lang="en-US" sz="1100" b="1" spc="100" kern="0" dirty="0">
                <a:solidFill>
                  <a:srgbClr val="1C1C1C"/>
                </a:solidFill>
                <a:latin typeface="Arial" pitchFamily="34" charset="0"/>
                <a:ea typeface="Arial" pitchFamily="34" charset="-122"/>
                <a:cs typeface="Arial" pitchFamily="34" charset="-120"/>
              </a:rPr>
              <a:t>10–14 MIN  ·  COERCION</a:t>
            </a:r>
            <a:endParaRPr lang="en-US" sz="1100" dirty="0"/>
          </a:p>
        </p:txBody>
      </p:sp>
      <p:sp>
        <p:nvSpPr>
          <p:cNvPr id="5" name="Text 2"/>
          <p:cNvSpPr/>
          <p:nvPr/>
        </p:nvSpPr>
        <p:spPr>
          <a:xfrm>
            <a:off x="640080" y="822960"/>
            <a:ext cx="9144000" cy="594360"/>
          </a:xfrm>
          <a:prstGeom prst="rect">
            <a:avLst/>
          </a:prstGeom>
          <a:noFill/>
          <a:ln/>
        </p:spPr>
        <p:txBody>
          <a:bodyPr wrap="square" rtlCol="0" anchor="ctr"/>
          <a:lstStyle/>
          <a:p>
            <a:pPr indent="0" marL="0">
              <a:buNone/>
            </a:pPr>
            <a:r>
              <a:rPr lang="en-US" sz="3000" b="1" dirty="0">
                <a:solidFill>
                  <a:srgbClr val="1C1C1C"/>
                </a:solidFill>
                <a:latin typeface="Arial" pitchFamily="34" charset="0"/>
                <a:ea typeface="Arial" pitchFamily="34" charset="-122"/>
                <a:cs typeface="Arial" pitchFamily="34" charset="-120"/>
              </a:rPr>
              <a:t>R vectors are homogeneous — and silent about it</a:t>
            </a:r>
            <a:endParaRPr lang="en-US" sz="3000" dirty="0"/>
          </a:p>
        </p:txBody>
      </p:sp>
      <p:sp>
        <p:nvSpPr>
          <p:cNvPr id="6" name="Shape 3"/>
          <p:cNvSpPr/>
          <p:nvPr/>
        </p:nvSpPr>
        <p:spPr>
          <a:xfrm>
            <a:off x="640080" y="1600200"/>
            <a:ext cx="5257800" cy="1737360"/>
          </a:xfrm>
          <a:prstGeom prst="roundRect">
            <a:avLst>
              <a:gd name="adj" fmla="val 5263"/>
            </a:avLst>
          </a:prstGeom>
          <a:solidFill>
            <a:srgbClr val="2E2E2E"/>
          </a:solidFill>
          <a:ln w="12700">
            <a:solidFill>
              <a:srgbClr val="444444"/>
            </a:solidFill>
            <a:prstDash val="solid"/>
          </a:ln>
        </p:spPr>
      </p:sp>
      <p:sp>
        <p:nvSpPr>
          <p:cNvPr id="7" name="Shape 4"/>
          <p:cNvSpPr/>
          <p:nvPr/>
        </p:nvSpPr>
        <p:spPr>
          <a:xfrm>
            <a:off x="868680" y="1801368"/>
            <a:ext cx="146304" cy="146304"/>
          </a:xfrm>
          <a:prstGeom prst="ellipse">
            <a:avLst/>
          </a:prstGeom>
          <a:solidFill>
            <a:srgbClr val="D64550"/>
          </a:solidFill>
          <a:ln/>
        </p:spPr>
      </p:sp>
      <p:sp>
        <p:nvSpPr>
          <p:cNvPr id="8" name="Shape 5"/>
          <p:cNvSpPr/>
          <p:nvPr/>
        </p:nvSpPr>
        <p:spPr>
          <a:xfrm>
            <a:off x="1124712" y="1801368"/>
            <a:ext cx="146304" cy="146304"/>
          </a:xfrm>
          <a:prstGeom prst="ellipse">
            <a:avLst/>
          </a:prstGeom>
          <a:solidFill>
            <a:srgbClr val="ECB748"/>
          </a:solidFill>
          <a:ln/>
        </p:spPr>
      </p:sp>
      <p:sp>
        <p:nvSpPr>
          <p:cNvPr id="9" name="Shape 6"/>
          <p:cNvSpPr/>
          <p:nvPr/>
        </p:nvSpPr>
        <p:spPr>
          <a:xfrm>
            <a:off x="1380744" y="1801368"/>
            <a:ext cx="146304" cy="146304"/>
          </a:xfrm>
          <a:prstGeom prst="ellipse">
            <a:avLst/>
          </a:prstGeom>
          <a:solidFill>
            <a:srgbClr val="6B6B6B"/>
          </a:solidFill>
          <a:ln/>
        </p:spPr>
      </p:sp>
      <p:sp>
        <p:nvSpPr>
          <p:cNvPr id="10" name="Text 7"/>
          <p:cNvSpPr/>
          <p:nvPr/>
        </p:nvSpPr>
        <p:spPr>
          <a:xfrm>
            <a:off x="1783080" y="1746504"/>
            <a:ext cx="3977640" cy="256032"/>
          </a:xfrm>
          <a:prstGeom prst="rect">
            <a:avLst/>
          </a:prstGeom>
          <a:noFill/>
          <a:ln/>
        </p:spPr>
        <p:txBody>
          <a:bodyPr wrap="square" rtlCol="0" anchor="ctr"/>
          <a:lstStyle/>
          <a:p>
            <a:pPr indent="0" marL="0">
              <a:buNone/>
            </a:pPr>
            <a:r>
              <a:rPr lang="en-US" sz="1050" dirty="0">
                <a:solidFill>
                  <a:srgbClr val="9B9690"/>
                </a:solidFill>
                <a:latin typeface="Courier New" pitchFamily="34" charset="0"/>
                <a:ea typeface="Courier New" pitchFamily="34" charset="-122"/>
                <a:cs typeface="Courier New" pitchFamily="34" charset="-120"/>
              </a:rPr>
              <a:t>coerce.R</a:t>
            </a:r>
            <a:endParaRPr lang="en-US" sz="1050" dirty="0"/>
          </a:p>
        </p:txBody>
      </p:sp>
      <p:sp>
        <p:nvSpPr>
          <p:cNvPr id="11" name="Shape 8"/>
          <p:cNvSpPr/>
          <p:nvPr/>
        </p:nvSpPr>
        <p:spPr>
          <a:xfrm>
            <a:off x="685800" y="2103120"/>
            <a:ext cx="5166360" cy="0"/>
          </a:xfrm>
          <a:prstGeom prst="line">
            <a:avLst/>
          </a:prstGeom>
          <a:noFill/>
          <a:ln w="12700">
            <a:solidFill>
              <a:srgbClr val="444444"/>
            </a:solidFill>
            <a:prstDash val="solid"/>
          </a:ln>
        </p:spPr>
      </p:sp>
      <p:sp>
        <p:nvSpPr>
          <p:cNvPr id="12" name="Text 9"/>
          <p:cNvSpPr/>
          <p:nvPr/>
        </p:nvSpPr>
        <p:spPr>
          <a:xfrm>
            <a:off x="914400" y="2240280"/>
            <a:ext cx="4709160" cy="329184"/>
          </a:xfrm>
          <a:prstGeom prst="rect">
            <a:avLst/>
          </a:prstGeom>
          <a:noFill/>
          <a:ln/>
        </p:spPr>
        <p:txBody>
          <a:bodyPr wrap="square" rtlCol="0" anchor="ctr"/>
          <a:lstStyle/>
          <a:p>
            <a:pPr indent="0" marL="0">
              <a:buNone/>
            </a:pPr>
            <a:r>
              <a:rPr lang="en-US" sz="1300" dirty="0">
                <a:solidFill>
                  <a:srgbClr val="F5F3EF"/>
                </a:solidFill>
                <a:latin typeface="Courier New" pitchFamily="34" charset="0"/>
                <a:ea typeface="Courier New" pitchFamily="34" charset="-122"/>
                <a:cs typeface="Courier New" pitchFamily="34" charset="-120"/>
              </a:rPr>
              <a:t>c(1, 2, "three")</a:t>
            </a:r>
            <a:pPr indent="0" marL="0">
              <a:buNone/>
            </a:pPr>
            <a:pPr indent="0" marL="0">
              <a:buNone/>
            </a:pPr>
            <a:pPr indent="0" marL="0">
              <a:buNone/>
            </a:pPr>
            <a:endParaRPr lang="en-US" sz="1300" dirty="0"/>
          </a:p>
        </p:txBody>
      </p:sp>
      <p:sp>
        <p:nvSpPr>
          <p:cNvPr id="13" name="Text 10"/>
          <p:cNvSpPr/>
          <p:nvPr/>
        </p:nvSpPr>
        <p:spPr>
          <a:xfrm>
            <a:off x="914400" y="2569464"/>
            <a:ext cx="4709160" cy="329184"/>
          </a:xfrm>
          <a:prstGeom prst="rect">
            <a:avLst/>
          </a:prstGeom>
          <a:noFill/>
          <a:ln/>
        </p:spPr>
        <p:txBody>
          <a:bodyPr wrap="square" rtlCol="0" anchor="ctr"/>
          <a:lstStyle/>
          <a:p>
            <a:pPr indent="0" marL="0">
              <a:buNone/>
            </a:pPr>
            <a:r>
              <a:rPr lang="en-US" sz="1300" dirty="0">
                <a:solidFill>
                  <a:srgbClr val="F5F3EF"/>
                </a:solidFill>
                <a:latin typeface="Courier New" pitchFamily="34" charset="0"/>
                <a:ea typeface="Courier New" pitchFamily="34" charset="-122"/>
                <a:cs typeface="Courier New" pitchFamily="34" charset="-120"/>
              </a:rPr>
              <a:t># "1"  "2"  "three"</a:t>
            </a:r>
            <a:pPr indent="0" marL="0">
              <a:buNone/>
            </a:pPr>
            <a:endParaRPr lang="en-US" sz="1300" dirty="0"/>
          </a:p>
        </p:txBody>
      </p:sp>
      <p:sp>
        <p:nvSpPr>
          <p:cNvPr id="14" name="Text 11"/>
          <p:cNvSpPr/>
          <p:nvPr/>
        </p:nvSpPr>
        <p:spPr>
          <a:xfrm>
            <a:off x="914400" y="2898648"/>
            <a:ext cx="4709160" cy="329184"/>
          </a:xfrm>
          <a:prstGeom prst="rect">
            <a:avLst/>
          </a:prstGeom>
          <a:noFill/>
          <a:ln/>
        </p:spPr>
        <p:txBody>
          <a:bodyPr wrap="square" rtlCol="0" anchor="ctr"/>
          <a:lstStyle/>
          <a:p>
            <a:pPr indent="0" marL="0">
              <a:buNone/>
            </a:pPr>
            <a:r>
              <a:rPr lang="en-US" sz="1300" dirty="0">
                <a:solidFill>
                  <a:srgbClr val="ECB748"/>
                </a:solidFill>
                <a:latin typeface="Courier New" pitchFamily="34" charset="0"/>
                <a:ea typeface="Courier New" pitchFamily="34" charset="-122"/>
                <a:cs typeface="Courier New" pitchFamily="34" charset="-120"/>
              </a:rPr>
              <a:t># everything became text. No warning.</a:t>
            </a:r>
            <a:pPr indent="0" marL="0">
              <a:buNone/>
            </a:pPr>
            <a:pPr indent="0" marL="0">
              <a:buNone/>
            </a:pPr>
            <a:endParaRPr lang="en-US" sz="1300" dirty="0"/>
          </a:p>
        </p:txBody>
      </p:sp>
      <p:sp>
        <p:nvSpPr>
          <p:cNvPr id="15" name="Shape 12"/>
          <p:cNvSpPr/>
          <p:nvPr/>
        </p:nvSpPr>
        <p:spPr>
          <a:xfrm>
            <a:off x="6263640" y="1600200"/>
            <a:ext cx="5257800" cy="1737360"/>
          </a:xfrm>
          <a:prstGeom prst="roundRect">
            <a:avLst>
              <a:gd name="adj" fmla="val 5263"/>
            </a:avLst>
          </a:prstGeom>
          <a:solidFill>
            <a:srgbClr val="2E2E2E"/>
          </a:solidFill>
          <a:ln w="12700">
            <a:solidFill>
              <a:srgbClr val="444444"/>
            </a:solidFill>
            <a:prstDash val="solid"/>
          </a:ln>
        </p:spPr>
      </p:sp>
      <p:sp>
        <p:nvSpPr>
          <p:cNvPr id="16" name="Shape 13"/>
          <p:cNvSpPr/>
          <p:nvPr/>
        </p:nvSpPr>
        <p:spPr>
          <a:xfrm>
            <a:off x="6492240" y="1801368"/>
            <a:ext cx="146304" cy="146304"/>
          </a:xfrm>
          <a:prstGeom prst="ellipse">
            <a:avLst/>
          </a:prstGeom>
          <a:solidFill>
            <a:srgbClr val="D64550"/>
          </a:solidFill>
          <a:ln/>
        </p:spPr>
      </p:sp>
      <p:sp>
        <p:nvSpPr>
          <p:cNvPr id="17" name="Shape 14"/>
          <p:cNvSpPr/>
          <p:nvPr/>
        </p:nvSpPr>
        <p:spPr>
          <a:xfrm>
            <a:off x="6748272" y="1801368"/>
            <a:ext cx="146304" cy="146304"/>
          </a:xfrm>
          <a:prstGeom prst="ellipse">
            <a:avLst/>
          </a:prstGeom>
          <a:solidFill>
            <a:srgbClr val="ECB748"/>
          </a:solidFill>
          <a:ln/>
        </p:spPr>
      </p:sp>
      <p:sp>
        <p:nvSpPr>
          <p:cNvPr id="18" name="Shape 15"/>
          <p:cNvSpPr/>
          <p:nvPr/>
        </p:nvSpPr>
        <p:spPr>
          <a:xfrm>
            <a:off x="7004304" y="1801368"/>
            <a:ext cx="146304" cy="146304"/>
          </a:xfrm>
          <a:prstGeom prst="ellipse">
            <a:avLst/>
          </a:prstGeom>
          <a:solidFill>
            <a:srgbClr val="6B6B6B"/>
          </a:solidFill>
          <a:ln/>
        </p:spPr>
      </p:sp>
      <p:sp>
        <p:nvSpPr>
          <p:cNvPr id="19" name="Text 16"/>
          <p:cNvSpPr/>
          <p:nvPr/>
        </p:nvSpPr>
        <p:spPr>
          <a:xfrm>
            <a:off x="7406640" y="1746504"/>
            <a:ext cx="3977640" cy="256032"/>
          </a:xfrm>
          <a:prstGeom prst="rect">
            <a:avLst/>
          </a:prstGeom>
          <a:noFill/>
          <a:ln/>
        </p:spPr>
        <p:txBody>
          <a:bodyPr wrap="square" rtlCol="0" anchor="ctr"/>
          <a:lstStyle/>
          <a:p>
            <a:pPr indent="0" marL="0">
              <a:buNone/>
            </a:pPr>
            <a:r>
              <a:rPr lang="en-US" sz="1050" dirty="0">
                <a:solidFill>
                  <a:srgbClr val="9B9690"/>
                </a:solidFill>
                <a:latin typeface="Courier New" pitchFamily="34" charset="0"/>
                <a:ea typeface="Courier New" pitchFamily="34" charset="-122"/>
                <a:cs typeface="Courier New" pitchFamily="34" charset="-120"/>
              </a:rPr>
              <a:t>mixed.py</a:t>
            </a:r>
            <a:endParaRPr lang="en-US" sz="1050" dirty="0"/>
          </a:p>
        </p:txBody>
      </p:sp>
      <p:sp>
        <p:nvSpPr>
          <p:cNvPr id="20" name="Shape 17"/>
          <p:cNvSpPr/>
          <p:nvPr/>
        </p:nvSpPr>
        <p:spPr>
          <a:xfrm>
            <a:off x="6309360" y="2103120"/>
            <a:ext cx="5166360" cy="0"/>
          </a:xfrm>
          <a:prstGeom prst="line">
            <a:avLst/>
          </a:prstGeom>
          <a:noFill/>
          <a:ln w="12700">
            <a:solidFill>
              <a:srgbClr val="444444"/>
            </a:solidFill>
            <a:prstDash val="solid"/>
          </a:ln>
        </p:spPr>
      </p:sp>
      <p:sp>
        <p:nvSpPr>
          <p:cNvPr id="21" name="Text 18"/>
          <p:cNvSpPr/>
          <p:nvPr/>
        </p:nvSpPr>
        <p:spPr>
          <a:xfrm>
            <a:off x="6537960" y="2240280"/>
            <a:ext cx="4709160" cy="329184"/>
          </a:xfrm>
          <a:prstGeom prst="rect">
            <a:avLst/>
          </a:prstGeom>
          <a:noFill/>
          <a:ln/>
        </p:spPr>
        <p:txBody>
          <a:bodyPr wrap="square" rtlCol="0" anchor="ctr"/>
          <a:lstStyle/>
          <a:p>
            <a:pPr indent="0" marL="0">
              <a:buNone/>
            </a:pPr>
            <a:r>
              <a:rPr lang="en-US" sz="1300" dirty="0">
                <a:solidFill>
                  <a:srgbClr val="F5F3EF"/>
                </a:solidFill>
                <a:latin typeface="Courier New" pitchFamily="34" charset="0"/>
                <a:ea typeface="Courier New" pitchFamily="34" charset="-122"/>
                <a:cs typeface="Courier New" pitchFamily="34" charset="-120"/>
              </a:rPr>
              <a:t>[117, "high", True]</a:t>
            </a:r>
            <a:pPr indent="0" marL="0">
              <a:buNone/>
            </a:pPr>
            <a:pPr indent="0" marL="0">
              <a:buNone/>
            </a:pPr>
            <a:pPr indent="0" marL="0">
              <a:buNone/>
            </a:pPr>
            <a:endParaRPr lang="en-US" sz="1300" dirty="0"/>
          </a:p>
        </p:txBody>
      </p:sp>
      <p:sp>
        <p:nvSpPr>
          <p:cNvPr id="22" name="Text 19"/>
          <p:cNvSpPr/>
          <p:nvPr/>
        </p:nvSpPr>
        <p:spPr>
          <a:xfrm>
            <a:off x="6537960" y="2569464"/>
            <a:ext cx="4709160" cy="329184"/>
          </a:xfrm>
          <a:prstGeom prst="rect">
            <a:avLst/>
          </a:prstGeom>
          <a:noFill/>
          <a:ln/>
        </p:spPr>
        <p:txBody>
          <a:bodyPr wrap="square" rtlCol="0" anchor="ctr"/>
          <a:lstStyle/>
          <a:p>
            <a:pPr indent="0" marL="0">
              <a:buNone/>
            </a:pPr>
            <a:r>
              <a:rPr lang="en-US" sz="1300" dirty="0">
                <a:solidFill>
                  <a:srgbClr val="F5F3EF"/>
                </a:solidFill>
                <a:latin typeface="Courier New" pitchFamily="34" charset="0"/>
                <a:ea typeface="Courier New" pitchFamily="34" charset="-122"/>
                <a:cs typeface="Courier New" pitchFamily="34" charset="-120"/>
              </a:rPr>
              <a:t># legal — Python keeps all three types</a:t>
            </a:r>
            <a:pPr indent="0" marL="0">
              <a:buNone/>
            </a:pPr>
            <a:endParaRPr lang="en-US" sz="1300" dirty="0"/>
          </a:p>
        </p:txBody>
      </p:sp>
      <p:sp>
        <p:nvSpPr>
          <p:cNvPr id="23" name="Text 20"/>
          <p:cNvSpPr/>
          <p:nvPr/>
        </p:nvSpPr>
        <p:spPr>
          <a:xfrm>
            <a:off x="6537960" y="2898648"/>
            <a:ext cx="4709160" cy="329184"/>
          </a:xfrm>
          <a:prstGeom prst="rect">
            <a:avLst/>
          </a:prstGeom>
          <a:noFill/>
          <a:ln/>
        </p:spPr>
        <p:txBody>
          <a:bodyPr wrap="square" rtlCol="0" anchor="ctr"/>
          <a:lstStyle/>
          <a:p>
            <a:pPr indent="0" marL="0">
              <a:buNone/>
            </a:pPr>
            <a:r>
              <a:rPr lang="en-US" sz="1300" dirty="0">
                <a:solidFill>
                  <a:srgbClr val="B3C9CD"/>
                </a:solidFill>
                <a:latin typeface="Courier New" pitchFamily="34" charset="0"/>
                <a:ea typeface="Courier New" pitchFamily="34" charset="-122"/>
                <a:cs typeface="Courier New" pitchFamily="34" charset="-120"/>
              </a:rPr>
              <a:t># but keep your lists homogeneous anyway</a:t>
            </a:r>
            <a:pPr indent="0" marL="0">
              <a:buNone/>
            </a:pPr>
            <a:pPr indent="0" marL="0">
              <a:buNone/>
            </a:pPr>
            <a:endParaRPr lang="en-US" sz="1300" dirty="0"/>
          </a:p>
        </p:txBody>
      </p:sp>
      <p:sp>
        <p:nvSpPr>
          <p:cNvPr id="24" name="Text 21"/>
          <p:cNvSpPr/>
          <p:nvPr/>
        </p:nvSpPr>
        <p:spPr>
          <a:xfrm>
            <a:off x="640080" y="3566160"/>
            <a:ext cx="10881360" cy="411480"/>
          </a:xfrm>
          <a:prstGeom prst="rect">
            <a:avLst/>
          </a:prstGeom>
          <a:noFill/>
          <a:ln/>
        </p:spPr>
        <p:txBody>
          <a:bodyPr wrap="square" rtlCol="0" anchor="ctr"/>
          <a:lstStyle/>
          <a:p>
            <a:pPr indent="0" marL="0">
              <a:buNone/>
            </a:pPr>
            <a:r>
              <a:rPr lang="en-US" sz="1400" b="1" dirty="0">
                <a:solidFill>
                  <a:srgbClr val="1C1C1C"/>
                </a:solidFill>
                <a:latin typeface="Arial" pitchFamily="34" charset="0"/>
                <a:ea typeface="Arial" pitchFamily="34" charset="-122"/>
                <a:cs typeface="Arial" pitchFamily="34" charset="-120"/>
              </a:rPr>
              <a:t>1. Contrast with last week.  Python refused to mix types and raised a TypeError. R silently converts.</a:t>
            </a:r>
            <a:pPr indent="0" marL="0">
              <a:buNone/>
            </a:pPr>
            <a:endParaRPr lang="en-US" sz="1400" dirty="0"/>
          </a:p>
        </p:txBody>
      </p:sp>
      <p:sp>
        <p:nvSpPr>
          <p:cNvPr id="25" name="Text 22"/>
          <p:cNvSpPr/>
          <p:nvPr/>
        </p:nvSpPr>
        <p:spPr>
          <a:xfrm>
            <a:off x="640080" y="4023360"/>
            <a:ext cx="10881360" cy="411480"/>
          </a:xfrm>
          <a:prstGeom prst="rect">
            <a:avLst/>
          </a:prstGeom>
          <a:noFill/>
          <a:ln/>
        </p:spPr>
        <p:txBody>
          <a:bodyPr wrap="square" rtlCol="0" anchor="ctr"/>
          <a:lstStyle/>
          <a:p>
            <a:pPr indent="0" marL="0">
              <a:buNone/>
            </a:pPr>
            <a:r>
              <a:rPr lang="en-US" sz="1400" b="1" dirty="0">
                <a:solidFill>
                  <a:srgbClr val="1C1C1C"/>
                </a:solidFill>
                <a:latin typeface="Arial" pitchFamily="34" charset="0"/>
                <a:ea typeface="Arial" pitchFamily="34" charset="-122"/>
                <a:cs typeface="Arial" pitchFamily="34" charset="-120"/>
              </a:rPr>
              <a:t>2. Loud failure beats quiet wrongness.  A crash tells you where to look. A silent conversion does not.</a:t>
            </a:r>
            <a:pPr indent="0" marL="0">
              <a:buNone/>
            </a:pPr>
            <a:endParaRPr lang="en-US" sz="1400" dirty="0"/>
          </a:p>
        </p:txBody>
      </p:sp>
      <p:sp>
        <p:nvSpPr>
          <p:cNvPr id="26" name="Shape 23"/>
          <p:cNvSpPr/>
          <p:nvPr/>
        </p:nvSpPr>
        <p:spPr>
          <a:xfrm>
            <a:off x="640080" y="4572000"/>
            <a:ext cx="10881360" cy="1600200"/>
          </a:xfrm>
          <a:prstGeom prst="roundRect">
            <a:avLst>
              <a:gd name="adj" fmla="val 5714"/>
            </a:avLst>
          </a:prstGeom>
          <a:solidFill>
            <a:srgbClr val="EAF0F1"/>
          </a:solidFill>
          <a:ln w="19050">
            <a:solidFill>
              <a:srgbClr val="B3C9CD"/>
            </a:solidFill>
            <a:prstDash val="solid"/>
          </a:ln>
        </p:spPr>
      </p:sp>
      <p:sp>
        <p:nvSpPr>
          <p:cNvPr id="27" name="Text 24"/>
          <p:cNvSpPr/>
          <p:nvPr/>
        </p:nvSpPr>
        <p:spPr>
          <a:xfrm>
            <a:off x="960120" y="4754880"/>
            <a:ext cx="10241280" cy="274320"/>
          </a:xfrm>
          <a:prstGeom prst="rect">
            <a:avLst/>
          </a:prstGeom>
          <a:noFill/>
          <a:ln/>
        </p:spPr>
        <p:txBody>
          <a:bodyPr wrap="square" rtlCol="0" anchor="ctr"/>
          <a:lstStyle/>
          <a:p>
            <a:pPr indent="0" marL="0">
              <a:buNone/>
            </a:pPr>
            <a:r>
              <a:rPr lang="en-US" sz="1100" b="1" spc="100" kern="0" dirty="0">
                <a:solidFill>
                  <a:srgbClr val="595959"/>
                </a:solidFill>
                <a:latin typeface="Arial" pitchFamily="34" charset="0"/>
                <a:ea typeface="Arial" pitchFamily="34" charset="-122"/>
                <a:cs typeface="Arial" pitchFamily="34" charset="-120"/>
              </a:rPr>
              <a:t>THIS IS EXACTLY WHAT HAPPENS TO YOUR DATA</a:t>
            </a:r>
            <a:endParaRPr lang="en-US" sz="1100" dirty="0"/>
          </a:p>
        </p:txBody>
      </p:sp>
      <p:sp>
        <p:nvSpPr>
          <p:cNvPr id="28" name="Text 25"/>
          <p:cNvSpPr/>
          <p:nvPr/>
        </p:nvSpPr>
        <p:spPr>
          <a:xfrm>
            <a:off x="960120" y="5074920"/>
            <a:ext cx="10241280" cy="457200"/>
          </a:xfrm>
          <a:prstGeom prst="rect">
            <a:avLst/>
          </a:prstGeom>
          <a:noFill/>
          <a:ln/>
        </p:spPr>
        <p:txBody>
          <a:bodyPr wrap="square" rtlCol="0" anchor="ctr"/>
          <a:lstStyle/>
          <a:p>
            <a:pPr indent="0" marL="0">
              <a:buNone/>
            </a:pPr>
            <a:r>
              <a:rPr lang="en-US" sz="1500" b="1" dirty="0">
                <a:solidFill>
                  <a:srgbClr val="1C1C1C"/>
                </a:solidFill>
                <a:latin typeface="Courier New" pitchFamily="34" charset="0"/>
                <a:ea typeface="Courier New" pitchFamily="34" charset="-122"/>
                <a:cs typeface="Courier New" pitchFamily="34" charset="-120"/>
              </a:rPr>
              <a:t>One row of your age column says "unknown"  →  R loads the whole column as text</a:t>
            </a:r>
            <a:pPr indent="0" marL="0">
              <a:buNone/>
            </a:pPr>
            <a:pPr indent="0" marL="0">
              <a:buNone/>
            </a:pPr>
            <a:pPr indent="0" marL="0">
              <a:buNone/>
            </a:pPr>
            <a:pPr indent="0" marL="0">
              <a:buNone/>
            </a:pPr>
            <a:endParaRPr lang="en-US" sz="1500" dirty="0"/>
          </a:p>
        </p:txBody>
      </p:sp>
      <p:sp>
        <p:nvSpPr>
          <p:cNvPr id="29" name="Text 26"/>
          <p:cNvSpPr/>
          <p:nvPr/>
        </p:nvSpPr>
        <p:spPr>
          <a:xfrm>
            <a:off x="960120" y="5577840"/>
            <a:ext cx="10241280" cy="502920"/>
          </a:xfrm>
          <a:prstGeom prst="rect">
            <a:avLst/>
          </a:prstGeom>
          <a:noFill/>
          <a:ln/>
        </p:spPr>
        <p:txBody>
          <a:bodyPr wrap="square" rtlCol="0" anchor="ctr"/>
          <a:lstStyle/>
          <a:p>
            <a:pPr indent="0" marL="0">
              <a:buNone/>
            </a:pPr>
            <a:r>
              <a:rPr lang="en-US" sz="1250" i="1" dirty="0">
                <a:solidFill>
                  <a:srgbClr val="1C1C1C"/>
                </a:solidFill>
                <a:latin typeface="Arial" pitchFamily="34" charset="0"/>
                <a:ea typeface="Arial" pitchFamily="34" charset="-122"/>
                <a:cs typeface="Arial" pitchFamily="34" charset="-120"/>
              </a:rPr>
              <a:t>Then mean(age) fails — and you are three steps downstream by the time you notice. Same defect as the "unknown" rows in patients.csv last week.</a:t>
            </a:r>
            <a:endParaRPr lang="en-US" sz="1250" dirty="0"/>
          </a:p>
        </p:txBody>
      </p:sp>
      <p:sp>
        <p:nvSpPr>
          <p:cNvPr id="30" name="Text 27"/>
          <p:cNvSpPr/>
          <p:nvPr/>
        </p:nvSpPr>
        <p:spPr>
          <a:xfrm>
            <a:off x="11368735" y="6492240"/>
            <a:ext cx="457200" cy="274320"/>
          </a:xfrm>
          <a:prstGeom prst="rect">
            <a:avLst/>
          </a:prstGeom>
          <a:noFill/>
          <a:ln/>
        </p:spPr>
        <p:txBody>
          <a:bodyPr wrap="square" rtlCol="0" anchor="ctr"/>
          <a:lstStyle/>
          <a:p>
            <a:pPr algn="r" indent="0" marL="0">
              <a:buNone/>
            </a:pPr>
            <a:r>
              <a:rPr lang="en-US" sz="900" dirty="0">
                <a:solidFill>
                  <a:srgbClr val="9B9B9B"/>
                </a:solidFill>
                <a:latin typeface="Arial" pitchFamily="34" charset="0"/>
                <a:ea typeface="Arial" pitchFamily="34" charset="-122"/>
                <a:cs typeface="Arial" pitchFamily="34" charset="-120"/>
              </a:rPr>
              <a:t>5</a:t>
            </a:r>
            <a:endParaRPr lang="en-US" sz="9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pic>
        <p:nvPicPr>
          <p:cNvPr id="2" name="Image 0" descr="/private/tmp/claude-503/-Users-boryczjd-claude-vanderbilt-database-assistant--claude-worktrees-publishing-citation-data-uses-8ba05f/250e4720-0954-4187-8930-09caab2cbef2/scratchpad/slides_build/vu_mark_gold.png">    </p:cNvPr>
          <p:cNvPicPr>
            <a:picLocks noChangeAspect="1"/>
          </p:cNvPicPr>
          <p:nvPr/>
        </p:nvPicPr>
        <p:blipFill>
          <a:blip r:embed="rId1"/>
          <a:stretch>
            <a:fillRect/>
          </a:stretch>
        </p:blipFill>
        <p:spPr>
          <a:xfrm>
            <a:off x="11231575" y="365760"/>
            <a:ext cx="457200" cy="327660"/>
          </a:xfrm>
          <a:prstGeom prst="rect">
            <a:avLst/>
          </a:prstGeom>
        </p:spPr>
      </p:pic>
      <p:sp>
        <p:nvSpPr>
          <p:cNvPr id="3" name="Shape 0"/>
          <p:cNvSpPr/>
          <p:nvPr/>
        </p:nvSpPr>
        <p:spPr>
          <a:xfrm>
            <a:off x="640080" y="457200"/>
            <a:ext cx="1933041" cy="292608"/>
          </a:xfrm>
          <a:prstGeom prst="roundRect">
            <a:avLst>
              <a:gd name="adj" fmla="val 50000"/>
            </a:avLst>
          </a:prstGeom>
          <a:solidFill>
            <a:srgbClr val="ECB748"/>
          </a:solidFill>
          <a:ln/>
        </p:spPr>
      </p:sp>
      <p:sp>
        <p:nvSpPr>
          <p:cNvPr id="4" name="Text 1"/>
          <p:cNvSpPr/>
          <p:nvPr/>
        </p:nvSpPr>
        <p:spPr>
          <a:xfrm>
            <a:off x="640080" y="457200"/>
            <a:ext cx="1933041" cy="292608"/>
          </a:xfrm>
          <a:prstGeom prst="rect">
            <a:avLst/>
          </a:prstGeom>
          <a:noFill/>
          <a:ln/>
        </p:spPr>
        <p:txBody>
          <a:bodyPr wrap="square" rtlCol="0" anchor="ctr"/>
          <a:lstStyle/>
          <a:p>
            <a:pPr algn="ctr" indent="0" marL="0">
              <a:buNone/>
            </a:pPr>
            <a:r>
              <a:rPr lang="en-US" sz="1100" b="1" spc="100" kern="0" dirty="0">
                <a:solidFill>
                  <a:srgbClr val="1C1C1C"/>
                </a:solidFill>
                <a:latin typeface="Arial" pitchFamily="34" charset="0"/>
                <a:ea typeface="Arial" pitchFamily="34" charset="-122"/>
                <a:cs typeface="Arial" pitchFamily="34" charset="-120"/>
              </a:rPr>
              <a:t>14–19 MIN  ·  SEGMENT 3</a:t>
            </a:r>
            <a:endParaRPr lang="en-US" sz="1100" dirty="0"/>
          </a:p>
        </p:txBody>
      </p:sp>
      <p:sp>
        <p:nvSpPr>
          <p:cNvPr id="5" name="Text 2"/>
          <p:cNvSpPr/>
          <p:nvPr/>
        </p:nvSpPr>
        <p:spPr>
          <a:xfrm>
            <a:off x="640080" y="822960"/>
            <a:ext cx="10058400" cy="594360"/>
          </a:xfrm>
          <a:prstGeom prst="rect">
            <a:avLst/>
          </a:prstGeom>
          <a:noFill/>
          <a:ln/>
        </p:spPr>
        <p:txBody>
          <a:bodyPr wrap="square" rtlCol="0" anchor="ctr"/>
          <a:lstStyle/>
          <a:p>
            <a:pPr indent="0" marL="0">
              <a:buNone/>
            </a:pPr>
            <a:r>
              <a:rPr lang="en-US" sz="2800" b="1" dirty="0">
                <a:solidFill>
                  <a:srgbClr val="1C1C1C"/>
                </a:solidFill>
                <a:latin typeface="Arial" pitchFamily="34" charset="0"/>
                <a:ea typeface="Arial" pitchFamily="34" charset="-122"/>
                <a:cs typeface="Arial" pitchFamily="34" charset="-120"/>
              </a:rPr>
              <a:t>Indexing — 0-Indexed vs. 1-Indexed</a:t>
            </a:r>
            <a:endParaRPr lang="en-US" sz="2800" dirty="0"/>
          </a:p>
        </p:txBody>
      </p:sp>
      <p:sp>
        <p:nvSpPr>
          <p:cNvPr id="6" name="Shape 3"/>
          <p:cNvSpPr/>
          <p:nvPr/>
        </p:nvSpPr>
        <p:spPr>
          <a:xfrm>
            <a:off x="640080" y="1508760"/>
            <a:ext cx="10881360" cy="548640"/>
          </a:xfrm>
          <a:prstGeom prst="roundRect">
            <a:avLst>
              <a:gd name="adj" fmla="val 13333"/>
            </a:avLst>
          </a:prstGeom>
          <a:solidFill>
            <a:srgbClr val="1C1C1C"/>
          </a:solidFill>
          <a:ln/>
        </p:spPr>
      </p:sp>
      <p:sp>
        <p:nvSpPr>
          <p:cNvPr id="7" name="Text 4"/>
          <p:cNvSpPr/>
          <p:nvPr/>
        </p:nvSpPr>
        <p:spPr>
          <a:xfrm>
            <a:off x="868680" y="1508760"/>
            <a:ext cx="10424160" cy="548640"/>
          </a:xfrm>
          <a:prstGeom prst="rect">
            <a:avLst/>
          </a:prstGeom>
          <a:noFill/>
          <a:ln/>
        </p:spPr>
        <p:txBody>
          <a:bodyPr wrap="square" rtlCol="0" anchor="ctr"/>
          <a:lstStyle/>
          <a:p>
            <a:pPr indent="0" marL="0">
              <a:buNone/>
            </a:pPr>
            <a:r>
              <a:rPr lang="en-US" sz="1500" b="1" dirty="0">
                <a:solidFill>
                  <a:srgbClr val="FFFFFF"/>
                </a:solidFill>
                <a:latin typeface="Arial" pitchFamily="34" charset="0"/>
                <a:ea typeface="Arial" pitchFamily="34" charset="-122"/>
                <a:cs typeface="Arial" pitchFamily="34" charset="-120"/>
              </a:rPr>
              <a:t>Python is </a:t>
            </a:r>
            <a:pPr indent="0" marL="0">
              <a:buNone/>
            </a:pPr>
            <a:r>
              <a:rPr lang="en-US" sz="1500" b="1" dirty="0">
                <a:solidFill>
                  <a:srgbClr val="ECB748"/>
                </a:solidFill>
                <a:latin typeface="Arial" pitchFamily="34" charset="0"/>
                <a:ea typeface="Arial" pitchFamily="34" charset="-122"/>
                <a:cs typeface="Arial" pitchFamily="34" charset="-120"/>
              </a:rPr>
              <a:t>0-indexed</a:t>
            </a:r>
            <a:pPr indent="0" marL="0">
              <a:buNone/>
            </a:pPr>
            <a:r>
              <a:rPr lang="en-US" sz="1500" b="1" dirty="0">
                <a:solidFill>
                  <a:srgbClr val="FFFFFF"/>
                </a:solidFill>
                <a:latin typeface="Arial" pitchFamily="34" charset="0"/>
                <a:ea typeface="Arial" pitchFamily="34" charset="-122"/>
                <a:cs typeface="Arial" pitchFamily="34" charset="-120"/>
              </a:rPr>
              <a:t>. R is </a:t>
            </a:r>
            <a:pPr indent="0" marL="0">
              <a:buNone/>
            </a:pPr>
            <a:r>
              <a:rPr lang="en-US" sz="1500" b="1" dirty="0">
                <a:solidFill>
                  <a:srgbClr val="B3C9CD"/>
                </a:solidFill>
                <a:latin typeface="Arial" pitchFamily="34" charset="0"/>
                <a:ea typeface="Arial" pitchFamily="34" charset="-122"/>
                <a:cs typeface="Arial" pitchFamily="34" charset="-120"/>
              </a:rPr>
              <a:t>1-indexed</a:t>
            </a:r>
            <a:pPr indent="0" marL="0">
              <a:buNone/>
            </a:pPr>
            <a:r>
              <a:rPr lang="en-US" sz="1500" b="1" dirty="0">
                <a:solidFill>
                  <a:srgbClr val="FFFFFF"/>
                </a:solidFill>
                <a:latin typeface="Arial" pitchFamily="34" charset="0"/>
                <a:ea typeface="Arial" pitchFamily="34" charset="-122"/>
                <a:cs typeface="Arial" pitchFamily="34" charset="-120"/>
              </a:rPr>
              <a:t>. This will bite you.</a:t>
            </a:r>
            <a:endParaRPr lang="en-US" sz="1500" dirty="0"/>
          </a:p>
        </p:txBody>
      </p:sp>
      <p:sp>
        <p:nvSpPr>
          <p:cNvPr id="8" name="Shape 5"/>
          <p:cNvSpPr/>
          <p:nvPr/>
        </p:nvSpPr>
        <p:spPr>
          <a:xfrm>
            <a:off x="774040" y="2377440"/>
            <a:ext cx="2011680" cy="1371600"/>
          </a:xfrm>
          <a:prstGeom prst="roundRect">
            <a:avLst>
              <a:gd name="adj" fmla="val 6667"/>
            </a:avLst>
          </a:prstGeom>
          <a:solidFill>
            <a:srgbClr val="FFFFFF"/>
          </a:solidFill>
          <a:ln w="12700">
            <a:solidFill>
              <a:srgbClr val="E3E3E3"/>
            </a:solidFill>
            <a:prstDash val="solid"/>
          </a:ln>
        </p:spPr>
      </p:sp>
      <p:sp>
        <p:nvSpPr>
          <p:cNvPr id="9" name="Shape 6"/>
          <p:cNvSpPr/>
          <p:nvPr/>
        </p:nvSpPr>
        <p:spPr>
          <a:xfrm>
            <a:off x="911200" y="2514600"/>
            <a:ext cx="502920" cy="292608"/>
          </a:xfrm>
          <a:prstGeom prst="roundRect">
            <a:avLst>
              <a:gd name="adj" fmla="val 50000"/>
            </a:avLst>
          </a:prstGeom>
          <a:solidFill>
            <a:srgbClr val="ECB748"/>
          </a:solidFill>
          <a:ln/>
        </p:spPr>
      </p:sp>
      <p:sp>
        <p:nvSpPr>
          <p:cNvPr id="10" name="Text 7"/>
          <p:cNvSpPr/>
          <p:nvPr/>
        </p:nvSpPr>
        <p:spPr>
          <a:xfrm>
            <a:off x="911200" y="2514600"/>
            <a:ext cx="502920" cy="292608"/>
          </a:xfrm>
          <a:prstGeom prst="rect">
            <a:avLst/>
          </a:prstGeom>
          <a:noFill/>
          <a:ln/>
        </p:spPr>
        <p:txBody>
          <a:bodyPr wrap="square" rtlCol="0" anchor="ctr"/>
          <a:lstStyle/>
          <a:p>
            <a:pPr algn="ctr" indent="0" marL="0">
              <a:buNone/>
            </a:pPr>
            <a:r>
              <a:rPr lang="en-US" sz="1200" b="1" dirty="0">
                <a:solidFill>
                  <a:srgbClr val="1C1C1C"/>
                </a:solidFill>
                <a:latin typeface="Courier New" pitchFamily="34" charset="0"/>
                <a:ea typeface="Courier New" pitchFamily="34" charset="-122"/>
                <a:cs typeface="Courier New" pitchFamily="34" charset="-120"/>
              </a:rPr>
              <a:t>0</a:t>
            </a:r>
            <a:endParaRPr lang="en-US" sz="1200" dirty="0"/>
          </a:p>
        </p:txBody>
      </p:sp>
      <p:sp>
        <p:nvSpPr>
          <p:cNvPr id="11" name="Shape 8"/>
          <p:cNvSpPr/>
          <p:nvPr/>
        </p:nvSpPr>
        <p:spPr>
          <a:xfrm>
            <a:off x="2145640" y="2514600"/>
            <a:ext cx="502920" cy="292608"/>
          </a:xfrm>
          <a:prstGeom prst="roundRect">
            <a:avLst>
              <a:gd name="adj" fmla="val 50000"/>
            </a:avLst>
          </a:prstGeom>
          <a:solidFill>
            <a:srgbClr val="B3C9CD"/>
          </a:solidFill>
          <a:ln/>
        </p:spPr>
      </p:sp>
      <p:sp>
        <p:nvSpPr>
          <p:cNvPr id="12" name="Text 9"/>
          <p:cNvSpPr/>
          <p:nvPr/>
        </p:nvSpPr>
        <p:spPr>
          <a:xfrm>
            <a:off x="2145640" y="2514600"/>
            <a:ext cx="502920" cy="292608"/>
          </a:xfrm>
          <a:prstGeom prst="rect">
            <a:avLst/>
          </a:prstGeom>
          <a:noFill/>
          <a:ln/>
        </p:spPr>
        <p:txBody>
          <a:bodyPr wrap="square" rtlCol="0" anchor="ctr"/>
          <a:lstStyle/>
          <a:p>
            <a:pPr algn="ctr" indent="0" marL="0">
              <a:buNone/>
            </a:pPr>
            <a:r>
              <a:rPr lang="en-US" sz="1200" b="1" dirty="0">
                <a:solidFill>
                  <a:srgbClr val="1C1C1C"/>
                </a:solidFill>
                <a:latin typeface="Courier New" pitchFamily="34" charset="0"/>
                <a:ea typeface="Courier New" pitchFamily="34" charset="-122"/>
                <a:cs typeface="Courier New" pitchFamily="34" charset="-120"/>
              </a:rPr>
              <a:t>1</a:t>
            </a:r>
            <a:endParaRPr lang="en-US" sz="1200" dirty="0"/>
          </a:p>
        </p:txBody>
      </p:sp>
      <p:sp>
        <p:nvSpPr>
          <p:cNvPr id="13" name="Text 10"/>
          <p:cNvSpPr/>
          <p:nvPr/>
        </p:nvSpPr>
        <p:spPr>
          <a:xfrm>
            <a:off x="774040" y="2880360"/>
            <a:ext cx="2011680" cy="640080"/>
          </a:xfrm>
          <a:prstGeom prst="rect">
            <a:avLst/>
          </a:prstGeom>
          <a:noFill/>
          <a:ln/>
        </p:spPr>
        <p:txBody>
          <a:bodyPr wrap="square" rtlCol="0" anchor="ctr"/>
          <a:lstStyle/>
          <a:p>
            <a:pPr algn="ctr" indent="0" marL="0">
              <a:buNone/>
            </a:pPr>
            <a:r>
              <a:rPr lang="en-US" sz="2600" b="1" dirty="0">
                <a:solidFill>
                  <a:srgbClr val="1C1C1C"/>
                </a:solidFill>
                <a:latin typeface="Arial" pitchFamily="34" charset="0"/>
                <a:ea typeface="Arial" pitchFamily="34" charset="-122"/>
                <a:cs typeface="Arial" pitchFamily="34" charset="-120"/>
              </a:rPr>
              <a:t>117</a:t>
            </a:r>
            <a:endParaRPr lang="en-US" sz="2600" dirty="0"/>
          </a:p>
        </p:txBody>
      </p:sp>
      <p:sp>
        <p:nvSpPr>
          <p:cNvPr id="14" name="Shape 11"/>
          <p:cNvSpPr/>
          <p:nvPr/>
        </p:nvSpPr>
        <p:spPr>
          <a:xfrm>
            <a:off x="2932024" y="2377440"/>
            <a:ext cx="2011680" cy="1371600"/>
          </a:xfrm>
          <a:prstGeom prst="roundRect">
            <a:avLst>
              <a:gd name="adj" fmla="val 6667"/>
            </a:avLst>
          </a:prstGeom>
          <a:solidFill>
            <a:srgbClr val="FFFFFF"/>
          </a:solidFill>
          <a:ln w="12700">
            <a:solidFill>
              <a:srgbClr val="E3E3E3"/>
            </a:solidFill>
            <a:prstDash val="solid"/>
          </a:ln>
        </p:spPr>
      </p:sp>
      <p:sp>
        <p:nvSpPr>
          <p:cNvPr id="15" name="Shape 12"/>
          <p:cNvSpPr/>
          <p:nvPr/>
        </p:nvSpPr>
        <p:spPr>
          <a:xfrm>
            <a:off x="3069184" y="2514600"/>
            <a:ext cx="502920" cy="292608"/>
          </a:xfrm>
          <a:prstGeom prst="roundRect">
            <a:avLst>
              <a:gd name="adj" fmla="val 50000"/>
            </a:avLst>
          </a:prstGeom>
          <a:solidFill>
            <a:srgbClr val="ECB748"/>
          </a:solidFill>
          <a:ln/>
        </p:spPr>
      </p:sp>
      <p:sp>
        <p:nvSpPr>
          <p:cNvPr id="16" name="Text 13"/>
          <p:cNvSpPr/>
          <p:nvPr/>
        </p:nvSpPr>
        <p:spPr>
          <a:xfrm>
            <a:off x="3069184" y="2514600"/>
            <a:ext cx="502920" cy="292608"/>
          </a:xfrm>
          <a:prstGeom prst="rect">
            <a:avLst/>
          </a:prstGeom>
          <a:noFill/>
          <a:ln/>
        </p:spPr>
        <p:txBody>
          <a:bodyPr wrap="square" rtlCol="0" anchor="ctr"/>
          <a:lstStyle/>
          <a:p>
            <a:pPr algn="ctr" indent="0" marL="0">
              <a:buNone/>
            </a:pPr>
            <a:r>
              <a:rPr lang="en-US" sz="1200" b="1" dirty="0">
                <a:solidFill>
                  <a:srgbClr val="1C1C1C"/>
                </a:solidFill>
                <a:latin typeface="Courier New" pitchFamily="34" charset="0"/>
                <a:ea typeface="Courier New" pitchFamily="34" charset="-122"/>
                <a:cs typeface="Courier New" pitchFamily="34" charset="-120"/>
              </a:rPr>
              <a:t>1</a:t>
            </a:r>
            <a:endParaRPr lang="en-US" sz="1200" dirty="0"/>
          </a:p>
        </p:txBody>
      </p:sp>
      <p:sp>
        <p:nvSpPr>
          <p:cNvPr id="17" name="Shape 14"/>
          <p:cNvSpPr/>
          <p:nvPr/>
        </p:nvSpPr>
        <p:spPr>
          <a:xfrm>
            <a:off x="4303624" y="2514600"/>
            <a:ext cx="502920" cy="292608"/>
          </a:xfrm>
          <a:prstGeom prst="roundRect">
            <a:avLst>
              <a:gd name="adj" fmla="val 50000"/>
            </a:avLst>
          </a:prstGeom>
          <a:solidFill>
            <a:srgbClr val="B3C9CD"/>
          </a:solidFill>
          <a:ln/>
        </p:spPr>
      </p:sp>
      <p:sp>
        <p:nvSpPr>
          <p:cNvPr id="18" name="Text 15"/>
          <p:cNvSpPr/>
          <p:nvPr/>
        </p:nvSpPr>
        <p:spPr>
          <a:xfrm>
            <a:off x="4303624" y="2514600"/>
            <a:ext cx="502920" cy="292608"/>
          </a:xfrm>
          <a:prstGeom prst="rect">
            <a:avLst/>
          </a:prstGeom>
          <a:noFill/>
          <a:ln/>
        </p:spPr>
        <p:txBody>
          <a:bodyPr wrap="square" rtlCol="0" anchor="ctr"/>
          <a:lstStyle/>
          <a:p>
            <a:pPr algn="ctr" indent="0" marL="0">
              <a:buNone/>
            </a:pPr>
            <a:r>
              <a:rPr lang="en-US" sz="1200" b="1" dirty="0">
                <a:solidFill>
                  <a:srgbClr val="1C1C1C"/>
                </a:solidFill>
                <a:latin typeface="Courier New" pitchFamily="34" charset="0"/>
                <a:ea typeface="Courier New" pitchFamily="34" charset="-122"/>
                <a:cs typeface="Courier New" pitchFamily="34" charset="-120"/>
              </a:rPr>
              <a:t>2</a:t>
            </a:r>
            <a:endParaRPr lang="en-US" sz="1200" dirty="0"/>
          </a:p>
        </p:txBody>
      </p:sp>
      <p:sp>
        <p:nvSpPr>
          <p:cNvPr id="19" name="Text 16"/>
          <p:cNvSpPr/>
          <p:nvPr/>
        </p:nvSpPr>
        <p:spPr>
          <a:xfrm>
            <a:off x="2932024" y="2880360"/>
            <a:ext cx="2011680" cy="640080"/>
          </a:xfrm>
          <a:prstGeom prst="rect">
            <a:avLst/>
          </a:prstGeom>
          <a:noFill/>
          <a:ln/>
        </p:spPr>
        <p:txBody>
          <a:bodyPr wrap="square" rtlCol="0" anchor="ctr"/>
          <a:lstStyle/>
          <a:p>
            <a:pPr algn="ctr" indent="0" marL="0">
              <a:buNone/>
            </a:pPr>
            <a:r>
              <a:rPr lang="en-US" sz="2600" b="1" dirty="0">
                <a:solidFill>
                  <a:srgbClr val="1C1C1C"/>
                </a:solidFill>
                <a:latin typeface="Arial" pitchFamily="34" charset="0"/>
                <a:ea typeface="Arial" pitchFamily="34" charset="-122"/>
                <a:cs typeface="Arial" pitchFamily="34" charset="-120"/>
              </a:rPr>
              <a:t>122</a:t>
            </a:r>
            <a:endParaRPr lang="en-US" sz="2600" dirty="0"/>
          </a:p>
        </p:txBody>
      </p:sp>
      <p:sp>
        <p:nvSpPr>
          <p:cNvPr id="20" name="Shape 17"/>
          <p:cNvSpPr/>
          <p:nvPr/>
        </p:nvSpPr>
        <p:spPr>
          <a:xfrm>
            <a:off x="5090008" y="2377440"/>
            <a:ext cx="2011680" cy="1371600"/>
          </a:xfrm>
          <a:prstGeom prst="roundRect">
            <a:avLst>
              <a:gd name="adj" fmla="val 6667"/>
            </a:avLst>
          </a:prstGeom>
          <a:solidFill>
            <a:srgbClr val="FFFFFF"/>
          </a:solidFill>
          <a:ln w="12700">
            <a:solidFill>
              <a:srgbClr val="E3E3E3"/>
            </a:solidFill>
            <a:prstDash val="solid"/>
          </a:ln>
        </p:spPr>
      </p:sp>
      <p:sp>
        <p:nvSpPr>
          <p:cNvPr id="21" name="Shape 18"/>
          <p:cNvSpPr/>
          <p:nvPr/>
        </p:nvSpPr>
        <p:spPr>
          <a:xfrm>
            <a:off x="5227168" y="2514600"/>
            <a:ext cx="502920" cy="292608"/>
          </a:xfrm>
          <a:prstGeom prst="roundRect">
            <a:avLst>
              <a:gd name="adj" fmla="val 50000"/>
            </a:avLst>
          </a:prstGeom>
          <a:solidFill>
            <a:srgbClr val="ECB748"/>
          </a:solidFill>
          <a:ln/>
        </p:spPr>
      </p:sp>
      <p:sp>
        <p:nvSpPr>
          <p:cNvPr id="22" name="Text 19"/>
          <p:cNvSpPr/>
          <p:nvPr/>
        </p:nvSpPr>
        <p:spPr>
          <a:xfrm>
            <a:off x="5227168" y="2514600"/>
            <a:ext cx="502920" cy="292608"/>
          </a:xfrm>
          <a:prstGeom prst="rect">
            <a:avLst/>
          </a:prstGeom>
          <a:noFill/>
          <a:ln/>
        </p:spPr>
        <p:txBody>
          <a:bodyPr wrap="square" rtlCol="0" anchor="ctr"/>
          <a:lstStyle/>
          <a:p>
            <a:pPr algn="ctr" indent="0" marL="0">
              <a:buNone/>
            </a:pPr>
            <a:r>
              <a:rPr lang="en-US" sz="1200" b="1" dirty="0">
                <a:solidFill>
                  <a:srgbClr val="1C1C1C"/>
                </a:solidFill>
                <a:latin typeface="Courier New" pitchFamily="34" charset="0"/>
                <a:ea typeface="Courier New" pitchFamily="34" charset="-122"/>
                <a:cs typeface="Courier New" pitchFamily="34" charset="-120"/>
              </a:rPr>
              <a:t>2</a:t>
            </a:r>
            <a:endParaRPr lang="en-US" sz="1200" dirty="0"/>
          </a:p>
        </p:txBody>
      </p:sp>
      <p:sp>
        <p:nvSpPr>
          <p:cNvPr id="23" name="Shape 20"/>
          <p:cNvSpPr/>
          <p:nvPr/>
        </p:nvSpPr>
        <p:spPr>
          <a:xfrm>
            <a:off x="6461608" y="2514600"/>
            <a:ext cx="502920" cy="292608"/>
          </a:xfrm>
          <a:prstGeom prst="roundRect">
            <a:avLst>
              <a:gd name="adj" fmla="val 50000"/>
            </a:avLst>
          </a:prstGeom>
          <a:solidFill>
            <a:srgbClr val="B3C9CD"/>
          </a:solidFill>
          <a:ln/>
        </p:spPr>
      </p:sp>
      <p:sp>
        <p:nvSpPr>
          <p:cNvPr id="24" name="Text 21"/>
          <p:cNvSpPr/>
          <p:nvPr/>
        </p:nvSpPr>
        <p:spPr>
          <a:xfrm>
            <a:off x="6461608" y="2514600"/>
            <a:ext cx="502920" cy="292608"/>
          </a:xfrm>
          <a:prstGeom prst="rect">
            <a:avLst/>
          </a:prstGeom>
          <a:noFill/>
          <a:ln/>
        </p:spPr>
        <p:txBody>
          <a:bodyPr wrap="square" rtlCol="0" anchor="ctr"/>
          <a:lstStyle/>
          <a:p>
            <a:pPr algn="ctr" indent="0" marL="0">
              <a:buNone/>
            </a:pPr>
            <a:r>
              <a:rPr lang="en-US" sz="1200" b="1" dirty="0">
                <a:solidFill>
                  <a:srgbClr val="1C1C1C"/>
                </a:solidFill>
                <a:latin typeface="Courier New" pitchFamily="34" charset="0"/>
                <a:ea typeface="Courier New" pitchFamily="34" charset="-122"/>
                <a:cs typeface="Courier New" pitchFamily="34" charset="-120"/>
              </a:rPr>
              <a:t>3</a:t>
            </a:r>
            <a:endParaRPr lang="en-US" sz="1200" dirty="0"/>
          </a:p>
        </p:txBody>
      </p:sp>
      <p:sp>
        <p:nvSpPr>
          <p:cNvPr id="25" name="Text 22"/>
          <p:cNvSpPr/>
          <p:nvPr/>
        </p:nvSpPr>
        <p:spPr>
          <a:xfrm>
            <a:off x="5090008" y="2880360"/>
            <a:ext cx="2011680" cy="640080"/>
          </a:xfrm>
          <a:prstGeom prst="rect">
            <a:avLst/>
          </a:prstGeom>
          <a:noFill/>
          <a:ln/>
        </p:spPr>
        <p:txBody>
          <a:bodyPr wrap="square" rtlCol="0" anchor="ctr"/>
          <a:lstStyle/>
          <a:p>
            <a:pPr algn="ctr" indent="0" marL="0">
              <a:buNone/>
            </a:pPr>
            <a:r>
              <a:rPr lang="en-US" sz="2600" b="1" dirty="0">
                <a:solidFill>
                  <a:srgbClr val="1C1C1C"/>
                </a:solidFill>
                <a:latin typeface="Arial" pitchFamily="34" charset="0"/>
                <a:ea typeface="Arial" pitchFamily="34" charset="-122"/>
                <a:cs typeface="Arial" pitchFamily="34" charset="-120"/>
              </a:rPr>
              <a:t>141</a:t>
            </a:r>
            <a:endParaRPr lang="en-US" sz="2600" dirty="0"/>
          </a:p>
        </p:txBody>
      </p:sp>
      <p:sp>
        <p:nvSpPr>
          <p:cNvPr id="26" name="Shape 23"/>
          <p:cNvSpPr/>
          <p:nvPr/>
        </p:nvSpPr>
        <p:spPr>
          <a:xfrm>
            <a:off x="7247992" y="2377440"/>
            <a:ext cx="2011680" cy="1371600"/>
          </a:xfrm>
          <a:prstGeom prst="roundRect">
            <a:avLst>
              <a:gd name="adj" fmla="val 6667"/>
            </a:avLst>
          </a:prstGeom>
          <a:solidFill>
            <a:srgbClr val="FFFFFF"/>
          </a:solidFill>
          <a:ln w="12700">
            <a:solidFill>
              <a:srgbClr val="E3E3E3"/>
            </a:solidFill>
            <a:prstDash val="solid"/>
          </a:ln>
        </p:spPr>
      </p:sp>
      <p:sp>
        <p:nvSpPr>
          <p:cNvPr id="27" name="Shape 24"/>
          <p:cNvSpPr/>
          <p:nvPr/>
        </p:nvSpPr>
        <p:spPr>
          <a:xfrm>
            <a:off x="7385152" y="2514600"/>
            <a:ext cx="502920" cy="292608"/>
          </a:xfrm>
          <a:prstGeom prst="roundRect">
            <a:avLst>
              <a:gd name="adj" fmla="val 50000"/>
            </a:avLst>
          </a:prstGeom>
          <a:solidFill>
            <a:srgbClr val="ECB748"/>
          </a:solidFill>
          <a:ln/>
        </p:spPr>
      </p:sp>
      <p:sp>
        <p:nvSpPr>
          <p:cNvPr id="28" name="Text 25"/>
          <p:cNvSpPr/>
          <p:nvPr/>
        </p:nvSpPr>
        <p:spPr>
          <a:xfrm>
            <a:off x="7385152" y="2514600"/>
            <a:ext cx="502920" cy="292608"/>
          </a:xfrm>
          <a:prstGeom prst="rect">
            <a:avLst/>
          </a:prstGeom>
          <a:noFill/>
          <a:ln/>
        </p:spPr>
        <p:txBody>
          <a:bodyPr wrap="square" rtlCol="0" anchor="ctr"/>
          <a:lstStyle/>
          <a:p>
            <a:pPr algn="ctr" indent="0" marL="0">
              <a:buNone/>
            </a:pPr>
            <a:r>
              <a:rPr lang="en-US" sz="1200" b="1" dirty="0">
                <a:solidFill>
                  <a:srgbClr val="1C1C1C"/>
                </a:solidFill>
                <a:latin typeface="Courier New" pitchFamily="34" charset="0"/>
                <a:ea typeface="Courier New" pitchFamily="34" charset="-122"/>
                <a:cs typeface="Courier New" pitchFamily="34" charset="-120"/>
              </a:rPr>
              <a:t>3</a:t>
            </a:r>
            <a:endParaRPr lang="en-US" sz="1200" dirty="0"/>
          </a:p>
        </p:txBody>
      </p:sp>
      <p:sp>
        <p:nvSpPr>
          <p:cNvPr id="29" name="Shape 26"/>
          <p:cNvSpPr/>
          <p:nvPr/>
        </p:nvSpPr>
        <p:spPr>
          <a:xfrm>
            <a:off x="8619592" y="2514600"/>
            <a:ext cx="502920" cy="292608"/>
          </a:xfrm>
          <a:prstGeom prst="roundRect">
            <a:avLst>
              <a:gd name="adj" fmla="val 50000"/>
            </a:avLst>
          </a:prstGeom>
          <a:solidFill>
            <a:srgbClr val="B3C9CD"/>
          </a:solidFill>
          <a:ln/>
        </p:spPr>
      </p:sp>
      <p:sp>
        <p:nvSpPr>
          <p:cNvPr id="30" name="Text 27"/>
          <p:cNvSpPr/>
          <p:nvPr/>
        </p:nvSpPr>
        <p:spPr>
          <a:xfrm>
            <a:off x="8619592" y="2514600"/>
            <a:ext cx="502920" cy="292608"/>
          </a:xfrm>
          <a:prstGeom prst="rect">
            <a:avLst/>
          </a:prstGeom>
          <a:noFill/>
          <a:ln/>
        </p:spPr>
        <p:txBody>
          <a:bodyPr wrap="square" rtlCol="0" anchor="ctr"/>
          <a:lstStyle/>
          <a:p>
            <a:pPr algn="ctr" indent="0" marL="0">
              <a:buNone/>
            </a:pPr>
            <a:r>
              <a:rPr lang="en-US" sz="1200" b="1" dirty="0">
                <a:solidFill>
                  <a:srgbClr val="1C1C1C"/>
                </a:solidFill>
                <a:latin typeface="Courier New" pitchFamily="34" charset="0"/>
                <a:ea typeface="Courier New" pitchFamily="34" charset="-122"/>
                <a:cs typeface="Courier New" pitchFamily="34" charset="-120"/>
              </a:rPr>
              <a:t>4</a:t>
            </a:r>
            <a:endParaRPr lang="en-US" sz="1200" dirty="0"/>
          </a:p>
        </p:txBody>
      </p:sp>
      <p:sp>
        <p:nvSpPr>
          <p:cNvPr id="31" name="Text 28"/>
          <p:cNvSpPr/>
          <p:nvPr/>
        </p:nvSpPr>
        <p:spPr>
          <a:xfrm>
            <a:off x="7247992" y="2880360"/>
            <a:ext cx="2011680" cy="640080"/>
          </a:xfrm>
          <a:prstGeom prst="rect">
            <a:avLst/>
          </a:prstGeom>
          <a:noFill/>
          <a:ln/>
        </p:spPr>
        <p:txBody>
          <a:bodyPr wrap="square" rtlCol="0" anchor="ctr"/>
          <a:lstStyle/>
          <a:p>
            <a:pPr algn="ctr" indent="0" marL="0">
              <a:buNone/>
            </a:pPr>
            <a:r>
              <a:rPr lang="en-US" sz="2600" b="1" dirty="0">
                <a:solidFill>
                  <a:srgbClr val="1C1C1C"/>
                </a:solidFill>
                <a:latin typeface="Arial" pitchFamily="34" charset="0"/>
                <a:ea typeface="Arial" pitchFamily="34" charset="-122"/>
                <a:cs typeface="Arial" pitchFamily="34" charset="-120"/>
              </a:rPr>
              <a:t>130</a:t>
            </a:r>
            <a:endParaRPr lang="en-US" sz="2600" dirty="0"/>
          </a:p>
        </p:txBody>
      </p:sp>
      <p:sp>
        <p:nvSpPr>
          <p:cNvPr id="32" name="Shape 29"/>
          <p:cNvSpPr/>
          <p:nvPr/>
        </p:nvSpPr>
        <p:spPr>
          <a:xfrm>
            <a:off x="9405976" y="2377440"/>
            <a:ext cx="2011680" cy="1371600"/>
          </a:xfrm>
          <a:prstGeom prst="roundRect">
            <a:avLst>
              <a:gd name="adj" fmla="val 6667"/>
            </a:avLst>
          </a:prstGeom>
          <a:solidFill>
            <a:srgbClr val="FFFFFF"/>
          </a:solidFill>
          <a:ln w="12700">
            <a:solidFill>
              <a:srgbClr val="E3E3E3"/>
            </a:solidFill>
            <a:prstDash val="solid"/>
          </a:ln>
        </p:spPr>
      </p:sp>
      <p:sp>
        <p:nvSpPr>
          <p:cNvPr id="33" name="Shape 30"/>
          <p:cNvSpPr/>
          <p:nvPr/>
        </p:nvSpPr>
        <p:spPr>
          <a:xfrm>
            <a:off x="9543136" y="2514600"/>
            <a:ext cx="502920" cy="292608"/>
          </a:xfrm>
          <a:prstGeom prst="roundRect">
            <a:avLst>
              <a:gd name="adj" fmla="val 50000"/>
            </a:avLst>
          </a:prstGeom>
          <a:solidFill>
            <a:srgbClr val="ECB748"/>
          </a:solidFill>
          <a:ln/>
        </p:spPr>
      </p:sp>
      <p:sp>
        <p:nvSpPr>
          <p:cNvPr id="34" name="Text 31"/>
          <p:cNvSpPr/>
          <p:nvPr/>
        </p:nvSpPr>
        <p:spPr>
          <a:xfrm>
            <a:off x="9543136" y="2514600"/>
            <a:ext cx="502920" cy="292608"/>
          </a:xfrm>
          <a:prstGeom prst="rect">
            <a:avLst/>
          </a:prstGeom>
          <a:noFill/>
          <a:ln/>
        </p:spPr>
        <p:txBody>
          <a:bodyPr wrap="square" rtlCol="0" anchor="ctr"/>
          <a:lstStyle/>
          <a:p>
            <a:pPr algn="ctr" indent="0" marL="0">
              <a:buNone/>
            </a:pPr>
            <a:r>
              <a:rPr lang="en-US" sz="1200" b="1" dirty="0">
                <a:solidFill>
                  <a:srgbClr val="1C1C1C"/>
                </a:solidFill>
                <a:latin typeface="Courier New" pitchFamily="34" charset="0"/>
                <a:ea typeface="Courier New" pitchFamily="34" charset="-122"/>
                <a:cs typeface="Courier New" pitchFamily="34" charset="-120"/>
              </a:rPr>
              <a:t>4</a:t>
            </a:r>
            <a:endParaRPr lang="en-US" sz="1200" dirty="0"/>
          </a:p>
        </p:txBody>
      </p:sp>
      <p:sp>
        <p:nvSpPr>
          <p:cNvPr id="35" name="Shape 32"/>
          <p:cNvSpPr/>
          <p:nvPr/>
        </p:nvSpPr>
        <p:spPr>
          <a:xfrm>
            <a:off x="10777576" y="2514600"/>
            <a:ext cx="502920" cy="292608"/>
          </a:xfrm>
          <a:prstGeom prst="roundRect">
            <a:avLst>
              <a:gd name="adj" fmla="val 50000"/>
            </a:avLst>
          </a:prstGeom>
          <a:solidFill>
            <a:srgbClr val="B3C9CD"/>
          </a:solidFill>
          <a:ln/>
        </p:spPr>
      </p:sp>
      <p:sp>
        <p:nvSpPr>
          <p:cNvPr id="36" name="Text 33"/>
          <p:cNvSpPr/>
          <p:nvPr/>
        </p:nvSpPr>
        <p:spPr>
          <a:xfrm>
            <a:off x="10777576" y="2514600"/>
            <a:ext cx="502920" cy="292608"/>
          </a:xfrm>
          <a:prstGeom prst="rect">
            <a:avLst/>
          </a:prstGeom>
          <a:noFill/>
          <a:ln/>
        </p:spPr>
        <p:txBody>
          <a:bodyPr wrap="square" rtlCol="0" anchor="ctr"/>
          <a:lstStyle/>
          <a:p>
            <a:pPr algn="ctr" indent="0" marL="0">
              <a:buNone/>
            </a:pPr>
            <a:r>
              <a:rPr lang="en-US" sz="1200" b="1" dirty="0">
                <a:solidFill>
                  <a:srgbClr val="1C1C1C"/>
                </a:solidFill>
                <a:latin typeface="Courier New" pitchFamily="34" charset="0"/>
                <a:ea typeface="Courier New" pitchFamily="34" charset="-122"/>
                <a:cs typeface="Courier New" pitchFamily="34" charset="-120"/>
              </a:rPr>
              <a:t>5</a:t>
            </a:r>
            <a:endParaRPr lang="en-US" sz="1200" dirty="0"/>
          </a:p>
        </p:txBody>
      </p:sp>
      <p:sp>
        <p:nvSpPr>
          <p:cNvPr id="37" name="Text 34"/>
          <p:cNvSpPr/>
          <p:nvPr/>
        </p:nvSpPr>
        <p:spPr>
          <a:xfrm>
            <a:off x="9405976" y="2880360"/>
            <a:ext cx="2011680" cy="640080"/>
          </a:xfrm>
          <a:prstGeom prst="rect">
            <a:avLst/>
          </a:prstGeom>
          <a:noFill/>
          <a:ln/>
        </p:spPr>
        <p:txBody>
          <a:bodyPr wrap="square" rtlCol="0" anchor="ctr"/>
          <a:lstStyle/>
          <a:p>
            <a:pPr algn="ctr" indent="0" marL="0">
              <a:buNone/>
            </a:pPr>
            <a:r>
              <a:rPr lang="en-US" sz="2600" b="1" dirty="0">
                <a:solidFill>
                  <a:srgbClr val="1C1C1C"/>
                </a:solidFill>
                <a:latin typeface="Arial" pitchFamily="34" charset="0"/>
                <a:ea typeface="Arial" pitchFamily="34" charset="-122"/>
                <a:cs typeface="Arial" pitchFamily="34" charset="-120"/>
              </a:rPr>
              <a:t>118</a:t>
            </a:r>
            <a:endParaRPr lang="en-US" sz="2600" dirty="0"/>
          </a:p>
        </p:txBody>
      </p:sp>
      <p:sp>
        <p:nvSpPr>
          <p:cNvPr id="38" name="Text 35"/>
          <p:cNvSpPr/>
          <p:nvPr/>
        </p:nvSpPr>
        <p:spPr>
          <a:xfrm>
            <a:off x="728320" y="2084832"/>
            <a:ext cx="914400" cy="274320"/>
          </a:xfrm>
          <a:prstGeom prst="rect">
            <a:avLst/>
          </a:prstGeom>
          <a:noFill/>
          <a:ln/>
        </p:spPr>
        <p:txBody>
          <a:bodyPr wrap="square" rtlCol="0" anchor="ctr"/>
          <a:lstStyle/>
          <a:p>
            <a:pPr indent="0" marL="0">
              <a:buNone/>
            </a:pPr>
            <a:r>
              <a:rPr lang="en-US" sz="1000" b="1" spc="100" kern="0" dirty="0">
                <a:solidFill>
                  <a:srgbClr val="ECB748"/>
                </a:solidFill>
                <a:latin typeface="Arial" pitchFamily="34" charset="0"/>
                <a:ea typeface="Arial" pitchFamily="34" charset="-122"/>
                <a:cs typeface="Arial" pitchFamily="34" charset="-120"/>
              </a:rPr>
              <a:t>PY</a:t>
            </a:r>
            <a:endParaRPr lang="en-US" sz="1000" dirty="0"/>
          </a:p>
        </p:txBody>
      </p:sp>
      <p:sp>
        <p:nvSpPr>
          <p:cNvPr id="39" name="Text 36"/>
          <p:cNvSpPr/>
          <p:nvPr/>
        </p:nvSpPr>
        <p:spPr>
          <a:xfrm>
            <a:off x="10731856" y="2084832"/>
            <a:ext cx="914400" cy="274320"/>
          </a:xfrm>
          <a:prstGeom prst="rect">
            <a:avLst/>
          </a:prstGeom>
          <a:noFill/>
          <a:ln/>
        </p:spPr>
        <p:txBody>
          <a:bodyPr wrap="square" rtlCol="0" anchor="ctr"/>
          <a:lstStyle/>
          <a:p>
            <a:pPr algn="r" indent="0" marL="0">
              <a:buNone/>
            </a:pPr>
            <a:r>
              <a:rPr lang="en-US" sz="1000" b="1" spc="100" kern="0" dirty="0">
                <a:solidFill>
                  <a:srgbClr val="B3C9CD"/>
                </a:solidFill>
                <a:latin typeface="Arial" pitchFamily="34" charset="0"/>
                <a:ea typeface="Arial" pitchFamily="34" charset="-122"/>
                <a:cs typeface="Arial" pitchFamily="34" charset="-120"/>
              </a:rPr>
              <a:t>R</a:t>
            </a:r>
            <a:endParaRPr lang="en-US" sz="1000" dirty="0"/>
          </a:p>
        </p:txBody>
      </p:sp>
      <p:sp>
        <p:nvSpPr>
          <p:cNvPr id="40" name="Shape 37"/>
          <p:cNvSpPr/>
          <p:nvPr/>
        </p:nvSpPr>
        <p:spPr>
          <a:xfrm>
            <a:off x="640080" y="4160520"/>
            <a:ext cx="5257800" cy="1920240"/>
          </a:xfrm>
          <a:prstGeom prst="roundRect">
            <a:avLst>
              <a:gd name="adj" fmla="val 4762"/>
            </a:avLst>
          </a:prstGeom>
          <a:solidFill>
            <a:srgbClr val="2E2E2E"/>
          </a:solidFill>
          <a:ln w="12700">
            <a:solidFill>
              <a:srgbClr val="444444"/>
            </a:solidFill>
            <a:prstDash val="solid"/>
          </a:ln>
        </p:spPr>
      </p:sp>
      <p:sp>
        <p:nvSpPr>
          <p:cNvPr id="41" name="Shape 38"/>
          <p:cNvSpPr/>
          <p:nvPr/>
        </p:nvSpPr>
        <p:spPr>
          <a:xfrm>
            <a:off x="868680" y="4361688"/>
            <a:ext cx="146304" cy="146304"/>
          </a:xfrm>
          <a:prstGeom prst="ellipse">
            <a:avLst/>
          </a:prstGeom>
          <a:solidFill>
            <a:srgbClr val="D64550"/>
          </a:solidFill>
          <a:ln/>
        </p:spPr>
      </p:sp>
      <p:sp>
        <p:nvSpPr>
          <p:cNvPr id="42" name="Shape 39"/>
          <p:cNvSpPr/>
          <p:nvPr/>
        </p:nvSpPr>
        <p:spPr>
          <a:xfrm>
            <a:off x="1124712" y="4361688"/>
            <a:ext cx="146304" cy="146304"/>
          </a:xfrm>
          <a:prstGeom prst="ellipse">
            <a:avLst/>
          </a:prstGeom>
          <a:solidFill>
            <a:srgbClr val="ECB748"/>
          </a:solidFill>
          <a:ln/>
        </p:spPr>
      </p:sp>
      <p:sp>
        <p:nvSpPr>
          <p:cNvPr id="43" name="Shape 40"/>
          <p:cNvSpPr/>
          <p:nvPr/>
        </p:nvSpPr>
        <p:spPr>
          <a:xfrm>
            <a:off x="1380744" y="4361688"/>
            <a:ext cx="146304" cy="146304"/>
          </a:xfrm>
          <a:prstGeom prst="ellipse">
            <a:avLst/>
          </a:prstGeom>
          <a:solidFill>
            <a:srgbClr val="6B6B6B"/>
          </a:solidFill>
          <a:ln/>
        </p:spPr>
      </p:sp>
      <p:sp>
        <p:nvSpPr>
          <p:cNvPr id="44" name="Text 41"/>
          <p:cNvSpPr/>
          <p:nvPr/>
        </p:nvSpPr>
        <p:spPr>
          <a:xfrm>
            <a:off x="1783080" y="4306824"/>
            <a:ext cx="3977640" cy="256032"/>
          </a:xfrm>
          <a:prstGeom prst="rect">
            <a:avLst/>
          </a:prstGeom>
          <a:noFill/>
          <a:ln/>
        </p:spPr>
        <p:txBody>
          <a:bodyPr wrap="square" rtlCol="0" anchor="ctr"/>
          <a:lstStyle/>
          <a:p>
            <a:pPr indent="0" marL="0">
              <a:buNone/>
            </a:pPr>
            <a:r>
              <a:rPr lang="en-US" sz="1050" dirty="0">
                <a:solidFill>
                  <a:srgbClr val="9B9690"/>
                </a:solidFill>
                <a:latin typeface="Courier New" pitchFamily="34" charset="0"/>
                <a:ea typeface="Courier New" pitchFamily="34" charset="-122"/>
                <a:cs typeface="Courier New" pitchFamily="34" charset="-120"/>
              </a:rPr>
              <a:t>index.py</a:t>
            </a:r>
            <a:endParaRPr lang="en-US" sz="1050" dirty="0"/>
          </a:p>
        </p:txBody>
      </p:sp>
      <p:sp>
        <p:nvSpPr>
          <p:cNvPr id="45" name="Shape 42"/>
          <p:cNvSpPr/>
          <p:nvPr/>
        </p:nvSpPr>
        <p:spPr>
          <a:xfrm>
            <a:off x="685800" y="4663440"/>
            <a:ext cx="5166360" cy="0"/>
          </a:xfrm>
          <a:prstGeom prst="line">
            <a:avLst/>
          </a:prstGeom>
          <a:noFill/>
          <a:ln w="12700">
            <a:solidFill>
              <a:srgbClr val="444444"/>
            </a:solidFill>
            <a:prstDash val="solid"/>
          </a:ln>
        </p:spPr>
      </p:sp>
      <p:sp>
        <p:nvSpPr>
          <p:cNvPr id="46" name="Text 43"/>
          <p:cNvSpPr/>
          <p:nvPr/>
        </p:nvSpPr>
        <p:spPr>
          <a:xfrm>
            <a:off x="914400" y="4800600"/>
            <a:ext cx="4709160" cy="329184"/>
          </a:xfrm>
          <a:prstGeom prst="rect">
            <a:avLst/>
          </a:prstGeom>
          <a:noFill/>
          <a:ln/>
        </p:spPr>
        <p:txBody>
          <a:bodyPr wrap="square" rtlCol="0" anchor="ctr"/>
          <a:lstStyle/>
          <a:p>
            <a:pPr indent="0" marL="0">
              <a:buNone/>
            </a:pPr>
            <a:r>
              <a:rPr lang="en-US" sz="1300" dirty="0">
                <a:solidFill>
                  <a:srgbClr val="FFFFFF"/>
                </a:solidFill>
                <a:latin typeface="Courier New" pitchFamily="34" charset="0"/>
                <a:ea typeface="Courier New" pitchFamily="34" charset="-122"/>
                <a:cs typeface="Courier New" pitchFamily="34" charset="-120"/>
              </a:rPr>
              <a:t>bp[0]     # 117  first</a:t>
            </a:r>
            <a:pPr indent="0" marL="0">
              <a:buNone/>
            </a:pPr>
            <a:pPr indent="0" marL="0">
              <a:buNone/>
            </a:pPr>
            <a:pPr indent="0" marL="0">
              <a:buNone/>
            </a:pPr>
            <a:endParaRPr lang="en-US" sz="1300" dirty="0"/>
          </a:p>
        </p:txBody>
      </p:sp>
      <p:sp>
        <p:nvSpPr>
          <p:cNvPr id="47" name="Text 44"/>
          <p:cNvSpPr/>
          <p:nvPr/>
        </p:nvSpPr>
        <p:spPr>
          <a:xfrm>
            <a:off x="914400" y="5129784"/>
            <a:ext cx="4709160" cy="329184"/>
          </a:xfrm>
          <a:prstGeom prst="rect">
            <a:avLst/>
          </a:prstGeom>
          <a:noFill/>
          <a:ln/>
        </p:spPr>
        <p:txBody>
          <a:bodyPr wrap="square" rtlCol="0" anchor="ctr"/>
          <a:lstStyle/>
          <a:p>
            <a:pPr indent="0" marL="0">
              <a:buNone/>
            </a:pPr>
            <a:r>
              <a:rPr lang="en-US" sz="1300" dirty="0">
                <a:solidFill>
                  <a:srgbClr val="FFFFFF"/>
                </a:solidFill>
                <a:latin typeface="Courier New" pitchFamily="34" charset="0"/>
                <a:ea typeface="Courier New" pitchFamily="34" charset="-122"/>
                <a:cs typeface="Courier New" pitchFamily="34" charset="-120"/>
              </a:rPr>
              <a:t>bp[1]     # 122  second</a:t>
            </a:r>
            <a:pPr indent="0" marL="0">
              <a:buNone/>
            </a:pPr>
            <a:pPr indent="0" marL="0">
              <a:buNone/>
            </a:pPr>
            <a:pPr indent="0" marL="0">
              <a:buNone/>
            </a:pPr>
            <a:endParaRPr lang="en-US" sz="1300" dirty="0"/>
          </a:p>
        </p:txBody>
      </p:sp>
      <p:sp>
        <p:nvSpPr>
          <p:cNvPr id="48" name="Text 45"/>
          <p:cNvSpPr/>
          <p:nvPr/>
        </p:nvSpPr>
        <p:spPr>
          <a:xfrm>
            <a:off x="914400" y="5458968"/>
            <a:ext cx="4709160" cy="329184"/>
          </a:xfrm>
          <a:prstGeom prst="rect">
            <a:avLst/>
          </a:prstGeom>
          <a:noFill/>
          <a:ln/>
        </p:spPr>
        <p:txBody>
          <a:bodyPr wrap="square" rtlCol="0" anchor="ctr"/>
          <a:lstStyle/>
          <a:p>
            <a:pPr indent="0" marL="0">
              <a:buNone/>
            </a:pPr>
            <a:r>
              <a:rPr lang="en-US" sz="1300" dirty="0">
                <a:solidFill>
                  <a:srgbClr val="FFFFFF"/>
                </a:solidFill>
                <a:latin typeface="Courier New" pitchFamily="34" charset="0"/>
                <a:ea typeface="Courier New" pitchFamily="34" charset="-122"/>
                <a:cs typeface="Courier New" pitchFamily="34" charset="-120"/>
              </a:rPr>
              <a:t>bp[-1]    # 118  LAST</a:t>
            </a:r>
            <a:pPr indent="0" marL="0">
              <a:buNone/>
            </a:pPr>
            <a:pPr indent="0" marL="0">
              <a:buNone/>
            </a:pPr>
            <a:pPr indent="0" marL="0">
              <a:buNone/>
            </a:pPr>
            <a:endParaRPr lang="en-US" sz="1300" dirty="0"/>
          </a:p>
        </p:txBody>
      </p:sp>
      <p:sp>
        <p:nvSpPr>
          <p:cNvPr id="49" name="Shape 46"/>
          <p:cNvSpPr/>
          <p:nvPr/>
        </p:nvSpPr>
        <p:spPr>
          <a:xfrm>
            <a:off x="6263640" y="4160520"/>
            <a:ext cx="5257800" cy="1920240"/>
          </a:xfrm>
          <a:prstGeom prst="roundRect">
            <a:avLst>
              <a:gd name="adj" fmla="val 4762"/>
            </a:avLst>
          </a:prstGeom>
          <a:solidFill>
            <a:srgbClr val="2E2E2E"/>
          </a:solidFill>
          <a:ln w="12700">
            <a:solidFill>
              <a:srgbClr val="444444"/>
            </a:solidFill>
            <a:prstDash val="solid"/>
          </a:ln>
        </p:spPr>
      </p:sp>
      <p:sp>
        <p:nvSpPr>
          <p:cNvPr id="50" name="Shape 47"/>
          <p:cNvSpPr/>
          <p:nvPr/>
        </p:nvSpPr>
        <p:spPr>
          <a:xfrm>
            <a:off x="6492240" y="4361688"/>
            <a:ext cx="146304" cy="146304"/>
          </a:xfrm>
          <a:prstGeom prst="ellipse">
            <a:avLst/>
          </a:prstGeom>
          <a:solidFill>
            <a:srgbClr val="D64550"/>
          </a:solidFill>
          <a:ln/>
        </p:spPr>
      </p:sp>
      <p:sp>
        <p:nvSpPr>
          <p:cNvPr id="51" name="Shape 48"/>
          <p:cNvSpPr/>
          <p:nvPr/>
        </p:nvSpPr>
        <p:spPr>
          <a:xfrm>
            <a:off x="6748272" y="4361688"/>
            <a:ext cx="146304" cy="146304"/>
          </a:xfrm>
          <a:prstGeom prst="ellipse">
            <a:avLst/>
          </a:prstGeom>
          <a:solidFill>
            <a:srgbClr val="ECB748"/>
          </a:solidFill>
          <a:ln/>
        </p:spPr>
      </p:sp>
      <p:sp>
        <p:nvSpPr>
          <p:cNvPr id="52" name="Shape 49"/>
          <p:cNvSpPr/>
          <p:nvPr/>
        </p:nvSpPr>
        <p:spPr>
          <a:xfrm>
            <a:off x="7004304" y="4361688"/>
            <a:ext cx="146304" cy="146304"/>
          </a:xfrm>
          <a:prstGeom prst="ellipse">
            <a:avLst/>
          </a:prstGeom>
          <a:solidFill>
            <a:srgbClr val="6B6B6B"/>
          </a:solidFill>
          <a:ln/>
        </p:spPr>
      </p:sp>
      <p:sp>
        <p:nvSpPr>
          <p:cNvPr id="53" name="Text 50"/>
          <p:cNvSpPr/>
          <p:nvPr/>
        </p:nvSpPr>
        <p:spPr>
          <a:xfrm>
            <a:off x="7406640" y="4306824"/>
            <a:ext cx="3977640" cy="256032"/>
          </a:xfrm>
          <a:prstGeom prst="rect">
            <a:avLst/>
          </a:prstGeom>
          <a:noFill/>
          <a:ln/>
        </p:spPr>
        <p:txBody>
          <a:bodyPr wrap="square" rtlCol="0" anchor="ctr"/>
          <a:lstStyle/>
          <a:p>
            <a:pPr indent="0" marL="0">
              <a:buNone/>
            </a:pPr>
            <a:r>
              <a:rPr lang="en-US" sz="1050" dirty="0">
                <a:solidFill>
                  <a:srgbClr val="9B9690"/>
                </a:solidFill>
                <a:latin typeface="Courier New" pitchFamily="34" charset="0"/>
                <a:ea typeface="Courier New" pitchFamily="34" charset="-122"/>
                <a:cs typeface="Courier New" pitchFamily="34" charset="-120"/>
              </a:rPr>
              <a:t>index.R</a:t>
            </a:r>
            <a:endParaRPr lang="en-US" sz="1050" dirty="0"/>
          </a:p>
        </p:txBody>
      </p:sp>
      <p:sp>
        <p:nvSpPr>
          <p:cNvPr id="54" name="Shape 51"/>
          <p:cNvSpPr/>
          <p:nvPr/>
        </p:nvSpPr>
        <p:spPr>
          <a:xfrm>
            <a:off x="6309360" y="4663440"/>
            <a:ext cx="5166360" cy="0"/>
          </a:xfrm>
          <a:prstGeom prst="line">
            <a:avLst/>
          </a:prstGeom>
          <a:noFill/>
          <a:ln w="12700">
            <a:solidFill>
              <a:srgbClr val="444444"/>
            </a:solidFill>
            <a:prstDash val="solid"/>
          </a:ln>
        </p:spPr>
      </p:sp>
      <p:sp>
        <p:nvSpPr>
          <p:cNvPr id="55" name="Text 52"/>
          <p:cNvSpPr/>
          <p:nvPr/>
        </p:nvSpPr>
        <p:spPr>
          <a:xfrm>
            <a:off x="6537960" y="4800600"/>
            <a:ext cx="4709160" cy="329184"/>
          </a:xfrm>
          <a:prstGeom prst="rect">
            <a:avLst/>
          </a:prstGeom>
          <a:noFill/>
          <a:ln/>
        </p:spPr>
        <p:txBody>
          <a:bodyPr wrap="square" rtlCol="0" anchor="ctr"/>
          <a:lstStyle/>
          <a:p>
            <a:pPr indent="0" marL="0">
              <a:buNone/>
            </a:pPr>
            <a:r>
              <a:rPr lang="en-US" sz="1300" dirty="0">
                <a:solidFill>
                  <a:srgbClr val="FFFFFF"/>
                </a:solidFill>
                <a:latin typeface="Courier New" pitchFamily="34" charset="0"/>
                <a:ea typeface="Courier New" pitchFamily="34" charset="-122"/>
                <a:cs typeface="Courier New" pitchFamily="34" charset="-120"/>
              </a:rPr>
              <a:t>bp[1]     # 117  first</a:t>
            </a:r>
            <a:pPr indent="0" marL="0">
              <a:buNone/>
            </a:pPr>
            <a:pPr indent="0" marL="0">
              <a:buNone/>
            </a:pPr>
            <a:pPr indent="0" marL="0">
              <a:buNone/>
            </a:pPr>
            <a:endParaRPr lang="en-US" sz="1300" dirty="0"/>
          </a:p>
        </p:txBody>
      </p:sp>
      <p:sp>
        <p:nvSpPr>
          <p:cNvPr id="56" name="Text 53"/>
          <p:cNvSpPr/>
          <p:nvPr/>
        </p:nvSpPr>
        <p:spPr>
          <a:xfrm>
            <a:off x="6537960" y="5129784"/>
            <a:ext cx="4709160" cy="329184"/>
          </a:xfrm>
          <a:prstGeom prst="rect">
            <a:avLst/>
          </a:prstGeom>
          <a:noFill/>
          <a:ln/>
        </p:spPr>
        <p:txBody>
          <a:bodyPr wrap="square" rtlCol="0" anchor="ctr"/>
          <a:lstStyle/>
          <a:p>
            <a:pPr indent="0" marL="0">
              <a:buNone/>
            </a:pPr>
            <a:r>
              <a:rPr lang="en-US" sz="1300" dirty="0">
                <a:solidFill>
                  <a:srgbClr val="FFFFFF"/>
                </a:solidFill>
                <a:latin typeface="Courier New" pitchFamily="34" charset="0"/>
                <a:ea typeface="Courier New" pitchFamily="34" charset="-122"/>
                <a:cs typeface="Courier New" pitchFamily="34" charset="-120"/>
              </a:rPr>
              <a:t>bp[2]     # 122  second</a:t>
            </a:r>
            <a:pPr indent="0" marL="0">
              <a:buNone/>
            </a:pPr>
            <a:pPr indent="0" marL="0">
              <a:buNone/>
            </a:pPr>
            <a:pPr indent="0" marL="0">
              <a:buNone/>
            </a:pPr>
            <a:endParaRPr lang="en-US" sz="1300" dirty="0"/>
          </a:p>
        </p:txBody>
      </p:sp>
      <p:sp>
        <p:nvSpPr>
          <p:cNvPr id="57" name="Text 54"/>
          <p:cNvSpPr/>
          <p:nvPr/>
        </p:nvSpPr>
        <p:spPr>
          <a:xfrm>
            <a:off x="6537960" y="5458968"/>
            <a:ext cx="4709160" cy="329184"/>
          </a:xfrm>
          <a:prstGeom prst="rect">
            <a:avLst/>
          </a:prstGeom>
          <a:noFill/>
          <a:ln/>
        </p:spPr>
        <p:txBody>
          <a:bodyPr wrap="square" rtlCol="0" anchor="ctr"/>
          <a:lstStyle/>
          <a:p>
            <a:pPr indent="0" marL="0">
              <a:buNone/>
            </a:pPr>
            <a:r>
              <a:rPr lang="en-US" sz="1300" dirty="0">
                <a:solidFill>
                  <a:srgbClr val="FFFFFF"/>
                </a:solidFill>
                <a:latin typeface="Courier New" pitchFamily="34" charset="0"/>
                <a:ea typeface="Courier New" pitchFamily="34" charset="-122"/>
                <a:cs typeface="Courier New" pitchFamily="34" charset="-120"/>
              </a:rPr>
              <a:t>bp[-1]    # 122 141 130 118  ?!</a:t>
            </a:r>
            <a:pPr indent="0" marL="0">
              <a:buNone/>
            </a:pPr>
            <a:endParaRPr lang="en-US" sz="1300" dirty="0"/>
          </a:p>
        </p:txBody>
      </p:sp>
      <p:sp>
        <p:nvSpPr>
          <p:cNvPr id="58" name="Text 55"/>
          <p:cNvSpPr/>
          <p:nvPr/>
        </p:nvSpPr>
        <p:spPr>
          <a:xfrm>
            <a:off x="11368735" y="6492240"/>
            <a:ext cx="457200" cy="274320"/>
          </a:xfrm>
          <a:prstGeom prst="rect">
            <a:avLst/>
          </a:prstGeom>
          <a:noFill/>
          <a:ln/>
        </p:spPr>
        <p:txBody>
          <a:bodyPr wrap="square" rtlCol="0" anchor="ctr"/>
          <a:lstStyle/>
          <a:p>
            <a:pPr algn="r" indent="0" marL="0">
              <a:buNone/>
            </a:pPr>
            <a:r>
              <a:rPr lang="en-US" sz="900" dirty="0">
                <a:solidFill>
                  <a:srgbClr val="9B9B9B"/>
                </a:solidFill>
                <a:latin typeface="Arial" pitchFamily="34" charset="0"/>
                <a:ea typeface="Arial" pitchFamily="34" charset="-122"/>
                <a:cs typeface="Arial" pitchFamily="34" charset="-120"/>
              </a:rPr>
              <a:t>6</a:t>
            </a:r>
            <a:endParaRPr lang="en-US" sz="9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pic>
        <p:nvPicPr>
          <p:cNvPr id="2" name="Image 0" descr="/private/tmp/claude-503/-Users-boryczjd-claude-vanderbilt-database-assistant--claude-worktrees-publishing-citation-data-uses-8ba05f/250e4720-0954-4187-8930-09caab2cbef2/scratchpad/slides_build/vu_mark_gold.png">    </p:cNvPr>
          <p:cNvPicPr>
            <a:picLocks noChangeAspect="1"/>
          </p:cNvPicPr>
          <p:nvPr/>
        </p:nvPicPr>
        <p:blipFill>
          <a:blip r:embed="rId1"/>
          <a:stretch>
            <a:fillRect/>
          </a:stretch>
        </p:blipFill>
        <p:spPr>
          <a:xfrm>
            <a:off x="11231575" y="365760"/>
            <a:ext cx="457200" cy="327660"/>
          </a:xfrm>
          <a:prstGeom prst="rect">
            <a:avLst/>
          </a:prstGeom>
        </p:spPr>
      </p:pic>
      <p:sp>
        <p:nvSpPr>
          <p:cNvPr id="3" name="Shape 0"/>
          <p:cNvSpPr/>
          <p:nvPr/>
        </p:nvSpPr>
        <p:spPr>
          <a:xfrm>
            <a:off x="640080" y="457200"/>
            <a:ext cx="1808683" cy="292608"/>
          </a:xfrm>
          <a:prstGeom prst="roundRect">
            <a:avLst>
              <a:gd name="adj" fmla="val 50000"/>
            </a:avLst>
          </a:prstGeom>
          <a:solidFill>
            <a:srgbClr val="ECB748"/>
          </a:solidFill>
          <a:ln/>
        </p:spPr>
      </p:sp>
      <p:sp>
        <p:nvSpPr>
          <p:cNvPr id="4" name="Text 1"/>
          <p:cNvSpPr/>
          <p:nvPr/>
        </p:nvSpPr>
        <p:spPr>
          <a:xfrm>
            <a:off x="640080" y="457200"/>
            <a:ext cx="1808683" cy="292608"/>
          </a:xfrm>
          <a:prstGeom prst="rect">
            <a:avLst/>
          </a:prstGeom>
          <a:noFill/>
          <a:ln/>
        </p:spPr>
        <p:txBody>
          <a:bodyPr wrap="square" rtlCol="0" anchor="ctr"/>
          <a:lstStyle/>
          <a:p>
            <a:pPr algn="ctr" indent="0" marL="0">
              <a:buNone/>
            </a:pPr>
            <a:r>
              <a:rPr lang="en-US" sz="1100" b="1" spc="100" kern="0" dirty="0">
                <a:solidFill>
                  <a:srgbClr val="1C1C1C"/>
                </a:solidFill>
                <a:latin typeface="Arial" pitchFamily="34" charset="0"/>
                <a:ea typeface="Arial" pitchFamily="34" charset="-122"/>
                <a:cs typeface="Arial" pitchFamily="34" charset="-120"/>
              </a:rPr>
              <a:t>19–23 MIN  ·  SLICING</a:t>
            </a:r>
            <a:endParaRPr lang="en-US" sz="1100" dirty="0"/>
          </a:p>
        </p:txBody>
      </p:sp>
      <p:sp>
        <p:nvSpPr>
          <p:cNvPr id="5" name="Text 2"/>
          <p:cNvSpPr/>
          <p:nvPr/>
        </p:nvSpPr>
        <p:spPr>
          <a:xfrm>
            <a:off x="640080" y="822960"/>
            <a:ext cx="10058400" cy="594360"/>
          </a:xfrm>
          <a:prstGeom prst="rect">
            <a:avLst/>
          </a:prstGeom>
          <a:noFill/>
          <a:ln/>
        </p:spPr>
        <p:txBody>
          <a:bodyPr wrap="square" rtlCol="0" anchor="ctr"/>
          <a:lstStyle/>
          <a:p>
            <a:pPr indent="0" marL="0">
              <a:buNone/>
            </a:pPr>
            <a:r>
              <a:rPr lang="en-US" sz="2800" b="1" dirty="0">
                <a:solidFill>
                  <a:srgbClr val="1C1C1C"/>
                </a:solidFill>
                <a:latin typeface="Arial" pitchFamily="34" charset="0"/>
                <a:ea typeface="Arial" pitchFamily="34" charset="-122"/>
                <a:cs typeface="Arial" pitchFamily="34" charset="-120"/>
              </a:rPr>
              <a:t>Slicing — Same Syntax, Different Meaning</a:t>
            </a:r>
            <a:endParaRPr lang="en-US" sz="2800" dirty="0"/>
          </a:p>
        </p:txBody>
      </p:sp>
      <p:sp>
        <p:nvSpPr>
          <p:cNvPr id="6" name="Shape 3"/>
          <p:cNvSpPr/>
          <p:nvPr/>
        </p:nvSpPr>
        <p:spPr>
          <a:xfrm>
            <a:off x="640080" y="1600200"/>
            <a:ext cx="5257800" cy="2103120"/>
          </a:xfrm>
          <a:prstGeom prst="roundRect">
            <a:avLst>
              <a:gd name="adj" fmla="val 4348"/>
            </a:avLst>
          </a:prstGeom>
          <a:solidFill>
            <a:srgbClr val="2E2E2E"/>
          </a:solidFill>
          <a:ln w="12700">
            <a:solidFill>
              <a:srgbClr val="444444"/>
            </a:solidFill>
            <a:prstDash val="solid"/>
          </a:ln>
        </p:spPr>
      </p:sp>
      <p:sp>
        <p:nvSpPr>
          <p:cNvPr id="7" name="Shape 4"/>
          <p:cNvSpPr/>
          <p:nvPr/>
        </p:nvSpPr>
        <p:spPr>
          <a:xfrm>
            <a:off x="868680" y="1801368"/>
            <a:ext cx="146304" cy="146304"/>
          </a:xfrm>
          <a:prstGeom prst="ellipse">
            <a:avLst/>
          </a:prstGeom>
          <a:solidFill>
            <a:srgbClr val="D64550"/>
          </a:solidFill>
          <a:ln/>
        </p:spPr>
      </p:sp>
      <p:sp>
        <p:nvSpPr>
          <p:cNvPr id="8" name="Shape 5"/>
          <p:cNvSpPr/>
          <p:nvPr/>
        </p:nvSpPr>
        <p:spPr>
          <a:xfrm>
            <a:off x="1124712" y="1801368"/>
            <a:ext cx="146304" cy="146304"/>
          </a:xfrm>
          <a:prstGeom prst="ellipse">
            <a:avLst/>
          </a:prstGeom>
          <a:solidFill>
            <a:srgbClr val="ECB748"/>
          </a:solidFill>
          <a:ln/>
        </p:spPr>
      </p:sp>
      <p:sp>
        <p:nvSpPr>
          <p:cNvPr id="9" name="Shape 6"/>
          <p:cNvSpPr/>
          <p:nvPr/>
        </p:nvSpPr>
        <p:spPr>
          <a:xfrm>
            <a:off x="1380744" y="1801368"/>
            <a:ext cx="146304" cy="146304"/>
          </a:xfrm>
          <a:prstGeom prst="ellipse">
            <a:avLst/>
          </a:prstGeom>
          <a:solidFill>
            <a:srgbClr val="6B6B6B"/>
          </a:solidFill>
          <a:ln/>
        </p:spPr>
      </p:sp>
      <p:sp>
        <p:nvSpPr>
          <p:cNvPr id="10" name="Text 7"/>
          <p:cNvSpPr/>
          <p:nvPr/>
        </p:nvSpPr>
        <p:spPr>
          <a:xfrm>
            <a:off x="1783080" y="1746504"/>
            <a:ext cx="3977640" cy="256032"/>
          </a:xfrm>
          <a:prstGeom prst="rect">
            <a:avLst/>
          </a:prstGeom>
          <a:noFill/>
          <a:ln/>
        </p:spPr>
        <p:txBody>
          <a:bodyPr wrap="square" rtlCol="0" anchor="ctr"/>
          <a:lstStyle/>
          <a:p>
            <a:pPr indent="0" marL="0">
              <a:buNone/>
            </a:pPr>
            <a:r>
              <a:rPr lang="en-US" sz="1050" dirty="0">
                <a:solidFill>
                  <a:srgbClr val="9B9690"/>
                </a:solidFill>
                <a:latin typeface="Courier New" pitchFamily="34" charset="0"/>
                <a:ea typeface="Courier New" pitchFamily="34" charset="-122"/>
                <a:cs typeface="Courier New" pitchFamily="34" charset="-120"/>
              </a:rPr>
              <a:t>slice.py</a:t>
            </a:r>
            <a:endParaRPr lang="en-US" sz="1050" dirty="0"/>
          </a:p>
        </p:txBody>
      </p:sp>
      <p:sp>
        <p:nvSpPr>
          <p:cNvPr id="11" name="Shape 8"/>
          <p:cNvSpPr/>
          <p:nvPr/>
        </p:nvSpPr>
        <p:spPr>
          <a:xfrm>
            <a:off x="685800" y="2103120"/>
            <a:ext cx="5166360" cy="0"/>
          </a:xfrm>
          <a:prstGeom prst="line">
            <a:avLst/>
          </a:prstGeom>
          <a:noFill/>
          <a:ln w="12700">
            <a:solidFill>
              <a:srgbClr val="444444"/>
            </a:solidFill>
            <a:prstDash val="solid"/>
          </a:ln>
        </p:spPr>
      </p:sp>
      <p:sp>
        <p:nvSpPr>
          <p:cNvPr id="12" name="Text 9"/>
          <p:cNvSpPr/>
          <p:nvPr/>
        </p:nvSpPr>
        <p:spPr>
          <a:xfrm>
            <a:off x="914400" y="2240280"/>
            <a:ext cx="4709160" cy="329184"/>
          </a:xfrm>
          <a:prstGeom prst="rect">
            <a:avLst/>
          </a:prstGeom>
          <a:noFill/>
          <a:ln/>
        </p:spPr>
        <p:txBody>
          <a:bodyPr wrap="square" rtlCol="0" anchor="ctr"/>
          <a:lstStyle/>
          <a:p>
            <a:pPr indent="0" marL="0">
              <a:buNone/>
            </a:pPr>
            <a:r>
              <a:rPr lang="en-US" sz="1300" dirty="0">
                <a:solidFill>
                  <a:srgbClr val="FFFFFF"/>
                </a:solidFill>
                <a:latin typeface="Courier New" pitchFamily="34" charset="0"/>
                <a:ea typeface="Courier New" pitchFamily="34" charset="-122"/>
                <a:cs typeface="Courier New" pitchFamily="34" charset="-120"/>
              </a:rPr>
              <a:t>bp[1:4]  </a:t>
            </a:r>
            <a:pPr indent="0" marL="0">
              <a:buNone/>
            </a:pPr>
            <a:r>
              <a:rPr lang="en-US" sz="1300" dirty="0">
                <a:solidFill>
                  <a:srgbClr val="8A8A82"/>
                </a:solidFill>
                <a:latin typeface="Courier New" pitchFamily="34" charset="0"/>
                <a:ea typeface="Courier New" pitchFamily="34" charset="-122"/>
                <a:cs typeface="Courier New" pitchFamily="34" charset="-120"/>
              </a:rPr>
              <a:t># [122,141,130]</a:t>
            </a:r>
            <a:endParaRPr lang="en-US" sz="1300" dirty="0"/>
          </a:p>
        </p:txBody>
      </p:sp>
      <p:sp>
        <p:nvSpPr>
          <p:cNvPr id="13" name="Text 10"/>
          <p:cNvSpPr/>
          <p:nvPr/>
        </p:nvSpPr>
        <p:spPr>
          <a:xfrm>
            <a:off x="914400" y="2569464"/>
            <a:ext cx="4709160" cy="329184"/>
          </a:xfrm>
          <a:prstGeom prst="rect">
            <a:avLst/>
          </a:prstGeom>
          <a:noFill/>
          <a:ln/>
        </p:spPr>
        <p:txBody>
          <a:bodyPr wrap="square" rtlCol="0" anchor="ctr"/>
          <a:lstStyle/>
          <a:p>
            <a:pPr indent="0" marL="0">
              <a:buNone/>
            </a:pPr>
            <a:r>
              <a:rPr lang="en-US" sz="1300" dirty="0">
                <a:solidFill>
                  <a:srgbClr val="FFFFFF"/>
                </a:solidFill>
                <a:latin typeface="Courier New" pitchFamily="34" charset="0"/>
                <a:ea typeface="Courier New" pitchFamily="34" charset="-122"/>
                <a:cs typeface="Courier New" pitchFamily="34" charset="-120"/>
              </a:rPr>
              <a:t>bp[:3]   </a:t>
            </a:r>
            <a:pPr indent="0" marL="0">
              <a:buNone/>
            </a:pPr>
            <a:r>
              <a:rPr lang="en-US" sz="1300" dirty="0">
                <a:solidFill>
                  <a:srgbClr val="8A8A82"/>
                </a:solidFill>
                <a:latin typeface="Courier New" pitchFamily="34" charset="0"/>
                <a:ea typeface="Courier New" pitchFamily="34" charset="-122"/>
                <a:cs typeface="Courier New" pitchFamily="34" charset="-120"/>
              </a:rPr>
              <a:t># first three</a:t>
            </a:r>
            <a:endParaRPr lang="en-US" sz="1300" dirty="0"/>
          </a:p>
        </p:txBody>
      </p:sp>
      <p:sp>
        <p:nvSpPr>
          <p:cNvPr id="14" name="Text 11"/>
          <p:cNvSpPr/>
          <p:nvPr/>
        </p:nvSpPr>
        <p:spPr>
          <a:xfrm>
            <a:off x="914400" y="2898648"/>
            <a:ext cx="4709160" cy="329184"/>
          </a:xfrm>
          <a:prstGeom prst="rect">
            <a:avLst/>
          </a:prstGeom>
          <a:noFill/>
          <a:ln/>
        </p:spPr>
        <p:txBody>
          <a:bodyPr wrap="square" rtlCol="0" anchor="ctr"/>
          <a:lstStyle/>
          <a:p>
            <a:pPr indent="0" marL="0">
              <a:buNone/>
            </a:pPr>
            <a:r>
              <a:rPr lang="en-US" sz="1300" dirty="0">
                <a:solidFill>
                  <a:srgbClr val="FFFFFF"/>
                </a:solidFill>
                <a:latin typeface="Courier New" pitchFamily="34" charset="0"/>
                <a:ea typeface="Courier New" pitchFamily="34" charset="-122"/>
                <a:cs typeface="Courier New" pitchFamily="34" charset="-120"/>
              </a:rPr>
              <a:t>bp[-2:]  </a:t>
            </a:r>
            <a:pPr indent="0" marL="0">
              <a:buNone/>
            </a:pPr>
            <a:r>
              <a:rPr lang="en-US" sz="1300" dirty="0">
                <a:solidFill>
                  <a:srgbClr val="8A8A82"/>
                </a:solidFill>
                <a:latin typeface="Courier New" pitchFamily="34" charset="0"/>
                <a:ea typeface="Courier New" pitchFamily="34" charset="-122"/>
                <a:cs typeface="Courier New" pitchFamily="34" charset="-120"/>
              </a:rPr>
              <a:t># last two</a:t>
            </a:r>
            <a:endParaRPr lang="en-US" sz="1300" dirty="0"/>
          </a:p>
        </p:txBody>
      </p:sp>
      <p:sp>
        <p:nvSpPr>
          <p:cNvPr id="15" name="Text 12"/>
          <p:cNvSpPr/>
          <p:nvPr/>
        </p:nvSpPr>
        <p:spPr>
          <a:xfrm>
            <a:off x="914400" y="3227832"/>
            <a:ext cx="4709160" cy="329184"/>
          </a:xfrm>
          <a:prstGeom prst="rect">
            <a:avLst/>
          </a:prstGeom>
          <a:noFill/>
          <a:ln/>
        </p:spPr>
        <p:txBody>
          <a:bodyPr wrap="square" rtlCol="0" anchor="ctr"/>
          <a:lstStyle/>
          <a:p>
            <a:pPr indent="0" marL="0">
              <a:buNone/>
            </a:pPr>
            <a:r>
              <a:rPr lang="en-US" sz="1300" dirty="0">
                <a:solidFill>
                  <a:srgbClr val="F5F3EF"/>
                </a:solidFill>
                <a:latin typeface="Courier New" pitchFamily="34" charset="0"/>
                <a:ea typeface="Courier New" pitchFamily="34" charset="-122"/>
                <a:cs typeface="Courier New" pitchFamily="34" charset="-120"/>
              </a:rPr>
              <a:t>stop is </a:t>
            </a:r>
            <a:pPr indent="0" marL="0">
              <a:buNone/>
            </a:pPr>
            <a:r>
              <a:rPr lang="en-US" sz="1300" b="1" dirty="0">
                <a:solidFill>
                  <a:srgbClr val="ECB748"/>
                </a:solidFill>
                <a:latin typeface="Courier New" pitchFamily="34" charset="0"/>
                <a:ea typeface="Courier New" pitchFamily="34" charset="-122"/>
                <a:cs typeface="Courier New" pitchFamily="34" charset="-120"/>
              </a:rPr>
              <a:t>EXCLUSIVE</a:t>
            </a:r>
            <a:endParaRPr lang="en-US" sz="1300" dirty="0"/>
          </a:p>
        </p:txBody>
      </p:sp>
      <p:sp>
        <p:nvSpPr>
          <p:cNvPr id="16" name="Shape 13"/>
          <p:cNvSpPr/>
          <p:nvPr/>
        </p:nvSpPr>
        <p:spPr>
          <a:xfrm>
            <a:off x="6263640" y="1600200"/>
            <a:ext cx="5257800" cy="2103120"/>
          </a:xfrm>
          <a:prstGeom prst="roundRect">
            <a:avLst>
              <a:gd name="adj" fmla="val 4348"/>
            </a:avLst>
          </a:prstGeom>
          <a:solidFill>
            <a:srgbClr val="2E2E2E"/>
          </a:solidFill>
          <a:ln w="12700">
            <a:solidFill>
              <a:srgbClr val="444444"/>
            </a:solidFill>
            <a:prstDash val="solid"/>
          </a:ln>
        </p:spPr>
      </p:sp>
      <p:sp>
        <p:nvSpPr>
          <p:cNvPr id="17" name="Shape 14"/>
          <p:cNvSpPr/>
          <p:nvPr/>
        </p:nvSpPr>
        <p:spPr>
          <a:xfrm>
            <a:off x="6492240" y="1801368"/>
            <a:ext cx="146304" cy="146304"/>
          </a:xfrm>
          <a:prstGeom prst="ellipse">
            <a:avLst/>
          </a:prstGeom>
          <a:solidFill>
            <a:srgbClr val="D64550"/>
          </a:solidFill>
          <a:ln/>
        </p:spPr>
      </p:sp>
      <p:sp>
        <p:nvSpPr>
          <p:cNvPr id="18" name="Shape 15"/>
          <p:cNvSpPr/>
          <p:nvPr/>
        </p:nvSpPr>
        <p:spPr>
          <a:xfrm>
            <a:off x="6748272" y="1801368"/>
            <a:ext cx="146304" cy="146304"/>
          </a:xfrm>
          <a:prstGeom prst="ellipse">
            <a:avLst/>
          </a:prstGeom>
          <a:solidFill>
            <a:srgbClr val="ECB748"/>
          </a:solidFill>
          <a:ln/>
        </p:spPr>
      </p:sp>
      <p:sp>
        <p:nvSpPr>
          <p:cNvPr id="19" name="Shape 16"/>
          <p:cNvSpPr/>
          <p:nvPr/>
        </p:nvSpPr>
        <p:spPr>
          <a:xfrm>
            <a:off x="7004304" y="1801368"/>
            <a:ext cx="146304" cy="146304"/>
          </a:xfrm>
          <a:prstGeom prst="ellipse">
            <a:avLst/>
          </a:prstGeom>
          <a:solidFill>
            <a:srgbClr val="6B6B6B"/>
          </a:solidFill>
          <a:ln/>
        </p:spPr>
      </p:sp>
      <p:sp>
        <p:nvSpPr>
          <p:cNvPr id="20" name="Text 17"/>
          <p:cNvSpPr/>
          <p:nvPr/>
        </p:nvSpPr>
        <p:spPr>
          <a:xfrm>
            <a:off x="7406640" y="1746504"/>
            <a:ext cx="3977640" cy="256032"/>
          </a:xfrm>
          <a:prstGeom prst="rect">
            <a:avLst/>
          </a:prstGeom>
          <a:noFill/>
          <a:ln/>
        </p:spPr>
        <p:txBody>
          <a:bodyPr wrap="square" rtlCol="0" anchor="ctr"/>
          <a:lstStyle/>
          <a:p>
            <a:pPr indent="0" marL="0">
              <a:buNone/>
            </a:pPr>
            <a:r>
              <a:rPr lang="en-US" sz="1050" dirty="0">
                <a:solidFill>
                  <a:srgbClr val="9B9690"/>
                </a:solidFill>
                <a:latin typeface="Courier New" pitchFamily="34" charset="0"/>
                <a:ea typeface="Courier New" pitchFamily="34" charset="-122"/>
                <a:cs typeface="Courier New" pitchFamily="34" charset="-120"/>
              </a:rPr>
              <a:t>slice.R</a:t>
            </a:r>
            <a:endParaRPr lang="en-US" sz="1050" dirty="0"/>
          </a:p>
        </p:txBody>
      </p:sp>
      <p:sp>
        <p:nvSpPr>
          <p:cNvPr id="21" name="Shape 18"/>
          <p:cNvSpPr/>
          <p:nvPr/>
        </p:nvSpPr>
        <p:spPr>
          <a:xfrm>
            <a:off x="6309360" y="2103120"/>
            <a:ext cx="5166360" cy="0"/>
          </a:xfrm>
          <a:prstGeom prst="line">
            <a:avLst/>
          </a:prstGeom>
          <a:noFill/>
          <a:ln w="12700">
            <a:solidFill>
              <a:srgbClr val="444444"/>
            </a:solidFill>
            <a:prstDash val="solid"/>
          </a:ln>
        </p:spPr>
      </p:sp>
      <p:sp>
        <p:nvSpPr>
          <p:cNvPr id="22" name="Text 19"/>
          <p:cNvSpPr/>
          <p:nvPr/>
        </p:nvSpPr>
        <p:spPr>
          <a:xfrm>
            <a:off x="6537960" y="2240280"/>
            <a:ext cx="4709160" cy="329184"/>
          </a:xfrm>
          <a:prstGeom prst="rect">
            <a:avLst/>
          </a:prstGeom>
          <a:noFill/>
          <a:ln/>
        </p:spPr>
        <p:txBody>
          <a:bodyPr wrap="square" rtlCol="0" anchor="ctr"/>
          <a:lstStyle/>
          <a:p>
            <a:pPr indent="0" marL="0">
              <a:buNone/>
            </a:pPr>
            <a:r>
              <a:rPr lang="en-US" sz="1300" dirty="0">
                <a:solidFill>
                  <a:srgbClr val="FFFFFF"/>
                </a:solidFill>
                <a:latin typeface="Courier New" pitchFamily="34" charset="0"/>
                <a:ea typeface="Courier New" pitchFamily="34" charset="-122"/>
                <a:cs typeface="Courier New" pitchFamily="34" charset="-120"/>
              </a:rPr>
              <a:t>bp[2:4]      </a:t>
            </a:r>
            <a:pPr indent="0" marL="0">
              <a:buNone/>
            </a:pPr>
            <a:r>
              <a:rPr lang="en-US" sz="1300" dirty="0">
                <a:solidFill>
                  <a:srgbClr val="8A8A82"/>
                </a:solidFill>
                <a:latin typeface="Courier New" pitchFamily="34" charset="0"/>
                <a:ea typeface="Courier New" pitchFamily="34" charset="-122"/>
                <a:cs typeface="Courier New" pitchFamily="34" charset="-120"/>
              </a:rPr>
              <a:t># 122 141 130</a:t>
            </a:r>
            <a:endParaRPr lang="en-US" sz="1300" dirty="0"/>
          </a:p>
        </p:txBody>
      </p:sp>
      <p:sp>
        <p:nvSpPr>
          <p:cNvPr id="23" name="Text 20"/>
          <p:cNvSpPr/>
          <p:nvPr/>
        </p:nvSpPr>
        <p:spPr>
          <a:xfrm>
            <a:off x="6537960" y="2569464"/>
            <a:ext cx="4709160" cy="329184"/>
          </a:xfrm>
          <a:prstGeom prst="rect">
            <a:avLst/>
          </a:prstGeom>
          <a:noFill/>
          <a:ln/>
        </p:spPr>
        <p:txBody>
          <a:bodyPr wrap="square" rtlCol="0" anchor="ctr"/>
          <a:lstStyle/>
          <a:p>
            <a:pPr indent="0" marL="0">
              <a:buNone/>
            </a:pPr>
            <a:r>
              <a:rPr lang="en-US" sz="1300" dirty="0">
                <a:solidFill>
                  <a:srgbClr val="FFFFFF"/>
                </a:solidFill>
                <a:latin typeface="Courier New" pitchFamily="34" charset="0"/>
                <a:ea typeface="Courier New" pitchFamily="34" charset="-122"/>
                <a:cs typeface="Courier New" pitchFamily="34" charset="-120"/>
              </a:rPr>
              <a:t>bp[c(1,3,5)] </a:t>
            </a:r>
            <a:pPr indent="0" marL="0">
              <a:buNone/>
            </a:pPr>
            <a:r>
              <a:rPr lang="en-US" sz="1300" dirty="0">
                <a:solidFill>
                  <a:srgbClr val="8A8A82"/>
                </a:solidFill>
                <a:latin typeface="Courier New" pitchFamily="34" charset="0"/>
                <a:ea typeface="Courier New" pitchFamily="34" charset="-122"/>
                <a:cs typeface="Courier New" pitchFamily="34" charset="-120"/>
              </a:rPr>
              <a:t># 117 141 118</a:t>
            </a:r>
            <a:endParaRPr lang="en-US" sz="1300" dirty="0"/>
          </a:p>
        </p:txBody>
      </p:sp>
      <p:sp>
        <p:nvSpPr>
          <p:cNvPr id="24" name="Text 21"/>
          <p:cNvSpPr/>
          <p:nvPr/>
        </p:nvSpPr>
        <p:spPr>
          <a:xfrm>
            <a:off x="6537960" y="2898648"/>
            <a:ext cx="4709160" cy="329184"/>
          </a:xfrm>
          <a:prstGeom prst="rect">
            <a:avLst/>
          </a:prstGeom>
          <a:noFill/>
          <a:ln/>
        </p:spPr>
        <p:txBody>
          <a:bodyPr wrap="square" rtlCol="0" anchor="ctr"/>
          <a:lstStyle/>
          <a:p>
            <a:pPr indent="0" marL="0">
              <a:buNone/>
            </a:pPr>
            <a:r>
              <a:rPr lang="en-US" sz="1300" dirty="0">
                <a:solidFill>
                  <a:srgbClr val="FFFFFF"/>
                </a:solidFill>
                <a:latin typeface="Courier New" pitchFamily="34" charset="0"/>
                <a:ea typeface="Courier New" pitchFamily="34" charset="-122"/>
                <a:cs typeface="Courier New" pitchFamily="34" charset="-120"/>
              </a:rPr>
              <a:t>bp[-1]       </a:t>
            </a:r>
            <a:pPr indent="0" marL="0">
              <a:buNone/>
            </a:pPr>
            <a:r>
              <a:rPr lang="en-US" sz="1300" dirty="0">
                <a:solidFill>
                  <a:srgbClr val="8A8A82"/>
                </a:solidFill>
                <a:latin typeface="Courier New" pitchFamily="34" charset="0"/>
                <a:ea typeface="Courier New" pitchFamily="34" charset="-122"/>
                <a:cs typeface="Courier New" pitchFamily="34" charset="-120"/>
              </a:rPr>
              <a:t># drops elem 1</a:t>
            </a:r>
            <a:endParaRPr lang="en-US" sz="1300" dirty="0"/>
          </a:p>
        </p:txBody>
      </p:sp>
      <p:sp>
        <p:nvSpPr>
          <p:cNvPr id="25" name="Text 22"/>
          <p:cNvSpPr/>
          <p:nvPr/>
        </p:nvSpPr>
        <p:spPr>
          <a:xfrm>
            <a:off x="6537960" y="3227832"/>
            <a:ext cx="4709160" cy="329184"/>
          </a:xfrm>
          <a:prstGeom prst="rect">
            <a:avLst/>
          </a:prstGeom>
          <a:noFill/>
          <a:ln/>
        </p:spPr>
        <p:txBody>
          <a:bodyPr wrap="square" rtlCol="0" anchor="ctr"/>
          <a:lstStyle/>
          <a:p>
            <a:pPr indent="0" marL="0">
              <a:buNone/>
            </a:pPr>
            <a:r>
              <a:rPr lang="en-US" sz="1300" dirty="0">
                <a:solidFill>
                  <a:srgbClr val="F5F3EF"/>
                </a:solidFill>
                <a:latin typeface="Courier New" pitchFamily="34" charset="0"/>
                <a:ea typeface="Courier New" pitchFamily="34" charset="-122"/>
                <a:cs typeface="Courier New" pitchFamily="34" charset="-120"/>
              </a:rPr>
              <a:t>stop is </a:t>
            </a:r>
            <a:pPr indent="0" marL="0">
              <a:buNone/>
            </a:pPr>
            <a:r>
              <a:rPr lang="en-US" sz="1300" b="1" dirty="0">
                <a:solidFill>
                  <a:srgbClr val="B3C9CD"/>
                </a:solidFill>
                <a:latin typeface="Courier New" pitchFamily="34" charset="0"/>
                <a:ea typeface="Courier New" pitchFamily="34" charset="-122"/>
                <a:cs typeface="Courier New" pitchFamily="34" charset="-120"/>
              </a:rPr>
              <a:t>INCLUSIVE</a:t>
            </a:r>
            <a:endParaRPr lang="en-US" sz="1300" dirty="0"/>
          </a:p>
        </p:txBody>
      </p:sp>
      <p:sp>
        <p:nvSpPr>
          <p:cNvPr id="26" name="Shape 23"/>
          <p:cNvSpPr/>
          <p:nvPr/>
        </p:nvSpPr>
        <p:spPr>
          <a:xfrm>
            <a:off x="640080" y="3977640"/>
            <a:ext cx="10881360" cy="2423160"/>
          </a:xfrm>
          <a:prstGeom prst="roundRect">
            <a:avLst>
              <a:gd name="adj" fmla="val 3774"/>
            </a:avLst>
          </a:prstGeom>
          <a:solidFill>
            <a:srgbClr val="1C1C1C"/>
          </a:solidFill>
          <a:ln/>
        </p:spPr>
      </p:sp>
      <p:sp>
        <p:nvSpPr>
          <p:cNvPr id="27" name="Text 24"/>
          <p:cNvSpPr/>
          <p:nvPr/>
        </p:nvSpPr>
        <p:spPr>
          <a:xfrm>
            <a:off x="1005840" y="4251960"/>
            <a:ext cx="10149840" cy="320040"/>
          </a:xfrm>
          <a:prstGeom prst="rect">
            <a:avLst/>
          </a:prstGeom>
          <a:noFill/>
          <a:ln/>
        </p:spPr>
        <p:txBody>
          <a:bodyPr wrap="square" rtlCol="0" anchor="ctr"/>
          <a:lstStyle/>
          <a:p>
            <a:pPr indent="0" marL="0">
              <a:buNone/>
            </a:pPr>
            <a:r>
              <a:rPr lang="en-US" sz="1100" b="1" spc="200" kern="0" dirty="0">
                <a:solidFill>
                  <a:srgbClr val="ECB748"/>
                </a:solidFill>
                <a:latin typeface="Arial" pitchFamily="34" charset="0"/>
                <a:ea typeface="Arial" pitchFamily="34" charset="-122"/>
                <a:cs typeface="Arial" pitchFamily="34" charset="-120"/>
              </a:rPr>
              <a:t>THE CLASSIC TRAP</a:t>
            </a:r>
            <a:endParaRPr lang="en-US" sz="1100" dirty="0"/>
          </a:p>
        </p:txBody>
      </p:sp>
      <p:sp>
        <p:nvSpPr>
          <p:cNvPr id="28" name="Text 25"/>
          <p:cNvSpPr/>
          <p:nvPr/>
        </p:nvSpPr>
        <p:spPr>
          <a:xfrm>
            <a:off x="1005840" y="4709160"/>
            <a:ext cx="10149840" cy="640080"/>
          </a:xfrm>
          <a:prstGeom prst="rect">
            <a:avLst/>
          </a:prstGeom>
          <a:noFill/>
          <a:ln/>
        </p:spPr>
        <p:txBody>
          <a:bodyPr wrap="square" rtlCol="0" anchor="ctr"/>
          <a:lstStyle/>
          <a:p>
            <a:pPr indent="0" marL="0">
              <a:buNone/>
            </a:pPr>
            <a:r>
              <a:rPr lang="en-US" sz="1600" b="1" dirty="0">
                <a:solidFill>
                  <a:srgbClr val="FFFFFF"/>
                </a:solidFill>
                <a:latin typeface="Courier New" pitchFamily="34" charset="0"/>
                <a:ea typeface="Courier New" pitchFamily="34" charset="-122"/>
                <a:cs typeface="Courier New" pitchFamily="34" charset="-120"/>
              </a:rPr>
              <a:t>bp[</a:t>
            </a:r>
            <a:pPr indent="0" marL="0">
              <a:buNone/>
            </a:pPr>
            <a:r>
              <a:rPr lang="en-US" sz="1600" b="1" dirty="0">
                <a:solidFill>
                  <a:srgbClr val="D64550"/>
                </a:solidFill>
                <a:latin typeface="Courier New" pitchFamily="34" charset="0"/>
                <a:ea typeface="Courier New" pitchFamily="34" charset="-122"/>
                <a:cs typeface="Courier New" pitchFamily="34" charset="-120"/>
              </a:rPr>
              <a:t>-1</a:t>
            </a:r>
            <a:pPr indent="0" marL="0">
              <a:buNone/>
            </a:pPr>
            <a:r>
              <a:rPr lang="en-US" sz="1600" b="1" dirty="0">
                <a:solidFill>
                  <a:srgbClr val="FFFFFF"/>
                </a:solidFill>
                <a:latin typeface="Courier New" pitchFamily="34" charset="0"/>
                <a:ea typeface="Courier New" pitchFamily="34" charset="-122"/>
                <a:cs typeface="Courier New" pitchFamily="34" charset="-120"/>
              </a:rPr>
              <a:t>]</a:t>
            </a:r>
            <a:pPr indent="0" marL="0">
              <a:buNone/>
            </a:pPr>
            <a:r>
              <a:rPr lang="en-US" sz="1600" dirty="0">
                <a:solidFill>
                  <a:srgbClr val="9B9690"/>
                </a:solidFill>
                <a:latin typeface="Courier New" pitchFamily="34" charset="0"/>
                <a:ea typeface="Courier New" pitchFamily="34" charset="-122"/>
                <a:cs typeface="Courier New" pitchFamily="34" charset="-120"/>
              </a:rPr>
              <a:t>   Python → </a:t>
            </a:r>
            <a:pPr indent="0" marL="0">
              <a:buNone/>
            </a:pPr>
            <a:r>
              <a:rPr lang="en-US" sz="1600" b="1" dirty="0">
                <a:solidFill>
                  <a:srgbClr val="ECB748"/>
                </a:solidFill>
                <a:latin typeface="Courier New" pitchFamily="34" charset="0"/>
                <a:ea typeface="Courier New" pitchFamily="34" charset="-122"/>
                <a:cs typeface="Courier New" pitchFamily="34" charset="-120"/>
              </a:rPr>
              <a:t>last element</a:t>
            </a:r>
            <a:pPr indent="0" marL="0">
              <a:buNone/>
            </a:pPr>
            <a:r>
              <a:rPr lang="en-US" sz="1600" dirty="0">
                <a:solidFill>
                  <a:srgbClr val="9B9690"/>
                </a:solidFill>
                <a:latin typeface="Courier New" pitchFamily="34" charset="0"/>
                <a:ea typeface="Courier New" pitchFamily="34" charset="-122"/>
                <a:cs typeface="Courier New" pitchFamily="34" charset="-120"/>
              </a:rPr>
              <a:t>     R → </a:t>
            </a:r>
            <a:pPr indent="0" marL="0">
              <a:buNone/>
            </a:pPr>
            <a:r>
              <a:rPr lang="en-US" sz="1600" b="1" dirty="0">
                <a:solidFill>
                  <a:srgbClr val="B3C9CD"/>
                </a:solidFill>
                <a:latin typeface="Courier New" pitchFamily="34" charset="0"/>
                <a:ea typeface="Courier New" pitchFamily="34" charset="-122"/>
                <a:cs typeface="Courier New" pitchFamily="34" charset="-120"/>
              </a:rPr>
              <a:t>everything except the first</a:t>
            </a:r>
            <a:endParaRPr lang="en-US" sz="1600" dirty="0"/>
          </a:p>
        </p:txBody>
      </p:sp>
      <p:sp>
        <p:nvSpPr>
          <p:cNvPr id="29" name="Shape 26"/>
          <p:cNvSpPr/>
          <p:nvPr/>
        </p:nvSpPr>
        <p:spPr>
          <a:xfrm>
            <a:off x="1005840" y="5486400"/>
            <a:ext cx="10149840" cy="0"/>
          </a:xfrm>
          <a:prstGeom prst="line">
            <a:avLst/>
          </a:prstGeom>
          <a:noFill/>
          <a:ln w="12700">
            <a:solidFill>
              <a:srgbClr val="444444"/>
            </a:solidFill>
            <a:prstDash val="solid"/>
          </a:ln>
        </p:spPr>
      </p:sp>
      <p:sp>
        <p:nvSpPr>
          <p:cNvPr id="30" name="Text 27"/>
          <p:cNvSpPr/>
          <p:nvPr/>
        </p:nvSpPr>
        <p:spPr>
          <a:xfrm>
            <a:off x="1005840" y="5669280"/>
            <a:ext cx="10149840" cy="640080"/>
          </a:xfrm>
          <a:prstGeom prst="rect">
            <a:avLst/>
          </a:prstGeom>
          <a:noFill/>
          <a:ln/>
        </p:spPr>
        <p:txBody>
          <a:bodyPr wrap="square" rtlCol="0" anchor="ctr"/>
          <a:lstStyle/>
          <a:p>
            <a:pPr indent="0" marL="0">
              <a:lnSpc>
                <a:spcPct val="130000"/>
              </a:lnSpc>
              <a:buNone/>
            </a:pPr>
            <a:r>
              <a:rPr lang="en-US" sz="1350" dirty="0">
                <a:solidFill>
                  <a:srgbClr val="F5F3EF"/>
                </a:solidFill>
                <a:latin typeface="Arial" pitchFamily="34" charset="0"/>
                <a:ea typeface="Arial" pitchFamily="34" charset="-122"/>
                <a:cs typeface="Arial" pitchFamily="34" charset="-120"/>
              </a:rPr>
              <a:t>The same syntax means completely different things. </a:t>
            </a:r>
            <a:pPr indent="0" marL="0">
              <a:lnSpc>
                <a:spcPct val="130000"/>
              </a:lnSpc>
              <a:buNone/>
            </a:pPr>
            <a:r>
              <a:rPr lang="en-US" sz="1350" b="1" dirty="0">
                <a:solidFill>
                  <a:srgbClr val="F5F3EF"/>
                </a:solidFill>
                <a:latin typeface="Arial" pitchFamily="34" charset="0"/>
                <a:ea typeface="Arial" pitchFamily="34" charset="-122"/>
                <a:cs typeface="Arial" pitchFamily="34" charset="-120"/>
              </a:rPr>
              <a:t>When you paste code from ChatGPT written for one language into the other, this is a common silent bug.</a:t>
            </a:r>
            <a:endParaRPr lang="en-US" sz="1350" dirty="0"/>
          </a:p>
        </p:txBody>
      </p:sp>
      <p:sp>
        <p:nvSpPr>
          <p:cNvPr id="31" name="Text 28"/>
          <p:cNvSpPr/>
          <p:nvPr/>
        </p:nvSpPr>
        <p:spPr>
          <a:xfrm>
            <a:off x="11368735" y="6492240"/>
            <a:ext cx="457200" cy="274320"/>
          </a:xfrm>
          <a:prstGeom prst="rect">
            <a:avLst/>
          </a:prstGeom>
          <a:noFill/>
          <a:ln/>
        </p:spPr>
        <p:txBody>
          <a:bodyPr wrap="square" rtlCol="0" anchor="ctr"/>
          <a:lstStyle/>
          <a:p>
            <a:pPr algn="r" indent="0" marL="0">
              <a:buNone/>
            </a:pPr>
            <a:r>
              <a:rPr lang="en-US" sz="900" dirty="0">
                <a:solidFill>
                  <a:srgbClr val="9B9B9B"/>
                </a:solidFill>
                <a:latin typeface="Arial" pitchFamily="34" charset="0"/>
                <a:ea typeface="Arial" pitchFamily="34" charset="-122"/>
                <a:cs typeface="Arial" pitchFamily="34" charset="-120"/>
              </a:rPr>
              <a:t>7</a:t>
            </a:r>
            <a:endParaRPr lang="en-US" sz="900" dirty="0"/>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Image 0" descr="/private/tmp/claude-503/-Users-boryczjd-claude-vanderbilt-database-assistant--claude-worktrees-publishing-citation-data-uses-8ba05f/250e4720-0954-4187-8930-09caab2cbef2/scratchpad/slides_build/vu_mark_gold.png">    </p:cNvPr>
          <p:cNvPicPr>
            <a:picLocks noChangeAspect="1"/>
          </p:cNvPicPr>
          <p:nvPr/>
        </p:nvPicPr>
        <p:blipFill>
          <a:blip r:embed="rId2"/>
          <a:stretch>
            <a:fillRect/>
          </a:stretch>
        </p:blipFill>
        <p:spPr>
          <a:xfrm>
            <a:off x="11231575" y="365760"/>
            <a:ext cx="457200" cy="327660"/>
          </a:xfrm>
          <a:prstGeom prst="rect">
            <a:avLst/>
          </a:prstGeom>
        </p:spPr>
      </p:pic>
      <p:sp>
        <p:nvSpPr>
          <p:cNvPr id="3" name="Shape 0"/>
          <p:cNvSpPr/>
          <p:nvPr/>
        </p:nvSpPr>
        <p:spPr>
          <a:xfrm>
            <a:off x="640080" y="457200"/>
            <a:ext cx="2181758" cy="292608"/>
          </a:xfrm>
          <a:prstGeom prst="roundRect">
            <a:avLst>
              <a:gd name="adj" fmla="val 50000"/>
            </a:avLst>
          </a:prstGeom>
          <a:solidFill>
            <a:srgbClr val="ECB748"/>
          </a:solidFill>
          <a:ln/>
        </p:spPr>
      </p:sp>
      <p:sp>
        <p:nvSpPr>
          <p:cNvPr id="4" name="Text 1"/>
          <p:cNvSpPr/>
          <p:nvPr/>
        </p:nvSpPr>
        <p:spPr>
          <a:xfrm>
            <a:off x="640080" y="457200"/>
            <a:ext cx="2181758" cy="292608"/>
          </a:xfrm>
          <a:prstGeom prst="rect">
            <a:avLst/>
          </a:prstGeom>
          <a:noFill/>
          <a:ln/>
        </p:spPr>
        <p:txBody>
          <a:bodyPr wrap="square" rtlCol="0" anchor="ctr"/>
          <a:lstStyle/>
          <a:p>
            <a:pPr algn="ctr" indent="0" marL="0">
              <a:buNone/>
            </a:pPr>
            <a:r>
              <a:rPr lang="en-US" sz="1100" b="1" spc="100" kern="0" dirty="0">
                <a:solidFill>
                  <a:srgbClr val="1C1C1C"/>
                </a:solidFill>
                <a:latin typeface="Arial" pitchFamily="34" charset="0"/>
                <a:ea typeface="Arial" pitchFamily="34" charset="-122"/>
                <a:cs typeface="Arial" pitchFamily="34" charset="-120"/>
              </a:rPr>
              <a:t>23–26 MIN  ·  PREDICT FIRST</a:t>
            </a:r>
            <a:endParaRPr lang="en-US" sz="1100" dirty="0"/>
          </a:p>
        </p:txBody>
      </p:sp>
      <p:sp>
        <p:nvSpPr>
          <p:cNvPr id="5" name="Text 2"/>
          <p:cNvSpPr/>
          <p:nvPr/>
        </p:nvSpPr>
        <p:spPr>
          <a:xfrm>
            <a:off x="640080" y="822960"/>
            <a:ext cx="10058400" cy="594360"/>
          </a:xfrm>
          <a:prstGeom prst="rect">
            <a:avLst/>
          </a:prstGeom>
          <a:noFill/>
          <a:ln/>
        </p:spPr>
        <p:txBody>
          <a:bodyPr wrap="square" rtlCol="0" anchor="ctr"/>
          <a:lstStyle/>
          <a:p>
            <a:pPr indent="0" marL="0">
              <a:buNone/>
            </a:pPr>
            <a:r>
              <a:rPr lang="en-US" sz="2800" b="1" dirty="0">
                <a:solidFill>
                  <a:srgbClr val="1C1C1C"/>
                </a:solidFill>
                <a:latin typeface="Arial" pitchFamily="34" charset="0"/>
                <a:ea typeface="Arial" pitchFamily="34" charset="-122"/>
                <a:cs typeface="Arial" pitchFamily="34" charset="-120"/>
              </a:rPr>
              <a:t>Predict — ninety seconds, with a neighbour</a:t>
            </a:r>
            <a:endParaRPr lang="en-US" sz="2800" dirty="0"/>
          </a:p>
        </p:txBody>
      </p:sp>
      <p:sp>
        <p:nvSpPr>
          <p:cNvPr id="6" name="Shape 3"/>
          <p:cNvSpPr/>
          <p:nvPr/>
        </p:nvSpPr>
        <p:spPr>
          <a:xfrm>
            <a:off x="640080" y="1600200"/>
            <a:ext cx="5257800" cy="2103120"/>
          </a:xfrm>
          <a:prstGeom prst="roundRect">
            <a:avLst>
              <a:gd name="adj" fmla="val 4348"/>
            </a:avLst>
          </a:prstGeom>
          <a:solidFill>
            <a:srgbClr val="2E2E2E"/>
          </a:solidFill>
          <a:ln w="12700">
            <a:solidFill>
              <a:srgbClr val="444444"/>
            </a:solidFill>
            <a:prstDash val="solid"/>
          </a:ln>
        </p:spPr>
      </p:sp>
      <p:sp>
        <p:nvSpPr>
          <p:cNvPr id="7" name="Shape 4"/>
          <p:cNvSpPr/>
          <p:nvPr/>
        </p:nvSpPr>
        <p:spPr>
          <a:xfrm>
            <a:off x="868680" y="1801368"/>
            <a:ext cx="146304" cy="146304"/>
          </a:xfrm>
          <a:prstGeom prst="ellipse">
            <a:avLst/>
          </a:prstGeom>
          <a:solidFill>
            <a:srgbClr val="D64550"/>
          </a:solidFill>
          <a:ln/>
        </p:spPr>
      </p:sp>
      <p:sp>
        <p:nvSpPr>
          <p:cNvPr id="8" name="Shape 5"/>
          <p:cNvSpPr/>
          <p:nvPr/>
        </p:nvSpPr>
        <p:spPr>
          <a:xfrm>
            <a:off x="1124712" y="1801368"/>
            <a:ext cx="146304" cy="146304"/>
          </a:xfrm>
          <a:prstGeom prst="ellipse">
            <a:avLst/>
          </a:prstGeom>
          <a:solidFill>
            <a:srgbClr val="ECB748"/>
          </a:solidFill>
          <a:ln/>
        </p:spPr>
      </p:sp>
      <p:sp>
        <p:nvSpPr>
          <p:cNvPr id="9" name="Shape 6"/>
          <p:cNvSpPr/>
          <p:nvPr/>
        </p:nvSpPr>
        <p:spPr>
          <a:xfrm>
            <a:off x="1380744" y="1801368"/>
            <a:ext cx="146304" cy="146304"/>
          </a:xfrm>
          <a:prstGeom prst="ellipse">
            <a:avLst/>
          </a:prstGeom>
          <a:solidFill>
            <a:srgbClr val="6B6B6B"/>
          </a:solidFill>
          <a:ln/>
        </p:spPr>
      </p:sp>
      <p:sp>
        <p:nvSpPr>
          <p:cNvPr id="10" name="Text 7"/>
          <p:cNvSpPr/>
          <p:nvPr/>
        </p:nvSpPr>
        <p:spPr>
          <a:xfrm>
            <a:off x="1783080" y="1746504"/>
            <a:ext cx="3977640" cy="256032"/>
          </a:xfrm>
          <a:prstGeom prst="rect">
            <a:avLst/>
          </a:prstGeom>
          <a:noFill/>
          <a:ln/>
        </p:spPr>
        <p:txBody>
          <a:bodyPr wrap="square" rtlCol="0" anchor="ctr"/>
          <a:lstStyle/>
          <a:p>
            <a:pPr indent="0" marL="0">
              <a:buNone/>
            </a:pPr>
            <a:r>
              <a:rPr lang="en-US" sz="1050" dirty="0">
                <a:solidFill>
                  <a:srgbClr val="9B9690"/>
                </a:solidFill>
                <a:latin typeface="Courier New" pitchFamily="34" charset="0"/>
                <a:ea typeface="Courier New" pitchFamily="34" charset="-122"/>
                <a:cs typeface="Courier New" pitchFamily="34" charset="-120"/>
              </a:rPr>
              <a:t>python</a:t>
            </a:r>
            <a:endParaRPr lang="en-US" sz="1050" dirty="0"/>
          </a:p>
        </p:txBody>
      </p:sp>
      <p:sp>
        <p:nvSpPr>
          <p:cNvPr id="11" name="Shape 8"/>
          <p:cNvSpPr/>
          <p:nvPr/>
        </p:nvSpPr>
        <p:spPr>
          <a:xfrm>
            <a:off x="685800" y="2103120"/>
            <a:ext cx="5166360" cy="0"/>
          </a:xfrm>
          <a:prstGeom prst="line">
            <a:avLst/>
          </a:prstGeom>
          <a:noFill/>
          <a:ln w="12700">
            <a:solidFill>
              <a:srgbClr val="444444"/>
            </a:solidFill>
            <a:prstDash val="solid"/>
          </a:ln>
        </p:spPr>
      </p:sp>
      <p:sp>
        <p:nvSpPr>
          <p:cNvPr id="12" name="Text 9"/>
          <p:cNvSpPr/>
          <p:nvPr/>
        </p:nvSpPr>
        <p:spPr>
          <a:xfrm>
            <a:off x="914400" y="2240280"/>
            <a:ext cx="4709160" cy="329184"/>
          </a:xfrm>
          <a:prstGeom prst="rect">
            <a:avLst/>
          </a:prstGeom>
          <a:noFill/>
          <a:ln/>
        </p:spPr>
        <p:txBody>
          <a:bodyPr wrap="square" rtlCol="0" anchor="ctr"/>
          <a:lstStyle/>
          <a:p>
            <a:pPr indent="0" marL="0">
              <a:buNone/>
            </a:pPr>
            <a:r>
              <a:rPr lang="en-US" sz="1300" dirty="0">
                <a:solidFill>
                  <a:srgbClr val="FFFFFF"/>
                </a:solidFill>
                <a:latin typeface="Courier New" pitchFamily="34" charset="0"/>
                <a:ea typeface="Courier New" pitchFamily="34" charset="-122"/>
                <a:cs typeface="Courier New" pitchFamily="34" charset="-120"/>
              </a:rPr>
              <a:t>bp = [117, 122, 141, 130, 118]</a:t>
            </a:r>
            <a:pPr indent="0" marL="0">
              <a:buNone/>
            </a:pPr>
            <a:endParaRPr lang="en-US" sz="1300" dirty="0"/>
          </a:p>
        </p:txBody>
      </p:sp>
      <p:sp>
        <p:nvSpPr>
          <p:cNvPr id="13" name="Text 10"/>
          <p:cNvSpPr/>
          <p:nvPr/>
        </p:nvSpPr>
        <p:spPr>
          <a:xfrm>
            <a:off x="914400" y="2569464"/>
            <a:ext cx="4709160" cy="329184"/>
          </a:xfrm>
          <a:prstGeom prst="rect">
            <a:avLst/>
          </a:prstGeom>
          <a:noFill/>
          <a:ln/>
        </p:spPr>
        <p:txBody>
          <a:bodyPr wrap="square" rtlCol="0" anchor="ctr"/>
          <a:lstStyle/>
          <a:p>
            <a:pPr indent="0" marL="0">
              <a:buNone/>
            </a:pPr>
            <a:r>
              <a:rPr lang="en-US" sz="1300" dirty="0">
                <a:solidFill>
                  <a:srgbClr val="FFFFFF"/>
                </a:solidFill>
                <a:latin typeface="Courier New" pitchFamily="34" charset="0"/>
                <a:ea typeface="Courier New" pitchFamily="34" charset="-122"/>
                <a:cs typeface="Courier New" pitchFamily="34" charset="-120"/>
              </a:rPr>
              <a:t>bp[2]        bp[1:3]</a:t>
            </a:r>
            <a:pPr indent="0" marL="0">
              <a:buNone/>
            </a:pPr>
            <a:endParaRPr lang="en-US" sz="1300" dirty="0"/>
          </a:p>
        </p:txBody>
      </p:sp>
      <p:sp>
        <p:nvSpPr>
          <p:cNvPr id="14" name="Text 11"/>
          <p:cNvSpPr/>
          <p:nvPr/>
        </p:nvSpPr>
        <p:spPr>
          <a:xfrm>
            <a:off x="914400" y="2898648"/>
            <a:ext cx="4709160" cy="329184"/>
          </a:xfrm>
          <a:prstGeom prst="rect">
            <a:avLst/>
          </a:prstGeom>
          <a:noFill/>
          <a:ln/>
        </p:spPr>
        <p:txBody>
          <a:bodyPr wrap="square" rtlCol="0" anchor="ctr"/>
          <a:lstStyle/>
          <a:p>
            <a:pPr indent="0" marL="0">
              <a:buNone/>
            </a:pPr>
            <a:r>
              <a:rPr lang="en-US" sz="1300" dirty="0">
                <a:solidFill>
                  <a:srgbClr val="FFFFFF"/>
                </a:solidFill>
                <a:latin typeface="Courier New" pitchFamily="34" charset="0"/>
                <a:ea typeface="Courier New" pitchFamily="34" charset="-122"/>
                <a:cs typeface="Courier New" pitchFamily="34" charset="-120"/>
              </a:rPr>
              <a:t>bp[-2]       bp[:0]</a:t>
            </a:r>
            <a:pPr indent="0" marL="0">
              <a:buNone/>
            </a:pPr>
            <a:endParaRPr lang="en-US" sz="1300" dirty="0"/>
          </a:p>
        </p:txBody>
      </p:sp>
      <p:sp>
        <p:nvSpPr>
          <p:cNvPr id="15" name="Text 12"/>
          <p:cNvSpPr/>
          <p:nvPr/>
        </p:nvSpPr>
        <p:spPr>
          <a:xfrm>
            <a:off x="914400" y="3227832"/>
            <a:ext cx="4709160" cy="329184"/>
          </a:xfrm>
          <a:prstGeom prst="rect">
            <a:avLst/>
          </a:prstGeom>
          <a:noFill/>
          <a:ln/>
        </p:spPr>
        <p:txBody>
          <a:bodyPr wrap="square" rtlCol="0" anchor="ctr"/>
          <a:lstStyle/>
          <a:p>
            <a:pPr indent="0" marL="0">
              <a:buNone/>
            </a:pPr>
            <a:r>
              <a:rPr lang="en-US" sz="1300" dirty="0">
                <a:solidFill>
                  <a:srgbClr val="F5F3EF"/>
                </a:solidFill>
                <a:latin typeface="Courier New" pitchFamily="34" charset="0"/>
                <a:ea typeface="Courier New" pitchFamily="34" charset="-122"/>
                <a:cs typeface="Courier New" pitchFamily="34" charset="-120"/>
              </a:rPr>
              <a:t>four answers</a:t>
            </a:r>
            <a:pPr indent="0" marL="0">
              <a:buNone/>
            </a:pPr>
            <a:endParaRPr lang="en-US" sz="1300" dirty="0"/>
          </a:p>
        </p:txBody>
      </p:sp>
      <p:sp>
        <p:nvSpPr>
          <p:cNvPr id="16" name="Shape 13"/>
          <p:cNvSpPr/>
          <p:nvPr/>
        </p:nvSpPr>
        <p:spPr>
          <a:xfrm>
            <a:off x="6263640" y="1600200"/>
            <a:ext cx="5257800" cy="2103120"/>
          </a:xfrm>
          <a:prstGeom prst="roundRect">
            <a:avLst>
              <a:gd name="adj" fmla="val 4348"/>
            </a:avLst>
          </a:prstGeom>
          <a:solidFill>
            <a:srgbClr val="2E2E2E"/>
          </a:solidFill>
          <a:ln w="12700">
            <a:solidFill>
              <a:srgbClr val="444444"/>
            </a:solidFill>
            <a:prstDash val="solid"/>
          </a:ln>
        </p:spPr>
      </p:sp>
      <p:sp>
        <p:nvSpPr>
          <p:cNvPr id="17" name="Shape 14"/>
          <p:cNvSpPr/>
          <p:nvPr/>
        </p:nvSpPr>
        <p:spPr>
          <a:xfrm>
            <a:off x="6492240" y="1801368"/>
            <a:ext cx="146304" cy="146304"/>
          </a:xfrm>
          <a:prstGeom prst="ellipse">
            <a:avLst/>
          </a:prstGeom>
          <a:solidFill>
            <a:srgbClr val="D64550"/>
          </a:solidFill>
          <a:ln/>
        </p:spPr>
      </p:sp>
      <p:sp>
        <p:nvSpPr>
          <p:cNvPr id="18" name="Shape 15"/>
          <p:cNvSpPr/>
          <p:nvPr/>
        </p:nvSpPr>
        <p:spPr>
          <a:xfrm>
            <a:off x="6748272" y="1801368"/>
            <a:ext cx="146304" cy="146304"/>
          </a:xfrm>
          <a:prstGeom prst="ellipse">
            <a:avLst/>
          </a:prstGeom>
          <a:solidFill>
            <a:srgbClr val="ECB748"/>
          </a:solidFill>
          <a:ln/>
        </p:spPr>
      </p:sp>
      <p:sp>
        <p:nvSpPr>
          <p:cNvPr id="19" name="Shape 16"/>
          <p:cNvSpPr/>
          <p:nvPr/>
        </p:nvSpPr>
        <p:spPr>
          <a:xfrm>
            <a:off x="7004304" y="1801368"/>
            <a:ext cx="146304" cy="146304"/>
          </a:xfrm>
          <a:prstGeom prst="ellipse">
            <a:avLst/>
          </a:prstGeom>
          <a:solidFill>
            <a:srgbClr val="6B6B6B"/>
          </a:solidFill>
          <a:ln/>
        </p:spPr>
      </p:sp>
      <p:sp>
        <p:nvSpPr>
          <p:cNvPr id="20" name="Text 17"/>
          <p:cNvSpPr/>
          <p:nvPr/>
        </p:nvSpPr>
        <p:spPr>
          <a:xfrm>
            <a:off x="7406640" y="1746504"/>
            <a:ext cx="3977640" cy="256032"/>
          </a:xfrm>
          <a:prstGeom prst="rect">
            <a:avLst/>
          </a:prstGeom>
          <a:noFill/>
          <a:ln/>
        </p:spPr>
        <p:txBody>
          <a:bodyPr wrap="square" rtlCol="0" anchor="ctr"/>
          <a:lstStyle/>
          <a:p>
            <a:pPr indent="0" marL="0">
              <a:buNone/>
            </a:pPr>
            <a:r>
              <a:rPr lang="en-US" sz="1050" dirty="0">
                <a:solidFill>
                  <a:srgbClr val="9B9690"/>
                </a:solidFill>
                <a:latin typeface="Courier New" pitchFamily="34" charset="0"/>
                <a:ea typeface="Courier New" pitchFamily="34" charset="-122"/>
                <a:cs typeface="Courier New" pitchFamily="34" charset="-120"/>
              </a:rPr>
              <a:t>R</a:t>
            </a:r>
            <a:endParaRPr lang="en-US" sz="1050" dirty="0"/>
          </a:p>
        </p:txBody>
      </p:sp>
      <p:sp>
        <p:nvSpPr>
          <p:cNvPr id="21" name="Shape 18"/>
          <p:cNvSpPr/>
          <p:nvPr/>
        </p:nvSpPr>
        <p:spPr>
          <a:xfrm>
            <a:off x="6309360" y="2103120"/>
            <a:ext cx="5166360" cy="0"/>
          </a:xfrm>
          <a:prstGeom prst="line">
            <a:avLst/>
          </a:prstGeom>
          <a:noFill/>
          <a:ln w="12700">
            <a:solidFill>
              <a:srgbClr val="444444"/>
            </a:solidFill>
            <a:prstDash val="solid"/>
          </a:ln>
        </p:spPr>
      </p:sp>
      <p:sp>
        <p:nvSpPr>
          <p:cNvPr id="22" name="Text 19"/>
          <p:cNvSpPr/>
          <p:nvPr/>
        </p:nvSpPr>
        <p:spPr>
          <a:xfrm>
            <a:off x="6537960" y="2240280"/>
            <a:ext cx="4709160" cy="329184"/>
          </a:xfrm>
          <a:prstGeom prst="rect">
            <a:avLst/>
          </a:prstGeom>
          <a:noFill/>
          <a:ln/>
        </p:spPr>
        <p:txBody>
          <a:bodyPr wrap="square" rtlCol="0" anchor="ctr"/>
          <a:lstStyle/>
          <a:p>
            <a:pPr indent="0" marL="0">
              <a:buNone/>
            </a:pPr>
            <a:r>
              <a:rPr lang="en-US" sz="1300" dirty="0">
                <a:solidFill>
                  <a:srgbClr val="FFFFFF"/>
                </a:solidFill>
                <a:latin typeface="Courier New" pitchFamily="34" charset="0"/>
                <a:ea typeface="Courier New" pitchFamily="34" charset="-122"/>
                <a:cs typeface="Courier New" pitchFamily="34" charset="-120"/>
              </a:rPr>
              <a:t>bp &lt;- c(117, 122, 141, 130, 118)</a:t>
            </a:r>
            <a:pPr indent="0" marL="0">
              <a:buNone/>
            </a:pPr>
            <a:endParaRPr lang="en-US" sz="1300" dirty="0"/>
          </a:p>
        </p:txBody>
      </p:sp>
      <p:sp>
        <p:nvSpPr>
          <p:cNvPr id="23" name="Text 20"/>
          <p:cNvSpPr/>
          <p:nvPr/>
        </p:nvSpPr>
        <p:spPr>
          <a:xfrm>
            <a:off x="6537960" y="2569464"/>
            <a:ext cx="4709160" cy="329184"/>
          </a:xfrm>
          <a:prstGeom prst="rect">
            <a:avLst/>
          </a:prstGeom>
          <a:noFill/>
          <a:ln/>
        </p:spPr>
        <p:txBody>
          <a:bodyPr wrap="square" rtlCol="0" anchor="ctr"/>
          <a:lstStyle/>
          <a:p>
            <a:pPr indent="0" marL="0">
              <a:buNone/>
            </a:pPr>
            <a:r>
              <a:rPr lang="en-US" sz="1300" dirty="0">
                <a:solidFill>
                  <a:srgbClr val="FFFFFF"/>
                </a:solidFill>
                <a:latin typeface="Courier New" pitchFamily="34" charset="0"/>
                <a:ea typeface="Courier New" pitchFamily="34" charset="-122"/>
                <a:cs typeface="Courier New" pitchFamily="34" charset="-120"/>
              </a:rPr>
              <a:t>bp[2]        bp[1:3]</a:t>
            </a:r>
            <a:pPr indent="0" marL="0">
              <a:buNone/>
            </a:pPr>
            <a:endParaRPr lang="en-US" sz="1300" dirty="0"/>
          </a:p>
        </p:txBody>
      </p:sp>
      <p:sp>
        <p:nvSpPr>
          <p:cNvPr id="24" name="Text 21"/>
          <p:cNvSpPr/>
          <p:nvPr/>
        </p:nvSpPr>
        <p:spPr>
          <a:xfrm>
            <a:off x="6537960" y="2898648"/>
            <a:ext cx="4709160" cy="329184"/>
          </a:xfrm>
          <a:prstGeom prst="rect">
            <a:avLst/>
          </a:prstGeom>
          <a:noFill/>
          <a:ln/>
        </p:spPr>
        <p:txBody>
          <a:bodyPr wrap="square" rtlCol="0" anchor="ctr"/>
          <a:lstStyle/>
          <a:p>
            <a:pPr indent="0" marL="0">
              <a:buNone/>
            </a:pPr>
            <a:r>
              <a:rPr lang="en-US" sz="1300" dirty="0">
                <a:solidFill>
                  <a:srgbClr val="FFFFFF"/>
                </a:solidFill>
                <a:latin typeface="Courier New" pitchFamily="34" charset="0"/>
                <a:ea typeface="Courier New" pitchFamily="34" charset="-122"/>
                <a:cs typeface="Courier New" pitchFamily="34" charset="-120"/>
              </a:rPr>
              <a:t>bp[-2]       bp[0]</a:t>
            </a:r>
            <a:pPr indent="0" marL="0">
              <a:buNone/>
            </a:pPr>
            <a:endParaRPr lang="en-US" sz="1300" dirty="0"/>
          </a:p>
        </p:txBody>
      </p:sp>
      <p:sp>
        <p:nvSpPr>
          <p:cNvPr id="25" name="Text 22"/>
          <p:cNvSpPr/>
          <p:nvPr/>
        </p:nvSpPr>
        <p:spPr>
          <a:xfrm>
            <a:off x="6537960" y="3227832"/>
            <a:ext cx="4709160" cy="329184"/>
          </a:xfrm>
          <a:prstGeom prst="rect">
            <a:avLst/>
          </a:prstGeom>
          <a:noFill/>
          <a:ln/>
        </p:spPr>
        <p:txBody>
          <a:bodyPr wrap="square" rtlCol="0" anchor="ctr"/>
          <a:lstStyle/>
          <a:p>
            <a:pPr indent="0" marL="0">
              <a:buNone/>
            </a:pPr>
            <a:r>
              <a:rPr lang="en-US" sz="1300" dirty="0">
                <a:solidFill>
                  <a:srgbClr val="F5F3EF"/>
                </a:solidFill>
                <a:latin typeface="Courier New" pitchFamily="34" charset="0"/>
                <a:ea typeface="Courier New" pitchFamily="34" charset="-122"/>
                <a:cs typeface="Courier New" pitchFamily="34" charset="-120"/>
              </a:rPr>
              <a:t>four more</a:t>
            </a:r>
            <a:pPr indent="0" marL="0">
              <a:buNone/>
            </a:pPr>
            <a:endParaRPr lang="en-US" sz="1300" dirty="0"/>
          </a:p>
        </p:txBody>
      </p:sp>
      <p:sp>
        <p:nvSpPr>
          <p:cNvPr id="26" name="Shape 23"/>
          <p:cNvSpPr/>
          <p:nvPr/>
        </p:nvSpPr>
        <p:spPr>
          <a:xfrm>
            <a:off x="640080" y="3977640"/>
            <a:ext cx="10881360" cy="2423160"/>
          </a:xfrm>
          <a:prstGeom prst="roundRect">
            <a:avLst>
              <a:gd name="adj" fmla="val 3774"/>
            </a:avLst>
          </a:prstGeom>
          <a:solidFill>
            <a:srgbClr val="1C1C1C"/>
          </a:solidFill>
          <a:ln/>
        </p:spPr>
      </p:sp>
      <p:sp>
        <p:nvSpPr>
          <p:cNvPr id="27" name="Text 24"/>
          <p:cNvSpPr/>
          <p:nvPr/>
        </p:nvSpPr>
        <p:spPr>
          <a:xfrm>
            <a:off x="1005840" y="4251960"/>
            <a:ext cx="10149840" cy="320040"/>
          </a:xfrm>
          <a:prstGeom prst="rect">
            <a:avLst/>
          </a:prstGeom>
          <a:noFill/>
          <a:ln/>
        </p:spPr>
        <p:txBody>
          <a:bodyPr wrap="square" rtlCol="0" anchor="ctr"/>
          <a:lstStyle/>
          <a:p>
            <a:pPr indent="0" marL="0">
              <a:buNone/>
            </a:pPr>
            <a:r>
              <a:rPr lang="en-US" sz="1100" b="1" spc="200" kern="0" dirty="0">
                <a:solidFill>
                  <a:srgbClr val="ECB748"/>
                </a:solidFill>
                <a:latin typeface="Arial" pitchFamily="34" charset="0"/>
                <a:ea typeface="Arial" pitchFamily="34" charset="-122"/>
                <a:cs typeface="Arial" pitchFamily="34" charset="-120"/>
              </a:rPr>
              <a:t>WRITE ALL EIGHT DOWN BEFORE ANYONE RUNS ANYTHING</a:t>
            </a:r>
            <a:endParaRPr lang="en-US" sz="1100" dirty="0"/>
          </a:p>
        </p:txBody>
      </p:sp>
      <p:sp>
        <p:nvSpPr>
          <p:cNvPr id="28" name="Text 25"/>
          <p:cNvSpPr/>
          <p:nvPr/>
        </p:nvSpPr>
        <p:spPr>
          <a:xfrm>
            <a:off x="1005840" y="4709160"/>
            <a:ext cx="10149840" cy="640080"/>
          </a:xfrm>
          <a:prstGeom prst="rect">
            <a:avLst/>
          </a:prstGeom>
          <a:noFill/>
          <a:ln/>
        </p:spPr>
        <p:txBody>
          <a:bodyPr wrap="square" rtlCol="0" anchor="ctr"/>
          <a:lstStyle/>
          <a:p>
            <a:pPr indent="0" marL="0">
              <a:buNone/>
            </a:pPr>
            <a:r>
              <a:rPr lang="en-US" sz="1600" b="1" dirty="0">
                <a:solidFill>
                  <a:srgbClr val="FFFFFF"/>
                </a:solidFill>
                <a:latin typeface="Courier New" pitchFamily="34" charset="0"/>
                <a:ea typeface="Courier New" pitchFamily="34" charset="-122"/>
                <a:cs typeface="Courier New" pitchFamily="34" charset="-120"/>
              </a:rPr>
              <a:t>Two of the eight return nothing at all. Which two — and is that an error?</a:t>
            </a:r>
            <a:pPr indent="0" marL="0">
              <a:buNone/>
            </a:pPr>
            <a:pPr indent="0" marL="0">
              <a:buNone/>
            </a:pPr>
            <a:pPr indent="0" marL="0">
              <a:buNone/>
            </a:pPr>
            <a:pPr indent="0" marL="0">
              <a:buNone/>
            </a:pPr>
            <a:pPr indent="0" marL="0">
              <a:buNone/>
            </a:pPr>
            <a:pPr indent="0" marL="0">
              <a:buNone/>
            </a:pPr>
            <a:endParaRPr lang="en-US" sz="1600" dirty="0"/>
          </a:p>
        </p:txBody>
      </p:sp>
      <p:sp>
        <p:nvSpPr>
          <p:cNvPr id="29" name="Shape 26"/>
          <p:cNvSpPr/>
          <p:nvPr/>
        </p:nvSpPr>
        <p:spPr>
          <a:xfrm>
            <a:off x="1005840" y="5486400"/>
            <a:ext cx="10149840" cy="0"/>
          </a:xfrm>
          <a:prstGeom prst="line">
            <a:avLst/>
          </a:prstGeom>
          <a:noFill/>
          <a:ln w="12700">
            <a:solidFill>
              <a:srgbClr val="444444"/>
            </a:solidFill>
            <a:prstDash val="solid"/>
          </a:ln>
        </p:spPr>
      </p:sp>
      <p:sp>
        <p:nvSpPr>
          <p:cNvPr id="30" name="Text 27"/>
          <p:cNvSpPr/>
          <p:nvPr/>
        </p:nvSpPr>
        <p:spPr>
          <a:xfrm>
            <a:off x="1005840" y="5669280"/>
            <a:ext cx="10149840" cy="640080"/>
          </a:xfrm>
          <a:prstGeom prst="rect">
            <a:avLst/>
          </a:prstGeom>
          <a:noFill/>
          <a:ln/>
        </p:spPr>
        <p:txBody>
          <a:bodyPr wrap="square" rtlCol="0" anchor="ctr"/>
          <a:lstStyle/>
          <a:p>
            <a:pPr indent="0" marL="0">
              <a:lnSpc>
                <a:spcPct val="130000"/>
              </a:lnSpc>
              <a:buNone/>
            </a:pPr>
            <a:r>
              <a:rPr lang="en-US" sz="1350" dirty="0">
                <a:solidFill>
                  <a:srgbClr val="F5F3EF"/>
                </a:solidFill>
                <a:latin typeface="Arial" pitchFamily="34" charset="0"/>
                <a:ea typeface="Arial" pitchFamily="34" charset="-122"/>
                <a:cs typeface="Arial" pitchFamily="34" charset="-120"/>
              </a:rPr>
              <a:t>An empty result is not an error. An analysis that quietly runs on zero rows is a real failure mode, and it is the same shape of bug as Session 1.</a:t>
            </a:r>
            <a:pPr indent="0" marL="0">
              <a:lnSpc>
                <a:spcPct val="130000"/>
              </a:lnSpc>
              <a:buNone/>
            </a:pPr>
            <a:endParaRPr lang="en-US" sz="1350" dirty="0"/>
          </a:p>
        </p:txBody>
      </p:sp>
      <p:sp>
        <p:nvSpPr>
          <p:cNvPr id="31" name="Text 28"/>
          <p:cNvSpPr/>
          <p:nvPr/>
        </p:nvSpPr>
        <p:spPr>
          <a:xfrm>
            <a:off x="11368735" y="6492240"/>
            <a:ext cx="457200" cy="274320"/>
          </a:xfrm>
          <a:prstGeom prst="rect">
            <a:avLst/>
          </a:prstGeom>
          <a:noFill/>
          <a:ln/>
        </p:spPr>
        <p:txBody>
          <a:bodyPr wrap="square" rtlCol="0" anchor="ctr"/>
          <a:lstStyle/>
          <a:p>
            <a:pPr algn="r" indent="0" marL="0">
              <a:buNone/>
            </a:pPr>
            <a:r>
              <a:rPr lang="en-US" sz="900" dirty="0">
                <a:solidFill>
                  <a:srgbClr val="9B9B9B"/>
                </a:solidFill>
                <a:latin typeface="Arial" pitchFamily="34" charset="0"/>
                <a:ea typeface="Arial" pitchFamily="34" charset="-122"/>
                <a:cs typeface="Arial" pitchFamily="34" charset="-120"/>
              </a:rPr>
              <a:t>8</a:t>
            </a:r>
            <a:endParaRPr lang="en-US" sz="9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pic>
        <p:nvPicPr>
          <p:cNvPr id="2" name="Image 0" descr="/private/tmp/claude-503/-Users-boryczjd-claude-vanderbilt-database-assistant--claude-worktrees-publishing-citation-data-uses-8ba05f/250e4720-0954-4187-8930-09caab2cbef2/scratchpad/slides_build/vu_mark_gold.png">    </p:cNvPr>
          <p:cNvPicPr>
            <a:picLocks noChangeAspect="1"/>
          </p:cNvPicPr>
          <p:nvPr/>
        </p:nvPicPr>
        <p:blipFill>
          <a:blip r:embed="rId1"/>
          <a:stretch>
            <a:fillRect/>
          </a:stretch>
        </p:blipFill>
        <p:spPr>
          <a:xfrm>
            <a:off x="11231575" y="365760"/>
            <a:ext cx="457200" cy="327660"/>
          </a:xfrm>
          <a:prstGeom prst="rect">
            <a:avLst/>
          </a:prstGeom>
        </p:spPr>
      </p:pic>
      <p:sp>
        <p:nvSpPr>
          <p:cNvPr id="3" name="Shape 0"/>
          <p:cNvSpPr/>
          <p:nvPr/>
        </p:nvSpPr>
        <p:spPr>
          <a:xfrm>
            <a:off x="640080" y="457200"/>
            <a:ext cx="1933041" cy="292608"/>
          </a:xfrm>
          <a:prstGeom prst="roundRect">
            <a:avLst>
              <a:gd name="adj" fmla="val 50000"/>
            </a:avLst>
          </a:prstGeom>
          <a:solidFill>
            <a:srgbClr val="ECB748"/>
          </a:solidFill>
          <a:ln/>
        </p:spPr>
      </p:sp>
      <p:sp>
        <p:nvSpPr>
          <p:cNvPr id="4" name="Text 1"/>
          <p:cNvSpPr/>
          <p:nvPr/>
        </p:nvSpPr>
        <p:spPr>
          <a:xfrm>
            <a:off x="640080" y="457200"/>
            <a:ext cx="1933041" cy="292608"/>
          </a:xfrm>
          <a:prstGeom prst="rect">
            <a:avLst/>
          </a:prstGeom>
          <a:noFill/>
          <a:ln/>
        </p:spPr>
        <p:txBody>
          <a:bodyPr wrap="square" rtlCol="0" anchor="ctr"/>
          <a:lstStyle/>
          <a:p>
            <a:pPr algn="ctr" indent="0" marL="0">
              <a:buNone/>
            </a:pPr>
            <a:r>
              <a:rPr lang="en-US" sz="1100" b="1" spc="100" kern="0" dirty="0">
                <a:solidFill>
                  <a:srgbClr val="1C1C1C"/>
                </a:solidFill>
                <a:latin typeface="Arial" pitchFamily="34" charset="0"/>
                <a:ea typeface="Arial" pitchFamily="34" charset="-122"/>
                <a:cs typeface="Arial" pitchFamily="34" charset="-120"/>
              </a:rPr>
              <a:t>26–30 MIN  ·  THE IDIOM</a:t>
            </a:r>
            <a:endParaRPr lang="en-US" sz="1100" dirty="0"/>
          </a:p>
        </p:txBody>
      </p:sp>
      <p:sp>
        <p:nvSpPr>
          <p:cNvPr id="5" name="Text 2"/>
          <p:cNvSpPr/>
          <p:nvPr/>
        </p:nvSpPr>
        <p:spPr>
          <a:xfrm>
            <a:off x="640080" y="822960"/>
            <a:ext cx="10058400" cy="594360"/>
          </a:xfrm>
          <a:prstGeom prst="rect">
            <a:avLst/>
          </a:prstGeom>
          <a:noFill/>
          <a:ln/>
        </p:spPr>
        <p:txBody>
          <a:bodyPr wrap="square" rtlCol="0" anchor="ctr"/>
          <a:lstStyle/>
          <a:p>
            <a:pPr indent="0" marL="0">
              <a:buNone/>
            </a:pPr>
            <a:r>
              <a:rPr lang="en-US" sz="2800" b="1" dirty="0">
                <a:solidFill>
                  <a:srgbClr val="1C1C1C"/>
                </a:solidFill>
                <a:latin typeface="Arial" pitchFamily="34" charset="0"/>
                <a:ea typeface="Arial" pitchFamily="34" charset="-122"/>
                <a:cs typeface="Arial" pitchFamily="34" charset="-120"/>
              </a:rPr>
              <a:t>Boolean Indexing — The Research Idiom</a:t>
            </a:r>
            <a:endParaRPr lang="en-US" sz="2800" dirty="0"/>
          </a:p>
        </p:txBody>
      </p:sp>
      <p:sp>
        <p:nvSpPr>
          <p:cNvPr id="6" name="Text 3"/>
          <p:cNvSpPr/>
          <p:nvPr/>
        </p:nvSpPr>
        <p:spPr>
          <a:xfrm>
            <a:off x="640080" y="1417320"/>
            <a:ext cx="10881360" cy="457200"/>
          </a:xfrm>
          <a:prstGeom prst="rect">
            <a:avLst/>
          </a:prstGeom>
          <a:noFill/>
          <a:ln/>
        </p:spPr>
        <p:txBody>
          <a:bodyPr wrap="square" rtlCol="0" anchor="ctr"/>
          <a:lstStyle/>
          <a:p>
            <a:pPr indent="0" marL="0">
              <a:buNone/>
            </a:pPr>
            <a:r>
              <a:rPr lang="en-US" sz="1400" i="1" dirty="0">
                <a:solidFill>
                  <a:srgbClr val="595959"/>
                </a:solidFill>
                <a:latin typeface="Arial" pitchFamily="34" charset="0"/>
                <a:ea typeface="Arial" pitchFamily="34" charset="-122"/>
                <a:cs typeface="Arial" pitchFamily="34" charset="-120"/>
              </a:rPr>
              <a:t>The single most useful pattern you will use all semester: select elements by a condition, not by a position.</a:t>
            </a:r>
            <a:endParaRPr lang="en-US" sz="1400" dirty="0"/>
          </a:p>
        </p:txBody>
      </p:sp>
      <p:sp>
        <p:nvSpPr>
          <p:cNvPr id="7" name="Shape 4"/>
          <p:cNvSpPr/>
          <p:nvPr/>
        </p:nvSpPr>
        <p:spPr>
          <a:xfrm>
            <a:off x="640080" y="2011680"/>
            <a:ext cx="5257800" cy="2286000"/>
          </a:xfrm>
          <a:prstGeom prst="roundRect">
            <a:avLst>
              <a:gd name="adj" fmla="val 4000"/>
            </a:avLst>
          </a:prstGeom>
          <a:solidFill>
            <a:srgbClr val="2E2E2E"/>
          </a:solidFill>
          <a:ln w="12700">
            <a:solidFill>
              <a:srgbClr val="444444"/>
            </a:solidFill>
            <a:prstDash val="solid"/>
          </a:ln>
        </p:spPr>
      </p:sp>
      <p:sp>
        <p:nvSpPr>
          <p:cNvPr id="8" name="Shape 5"/>
          <p:cNvSpPr/>
          <p:nvPr/>
        </p:nvSpPr>
        <p:spPr>
          <a:xfrm>
            <a:off x="868680" y="2212848"/>
            <a:ext cx="146304" cy="146304"/>
          </a:xfrm>
          <a:prstGeom prst="ellipse">
            <a:avLst/>
          </a:prstGeom>
          <a:solidFill>
            <a:srgbClr val="D64550"/>
          </a:solidFill>
          <a:ln/>
        </p:spPr>
      </p:sp>
      <p:sp>
        <p:nvSpPr>
          <p:cNvPr id="9" name="Shape 6"/>
          <p:cNvSpPr/>
          <p:nvPr/>
        </p:nvSpPr>
        <p:spPr>
          <a:xfrm>
            <a:off x="1124712" y="2212848"/>
            <a:ext cx="146304" cy="146304"/>
          </a:xfrm>
          <a:prstGeom prst="ellipse">
            <a:avLst/>
          </a:prstGeom>
          <a:solidFill>
            <a:srgbClr val="ECB748"/>
          </a:solidFill>
          <a:ln/>
        </p:spPr>
      </p:sp>
      <p:sp>
        <p:nvSpPr>
          <p:cNvPr id="10" name="Shape 7"/>
          <p:cNvSpPr/>
          <p:nvPr/>
        </p:nvSpPr>
        <p:spPr>
          <a:xfrm>
            <a:off x="1380744" y="2212848"/>
            <a:ext cx="146304" cy="146304"/>
          </a:xfrm>
          <a:prstGeom prst="ellipse">
            <a:avLst/>
          </a:prstGeom>
          <a:solidFill>
            <a:srgbClr val="6B6B6B"/>
          </a:solidFill>
          <a:ln/>
        </p:spPr>
      </p:sp>
      <p:sp>
        <p:nvSpPr>
          <p:cNvPr id="11" name="Text 8"/>
          <p:cNvSpPr/>
          <p:nvPr/>
        </p:nvSpPr>
        <p:spPr>
          <a:xfrm>
            <a:off x="1783080" y="2157984"/>
            <a:ext cx="3977640" cy="256032"/>
          </a:xfrm>
          <a:prstGeom prst="rect">
            <a:avLst/>
          </a:prstGeom>
          <a:noFill/>
          <a:ln/>
        </p:spPr>
        <p:txBody>
          <a:bodyPr wrap="square" rtlCol="0" anchor="ctr"/>
          <a:lstStyle/>
          <a:p>
            <a:pPr indent="0" marL="0">
              <a:buNone/>
            </a:pPr>
            <a:r>
              <a:rPr lang="en-US" sz="1050" dirty="0">
                <a:solidFill>
                  <a:srgbClr val="9B9690"/>
                </a:solidFill>
                <a:latin typeface="Courier New" pitchFamily="34" charset="0"/>
                <a:ea typeface="Courier New" pitchFamily="34" charset="-122"/>
                <a:cs typeface="Courier New" pitchFamily="34" charset="-120"/>
              </a:rPr>
              <a:t>filter.R</a:t>
            </a:r>
            <a:endParaRPr lang="en-US" sz="1050" dirty="0"/>
          </a:p>
        </p:txBody>
      </p:sp>
      <p:sp>
        <p:nvSpPr>
          <p:cNvPr id="12" name="Shape 9"/>
          <p:cNvSpPr/>
          <p:nvPr/>
        </p:nvSpPr>
        <p:spPr>
          <a:xfrm>
            <a:off x="685800" y="2514600"/>
            <a:ext cx="5166360" cy="0"/>
          </a:xfrm>
          <a:prstGeom prst="line">
            <a:avLst/>
          </a:prstGeom>
          <a:noFill/>
          <a:ln w="12700">
            <a:solidFill>
              <a:srgbClr val="444444"/>
            </a:solidFill>
            <a:prstDash val="solid"/>
          </a:ln>
        </p:spPr>
      </p:sp>
      <p:sp>
        <p:nvSpPr>
          <p:cNvPr id="13" name="Text 10"/>
          <p:cNvSpPr/>
          <p:nvPr/>
        </p:nvSpPr>
        <p:spPr>
          <a:xfrm>
            <a:off x="914400" y="2651760"/>
            <a:ext cx="4709160" cy="329184"/>
          </a:xfrm>
          <a:prstGeom prst="rect">
            <a:avLst/>
          </a:prstGeom>
          <a:noFill/>
          <a:ln/>
        </p:spPr>
        <p:txBody>
          <a:bodyPr wrap="square" rtlCol="0" anchor="ctr"/>
          <a:lstStyle/>
          <a:p>
            <a:pPr indent="0" marL="0">
              <a:buNone/>
            </a:pPr>
            <a:r>
              <a:rPr lang="en-US" sz="1300" dirty="0">
                <a:solidFill>
                  <a:srgbClr val="F5F3EF"/>
                </a:solidFill>
                <a:latin typeface="Courier New" pitchFamily="34" charset="0"/>
                <a:ea typeface="Courier New" pitchFamily="34" charset="-122"/>
                <a:cs typeface="Courier New" pitchFamily="34" charset="-120"/>
              </a:rPr>
              <a:t>bp &lt;- c(117, 122, 141, 130, 118)</a:t>
            </a:r>
            <a:endParaRPr lang="en-US" sz="1300" dirty="0"/>
          </a:p>
        </p:txBody>
      </p:sp>
      <p:sp>
        <p:nvSpPr>
          <p:cNvPr id="14" name="Text 11"/>
          <p:cNvSpPr/>
          <p:nvPr/>
        </p:nvSpPr>
        <p:spPr>
          <a:xfrm>
            <a:off x="914400" y="2980944"/>
            <a:ext cx="4709160" cy="329184"/>
          </a:xfrm>
          <a:prstGeom prst="rect">
            <a:avLst/>
          </a:prstGeom>
          <a:noFill/>
          <a:ln/>
        </p:spPr>
        <p:txBody>
          <a:bodyPr wrap="square" rtlCol="0" anchor="ctr"/>
          <a:lstStyle/>
          <a:p>
            <a:pPr indent="0" marL="0">
              <a:buNone/>
            </a:pPr>
            <a:r>
              <a:rPr lang="en-US" sz="1300" dirty="0">
                <a:solidFill>
                  <a:srgbClr val="FFFFFF"/>
                </a:solidFill>
                <a:latin typeface="Courier New" pitchFamily="34" charset="0"/>
                <a:ea typeface="Courier New" pitchFamily="34" charset="-122"/>
                <a:cs typeface="Courier New" pitchFamily="34" charset="-120"/>
              </a:rPr>
              <a:t>bp &gt; 130      # F F T F F   &lt;- a mask</a:t>
            </a:r>
            <a:endParaRPr lang="en-US" sz="1300" dirty="0"/>
          </a:p>
        </p:txBody>
      </p:sp>
      <p:sp>
        <p:nvSpPr>
          <p:cNvPr id="15" name="Text 12"/>
          <p:cNvSpPr/>
          <p:nvPr/>
        </p:nvSpPr>
        <p:spPr>
          <a:xfrm>
            <a:off x="914400" y="3310128"/>
            <a:ext cx="4709160" cy="329184"/>
          </a:xfrm>
          <a:prstGeom prst="rect">
            <a:avLst/>
          </a:prstGeom>
          <a:noFill/>
          <a:ln/>
        </p:spPr>
        <p:txBody>
          <a:bodyPr wrap="square" rtlCol="0" anchor="ctr"/>
          <a:lstStyle/>
          <a:p>
            <a:pPr indent="0" marL="0">
              <a:buNone/>
            </a:pPr>
            <a:r>
              <a:rPr lang="en-US" sz="1300" dirty="0">
                <a:solidFill>
                  <a:srgbClr val="8A8A82"/>
                </a:solidFill>
                <a:latin typeface="Courier New" pitchFamily="34" charset="0"/>
                <a:ea typeface="Courier New" pitchFamily="34" charset="-122"/>
                <a:cs typeface="Courier New" pitchFamily="34" charset="-120"/>
              </a:rPr>
              <a:t>bp[bp &gt; 130]  # 141</a:t>
            </a:r>
            <a:pPr indent="0" marL="0">
              <a:buNone/>
            </a:pPr>
            <a:pPr indent="0" marL="0">
              <a:buNone/>
            </a:pPr>
            <a:endParaRPr lang="en-US" sz="1300" dirty="0"/>
          </a:p>
        </p:txBody>
      </p:sp>
      <p:sp>
        <p:nvSpPr>
          <p:cNvPr id="16" name="Shape 13"/>
          <p:cNvSpPr/>
          <p:nvPr/>
        </p:nvSpPr>
        <p:spPr>
          <a:xfrm>
            <a:off x="6263640" y="2011680"/>
            <a:ext cx="5257800" cy="2286000"/>
          </a:xfrm>
          <a:prstGeom prst="roundRect">
            <a:avLst>
              <a:gd name="adj" fmla="val 4000"/>
            </a:avLst>
          </a:prstGeom>
          <a:solidFill>
            <a:srgbClr val="2E2E2E"/>
          </a:solidFill>
          <a:ln w="12700">
            <a:solidFill>
              <a:srgbClr val="444444"/>
            </a:solidFill>
            <a:prstDash val="solid"/>
          </a:ln>
        </p:spPr>
      </p:sp>
      <p:sp>
        <p:nvSpPr>
          <p:cNvPr id="17" name="Shape 14"/>
          <p:cNvSpPr/>
          <p:nvPr/>
        </p:nvSpPr>
        <p:spPr>
          <a:xfrm>
            <a:off x="6492240" y="2212848"/>
            <a:ext cx="146304" cy="146304"/>
          </a:xfrm>
          <a:prstGeom prst="ellipse">
            <a:avLst/>
          </a:prstGeom>
          <a:solidFill>
            <a:srgbClr val="D64550"/>
          </a:solidFill>
          <a:ln/>
        </p:spPr>
      </p:sp>
      <p:sp>
        <p:nvSpPr>
          <p:cNvPr id="18" name="Shape 15"/>
          <p:cNvSpPr/>
          <p:nvPr/>
        </p:nvSpPr>
        <p:spPr>
          <a:xfrm>
            <a:off x="6748272" y="2212848"/>
            <a:ext cx="146304" cy="146304"/>
          </a:xfrm>
          <a:prstGeom prst="ellipse">
            <a:avLst/>
          </a:prstGeom>
          <a:solidFill>
            <a:srgbClr val="ECB748"/>
          </a:solidFill>
          <a:ln/>
        </p:spPr>
      </p:sp>
      <p:sp>
        <p:nvSpPr>
          <p:cNvPr id="19" name="Shape 16"/>
          <p:cNvSpPr/>
          <p:nvPr/>
        </p:nvSpPr>
        <p:spPr>
          <a:xfrm>
            <a:off x="7004304" y="2212848"/>
            <a:ext cx="146304" cy="146304"/>
          </a:xfrm>
          <a:prstGeom prst="ellipse">
            <a:avLst/>
          </a:prstGeom>
          <a:solidFill>
            <a:srgbClr val="6B6B6B"/>
          </a:solidFill>
          <a:ln/>
        </p:spPr>
      </p:sp>
      <p:sp>
        <p:nvSpPr>
          <p:cNvPr id="20" name="Text 17"/>
          <p:cNvSpPr/>
          <p:nvPr/>
        </p:nvSpPr>
        <p:spPr>
          <a:xfrm>
            <a:off x="7406640" y="2157984"/>
            <a:ext cx="3977640" cy="256032"/>
          </a:xfrm>
          <a:prstGeom prst="rect">
            <a:avLst/>
          </a:prstGeom>
          <a:noFill/>
          <a:ln/>
        </p:spPr>
        <p:txBody>
          <a:bodyPr wrap="square" rtlCol="0" anchor="ctr"/>
          <a:lstStyle/>
          <a:p>
            <a:pPr indent="0" marL="0">
              <a:buNone/>
            </a:pPr>
            <a:r>
              <a:rPr lang="en-US" sz="1050" dirty="0">
                <a:solidFill>
                  <a:srgbClr val="9B9690"/>
                </a:solidFill>
                <a:latin typeface="Courier New" pitchFamily="34" charset="0"/>
                <a:ea typeface="Courier New" pitchFamily="34" charset="-122"/>
                <a:cs typeface="Courier New" pitchFamily="34" charset="-120"/>
              </a:rPr>
              <a:t>python</a:t>
            </a:r>
            <a:endParaRPr lang="en-US" sz="1050" dirty="0"/>
          </a:p>
        </p:txBody>
      </p:sp>
      <p:sp>
        <p:nvSpPr>
          <p:cNvPr id="21" name="Shape 18"/>
          <p:cNvSpPr/>
          <p:nvPr/>
        </p:nvSpPr>
        <p:spPr>
          <a:xfrm>
            <a:off x="6309360" y="2514600"/>
            <a:ext cx="5166360" cy="0"/>
          </a:xfrm>
          <a:prstGeom prst="line">
            <a:avLst/>
          </a:prstGeom>
          <a:noFill/>
          <a:ln w="12700">
            <a:solidFill>
              <a:srgbClr val="444444"/>
            </a:solidFill>
            <a:prstDash val="solid"/>
          </a:ln>
        </p:spPr>
      </p:sp>
      <p:sp>
        <p:nvSpPr>
          <p:cNvPr id="22" name="Text 19"/>
          <p:cNvSpPr/>
          <p:nvPr/>
        </p:nvSpPr>
        <p:spPr>
          <a:xfrm>
            <a:off x="6537960" y="2651760"/>
            <a:ext cx="4709160" cy="329184"/>
          </a:xfrm>
          <a:prstGeom prst="rect">
            <a:avLst/>
          </a:prstGeom>
          <a:noFill/>
          <a:ln/>
        </p:spPr>
        <p:txBody>
          <a:bodyPr wrap="square" rtlCol="0" anchor="ctr"/>
          <a:lstStyle/>
          <a:p>
            <a:pPr indent="0" marL="0">
              <a:buNone/>
            </a:pPr>
            <a:r>
              <a:rPr lang="en-US" sz="1300" dirty="0">
                <a:solidFill>
                  <a:srgbClr val="F5F3EF"/>
                </a:solidFill>
                <a:latin typeface="Courier New" pitchFamily="34" charset="0"/>
                <a:ea typeface="Courier New" pitchFamily="34" charset="-122"/>
                <a:cs typeface="Courier New" pitchFamily="34" charset="-120"/>
              </a:rPr>
              <a:t>bp &gt; 130     # TypeError!</a:t>
            </a:r>
            <a:endParaRPr lang="en-US" sz="1300" dirty="0"/>
          </a:p>
        </p:txBody>
      </p:sp>
      <p:sp>
        <p:nvSpPr>
          <p:cNvPr id="23" name="Text 20"/>
          <p:cNvSpPr/>
          <p:nvPr/>
        </p:nvSpPr>
        <p:spPr>
          <a:xfrm>
            <a:off x="6537960" y="2980944"/>
            <a:ext cx="4709160" cy="329184"/>
          </a:xfrm>
          <a:prstGeom prst="rect">
            <a:avLst/>
          </a:prstGeom>
          <a:noFill/>
          <a:ln/>
        </p:spPr>
        <p:txBody>
          <a:bodyPr wrap="square" rtlCol="0" anchor="ctr"/>
          <a:lstStyle/>
          <a:p>
            <a:pPr indent="0" marL="0">
              <a:buNone/>
            </a:pPr>
            <a:r>
              <a:rPr lang="en-US" sz="1300" dirty="0">
                <a:solidFill>
                  <a:srgbClr val="FFFFFF"/>
                </a:solidFill>
                <a:latin typeface="Courier New" pitchFamily="34" charset="0"/>
                <a:ea typeface="Courier New" pitchFamily="34" charset="-122"/>
                <a:cs typeface="Courier New" pitchFamily="34" charset="-120"/>
              </a:rPr>
              <a:t># plain lists do not vectorise</a:t>
            </a:r>
            <a:pPr indent="0" marL="0">
              <a:buNone/>
            </a:pPr>
            <a:endParaRPr lang="en-US" sz="1300" dirty="0"/>
          </a:p>
        </p:txBody>
      </p:sp>
      <p:sp>
        <p:nvSpPr>
          <p:cNvPr id="24" name="Text 21"/>
          <p:cNvSpPr/>
          <p:nvPr/>
        </p:nvSpPr>
        <p:spPr>
          <a:xfrm>
            <a:off x="6537960" y="3310128"/>
            <a:ext cx="4709160" cy="329184"/>
          </a:xfrm>
          <a:prstGeom prst="rect">
            <a:avLst/>
          </a:prstGeom>
          <a:noFill/>
          <a:ln/>
        </p:spPr>
        <p:txBody>
          <a:bodyPr wrap="square" rtlCol="0" anchor="ctr"/>
          <a:lstStyle/>
          <a:p>
            <a:pPr indent="0" marL="0">
              <a:buNone/>
            </a:pPr>
            <a:r>
              <a:rPr lang="en-US" sz="1300" dirty="0">
                <a:solidFill>
                  <a:srgbClr val="FFFFFF"/>
                </a:solidFill>
                <a:latin typeface="Courier New" pitchFamily="34" charset="0"/>
                <a:ea typeface="Courier New" pitchFamily="34" charset="-122"/>
                <a:cs typeface="Courier New" pitchFamily="34" charset="-120"/>
              </a:rPr>
              <a:t>import numpy as np</a:t>
            </a:r>
            <a:pPr indent="0" marL="0">
              <a:buNone/>
            </a:pPr>
            <a:endParaRPr lang="en-US" sz="1300" dirty="0"/>
          </a:p>
        </p:txBody>
      </p:sp>
      <p:sp>
        <p:nvSpPr>
          <p:cNvPr id="25" name="Text 22"/>
          <p:cNvSpPr/>
          <p:nvPr/>
        </p:nvSpPr>
        <p:spPr>
          <a:xfrm>
            <a:off x="6537960" y="3639312"/>
            <a:ext cx="4709160" cy="329184"/>
          </a:xfrm>
          <a:prstGeom prst="rect">
            <a:avLst/>
          </a:prstGeom>
          <a:noFill/>
          <a:ln/>
        </p:spPr>
        <p:txBody>
          <a:bodyPr wrap="square" rtlCol="0" anchor="ctr"/>
          <a:lstStyle/>
          <a:p>
            <a:pPr indent="0" marL="0">
              <a:buNone/>
            </a:pPr>
            <a:r>
              <a:rPr lang="en-US" sz="1300" dirty="0">
                <a:solidFill>
                  <a:srgbClr val="FFFFFF"/>
                </a:solidFill>
                <a:latin typeface="Courier New" pitchFamily="34" charset="0"/>
                <a:ea typeface="Courier New" pitchFamily="34" charset="-122"/>
                <a:cs typeface="Courier New" pitchFamily="34" charset="-120"/>
              </a:rPr>
              <a:t>arr[arr &gt; 130]   # array([141])</a:t>
            </a:r>
            <a:pPr indent="0" marL="0">
              <a:buNone/>
            </a:pPr>
            <a:endParaRPr lang="en-US" sz="1300" dirty="0"/>
          </a:p>
        </p:txBody>
      </p:sp>
      <p:sp>
        <p:nvSpPr>
          <p:cNvPr id="26" name="Shape 23"/>
          <p:cNvSpPr/>
          <p:nvPr/>
        </p:nvSpPr>
        <p:spPr>
          <a:xfrm>
            <a:off x="640080" y="4572000"/>
            <a:ext cx="10881360" cy="1463040"/>
          </a:xfrm>
          <a:prstGeom prst="roundRect">
            <a:avLst>
              <a:gd name="adj" fmla="val 6250"/>
            </a:avLst>
          </a:prstGeom>
          <a:solidFill>
            <a:srgbClr val="FBF0DA"/>
          </a:solidFill>
          <a:ln w="19050">
            <a:solidFill>
              <a:srgbClr val="ECB748"/>
            </a:solidFill>
            <a:prstDash val="solid"/>
          </a:ln>
        </p:spPr>
      </p:sp>
      <p:sp>
        <p:nvSpPr>
          <p:cNvPr id="27" name="Text 24"/>
          <p:cNvSpPr/>
          <p:nvPr/>
        </p:nvSpPr>
        <p:spPr>
          <a:xfrm>
            <a:off x="914400" y="4754880"/>
            <a:ext cx="10332720" cy="457200"/>
          </a:xfrm>
          <a:prstGeom prst="rect">
            <a:avLst/>
          </a:prstGeom>
          <a:noFill/>
          <a:ln/>
        </p:spPr>
        <p:txBody>
          <a:bodyPr wrap="square" rtlCol="0" anchor="ctr"/>
          <a:lstStyle/>
          <a:p>
            <a:pPr indent="0" marL="0">
              <a:buNone/>
            </a:pPr>
            <a:r>
              <a:rPr lang="en-US" sz="1800" b="1" dirty="0">
                <a:solidFill>
                  <a:srgbClr val="1C1C1C"/>
                </a:solidFill>
                <a:latin typeface="Courier New" pitchFamily="34" charset="0"/>
                <a:ea typeface="Courier New" pitchFamily="34" charset="-122"/>
                <a:cs typeface="Courier New" pitchFamily="34" charset="-120"/>
              </a:rPr>
              <a:t>bp[bp &gt; 130]</a:t>
            </a:r>
            <a:endParaRPr lang="en-US" sz="1800" dirty="0"/>
          </a:p>
        </p:txBody>
      </p:sp>
      <p:sp>
        <p:nvSpPr>
          <p:cNvPr id="28" name="Text 25"/>
          <p:cNvSpPr/>
          <p:nvPr/>
        </p:nvSpPr>
        <p:spPr>
          <a:xfrm>
            <a:off x="914400" y="5257800"/>
            <a:ext cx="10332720" cy="640080"/>
          </a:xfrm>
          <a:prstGeom prst="rect">
            <a:avLst/>
          </a:prstGeom>
          <a:noFill/>
          <a:ln/>
        </p:spPr>
        <p:txBody>
          <a:bodyPr wrap="square" rtlCol="0" anchor="ctr"/>
          <a:lstStyle/>
          <a:p>
            <a:pPr indent="0" marL="0">
              <a:buNone/>
            </a:pPr>
            <a:r>
              <a:rPr lang="en-US" sz="1400" b="1" dirty="0">
                <a:solidFill>
                  <a:srgbClr val="1C1C1C"/>
                </a:solidFill>
                <a:latin typeface="Arial" pitchFamily="34" charset="0"/>
                <a:ea typeface="Arial" pitchFamily="34" charset="-122"/>
                <a:cs typeface="Arial" pitchFamily="34" charset="-120"/>
              </a:rPr>
              <a:t>is the seed of every filter you will do this semester. dplyr::filter() is this. df[df.age &gt; 65] is this. Learn it here, in five elements, before it arrives with fifty thousand rows.</a:t>
            </a:r>
            <a:pPr indent="0" marL="0">
              <a:buNone/>
            </a:pPr>
            <a:endParaRPr lang="en-US" sz="1400" dirty="0"/>
          </a:p>
        </p:txBody>
      </p:sp>
      <p:sp>
        <p:nvSpPr>
          <p:cNvPr id="29" name="Text 26"/>
          <p:cNvSpPr/>
          <p:nvPr/>
        </p:nvSpPr>
        <p:spPr>
          <a:xfrm>
            <a:off x="11368735" y="6492240"/>
            <a:ext cx="457200" cy="274320"/>
          </a:xfrm>
          <a:prstGeom prst="rect">
            <a:avLst/>
          </a:prstGeom>
          <a:noFill/>
          <a:ln/>
        </p:spPr>
        <p:txBody>
          <a:bodyPr wrap="square" rtlCol="0" anchor="ctr"/>
          <a:lstStyle/>
          <a:p>
            <a:pPr algn="r" indent="0" marL="0">
              <a:buNone/>
            </a:pPr>
            <a:r>
              <a:rPr lang="en-US" sz="900" dirty="0">
                <a:solidFill>
                  <a:srgbClr val="9B9B9B"/>
                </a:solidFill>
                <a:latin typeface="Arial" pitchFamily="34" charset="0"/>
                <a:ea typeface="Arial" pitchFamily="34" charset="-122"/>
                <a:cs typeface="Arial" pitchFamily="34" charset="-120"/>
              </a:rPr>
              <a:t>9</a:t>
            </a:r>
            <a:endParaRPr lang="en-US" sz="9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pic>
        <p:nvPicPr>
          <p:cNvPr id="2" name="Image 0" descr="/private/tmp/claude-503/-Users-boryczjd-claude-vanderbilt-database-assistant--claude-worktrees-publishing-citation-data-uses-8ba05f/250e4720-0954-4187-8930-09caab2cbef2/scratchpad/slides_build/vu_mark_gold.png">    </p:cNvPr>
          <p:cNvPicPr>
            <a:picLocks noChangeAspect="1"/>
          </p:cNvPicPr>
          <p:nvPr/>
        </p:nvPicPr>
        <p:blipFill>
          <a:blip r:embed="rId1"/>
          <a:stretch>
            <a:fillRect/>
          </a:stretch>
        </p:blipFill>
        <p:spPr>
          <a:xfrm>
            <a:off x="11231575" y="365760"/>
            <a:ext cx="457200" cy="327660"/>
          </a:xfrm>
          <a:prstGeom prst="rect">
            <a:avLst/>
          </a:prstGeom>
        </p:spPr>
      </p:pic>
      <p:sp>
        <p:nvSpPr>
          <p:cNvPr id="3" name="Shape 0"/>
          <p:cNvSpPr/>
          <p:nvPr/>
        </p:nvSpPr>
        <p:spPr>
          <a:xfrm>
            <a:off x="640080" y="457200"/>
            <a:ext cx="1933041" cy="292608"/>
          </a:xfrm>
          <a:prstGeom prst="roundRect">
            <a:avLst>
              <a:gd name="adj" fmla="val 50000"/>
            </a:avLst>
          </a:prstGeom>
          <a:solidFill>
            <a:srgbClr val="ECB748"/>
          </a:solidFill>
          <a:ln/>
        </p:spPr>
      </p:sp>
      <p:sp>
        <p:nvSpPr>
          <p:cNvPr id="4" name="Text 1"/>
          <p:cNvSpPr/>
          <p:nvPr/>
        </p:nvSpPr>
        <p:spPr>
          <a:xfrm>
            <a:off x="640080" y="457200"/>
            <a:ext cx="1933041" cy="292608"/>
          </a:xfrm>
          <a:prstGeom prst="rect">
            <a:avLst/>
          </a:prstGeom>
          <a:noFill/>
          <a:ln/>
        </p:spPr>
        <p:txBody>
          <a:bodyPr wrap="square" rtlCol="0" anchor="ctr"/>
          <a:lstStyle/>
          <a:p>
            <a:pPr algn="ctr" indent="0" marL="0">
              <a:buNone/>
            </a:pPr>
            <a:r>
              <a:rPr lang="en-US" sz="1100" b="1" spc="100" kern="0" dirty="0">
                <a:solidFill>
                  <a:srgbClr val="1C1C1C"/>
                </a:solidFill>
                <a:latin typeface="Arial" pitchFamily="34" charset="0"/>
                <a:ea typeface="Arial" pitchFamily="34" charset="-122"/>
                <a:cs typeface="Arial" pitchFamily="34" charset="-120"/>
              </a:rPr>
              <a:t>30–33 MIN  ·  SEGMENT 4</a:t>
            </a:r>
            <a:endParaRPr lang="en-US" sz="1100" dirty="0"/>
          </a:p>
        </p:txBody>
      </p:sp>
      <p:sp>
        <p:nvSpPr>
          <p:cNvPr id="5" name="Text 2"/>
          <p:cNvSpPr/>
          <p:nvPr/>
        </p:nvSpPr>
        <p:spPr>
          <a:xfrm>
            <a:off x="640080" y="822960"/>
            <a:ext cx="10058400" cy="594360"/>
          </a:xfrm>
          <a:prstGeom prst="rect">
            <a:avLst/>
          </a:prstGeom>
          <a:noFill/>
          <a:ln/>
        </p:spPr>
        <p:txBody>
          <a:bodyPr wrap="square" rtlCol="0" anchor="ctr"/>
          <a:lstStyle/>
          <a:p>
            <a:pPr indent="0" marL="0">
              <a:buNone/>
            </a:pPr>
            <a:r>
              <a:rPr lang="en-US" sz="3000" b="1" dirty="0">
                <a:solidFill>
                  <a:srgbClr val="1C1C1C"/>
                </a:solidFill>
                <a:latin typeface="Arial" pitchFamily="34" charset="0"/>
                <a:ea typeface="Arial" pitchFamily="34" charset="-122"/>
                <a:cs typeface="Arial" pitchFamily="34" charset="-120"/>
              </a:rPr>
              <a:t>Dictionaries and Named Lists</a:t>
            </a:r>
            <a:endParaRPr lang="en-US" sz="3000" dirty="0"/>
          </a:p>
        </p:txBody>
      </p:sp>
      <p:sp>
        <p:nvSpPr>
          <p:cNvPr id="6" name="Shape 3"/>
          <p:cNvSpPr/>
          <p:nvPr/>
        </p:nvSpPr>
        <p:spPr>
          <a:xfrm>
            <a:off x="640080" y="1600200"/>
            <a:ext cx="5257800" cy="2331720"/>
          </a:xfrm>
          <a:prstGeom prst="roundRect">
            <a:avLst>
              <a:gd name="adj" fmla="val 3922"/>
            </a:avLst>
          </a:prstGeom>
          <a:solidFill>
            <a:srgbClr val="2E2E2E"/>
          </a:solidFill>
          <a:ln w="12700">
            <a:solidFill>
              <a:srgbClr val="444444"/>
            </a:solidFill>
            <a:prstDash val="solid"/>
          </a:ln>
        </p:spPr>
      </p:sp>
      <p:sp>
        <p:nvSpPr>
          <p:cNvPr id="7" name="Shape 4"/>
          <p:cNvSpPr/>
          <p:nvPr/>
        </p:nvSpPr>
        <p:spPr>
          <a:xfrm>
            <a:off x="868680" y="1801368"/>
            <a:ext cx="146304" cy="146304"/>
          </a:xfrm>
          <a:prstGeom prst="ellipse">
            <a:avLst/>
          </a:prstGeom>
          <a:solidFill>
            <a:srgbClr val="D64550"/>
          </a:solidFill>
          <a:ln/>
        </p:spPr>
      </p:sp>
      <p:sp>
        <p:nvSpPr>
          <p:cNvPr id="8" name="Shape 5"/>
          <p:cNvSpPr/>
          <p:nvPr/>
        </p:nvSpPr>
        <p:spPr>
          <a:xfrm>
            <a:off x="1124712" y="1801368"/>
            <a:ext cx="146304" cy="146304"/>
          </a:xfrm>
          <a:prstGeom prst="ellipse">
            <a:avLst/>
          </a:prstGeom>
          <a:solidFill>
            <a:srgbClr val="ECB748"/>
          </a:solidFill>
          <a:ln/>
        </p:spPr>
      </p:sp>
      <p:sp>
        <p:nvSpPr>
          <p:cNvPr id="9" name="Shape 6"/>
          <p:cNvSpPr/>
          <p:nvPr/>
        </p:nvSpPr>
        <p:spPr>
          <a:xfrm>
            <a:off x="1380744" y="1801368"/>
            <a:ext cx="146304" cy="146304"/>
          </a:xfrm>
          <a:prstGeom prst="ellipse">
            <a:avLst/>
          </a:prstGeom>
          <a:solidFill>
            <a:srgbClr val="6B6B6B"/>
          </a:solidFill>
          <a:ln/>
        </p:spPr>
      </p:sp>
      <p:sp>
        <p:nvSpPr>
          <p:cNvPr id="10" name="Text 7"/>
          <p:cNvSpPr/>
          <p:nvPr/>
        </p:nvSpPr>
        <p:spPr>
          <a:xfrm>
            <a:off x="1783080" y="1746504"/>
            <a:ext cx="3977640" cy="256032"/>
          </a:xfrm>
          <a:prstGeom prst="rect">
            <a:avLst/>
          </a:prstGeom>
          <a:noFill/>
          <a:ln/>
        </p:spPr>
        <p:txBody>
          <a:bodyPr wrap="square" rtlCol="0" anchor="ctr"/>
          <a:lstStyle/>
          <a:p>
            <a:pPr indent="0" marL="0">
              <a:buNone/>
            </a:pPr>
            <a:r>
              <a:rPr lang="en-US" sz="1050" dirty="0">
                <a:solidFill>
                  <a:srgbClr val="9B9690"/>
                </a:solidFill>
                <a:latin typeface="Courier New" pitchFamily="34" charset="0"/>
                <a:ea typeface="Courier New" pitchFamily="34" charset="-122"/>
                <a:cs typeface="Courier New" pitchFamily="34" charset="-120"/>
              </a:rPr>
              <a:t>record.py</a:t>
            </a:r>
            <a:endParaRPr lang="en-US" sz="1050" dirty="0"/>
          </a:p>
        </p:txBody>
      </p:sp>
      <p:sp>
        <p:nvSpPr>
          <p:cNvPr id="11" name="Shape 8"/>
          <p:cNvSpPr/>
          <p:nvPr/>
        </p:nvSpPr>
        <p:spPr>
          <a:xfrm>
            <a:off x="685800" y="2103120"/>
            <a:ext cx="5166360" cy="0"/>
          </a:xfrm>
          <a:prstGeom prst="line">
            <a:avLst/>
          </a:prstGeom>
          <a:noFill/>
          <a:ln w="12700">
            <a:solidFill>
              <a:srgbClr val="444444"/>
            </a:solidFill>
            <a:prstDash val="solid"/>
          </a:ln>
        </p:spPr>
      </p:sp>
      <p:sp>
        <p:nvSpPr>
          <p:cNvPr id="12" name="Text 9"/>
          <p:cNvSpPr/>
          <p:nvPr/>
        </p:nvSpPr>
        <p:spPr>
          <a:xfrm>
            <a:off x="914400" y="2240280"/>
            <a:ext cx="4709160" cy="329184"/>
          </a:xfrm>
          <a:prstGeom prst="rect">
            <a:avLst/>
          </a:prstGeom>
          <a:noFill/>
          <a:ln/>
        </p:spPr>
        <p:txBody>
          <a:bodyPr wrap="square" rtlCol="0" anchor="ctr"/>
          <a:lstStyle/>
          <a:p>
            <a:pPr indent="0" marL="0">
              <a:buNone/>
            </a:pPr>
            <a:r>
              <a:rPr lang="en-US" sz="1300" dirty="0">
                <a:solidFill>
                  <a:srgbClr val="FFFFFF"/>
                </a:solidFill>
                <a:latin typeface="Courier New" pitchFamily="34" charset="0"/>
                <a:ea typeface="Courier New" pitchFamily="34" charset="-122"/>
                <a:cs typeface="Courier New" pitchFamily="34" charset="-120"/>
              </a:rPr>
              <a:t>patient = {</a:t>
            </a:r>
            <a:endParaRPr lang="en-US" sz="1300" dirty="0"/>
          </a:p>
        </p:txBody>
      </p:sp>
      <p:sp>
        <p:nvSpPr>
          <p:cNvPr id="13" name="Text 10"/>
          <p:cNvSpPr/>
          <p:nvPr/>
        </p:nvSpPr>
        <p:spPr>
          <a:xfrm>
            <a:off x="914400" y="2569464"/>
            <a:ext cx="4709160" cy="329184"/>
          </a:xfrm>
          <a:prstGeom prst="rect">
            <a:avLst/>
          </a:prstGeom>
          <a:noFill/>
          <a:ln/>
        </p:spPr>
        <p:txBody>
          <a:bodyPr wrap="square" rtlCol="0" anchor="ctr"/>
          <a:lstStyle/>
          <a:p>
            <a:pPr indent="0" marL="0">
              <a:buNone/>
            </a:pPr>
            <a:r>
              <a:rPr lang="en-US" sz="1300" dirty="0">
                <a:solidFill>
                  <a:srgbClr val="F5F3EF"/>
                </a:solidFill>
                <a:latin typeface="Courier New" pitchFamily="34" charset="0"/>
                <a:ea typeface="Courier New" pitchFamily="34" charset="-122"/>
                <a:cs typeface="Courier New" pitchFamily="34" charset="-120"/>
              </a:rPr>
              <a:t>  "id": "P042", "age": </a:t>
            </a:r>
            <a:pPr indent="0" marL="0">
              <a:buNone/>
            </a:pPr>
            <a:r>
              <a:rPr lang="en-US" sz="1300" dirty="0">
                <a:solidFill>
                  <a:srgbClr val="ECB748"/>
                </a:solidFill>
                <a:latin typeface="Courier New" pitchFamily="34" charset="0"/>
                <a:ea typeface="Courier New" pitchFamily="34" charset="-122"/>
                <a:cs typeface="Courier New" pitchFamily="34" charset="-120"/>
              </a:rPr>
              <a:t>61</a:t>
            </a:r>
            <a:pPr indent="0" marL="0">
              <a:buNone/>
            </a:pPr>
            <a:r>
              <a:rPr lang="en-US" sz="1300" dirty="0">
                <a:solidFill>
                  <a:srgbClr val="FFFFFF"/>
                </a:solidFill>
                <a:latin typeface="Courier New" pitchFamily="34" charset="0"/>
                <a:ea typeface="Courier New" pitchFamily="34" charset="-122"/>
                <a:cs typeface="Courier New" pitchFamily="34" charset="-120"/>
              </a:rPr>
              <a:t>,</a:t>
            </a:r>
            <a:endParaRPr lang="en-US" sz="1300" dirty="0"/>
          </a:p>
        </p:txBody>
      </p:sp>
      <p:sp>
        <p:nvSpPr>
          <p:cNvPr id="14" name="Text 11"/>
          <p:cNvSpPr/>
          <p:nvPr/>
        </p:nvSpPr>
        <p:spPr>
          <a:xfrm>
            <a:off x="914400" y="2898648"/>
            <a:ext cx="4709160" cy="329184"/>
          </a:xfrm>
          <a:prstGeom prst="rect">
            <a:avLst/>
          </a:prstGeom>
          <a:noFill/>
          <a:ln/>
        </p:spPr>
        <p:txBody>
          <a:bodyPr wrap="square" rtlCol="0" anchor="ctr"/>
          <a:lstStyle/>
          <a:p>
            <a:pPr indent="0" marL="0">
              <a:buNone/>
            </a:pPr>
            <a:r>
              <a:rPr lang="en-US" sz="1300" dirty="0">
                <a:solidFill>
                  <a:srgbClr val="F5F3EF"/>
                </a:solidFill>
                <a:latin typeface="Courier New" pitchFamily="34" charset="0"/>
                <a:ea typeface="Courier New" pitchFamily="34" charset="-122"/>
                <a:cs typeface="Courier New" pitchFamily="34" charset="-120"/>
              </a:rPr>
              <a:t>  "treated": True }</a:t>
            </a:r>
            <a:endParaRPr lang="en-US" sz="1300" dirty="0"/>
          </a:p>
        </p:txBody>
      </p:sp>
      <p:sp>
        <p:nvSpPr>
          <p:cNvPr id="15" name="Text 12"/>
          <p:cNvSpPr/>
          <p:nvPr/>
        </p:nvSpPr>
        <p:spPr>
          <a:xfrm>
            <a:off x="914400" y="3227832"/>
            <a:ext cx="4709160" cy="329184"/>
          </a:xfrm>
          <a:prstGeom prst="rect">
            <a:avLst/>
          </a:prstGeom>
          <a:noFill/>
          <a:ln/>
        </p:spPr>
        <p:txBody>
          <a:bodyPr wrap="square" rtlCol="0" anchor="ctr"/>
          <a:lstStyle/>
          <a:p>
            <a:pPr indent="0" marL="0">
              <a:buNone/>
            </a:pPr>
            <a:r>
              <a:rPr lang="en-US" sz="1300" dirty="0">
                <a:solidFill>
                  <a:srgbClr val="FFFFFF"/>
                </a:solidFill>
                <a:latin typeface="Courier New" pitchFamily="34" charset="0"/>
                <a:ea typeface="Courier New" pitchFamily="34" charset="-122"/>
                <a:cs typeface="Courier New" pitchFamily="34" charset="-120"/>
              </a:rPr>
              <a:t>patient[</a:t>
            </a:r>
            <a:pPr indent="0" marL="0">
              <a:buNone/>
            </a:pPr>
            <a:r>
              <a:rPr lang="en-US" sz="1300" dirty="0">
                <a:solidFill>
                  <a:srgbClr val="ECB748"/>
                </a:solidFill>
                <a:latin typeface="Courier New" pitchFamily="34" charset="0"/>
                <a:ea typeface="Courier New" pitchFamily="34" charset="-122"/>
                <a:cs typeface="Courier New" pitchFamily="34" charset="-120"/>
              </a:rPr>
              <a:t>"age"</a:t>
            </a:r>
            <a:pPr indent="0" marL="0">
              <a:buNone/>
            </a:pPr>
            <a:r>
              <a:rPr lang="en-US" sz="1300" dirty="0">
                <a:solidFill>
                  <a:srgbClr val="FFFFFF"/>
                </a:solidFill>
                <a:latin typeface="Courier New" pitchFamily="34" charset="0"/>
                <a:ea typeface="Courier New" pitchFamily="34" charset="-122"/>
                <a:cs typeface="Courier New" pitchFamily="34" charset="-120"/>
              </a:rPr>
              <a:t>]  </a:t>
            </a:r>
            <a:pPr indent="0" marL="0">
              <a:buNone/>
            </a:pPr>
            <a:r>
              <a:rPr lang="en-US" sz="1300" dirty="0">
                <a:solidFill>
                  <a:srgbClr val="8A8A82"/>
                </a:solidFill>
                <a:latin typeface="Courier New" pitchFamily="34" charset="0"/>
                <a:ea typeface="Courier New" pitchFamily="34" charset="-122"/>
                <a:cs typeface="Courier New" pitchFamily="34" charset="-120"/>
              </a:rPr>
              <a:t># 61</a:t>
            </a:r>
            <a:endParaRPr lang="en-US" sz="1300" dirty="0"/>
          </a:p>
        </p:txBody>
      </p:sp>
      <p:sp>
        <p:nvSpPr>
          <p:cNvPr id="16" name="Shape 13"/>
          <p:cNvSpPr/>
          <p:nvPr/>
        </p:nvSpPr>
        <p:spPr>
          <a:xfrm>
            <a:off x="6263640" y="1600200"/>
            <a:ext cx="5257800" cy="2331720"/>
          </a:xfrm>
          <a:prstGeom prst="roundRect">
            <a:avLst>
              <a:gd name="adj" fmla="val 3922"/>
            </a:avLst>
          </a:prstGeom>
          <a:solidFill>
            <a:srgbClr val="2E2E2E"/>
          </a:solidFill>
          <a:ln w="12700">
            <a:solidFill>
              <a:srgbClr val="444444"/>
            </a:solidFill>
            <a:prstDash val="solid"/>
          </a:ln>
        </p:spPr>
      </p:sp>
      <p:sp>
        <p:nvSpPr>
          <p:cNvPr id="17" name="Shape 14"/>
          <p:cNvSpPr/>
          <p:nvPr/>
        </p:nvSpPr>
        <p:spPr>
          <a:xfrm>
            <a:off x="6492240" y="1801368"/>
            <a:ext cx="146304" cy="146304"/>
          </a:xfrm>
          <a:prstGeom prst="ellipse">
            <a:avLst/>
          </a:prstGeom>
          <a:solidFill>
            <a:srgbClr val="D64550"/>
          </a:solidFill>
          <a:ln/>
        </p:spPr>
      </p:sp>
      <p:sp>
        <p:nvSpPr>
          <p:cNvPr id="18" name="Shape 15"/>
          <p:cNvSpPr/>
          <p:nvPr/>
        </p:nvSpPr>
        <p:spPr>
          <a:xfrm>
            <a:off x="6748272" y="1801368"/>
            <a:ext cx="146304" cy="146304"/>
          </a:xfrm>
          <a:prstGeom prst="ellipse">
            <a:avLst/>
          </a:prstGeom>
          <a:solidFill>
            <a:srgbClr val="ECB748"/>
          </a:solidFill>
          <a:ln/>
        </p:spPr>
      </p:sp>
      <p:sp>
        <p:nvSpPr>
          <p:cNvPr id="19" name="Shape 16"/>
          <p:cNvSpPr/>
          <p:nvPr/>
        </p:nvSpPr>
        <p:spPr>
          <a:xfrm>
            <a:off x="7004304" y="1801368"/>
            <a:ext cx="146304" cy="146304"/>
          </a:xfrm>
          <a:prstGeom prst="ellipse">
            <a:avLst/>
          </a:prstGeom>
          <a:solidFill>
            <a:srgbClr val="6B6B6B"/>
          </a:solidFill>
          <a:ln/>
        </p:spPr>
      </p:sp>
      <p:sp>
        <p:nvSpPr>
          <p:cNvPr id="20" name="Text 17"/>
          <p:cNvSpPr/>
          <p:nvPr/>
        </p:nvSpPr>
        <p:spPr>
          <a:xfrm>
            <a:off x="7406640" y="1746504"/>
            <a:ext cx="3977640" cy="256032"/>
          </a:xfrm>
          <a:prstGeom prst="rect">
            <a:avLst/>
          </a:prstGeom>
          <a:noFill/>
          <a:ln/>
        </p:spPr>
        <p:txBody>
          <a:bodyPr wrap="square" rtlCol="0" anchor="ctr"/>
          <a:lstStyle/>
          <a:p>
            <a:pPr indent="0" marL="0">
              <a:buNone/>
            </a:pPr>
            <a:r>
              <a:rPr lang="en-US" sz="1050" dirty="0">
                <a:solidFill>
                  <a:srgbClr val="9B9690"/>
                </a:solidFill>
                <a:latin typeface="Courier New" pitchFamily="34" charset="0"/>
                <a:ea typeface="Courier New" pitchFamily="34" charset="-122"/>
                <a:cs typeface="Courier New" pitchFamily="34" charset="-120"/>
              </a:rPr>
              <a:t>record.R</a:t>
            </a:r>
            <a:endParaRPr lang="en-US" sz="1050" dirty="0"/>
          </a:p>
        </p:txBody>
      </p:sp>
      <p:sp>
        <p:nvSpPr>
          <p:cNvPr id="21" name="Shape 18"/>
          <p:cNvSpPr/>
          <p:nvPr/>
        </p:nvSpPr>
        <p:spPr>
          <a:xfrm>
            <a:off x="6309360" y="2103120"/>
            <a:ext cx="5166360" cy="0"/>
          </a:xfrm>
          <a:prstGeom prst="line">
            <a:avLst/>
          </a:prstGeom>
          <a:noFill/>
          <a:ln w="12700">
            <a:solidFill>
              <a:srgbClr val="444444"/>
            </a:solidFill>
            <a:prstDash val="solid"/>
          </a:ln>
        </p:spPr>
      </p:sp>
      <p:sp>
        <p:nvSpPr>
          <p:cNvPr id="22" name="Text 19"/>
          <p:cNvSpPr/>
          <p:nvPr/>
        </p:nvSpPr>
        <p:spPr>
          <a:xfrm>
            <a:off x="6537960" y="2240280"/>
            <a:ext cx="4709160" cy="329184"/>
          </a:xfrm>
          <a:prstGeom prst="rect">
            <a:avLst/>
          </a:prstGeom>
          <a:noFill/>
          <a:ln/>
        </p:spPr>
        <p:txBody>
          <a:bodyPr wrap="square" rtlCol="0" anchor="ctr"/>
          <a:lstStyle/>
          <a:p>
            <a:pPr indent="0" marL="0">
              <a:buNone/>
            </a:pPr>
            <a:r>
              <a:rPr lang="en-US" sz="1300" dirty="0">
                <a:solidFill>
                  <a:srgbClr val="FFFFFF"/>
                </a:solidFill>
                <a:latin typeface="Courier New" pitchFamily="34" charset="0"/>
                <a:ea typeface="Courier New" pitchFamily="34" charset="-122"/>
                <a:cs typeface="Courier New" pitchFamily="34" charset="-120"/>
              </a:rPr>
              <a:t>patient &lt;- list(</a:t>
            </a:r>
            <a:endParaRPr lang="en-US" sz="1300" dirty="0"/>
          </a:p>
        </p:txBody>
      </p:sp>
      <p:sp>
        <p:nvSpPr>
          <p:cNvPr id="23" name="Text 20"/>
          <p:cNvSpPr/>
          <p:nvPr/>
        </p:nvSpPr>
        <p:spPr>
          <a:xfrm>
            <a:off x="6537960" y="2569464"/>
            <a:ext cx="4709160" cy="329184"/>
          </a:xfrm>
          <a:prstGeom prst="rect">
            <a:avLst/>
          </a:prstGeom>
          <a:noFill/>
          <a:ln/>
        </p:spPr>
        <p:txBody>
          <a:bodyPr wrap="square" rtlCol="0" anchor="ctr"/>
          <a:lstStyle/>
          <a:p>
            <a:pPr indent="0" marL="0">
              <a:buNone/>
            </a:pPr>
            <a:r>
              <a:rPr lang="en-US" sz="1300" dirty="0">
                <a:solidFill>
                  <a:srgbClr val="F5F3EF"/>
                </a:solidFill>
                <a:latin typeface="Courier New" pitchFamily="34" charset="0"/>
                <a:ea typeface="Courier New" pitchFamily="34" charset="-122"/>
                <a:cs typeface="Courier New" pitchFamily="34" charset="-120"/>
              </a:rPr>
              <a:t>  id = "P042", age = </a:t>
            </a:r>
            <a:pPr indent="0" marL="0">
              <a:buNone/>
            </a:pPr>
            <a:r>
              <a:rPr lang="en-US" sz="1300" dirty="0">
                <a:solidFill>
                  <a:srgbClr val="B3C9CD"/>
                </a:solidFill>
                <a:latin typeface="Courier New" pitchFamily="34" charset="0"/>
                <a:ea typeface="Courier New" pitchFamily="34" charset="-122"/>
                <a:cs typeface="Courier New" pitchFamily="34" charset="-120"/>
              </a:rPr>
              <a:t>61</a:t>
            </a:r>
            <a:pPr indent="0" marL="0">
              <a:buNone/>
            </a:pPr>
            <a:r>
              <a:rPr lang="en-US" sz="1300" dirty="0">
                <a:solidFill>
                  <a:srgbClr val="FFFFFF"/>
                </a:solidFill>
                <a:latin typeface="Courier New" pitchFamily="34" charset="0"/>
                <a:ea typeface="Courier New" pitchFamily="34" charset="-122"/>
                <a:cs typeface="Courier New" pitchFamily="34" charset="-120"/>
              </a:rPr>
              <a:t>,</a:t>
            </a:r>
            <a:endParaRPr lang="en-US" sz="1300" dirty="0"/>
          </a:p>
        </p:txBody>
      </p:sp>
      <p:sp>
        <p:nvSpPr>
          <p:cNvPr id="24" name="Text 21"/>
          <p:cNvSpPr/>
          <p:nvPr/>
        </p:nvSpPr>
        <p:spPr>
          <a:xfrm>
            <a:off x="6537960" y="2898648"/>
            <a:ext cx="4709160" cy="329184"/>
          </a:xfrm>
          <a:prstGeom prst="rect">
            <a:avLst/>
          </a:prstGeom>
          <a:noFill/>
          <a:ln/>
        </p:spPr>
        <p:txBody>
          <a:bodyPr wrap="square" rtlCol="0" anchor="ctr"/>
          <a:lstStyle/>
          <a:p>
            <a:pPr indent="0" marL="0">
              <a:buNone/>
            </a:pPr>
            <a:r>
              <a:rPr lang="en-US" sz="1300" dirty="0">
                <a:solidFill>
                  <a:srgbClr val="F5F3EF"/>
                </a:solidFill>
                <a:latin typeface="Courier New" pitchFamily="34" charset="0"/>
                <a:ea typeface="Courier New" pitchFamily="34" charset="-122"/>
                <a:cs typeface="Courier New" pitchFamily="34" charset="-120"/>
              </a:rPr>
              <a:t>  treated = TRUE)</a:t>
            </a:r>
            <a:endParaRPr lang="en-US" sz="1300" dirty="0"/>
          </a:p>
        </p:txBody>
      </p:sp>
      <p:sp>
        <p:nvSpPr>
          <p:cNvPr id="25" name="Text 22"/>
          <p:cNvSpPr/>
          <p:nvPr/>
        </p:nvSpPr>
        <p:spPr>
          <a:xfrm>
            <a:off x="6537960" y="3227832"/>
            <a:ext cx="4709160" cy="329184"/>
          </a:xfrm>
          <a:prstGeom prst="rect">
            <a:avLst/>
          </a:prstGeom>
          <a:noFill/>
          <a:ln/>
        </p:spPr>
        <p:txBody>
          <a:bodyPr wrap="square" rtlCol="0" anchor="ctr"/>
          <a:lstStyle/>
          <a:p>
            <a:pPr indent="0" marL="0">
              <a:buNone/>
            </a:pPr>
            <a:r>
              <a:rPr lang="en-US" sz="1300" dirty="0">
                <a:solidFill>
                  <a:srgbClr val="FFFFFF"/>
                </a:solidFill>
                <a:latin typeface="Courier New" pitchFamily="34" charset="0"/>
                <a:ea typeface="Courier New" pitchFamily="34" charset="-122"/>
                <a:cs typeface="Courier New" pitchFamily="34" charset="-120"/>
              </a:rPr>
              <a:t>patient$age    </a:t>
            </a:r>
            <a:pPr indent="0" marL="0">
              <a:buNone/>
            </a:pPr>
            <a:r>
              <a:rPr lang="en-US" sz="1300" dirty="0">
                <a:solidFill>
                  <a:srgbClr val="8A8A82"/>
                </a:solidFill>
                <a:latin typeface="Courier New" pitchFamily="34" charset="0"/>
                <a:ea typeface="Courier New" pitchFamily="34" charset="-122"/>
                <a:cs typeface="Courier New" pitchFamily="34" charset="-120"/>
              </a:rPr>
              <a:t># 61</a:t>
            </a:r>
            <a:endParaRPr lang="en-US" sz="1300" dirty="0"/>
          </a:p>
        </p:txBody>
      </p:sp>
      <p:graphicFrame>
        <p:nvGraphicFramePr>
          <p:cNvPr id="8" name="Table 0"/>
          <p:cNvGraphicFramePr>
            <a:graphicFrameLocks noGrp="1"/>
          </p:cNvGraphicFramePr>
          <p:nvPr>
            <p:extLst>
              <p:ext uri="{D42A27DB-BD31-4B8C-83A1-F6EECF244321}">
                <p14:modId xmlns:p14="http://schemas.microsoft.com/office/powerpoint/2010/main" val="1579011935"/>
              </p:ext>
            </p:extLst>
          </p:nvPr>
        </p:nvGraphicFramePr>
        <p:xfrm>
          <a:off x="640080" y="4160520"/>
          <a:ext cx="10881360" cy="1920240"/>
        </p:xfrm>
        <a:graphic>
          <a:graphicData uri="http://schemas.openxmlformats.org/drawingml/2006/table">
            <a:tbl>
              <a:tblPr/>
              <a:tblGrid>
                <a:gridCol w="7680960"/>
                <a:gridCol w="3200400"/>
              </a:tblGrid>
              <a:tr h="365760">
                <a:tc>
                  <a:txBody>
                    <a:bodyPr/>
                    <a:lstStyle/>
                    <a:p>
                      <a:pPr algn="l" indent="0" marL="0">
                        <a:buNone/>
                      </a:pPr>
                      <a:r>
                        <a:rPr lang="en-US" sz="1300" b="1" dirty="0">
                          <a:solidFill>
                            <a:srgbClr val="FFFFFF"/>
                          </a:solidFill>
                          <a:latin typeface="Arial" pitchFamily="34" charset="0"/>
                          <a:ea typeface="Arial" pitchFamily="34" charset="-122"/>
                          <a:cs typeface="Arial" pitchFamily="34" charset="-120"/>
                        </a:rPr>
                        <a:t>Situation</a:t>
                      </a:r>
                      <a:endParaRPr lang="en-US" sz="1300" dirty="0">
                        <a:latin typeface="Arial" charset="0"/>
                        <a:ea typeface="Arial" charset="0"/>
                        <a:cs typeface="Arial" charset="0"/>
                      </a:endParaRPr>
                    </a:p>
                  </a:txBody>
                  <a:tcPr marL="91440" marR="91440" marT="45720" marB="45720" anchor="ctr">
                    <a:lnL w="12700" cap="flat" cmpd="sng" algn="ctr">
                      <a:solidFill>
                        <a:srgbClr val="E3E3E3"/>
                      </a:solidFill>
                      <a:prstDash val="solid"/>
                      <a:round/>
                      <a:headEnd type="none" w="med" len="med"/>
                      <a:tailEnd type="none" w="med" len="med"/>
                    </a:lnL>
                    <a:lnR w="12700" cap="flat" cmpd="sng" algn="ctr">
                      <a:solidFill>
                        <a:srgbClr val="E3E3E3"/>
                      </a:solidFill>
                      <a:prstDash val="solid"/>
                      <a:round/>
                      <a:headEnd type="none" w="med" len="med"/>
                      <a:tailEnd type="none" w="med" len="med"/>
                    </a:lnR>
                    <a:lnT w="12700" cap="flat" cmpd="sng" algn="ctr">
                      <a:solidFill>
                        <a:srgbClr val="E3E3E3"/>
                      </a:solidFill>
                      <a:prstDash val="solid"/>
                      <a:round/>
                      <a:headEnd type="none" w="med" len="med"/>
                      <a:tailEnd type="none" w="med" len="med"/>
                    </a:lnT>
                    <a:lnB w="12700" cap="flat" cmpd="sng" algn="ctr">
                      <a:solidFill>
                        <a:srgbClr val="E3E3E3"/>
                      </a:solidFill>
                      <a:prstDash val="solid"/>
                      <a:round/>
                      <a:headEnd type="none" w="med" len="med"/>
                      <a:tailEnd type="none" w="med" len="med"/>
                    </a:lnB>
                    <a:solidFill>
                      <a:srgbClr val="1C1C1C"/>
                    </a:solidFill>
                  </a:tcPr>
                </a:tc>
                <a:tc>
                  <a:txBody>
                    <a:bodyPr/>
                    <a:lstStyle/>
                    <a:p>
                      <a:pPr algn="l" indent="0" marL="0">
                        <a:buNone/>
                      </a:pPr>
                      <a:r>
                        <a:rPr lang="en-US" sz="1300" b="1" dirty="0">
                          <a:solidFill>
                            <a:srgbClr val="FFFFFF"/>
                          </a:solidFill>
                          <a:latin typeface="Arial" pitchFamily="34" charset="0"/>
                          <a:ea typeface="Arial" pitchFamily="34" charset="-122"/>
                          <a:cs typeface="Arial" pitchFamily="34" charset="-120"/>
                        </a:rPr>
                        <a:t>Reach for</a:t>
                      </a:r>
                      <a:endParaRPr lang="en-US" sz="1300" dirty="0">
                        <a:latin typeface="Arial" charset="0"/>
                        <a:ea typeface="Arial" charset="0"/>
                        <a:cs typeface="Arial" charset="0"/>
                      </a:endParaRPr>
                    </a:p>
                  </a:txBody>
                  <a:tcPr marL="91440" marR="91440" marT="45720" marB="45720" anchor="ctr">
                    <a:lnL w="12700" cap="flat" cmpd="sng" algn="ctr">
                      <a:solidFill>
                        <a:srgbClr val="E3E3E3"/>
                      </a:solidFill>
                      <a:prstDash val="solid"/>
                      <a:round/>
                      <a:headEnd type="none" w="med" len="med"/>
                      <a:tailEnd type="none" w="med" len="med"/>
                    </a:lnL>
                    <a:lnR w="12700" cap="flat" cmpd="sng" algn="ctr">
                      <a:solidFill>
                        <a:srgbClr val="E3E3E3"/>
                      </a:solidFill>
                      <a:prstDash val="solid"/>
                      <a:round/>
                      <a:headEnd type="none" w="med" len="med"/>
                      <a:tailEnd type="none" w="med" len="med"/>
                    </a:lnR>
                    <a:lnT w="12700" cap="flat" cmpd="sng" algn="ctr">
                      <a:solidFill>
                        <a:srgbClr val="E3E3E3"/>
                      </a:solidFill>
                      <a:prstDash val="solid"/>
                      <a:round/>
                      <a:headEnd type="none" w="med" len="med"/>
                      <a:tailEnd type="none" w="med" len="med"/>
                    </a:lnT>
                    <a:lnB w="12700" cap="flat" cmpd="sng" algn="ctr">
                      <a:solidFill>
                        <a:srgbClr val="E3E3E3"/>
                      </a:solidFill>
                      <a:prstDash val="solid"/>
                      <a:round/>
                      <a:headEnd type="none" w="med" len="med"/>
                      <a:tailEnd type="none" w="med" len="med"/>
                    </a:lnB>
                    <a:solidFill>
                      <a:srgbClr val="1C1C1C"/>
                    </a:solidFill>
                  </a:tcPr>
                </a:tc>
              </a:tr>
              <a:tr h="411480">
                <a:tc>
                  <a:txBody>
                    <a:bodyPr/>
                    <a:lstStyle/>
                    <a:p>
                      <a:pPr algn="l" indent="0" marL="0">
                        <a:buNone/>
                      </a:pPr>
                      <a:r>
                        <a:rPr lang="en-US" sz="1200" dirty="0">
                          <a:solidFill>
                            <a:srgbClr val="595959"/>
                          </a:solidFill>
                          <a:latin typeface="Arial" pitchFamily="34" charset="0"/>
                          <a:ea typeface="Arial" pitchFamily="34" charset="-122"/>
                          <a:cs typeface="Arial" pitchFamily="34" charset="-120"/>
                        </a:rPr>
                        <a:t>A column of measurements (all one kind of thing)</a:t>
                      </a:r>
                      <a:endParaRPr lang="en-US" sz="1200" dirty="0">
                        <a:latin typeface="Arial" charset="0"/>
                        <a:ea typeface="Arial" charset="0"/>
                        <a:cs typeface="Arial" charset="0"/>
                      </a:endParaRPr>
                    </a:p>
                  </a:txBody>
                  <a:tcPr marL="91440" marR="91440" marT="45720" marB="45720" anchor="ctr">
                    <a:lnL w="12700" cap="flat" cmpd="sng" algn="ctr">
                      <a:solidFill>
                        <a:srgbClr val="E3E3E3"/>
                      </a:solidFill>
                      <a:prstDash val="solid"/>
                      <a:round/>
                      <a:headEnd type="none" w="med" len="med"/>
                      <a:tailEnd type="none" w="med" len="med"/>
                    </a:lnL>
                    <a:lnR w="12700" cap="flat" cmpd="sng" algn="ctr">
                      <a:solidFill>
                        <a:srgbClr val="E3E3E3"/>
                      </a:solidFill>
                      <a:prstDash val="solid"/>
                      <a:round/>
                      <a:headEnd type="none" w="med" len="med"/>
                      <a:tailEnd type="none" w="med" len="med"/>
                    </a:lnR>
                    <a:lnT w="12700" cap="flat" cmpd="sng" algn="ctr">
                      <a:solidFill>
                        <a:srgbClr val="E3E3E3"/>
                      </a:solidFill>
                      <a:prstDash val="solid"/>
                      <a:round/>
                      <a:headEnd type="none" w="med" len="med"/>
                      <a:tailEnd type="none" w="med" len="med"/>
                    </a:lnT>
                    <a:lnB w="12700" cap="flat" cmpd="sng" algn="ctr">
                      <a:solidFill>
                        <a:srgbClr val="E3E3E3"/>
                      </a:solidFill>
                      <a:prstDash val="solid"/>
                      <a:round/>
                      <a:headEnd type="none" w="med" len="med"/>
                      <a:tailEnd type="none" w="med" len="med"/>
                    </a:lnB>
                    <a:solidFill>
                      <a:srgbClr val="FFFFFF"/>
                    </a:solidFill>
                  </a:tcPr>
                </a:tc>
                <a:tc>
                  <a:txBody>
                    <a:bodyPr/>
                    <a:lstStyle/>
                    <a:p>
                      <a:pPr algn="l" indent="0" marL="0">
                        <a:buNone/>
                      </a:pPr>
                      <a:r>
                        <a:rPr lang="en-US" sz="1200" b="1" dirty="0">
                          <a:solidFill>
                            <a:srgbClr val="1C1C1C"/>
                          </a:solidFill>
                          <a:latin typeface="Arial" pitchFamily="34" charset="0"/>
                          <a:ea typeface="Arial" pitchFamily="34" charset="-122"/>
                          <a:cs typeface="Arial" pitchFamily="34" charset="-120"/>
                        </a:rPr>
                        <a:t>list / vector</a:t>
                      </a:r>
                      <a:endParaRPr lang="en-US" sz="1200" dirty="0">
                        <a:latin typeface="Arial" charset="0"/>
                        <a:ea typeface="Arial" charset="0"/>
                        <a:cs typeface="Arial" charset="0"/>
                      </a:endParaRPr>
                    </a:p>
                  </a:txBody>
                  <a:tcPr marL="91440" marR="91440" marT="45720" marB="45720" anchor="ctr">
                    <a:lnL w="12700" cap="flat" cmpd="sng" algn="ctr">
                      <a:solidFill>
                        <a:srgbClr val="E3E3E3"/>
                      </a:solidFill>
                      <a:prstDash val="solid"/>
                      <a:round/>
                      <a:headEnd type="none" w="med" len="med"/>
                      <a:tailEnd type="none" w="med" len="med"/>
                    </a:lnL>
                    <a:lnR w="12700" cap="flat" cmpd="sng" algn="ctr">
                      <a:solidFill>
                        <a:srgbClr val="E3E3E3"/>
                      </a:solidFill>
                      <a:prstDash val="solid"/>
                      <a:round/>
                      <a:headEnd type="none" w="med" len="med"/>
                      <a:tailEnd type="none" w="med" len="med"/>
                    </a:lnR>
                    <a:lnT w="12700" cap="flat" cmpd="sng" algn="ctr">
                      <a:solidFill>
                        <a:srgbClr val="E3E3E3"/>
                      </a:solidFill>
                      <a:prstDash val="solid"/>
                      <a:round/>
                      <a:headEnd type="none" w="med" len="med"/>
                      <a:tailEnd type="none" w="med" len="med"/>
                    </a:lnT>
                    <a:lnB w="12700" cap="flat" cmpd="sng" algn="ctr">
                      <a:solidFill>
                        <a:srgbClr val="E3E3E3"/>
                      </a:solidFill>
                      <a:prstDash val="solid"/>
                      <a:round/>
                      <a:headEnd type="none" w="med" len="med"/>
                      <a:tailEnd type="none" w="med" len="med"/>
                    </a:lnB>
                    <a:solidFill>
                      <a:srgbClr val="FFFFFF"/>
                    </a:solidFill>
                  </a:tcPr>
                </a:tc>
              </a:tr>
              <a:tr h="411480">
                <a:tc>
                  <a:txBody>
                    <a:bodyPr/>
                    <a:lstStyle/>
                    <a:p>
                      <a:pPr algn="l" indent="0" marL="0">
                        <a:buNone/>
                      </a:pPr>
                      <a:r>
                        <a:rPr lang="en-US" sz="1200" dirty="0">
                          <a:solidFill>
                            <a:srgbClr val="595959"/>
                          </a:solidFill>
                          <a:latin typeface="Arial" pitchFamily="34" charset="0"/>
                          <a:ea typeface="Arial" pitchFamily="34" charset="-122"/>
                          <a:cs typeface="Arial" pitchFamily="34" charset="-120"/>
                        </a:rPr>
                        <a:t>A single subject's attributes (mixed types, named fields)</a:t>
                      </a:r>
                      <a:endParaRPr lang="en-US" sz="1200" dirty="0">
                        <a:latin typeface="Arial" charset="0"/>
                        <a:ea typeface="Arial" charset="0"/>
                        <a:cs typeface="Arial" charset="0"/>
                      </a:endParaRPr>
                    </a:p>
                  </a:txBody>
                  <a:tcPr marL="91440" marR="91440" marT="45720" marB="45720" anchor="ctr">
                    <a:lnL w="12700" cap="flat" cmpd="sng" algn="ctr">
                      <a:solidFill>
                        <a:srgbClr val="E3E3E3"/>
                      </a:solidFill>
                      <a:prstDash val="solid"/>
                      <a:round/>
                      <a:headEnd type="none" w="med" len="med"/>
                      <a:tailEnd type="none" w="med" len="med"/>
                    </a:lnL>
                    <a:lnR w="12700" cap="flat" cmpd="sng" algn="ctr">
                      <a:solidFill>
                        <a:srgbClr val="E3E3E3"/>
                      </a:solidFill>
                      <a:prstDash val="solid"/>
                      <a:round/>
                      <a:headEnd type="none" w="med" len="med"/>
                      <a:tailEnd type="none" w="med" len="med"/>
                    </a:lnR>
                    <a:lnT w="12700" cap="flat" cmpd="sng" algn="ctr">
                      <a:solidFill>
                        <a:srgbClr val="E3E3E3"/>
                      </a:solidFill>
                      <a:prstDash val="solid"/>
                      <a:round/>
                      <a:headEnd type="none" w="med" len="med"/>
                      <a:tailEnd type="none" w="med" len="med"/>
                    </a:lnT>
                    <a:lnB w="12700" cap="flat" cmpd="sng" algn="ctr">
                      <a:solidFill>
                        <a:srgbClr val="E3E3E3"/>
                      </a:solidFill>
                      <a:prstDash val="solid"/>
                      <a:round/>
                      <a:headEnd type="none" w="med" len="med"/>
                      <a:tailEnd type="none" w="med" len="med"/>
                    </a:lnB>
                    <a:solidFill>
                      <a:srgbClr val="F5F3EF"/>
                    </a:solidFill>
                  </a:tcPr>
                </a:tc>
                <a:tc>
                  <a:txBody>
                    <a:bodyPr/>
                    <a:lstStyle/>
                    <a:p>
                      <a:pPr algn="l" indent="0" marL="0">
                        <a:buNone/>
                      </a:pPr>
                      <a:r>
                        <a:rPr lang="en-US" sz="1200" b="1" dirty="0">
                          <a:solidFill>
                            <a:srgbClr val="1C1C1C"/>
                          </a:solidFill>
                          <a:latin typeface="Arial" pitchFamily="34" charset="0"/>
                          <a:ea typeface="Arial" pitchFamily="34" charset="-122"/>
                          <a:cs typeface="Arial" pitchFamily="34" charset="-120"/>
                        </a:rPr>
                        <a:t>dict / named list</a:t>
                      </a:r>
                      <a:endParaRPr lang="en-US" sz="1200" dirty="0">
                        <a:latin typeface="Arial" charset="0"/>
                        <a:ea typeface="Arial" charset="0"/>
                        <a:cs typeface="Arial" charset="0"/>
                      </a:endParaRPr>
                    </a:p>
                  </a:txBody>
                  <a:tcPr marL="91440" marR="91440" marT="45720" marB="45720" anchor="ctr">
                    <a:lnL w="12700" cap="flat" cmpd="sng" algn="ctr">
                      <a:solidFill>
                        <a:srgbClr val="E3E3E3"/>
                      </a:solidFill>
                      <a:prstDash val="solid"/>
                      <a:round/>
                      <a:headEnd type="none" w="med" len="med"/>
                      <a:tailEnd type="none" w="med" len="med"/>
                    </a:lnL>
                    <a:lnR w="12700" cap="flat" cmpd="sng" algn="ctr">
                      <a:solidFill>
                        <a:srgbClr val="E3E3E3"/>
                      </a:solidFill>
                      <a:prstDash val="solid"/>
                      <a:round/>
                      <a:headEnd type="none" w="med" len="med"/>
                      <a:tailEnd type="none" w="med" len="med"/>
                    </a:lnR>
                    <a:lnT w="12700" cap="flat" cmpd="sng" algn="ctr">
                      <a:solidFill>
                        <a:srgbClr val="E3E3E3"/>
                      </a:solidFill>
                      <a:prstDash val="solid"/>
                      <a:round/>
                      <a:headEnd type="none" w="med" len="med"/>
                      <a:tailEnd type="none" w="med" len="med"/>
                    </a:lnT>
                    <a:lnB w="12700" cap="flat" cmpd="sng" algn="ctr">
                      <a:solidFill>
                        <a:srgbClr val="E3E3E3"/>
                      </a:solidFill>
                      <a:prstDash val="solid"/>
                      <a:round/>
                      <a:headEnd type="none" w="med" len="med"/>
                      <a:tailEnd type="none" w="med" len="med"/>
                    </a:lnB>
                    <a:solidFill>
                      <a:srgbClr val="F5F3EF"/>
                    </a:solidFill>
                  </a:tcPr>
                </a:tc>
              </a:tr>
              <a:tr h="411480">
                <a:tc>
                  <a:txBody>
                    <a:bodyPr/>
                    <a:lstStyle/>
                    <a:p>
                      <a:pPr algn="l" indent="0" marL="0">
                        <a:buNone/>
                      </a:pPr>
                      <a:r>
                        <a:rPr lang="en-US" sz="1200" dirty="0">
                          <a:solidFill>
                            <a:srgbClr val="595959"/>
                          </a:solidFill>
                          <a:latin typeface="Arial" pitchFamily="34" charset="0"/>
                          <a:ea typeface="Arial" pitchFamily="34" charset="-122"/>
                          <a:cs typeface="Arial" pitchFamily="34" charset="-120"/>
                        </a:rPr>
                        <a:t>A lookup table (gene name → chromosome, ID → group)</a:t>
                      </a:r>
                      <a:endParaRPr lang="en-US" sz="1200" dirty="0">
                        <a:latin typeface="Arial" charset="0"/>
                        <a:ea typeface="Arial" charset="0"/>
                        <a:cs typeface="Arial" charset="0"/>
                      </a:endParaRPr>
                    </a:p>
                  </a:txBody>
                  <a:tcPr marL="91440" marR="91440" marT="45720" marB="45720" anchor="ctr">
                    <a:lnL w="12700" cap="flat" cmpd="sng" algn="ctr">
                      <a:solidFill>
                        <a:srgbClr val="E3E3E3"/>
                      </a:solidFill>
                      <a:prstDash val="solid"/>
                      <a:round/>
                      <a:headEnd type="none" w="med" len="med"/>
                      <a:tailEnd type="none" w="med" len="med"/>
                    </a:lnL>
                    <a:lnR w="12700" cap="flat" cmpd="sng" algn="ctr">
                      <a:solidFill>
                        <a:srgbClr val="E3E3E3"/>
                      </a:solidFill>
                      <a:prstDash val="solid"/>
                      <a:round/>
                      <a:headEnd type="none" w="med" len="med"/>
                      <a:tailEnd type="none" w="med" len="med"/>
                    </a:lnR>
                    <a:lnT w="12700" cap="flat" cmpd="sng" algn="ctr">
                      <a:solidFill>
                        <a:srgbClr val="E3E3E3"/>
                      </a:solidFill>
                      <a:prstDash val="solid"/>
                      <a:round/>
                      <a:headEnd type="none" w="med" len="med"/>
                      <a:tailEnd type="none" w="med" len="med"/>
                    </a:lnT>
                    <a:lnB w="12700" cap="flat" cmpd="sng" algn="ctr">
                      <a:solidFill>
                        <a:srgbClr val="E3E3E3"/>
                      </a:solidFill>
                      <a:prstDash val="solid"/>
                      <a:round/>
                      <a:headEnd type="none" w="med" len="med"/>
                      <a:tailEnd type="none" w="med" len="med"/>
                    </a:lnB>
                    <a:solidFill>
                      <a:srgbClr val="FFFFFF"/>
                    </a:solidFill>
                  </a:tcPr>
                </a:tc>
                <a:tc>
                  <a:txBody>
                    <a:bodyPr/>
                    <a:lstStyle/>
                    <a:p>
                      <a:pPr algn="l" indent="0" marL="0">
                        <a:buNone/>
                      </a:pPr>
                      <a:r>
                        <a:rPr lang="en-US" sz="1200" b="1" dirty="0">
                          <a:solidFill>
                            <a:srgbClr val="1C1C1C"/>
                          </a:solidFill>
                          <a:latin typeface="Arial" pitchFamily="34" charset="0"/>
                          <a:ea typeface="Arial" pitchFamily="34" charset="-122"/>
                          <a:cs typeface="Arial" pitchFamily="34" charset="-120"/>
                        </a:rPr>
                        <a:t>dict / named list</a:t>
                      </a:r>
                      <a:endParaRPr lang="en-US" sz="1200" dirty="0">
                        <a:latin typeface="Arial" charset="0"/>
                        <a:ea typeface="Arial" charset="0"/>
                        <a:cs typeface="Arial" charset="0"/>
                      </a:endParaRPr>
                    </a:p>
                  </a:txBody>
                  <a:tcPr marL="91440" marR="91440" marT="45720" marB="45720" anchor="ctr">
                    <a:lnL w="12700" cap="flat" cmpd="sng" algn="ctr">
                      <a:solidFill>
                        <a:srgbClr val="E3E3E3"/>
                      </a:solidFill>
                      <a:prstDash val="solid"/>
                      <a:round/>
                      <a:headEnd type="none" w="med" len="med"/>
                      <a:tailEnd type="none" w="med" len="med"/>
                    </a:lnL>
                    <a:lnR w="12700" cap="flat" cmpd="sng" algn="ctr">
                      <a:solidFill>
                        <a:srgbClr val="E3E3E3"/>
                      </a:solidFill>
                      <a:prstDash val="solid"/>
                      <a:round/>
                      <a:headEnd type="none" w="med" len="med"/>
                      <a:tailEnd type="none" w="med" len="med"/>
                    </a:lnR>
                    <a:lnT w="12700" cap="flat" cmpd="sng" algn="ctr">
                      <a:solidFill>
                        <a:srgbClr val="E3E3E3"/>
                      </a:solidFill>
                      <a:prstDash val="solid"/>
                      <a:round/>
                      <a:headEnd type="none" w="med" len="med"/>
                      <a:tailEnd type="none" w="med" len="med"/>
                    </a:lnT>
                    <a:lnB w="12700" cap="flat" cmpd="sng" algn="ctr">
                      <a:solidFill>
                        <a:srgbClr val="E3E3E3"/>
                      </a:solidFill>
                      <a:prstDash val="solid"/>
                      <a:round/>
                      <a:headEnd type="none" w="med" len="med"/>
                      <a:tailEnd type="none" w="med" len="med"/>
                    </a:lnB>
                    <a:solidFill>
                      <a:srgbClr val="FFFFFF"/>
                    </a:solidFill>
                  </a:tcPr>
                </a:tc>
              </a:tr>
              <a:tr h="411480">
                <a:tc>
                  <a:txBody>
                    <a:bodyPr/>
                    <a:lstStyle/>
                    <a:p>
                      <a:pPr algn="l" indent="0" marL="0">
                        <a:buNone/>
                      </a:pPr>
                      <a:r>
                        <a:rPr lang="en-US" sz="1200" dirty="0">
                          <a:solidFill>
                            <a:srgbClr val="595959"/>
                          </a:solidFill>
                          <a:latin typeface="Arial" pitchFamily="34" charset="0"/>
                          <a:ea typeface="Arial" pitchFamily="34" charset="-122"/>
                          <a:cs typeface="Arial" pitchFamily="34" charset="-120"/>
                        </a:rPr>
                        <a:t>Many subjects, same fields, lined up as a rectangle</a:t>
                      </a:r>
                      <a:endParaRPr lang="en-US" sz="1200" dirty="0">
                        <a:latin typeface="Arial" charset="0"/>
                        <a:ea typeface="Arial" charset="0"/>
                        <a:cs typeface="Arial" charset="0"/>
                      </a:endParaRPr>
                    </a:p>
                  </a:txBody>
                  <a:tcPr marL="91440" marR="91440" marT="45720" marB="45720" anchor="ctr">
                    <a:lnL w="12700" cap="flat" cmpd="sng" algn="ctr">
                      <a:solidFill>
                        <a:srgbClr val="E3E3E3"/>
                      </a:solidFill>
                      <a:prstDash val="solid"/>
                      <a:round/>
                      <a:headEnd type="none" w="med" len="med"/>
                      <a:tailEnd type="none" w="med" len="med"/>
                    </a:lnL>
                    <a:lnR w="12700" cap="flat" cmpd="sng" algn="ctr">
                      <a:solidFill>
                        <a:srgbClr val="E3E3E3"/>
                      </a:solidFill>
                      <a:prstDash val="solid"/>
                      <a:round/>
                      <a:headEnd type="none" w="med" len="med"/>
                      <a:tailEnd type="none" w="med" len="med"/>
                    </a:lnR>
                    <a:lnT w="12700" cap="flat" cmpd="sng" algn="ctr">
                      <a:solidFill>
                        <a:srgbClr val="E3E3E3"/>
                      </a:solidFill>
                      <a:prstDash val="solid"/>
                      <a:round/>
                      <a:headEnd type="none" w="med" len="med"/>
                      <a:tailEnd type="none" w="med" len="med"/>
                    </a:lnT>
                    <a:lnB w="12700" cap="flat" cmpd="sng" algn="ctr">
                      <a:solidFill>
                        <a:srgbClr val="E3E3E3"/>
                      </a:solidFill>
                      <a:prstDash val="solid"/>
                      <a:round/>
                      <a:headEnd type="none" w="med" len="med"/>
                      <a:tailEnd type="none" w="med" len="med"/>
                    </a:lnB>
                    <a:solidFill>
                      <a:srgbClr val="F5F3EF"/>
                    </a:solidFill>
                  </a:tcPr>
                </a:tc>
                <a:tc>
                  <a:txBody>
                    <a:bodyPr/>
                    <a:lstStyle/>
                    <a:p>
                      <a:pPr algn="l" indent="0" marL="0">
                        <a:buNone/>
                      </a:pPr>
                      <a:r>
                        <a:rPr lang="en-US" sz="1200" b="1" dirty="0">
                          <a:solidFill>
                            <a:srgbClr val="1C1C1C"/>
                          </a:solidFill>
                          <a:latin typeface="Arial" pitchFamily="34" charset="0"/>
                          <a:ea typeface="Arial" pitchFamily="34" charset="-122"/>
                          <a:cs typeface="Arial" pitchFamily="34" charset="-120"/>
                        </a:rPr>
                        <a:t>dataframe — Session 7. It is a list of dicts stood on end.</a:t>
                      </a:r>
                      <a:endParaRPr lang="en-US" sz="1200" dirty="0">
                        <a:latin typeface="Arial" charset="0"/>
                        <a:ea typeface="Arial" charset="0"/>
                        <a:cs typeface="Arial" charset="0"/>
                      </a:endParaRPr>
                    </a:p>
                  </a:txBody>
                  <a:tcPr marL="91440" marR="91440" marT="45720" marB="45720" anchor="ctr">
                    <a:lnL w="12700" cap="flat" cmpd="sng" algn="ctr">
                      <a:solidFill>
                        <a:srgbClr val="E3E3E3"/>
                      </a:solidFill>
                      <a:prstDash val="solid"/>
                      <a:round/>
                      <a:headEnd type="none" w="med" len="med"/>
                      <a:tailEnd type="none" w="med" len="med"/>
                    </a:lnL>
                    <a:lnR w="12700" cap="flat" cmpd="sng" algn="ctr">
                      <a:solidFill>
                        <a:srgbClr val="E3E3E3"/>
                      </a:solidFill>
                      <a:prstDash val="solid"/>
                      <a:round/>
                      <a:headEnd type="none" w="med" len="med"/>
                      <a:tailEnd type="none" w="med" len="med"/>
                    </a:lnR>
                    <a:lnT w="12700" cap="flat" cmpd="sng" algn="ctr">
                      <a:solidFill>
                        <a:srgbClr val="E3E3E3"/>
                      </a:solidFill>
                      <a:prstDash val="solid"/>
                      <a:round/>
                      <a:headEnd type="none" w="med" len="med"/>
                      <a:tailEnd type="none" w="med" len="med"/>
                    </a:lnT>
                    <a:lnB w="12700" cap="flat" cmpd="sng" algn="ctr">
                      <a:solidFill>
                        <a:srgbClr val="E3E3E3"/>
                      </a:solidFill>
                      <a:prstDash val="solid"/>
                      <a:round/>
                      <a:headEnd type="none" w="med" len="med"/>
                      <a:tailEnd type="none" w="med" len="med"/>
                    </a:lnB>
                    <a:solidFill>
                      <a:srgbClr val="F5F3EF"/>
                    </a:solidFill>
                  </a:tcPr>
                </a:tc>
              </a:tr>
            </a:tbl>
          </a:graphicData>
        </a:graphic>
      </p:graphicFrame>
      <p:sp>
        <p:nvSpPr>
          <p:cNvPr id="27" name="Text 23"/>
          <p:cNvSpPr/>
          <p:nvPr/>
        </p:nvSpPr>
        <p:spPr>
          <a:xfrm>
            <a:off x="11368735" y="6492240"/>
            <a:ext cx="457200" cy="274320"/>
          </a:xfrm>
          <a:prstGeom prst="rect">
            <a:avLst/>
          </a:prstGeom>
          <a:noFill/>
          <a:ln/>
        </p:spPr>
        <p:txBody>
          <a:bodyPr wrap="square" rtlCol="0" anchor="ctr"/>
          <a:lstStyle/>
          <a:p>
            <a:pPr algn="r" indent="0" marL="0">
              <a:buNone/>
            </a:pPr>
            <a:r>
              <a:rPr lang="en-US" sz="900" dirty="0">
                <a:solidFill>
                  <a:srgbClr val="9B9B9B"/>
                </a:solidFill>
                <a:latin typeface="Arial" pitchFamily="34" charset="0"/>
                <a:ea typeface="Arial" pitchFamily="34" charset="-122"/>
                <a:cs typeface="Arial" pitchFamily="34" charset="-120"/>
              </a:rPr>
              <a:t>10</a:t>
            </a:r>
            <a:endParaRPr lang="en-US" sz="900" dirty="0"/>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Image 0" descr="/private/tmp/claude-503/-Users-boryczjd-claude-vanderbilt-database-assistant--claude-worktrees-publishing-citation-data-uses-8ba05f/250e4720-0954-4187-8930-09caab2cbef2/scratchpad/slides_build/vu_mark_gold.png">    </p:cNvPr>
          <p:cNvPicPr>
            <a:picLocks noChangeAspect="1"/>
          </p:cNvPicPr>
          <p:nvPr/>
        </p:nvPicPr>
        <p:blipFill>
          <a:blip r:embed="rId2"/>
          <a:stretch>
            <a:fillRect/>
          </a:stretch>
        </p:blipFill>
        <p:spPr>
          <a:xfrm>
            <a:off x="11231575" y="365760"/>
            <a:ext cx="457200" cy="327660"/>
          </a:xfrm>
          <a:prstGeom prst="rect">
            <a:avLst/>
          </a:prstGeom>
        </p:spPr>
      </p:pic>
      <p:sp>
        <p:nvSpPr>
          <p:cNvPr id="3" name="Shape 0"/>
          <p:cNvSpPr/>
          <p:nvPr/>
        </p:nvSpPr>
        <p:spPr>
          <a:xfrm>
            <a:off x="640080" y="457200"/>
            <a:ext cx="2057400" cy="292608"/>
          </a:xfrm>
          <a:prstGeom prst="roundRect">
            <a:avLst>
              <a:gd name="adj" fmla="val 50000"/>
            </a:avLst>
          </a:prstGeom>
          <a:solidFill>
            <a:srgbClr val="ECB748"/>
          </a:solidFill>
          <a:ln/>
        </p:spPr>
      </p:sp>
      <p:sp>
        <p:nvSpPr>
          <p:cNvPr id="4" name="Text 1"/>
          <p:cNvSpPr/>
          <p:nvPr/>
        </p:nvSpPr>
        <p:spPr>
          <a:xfrm>
            <a:off x="640080" y="457200"/>
            <a:ext cx="2057400" cy="292608"/>
          </a:xfrm>
          <a:prstGeom prst="rect">
            <a:avLst/>
          </a:prstGeom>
          <a:noFill/>
          <a:ln/>
        </p:spPr>
        <p:txBody>
          <a:bodyPr wrap="square" rtlCol="0" anchor="ctr"/>
          <a:lstStyle/>
          <a:p>
            <a:pPr algn="ctr" indent="0" marL="0">
              <a:buNone/>
            </a:pPr>
            <a:r>
              <a:rPr lang="en-US" sz="1100" b="1" spc="100" kern="0" dirty="0">
                <a:solidFill>
                  <a:srgbClr val="1C1C1C"/>
                </a:solidFill>
                <a:latin typeface="Arial" pitchFamily="34" charset="0"/>
                <a:ea typeface="Arial" pitchFamily="34" charset="-122"/>
                <a:cs typeface="Arial" pitchFamily="34" charset="-120"/>
              </a:rPr>
              <a:t>33–36 MIN  ·  THE AI TRAP</a:t>
            </a:r>
            <a:endParaRPr lang="en-US" sz="1100" dirty="0"/>
          </a:p>
        </p:txBody>
      </p:sp>
      <p:sp>
        <p:nvSpPr>
          <p:cNvPr id="5" name="Text 2"/>
          <p:cNvSpPr/>
          <p:nvPr/>
        </p:nvSpPr>
        <p:spPr>
          <a:xfrm>
            <a:off x="640080" y="822960"/>
            <a:ext cx="10058400" cy="594360"/>
          </a:xfrm>
          <a:prstGeom prst="rect">
            <a:avLst/>
          </a:prstGeom>
          <a:noFill/>
          <a:ln/>
        </p:spPr>
        <p:txBody>
          <a:bodyPr wrap="square" rtlCol="0" anchor="ctr"/>
          <a:lstStyle/>
          <a:p>
            <a:pPr indent="0" marL="0">
              <a:buNone/>
            </a:pPr>
            <a:r>
              <a:rPr lang="en-US" sz="2800" b="1" dirty="0">
                <a:solidFill>
                  <a:srgbClr val="1C1C1C"/>
                </a:solidFill>
                <a:latin typeface="Arial" pitchFamily="34" charset="0"/>
                <a:ea typeface="Arial" pitchFamily="34" charset="-122"/>
                <a:cs typeface="Arial" pitchFamily="34" charset="-120"/>
              </a:rPr>
              <a:t>Where AI gets this wrong</a:t>
            </a:r>
            <a:endParaRPr lang="en-US" sz="2800" dirty="0"/>
          </a:p>
        </p:txBody>
      </p:sp>
      <p:sp>
        <p:nvSpPr>
          <p:cNvPr id="6" name="Shape 3"/>
          <p:cNvSpPr/>
          <p:nvPr/>
        </p:nvSpPr>
        <p:spPr>
          <a:xfrm>
            <a:off x="640080" y="1600200"/>
            <a:ext cx="5257800" cy="2103120"/>
          </a:xfrm>
          <a:prstGeom prst="roundRect">
            <a:avLst>
              <a:gd name="adj" fmla="val 4348"/>
            </a:avLst>
          </a:prstGeom>
          <a:solidFill>
            <a:srgbClr val="2E2E2E"/>
          </a:solidFill>
          <a:ln w="12700">
            <a:solidFill>
              <a:srgbClr val="444444"/>
            </a:solidFill>
            <a:prstDash val="solid"/>
          </a:ln>
        </p:spPr>
      </p:sp>
      <p:sp>
        <p:nvSpPr>
          <p:cNvPr id="7" name="Shape 4"/>
          <p:cNvSpPr/>
          <p:nvPr/>
        </p:nvSpPr>
        <p:spPr>
          <a:xfrm>
            <a:off x="868680" y="1801368"/>
            <a:ext cx="146304" cy="146304"/>
          </a:xfrm>
          <a:prstGeom prst="ellipse">
            <a:avLst/>
          </a:prstGeom>
          <a:solidFill>
            <a:srgbClr val="D64550"/>
          </a:solidFill>
          <a:ln/>
        </p:spPr>
      </p:sp>
      <p:sp>
        <p:nvSpPr>
          <p:cNvPr id="8" name="Shape 5"/>
          <p:cNvSpPr/>
          <p:nvPr/>
        </p:nvSpPr>
        <p:spPr>
          <a:xfrm>
            <a:off x="1124712" y="1801368"/>
            <a:ext cx="146304" cy="146304"/>
          </a:xfrm>
          <a:prstGeom prst="ellipse">
            <a:avLst/>
          </a:prstGeom>
          <a:solidFill>
            <a:srgbClr val="ECB748"/>
          </a:solidFill>
          <a:ln/>
        </p:spPr>
      </p:sp>
      <p:sp>
        <p:nvSpPr>
          <p:cNvPr id="9" name="Shape 6"/>
          <p:cNvSpPr/>
          <p:nvPr/>
        </p:nvSpPr>
        <p:spPr>
          <a:xfrm>
            <a:off x="1380744" y="1801368"/>
            <a:ext cx="146304" cy="146304"/>
          </a:xfrm>
          <a:prstGeom prst="ellipse">
            <a:avLst/>
          </a:prstGeom>
          <a:solidFill>
            <a:srgbClr val="6B6B6B"/>
          </a:solidFill>
          <a:ln/>
        </p:spPr>
      </p:sp>
      <p:sp>
        <p:nvSpPr>
          <p:cNvPr id="10" name="Text 7"/>
          <p:cNvSpPr/>
          <p:nvPr/>
        </p:nvSpPr>
        <p:spPr>
          <a:xfrm>
            <a:off x="1783080" y="1746504"/>
            <a:ext cx="3977640" cy="256032"/>
          </a:xfrm>
          <a:prstGeom prst="rect">
            <a:avLst/>
          </a:prstGeom>
          <a:noFill/>
          <a:ln/>
        </p:spPr>
        <p:txBody>
          <a:bodyPr wrap="square" rtlCol="0" anchor="ctr"/>
          <a:lstStyle/>
          <a:p>
            <a:pPr indent="0" marL="0">
              <a:buNone/>
            </a:pPr>
            <a:r>
              <a:rPr lang="en-US" sz="1050" dirty="0">
                <a:solidFill>
                  <a:srgbClr val="9B9690"/>
                </a:solidFill>
                <a:latin typeface="Courier New" pitchFamily="34" charset="0"/>
                <a:ea typeface="Courier New" pitchFamily="34" charset="-122"/>
                <a:cs typeface="Courier New" pitchFamily="34" charset="-120"/>
              </a:rPr>
              <a:t>you asked for a translation</a:t>
            </a:r>
            <a:endParaRPr lang="en-US" sz="1050" dirty="0"/>
          </a:p>
        </p:txBody>
      </p:sp>
      <p:sp>
        <p:nvSpPr>
          <p:cNvPr id="11" name="Shape 8"/>
          <p:cNvSpPr/>
          <p:nvPr/>
        </p:nvSpPr>
        <p:spPr>
          <a:xfrm>
            <a:off x="685800" y="2103120"/>
            <a:ext cx="5166360" cy="0"/>
          </a:xfrm>
          <a:prstGeom prst="line">
            <a:avLst/>
          </a:prstGeom>
          <a:noFill/>
          <a:ln w="12700">
            <a:solidFill>
              <a:srgbClr val="444444"/>
            </a:solidFill>
            <a:prstDash val="solid"/>
          </a:ln>
        </p:spPr>
      </p:sp>
      <p:sp>
        <p:nvSpPr>
          <p:cNvPr id="12" name="Text 9"/>
          <p:cNvSpPr/>
          <p:nvPr/>
        </p:nvSpPr>
        <p:spPr>
          <a:xfrm>
            <a:off x="914400" y="2240280"/>
            <a:ext cx="4709160" cy="329184"/>
          </a:xfrm>
          <a:prstGeom prst="rect">
            <a:avLst/>
          </a:prstGeom>
          <a:noFill/>
          <a:ln/>
        </p:spPr>
        <p:txBody>
          <a:bodyPr wrap="square" rtlCol="0" anchor="ctr"/>
          <a:lstStyle/>
          <a:p>
            <a:pPr indent="0" marL="0">
              <a:buNone/>
            </a:pPr>
            <a:r>
              <a:rPr lang="en-US" sz="1300" dirty="0">
                <a:solidFill>
                  <a:srgbClr val="FFFFFF"/>
                </a:solidFill>
                <a:latin typeface="Courier New" pitchFamily="34" charset="0"/>
                <a:ea typeface="Courier New" pitchFamily="34" charset="-122"/>
                <a:cs typeface="Courier New" pitchFamily="34" charset="-120"/>
              </a:rPr>
              <a:t># Python</a:t>
            </a:r>
            <a:pPr indent="0" marL="0">
              <a:buNone/>
            </a:pPr>
            <a:endParaRPr lang="en-US" sz="1300" dirty="0"/>
          </a:p>
        </p:txBody>
      </p:sp>
      <p:sp>
        <p:nvSpPr>
          <p:cNvPr id="13" name="Text 10"/>
          <p:cNvSpPr/>
          <p:nvPr/>
        </p:nvSpPr>
        <p:spPr>
          <a:xfrm>
            <a:off x="914400" y="2569464"/>
            <a:ext cx="4709160" cy="329184"/>
          </a:xfrm>
          <a:prstGeom prst="rect">
            <a:avLst/>
          </a:prstGeom>
          <a:noFill/>
          <a:ln/>
        </p:spPr>
        <p:txBody>
          <a:bodyPr wrap="square" rtlCol="0" anchor="ctr"/>
          <a:lstStyle/>
          <a:p>
            <a:pPr indent="0" marL="0">
              <a:buNone/>
            </a:pPr>
            <a:r>
              <a:rPr lang="en-US" sz="1300" dirty="0">
                <a:solidFill>
                  <a:srgbClr val="FFFFFF"/>
                </a:solidFill>
                <a:latin typeface="Courier New" pitchFamily="34" charset="0"/>
                <a:ea typeface="Courier New" pitchFamily="34" charset="-122"/>
                <a:cs typeface="Courier New" pitchFamily="34" charset="-120"/>
              </a:rPr>
              <a:t>last_reading = bp[-1]</a:t>
            </a:r>
            <a:pPr indent="0" marL="0">
              <a:buNone/>
            </a:pPr>
            <a:endParaRPr lang="en-US" sz="1300" dirty="0"/>
          </a:p>
        </p:txBody>
      </p:sp>
      <p:sp>
        <p:nvSpPr>
          <p:cNvPr id="14" name="Text 11"/>
          <p:cNvSpPr/>
          <p:nvPr/>
        </p:nvSpPr>
        <p:spPr>
          <a:xfrm>
            <a:off x="914400" y="2898648"/>
            <a:ext cx="4709160" cy="329184"/>
          </a:xfrm>
          <a:prstGeom prst="rect">
            <a:avLst/>
          </a:prstGeom>
          <a:noFill/>
          <a:ln/>
        </p:spPr>
        <p:txBody>
          <a:bodyPr wrap="square" rtlCol="0" anchor="ctr"/>
          <a:lstStyle/>
          <a:p>
            <a:pPr indent="0" marL="0">
              <a:buNone/>
            </a:pPr>
            <a:r>
              <a:rPr lang="en-US" sz="1300" dirty="0">
                <a:solidFill>
                  <a:srgbClr val="FFFFFF"/>
                </a:solidFill>
                <a:latin typeface="Courier New" pitchFamily="34" charset="0"/>
                <a:ea typeface="Courier New" pitchFamily="34" charset="-122"/>
                <a:cs typeface="Courier New" pitchFamily="34" charset="-120"/>
              </a:rPr>
              <a:t/>
            </a:r>
            <a:pPr indent="0" marL="0">
              <a:buNone/>
            </a:pPr>
            <a:endParaRPr lang="en-US" sz="1300" dirty="0"/>
          </a:p>
        </p:txBody>
      </p:sp>
      <p:sp>
        <p:nvSpPr>
          <p:cNvPr id="15" name="Text 12"/>
          <p:cNvSpPr/>
          <p:nvPr/>
        </p:nvSpPr>
        <p:spPr>
          <a:xfrm>
            <a:off x="914400" y="3227832"/>
            <a:ext cx="4709160" cy="329184"/>
          </a:xfrm>
          <a:prstGeom prst="rect">
            <a:avLst/>
          </a:prstGeom>
          <a:noFill/>
          <a:ln/>
        </p:spPr>
        <p:txBody>
          <a:bodyPr wrap="square" rtlCol="0" anchor="ctr"/>
          <a:lstStyle/>
          <a:p>
            <a:pPr indent="0" marL="0">
              <a:buNone/>
            </a:pPr>
            <a:r>
              <a:rPr lang="en-US" sz="1300" dirty="0">
                <a:solidFill>
                  <a:srgbClr val="F5F3EF"/>
                </a:solidFill>
                <a:latin typeface="Courier New" pitchFamily="34" charset="0"/>
                <a:ea typeface="Courier New" pitchFamily="34" charset="-122"/>
                <a:cs typeface="Courier New" pitchFamily="34" charset="-120"/>
              </a:rPr>
              <a:t>"translate this to R"</a:t>
            </a:r>
            <a:pPr indent="0" marL="0">
              <a:buNone/>
            </a:pPr>
            <a:endParaRPr lang="en-US" sz="1300" dirty="0"/>
          </a:p>
        </p:txBody>
      </p:sp>
      <p:sp>
        <p:nvSpPr>
          <p:cNvPr id="16" name="Shape 13"/>
          <p:cNvSpPr/>
          <p:nvPr/>
        </p:nvSpPr>
        <p:spPr>
          <a:xfrm>
            <a:off x="6263640" y="1600200"/>
            <a:ext cx="5257800" cy="2103120"/>
          </a:xfrm>
          <a:prstGeom prst="roundRect">
            <a:avLst>
              <a:gd name="adj" fmla="val 4348"/>
            </a:avLst>
          </a:prstGeom>
          <a:solidFill>
            <a:srgbClr val="2E2E2E"/>
          </a:solidFill>
          <a:ln w="12700">
            <a:solidFill>
              <a:srgbClr val="444444"/>
            </a:solidFill>
            <a:prstDash val="solid"/>
          </a:ln>
        </p:spPr>
      </p:sp>
      <p:sp>
        <p:nvSpPr>
          <p:cNvPr id="17" name="Shape 14"/>
          <p:cNvSpPr/>
          <p:nvPr/>
        </p:nvSpPr>
        <p:spPr>
          <a:xfrm>
            <a:off x="6492240" y="1801368"/>
            <a:ext cx="146304" cy="146304"/>
          </a:xfrm>
          <a:prstGeom prst="ellipse">
            <a:avLst/>
          </a:prstGeom>
          <a:solidFill>
            <a:srgbClr val="D64550"/>
          </a:solidFill>
          <a:ln/>
        </p:spPr>
      </p:sp>
      <p:sp>
        <p:nvSpPr>
          <p:cNvPr id="18" name="Shape 15"/>
          <p:cNvSpPr/>
          <p:nvPr/>
        </p:nvSpPr>
        <p:spPr>
          <a:xfrm>
            <a:off x="6748272" y="1801368"/>
            <a:ext cx="146304" cy="146304"/>
          </a:xfrm>
          <a:prstGeom prst="ellipse">
            <a:avLst/>
          </a:prstGeom>
          <a:solidFill>
            <a:srgbClr val="ECB748"/>
          </a:solidFill>
          <a:ln/>
        </p:spPr>
      </p:sp>
      <p:sp>
        <p:nvSpPr>
          <p:cNvPr id="19" name="Shape 16"/>
          <p:cNvSpPr/>
          <p:nvPr/>
        </p:nvSpPr>
        <p:spPr>
          <a:xfrm>
            <a:off x="7004304" y="1801368"/>
            <a:ext cx="146304" cy="146304"/>
          </a:xfrm>
          <a:prstGeom prst="ellipse">
            <a:avLst/>
          </a:prstGeom>
          <a:solidFill>
            <a:srgbClr val="6B6B6B"/>
          </a:solidFill>
          <a:ln/>
        </p:spPr>
      </p:sp>
      <p:sp>
        <p:nvSpPr>
          <p:cNvPr id="20" name="Text 17"/>
          <p:cNvSpPr/>
          <p:nvPr/>
        </p:nvSpPr>
        <p:spPr>
          <a:xfrm>
            <a:off x="7406640" y="1746504"/>
            <a:ext cx="3977640" cy="256032"/>
          </a:xfrm>
          <a:prstGeom prst="rect">
            <a:avLst/>
          </a:prstGeom>
          <a:noFill/>
          <a:ln/>
        </p:spPr>
        <p:txBody>
          <a:bodyPr wrap="square" rtlCol="0" anchor="ctr"/>
          <a:lstStyle/>
          <a:p>
            <a:pPr indent="0" marL="0">
              <a:buNone/>
            </a:pPr>
            <a:r>
              <a:rPr lang="en-US" sz="1050" dirty="0">
                <a:solidFill>
                  <a:srgbClr val="9B9690"/>
                </a:solidFill>
                <a:latin typeface="Courier New" pitchFamily="34" charset="0"/>
                <a:ea typeface="Courier New" pitchFamily="34" charset="-122"/>
                <a:cs typeface="Courier New" pitchFamily="34" charset="-120"/>
              </a:rPr>
              <a:t>what you may get back</a:t>
            </a:r>
            <a:endParaRPr lang="en-US" sz="1050" dirty="0"/>
          </a:p>
        </p:txBody>
      </p:sp>
      <p:sp>
        <p:nvSpPr>
          <p:cNvPr id="21" name="Shape 18"/>
          <p:cNvSpPr/>
          <p:nvPr/>
        </p:nvSpPr>
        <p:spPr>
          <a:xfrm>
            <a:off x="6309360" y="2103120"/>
            <a:ext cx="5166360" cy="0"/>
          </a:xfrm>
          <a:prstGeom prst="line">
            <a:avLst/>
          </a:prstGeom>
          <a:noFill/>
          <a:ln w="12700">
            <a:solidFill>
              <a:srgbClr val="444444"/>
            </a:solidFill>
            <a:prstDash val="solid"/>
          </a:ln>
        </p:spPr>
      </p:sp>
      <p:sp>
        <p:nvSpPr>
          <p:cNvPr id="22" name="Text 19"/>
          <p:cNvSpPr/>
          <p:nvPr/>
        </p:nvSpPr>
        <p:spPr>
          <a:xfrm>
            <a:off x="6537960" y="2240280"/>
            <a:ext cx="4709160" cy="329184"/>
          </a:xfrm>
          <a:prstGeom prst="rect">
            <a:avLst/>
          </a:prstGeom>
          <a:noFill/>
          <a:ln/>
        </p:spPr>
        <p:txBody>
          <a:bodyPr wrap="square" rtlCol="0" anchor="ctr"/>
          <a:lstStyle/>
          <a:p>
            <a:pPr indent="0" marL="0">
              <a:buNone/>
            </a:pPr>
            <a:r>
              <a:rPr lang="en-US" sz="1300" dirty="0">
                <a:solidFill>
                  <a:srgbClr val="FFFFFF"/>
                </a:solidFill>
                <a:latin typeface="Courier New" pitchFamily="34" charset="0"/>
                <a:ea typeface="Courier New" pitchFamily="34" charset="-122"/>
                <a:cs typeface="Courier New" pitchFamily="34" charset="-120"/>
              </a:rPr>
              <a:t># R</a:t>
            </a:r>
            <a:pPr indent="0" marL="0">
              <a:buNone/>
            </a:pPr>
            <a:endParaRPr lang="en-US" sz="1300" dirty="0"/>
          </a:p>
        </p:txBody>
      </p:sp>
      <p:sp>
        <p:nvSpPr>
          <p:cNvPr id="23" name="Text 20"/>
          <p:cNvSpPr/>
          <p:nvPr/>
        </p:nvSpPr>
        <p:spPr>
          <a:xfrm>
            <a:off x="6537960" y="2569464"/>
            <a:ext cx="4709160" cy="329184"/>
          </a:xfrm>
          <a:prstGeom prst="rect">
            <a:avLst/>
          </a:prstGeom>
          <a:noFill/>
          <a:ln/>
        </p:spPr>
        <p:txBody>
          <a:bodyPr wrap="square" rtlCol="0" anchor="ctr"/>
          <a:lstStyle/>
          <a:p>
            <a:pPr indent="0" marL="0">
              <a:buNone/>
            </a:pPr>
            <a:r>
              <a:rPr lang="en-US" sz="1300" dirty="0">
                <a:solidFill>
                  <a:srgbClr val="FFFFFF"/>
                </a:solidFill>
                <a:latin typeface="Courier New" pitchFamily="34" charset="0"/>
                <a:ea typeface="Courier New" pitchFamily="34" charset="-122"/>
                <a:cs typeface="Courier New" pitchFamily="34" charset="-120"/>
              </a:rPr>
              <a:t>last_reading &lt;- bp[-1]</a:t>
            </a:r>
            <a:pPr indent="0" marL="0">
              <a:buNone/>
            </a:pPr>
            <a:endParaRPr lang="en-US" sz="1300" dirty="0"/>
          </a:p>
        </p:txBody>
      </p:sp>
      <p:sp>
        <p:nvSpPr>
          <p:cNvPr id="24" name="Text 21"/>
          <p:cNvSpPr/>
          <p:nvPr/>
        </p:nvSpPr>
        <p:spPr>
          <a:xfrm>
            <a:off x="6537960" y="2898648"/>
            <a:ext cx="4709160" cy="329184"/>
          </a:xfrm>
          <a:prstGeom prst="rect">
            <a:avLst/>
          </a:prstGeom>
          <a:noFill/>
          <a:ln/>
        </p:spPr>
        <p:txBody>
          <a:bodyPr wrap="square" rtlCol="0" anchor="ctr"/>
          <a:lstStyle/>
          <a:p>
            <a:pPr indent="0" marL="0">
              <a:buNone/>
            </a:pPr>
            <a:r>
              <a:rPr lang="en-US" sz="1300" dirty="0">
                <a:solidFill>
                  <a:srgbClr val="FFFFFF"/>
                </a:solidFill>
                <a:latin typeface="Courier New" pitchFamily="34" charset="0"/>
                <a:ea typeface="Courier New" pitchFamily="34" charset="-122"/>
                <a:cs typeface="Courier New" pitchFamily="34" charset="-120"/>
              </a:rPr>
              <a:t/>
            </a:r>
            <a:pPr indent="0" marL="0">
              <a:buNone/>
            </a:pPr>
            <a:endParaRPr lang="en-US" sz="1300" dirty="0"/>
          </a:p>
        </p:txBody>
      </p:sp>
      <p:sp>
        <p:nvSpPr>
          <p:cNvPr id="25" name="Text 22"/>
          <p:cNvSpPr/>
          <p:nvPr/>
        </p:nvSpPr>
        <p:spPr>
          <a:xfrm>
            <a:off x="6537960" y="3227832"/>
            <a:ext cx="4709160" cy="329184"/>
          </a:xfrm>
          <a:prstGeom prst="rect">
            <a:avLst/>
          </a:prstGeom>
          <a:noFill/>
          <a:ln/>
        </p:spPr>
        <p:txBody>
          <a:bodyPr wrap="square" rtlCol="0" anchor="ctr"/>
          <a:lstStyle/>
          <a:p>
            <a:pPr indent="0" marL="0">
              <a:buNone/>
            </a:pPr>
            <a:r>
              <a:rPr lang="en-US" sz="1300" dirty="0">
                <a:solidFill>
                  <a:srgbClr val="F5F3EF"/>
                </a:solidFill>
                <a:latin typeface="Courier New" pitchFamily="34" charset="0"/>
                <a:ea typeface="Courier New" pitchFamily="34" charset="-122"/>
                <a:cs typeface="Courier New" pitchFamily="34" charset="-120"/>
              </a:rPr>
              <a:t>runs perfectly. never errors.</a:t>
            </a:r>
            <a:pPr indent="0" marL="0">
              <a:buNone/>
            </a:pPr>
            <a:endParaRPr lang="en-US" sz="1300" dirty="0"/>
          </a:p>
        </p:txBody>
      </p:sp>
      <p:sp>
        <p:nvSpPr>
          <p:cNvPr id="26" name="Shape 23"/>
          <p:cNvSpPr/>
          <p:nvPr/>
        </p:nvSpPr>
        <p:spPr>
          <a:xfrm>
            <a:off x="640080" y="3977640"/>
            <a:ext cx="10881360" cy="2423160"/>
          </a:xfrm>
          <a:prstGeom prst="roundRect">
            <a:avLst>
              <a:gd name="adj" fmla="val 3774"/>
            </a:avLst>
          </a:prstGeom>
          <a:solidFill>
            <a:srgbClr val="1C1C1C"/>
          </a:solidFill>
          <a:ln/>
        </p:spPr>
      </p:sp>
      <p:sp>
        <p:nvSpPr>
          <p:cNvPr id="27" name="Text 24"/>
          <p:cNvSpPr/>
          <p:nvPr/>
        </p:nvSpPr>
        <p:spPr>
          <a:xfrm>
            <a:off x="1005840" y="4251960"/>
            <a:ext cx="10149840" cy="320040"/>
          </a:xfrm>
          <a:prstGeom prst="rect">
            <a:avLst/>
          </a:prstGeom>
          <a:noFill/>
          <a:ln/>
        </p:spPr>
        <p:txBody>
          <a:bodyPr wrap="square" rtlCol="0" anchor="ctr"/>
          <a:lstStyle/>
          <a:p>
            <a:pPr indent="0" marL="0">
              <a:buNone/>
            </a:pPr>
            <a:r>
              <a:rPr lang="en-US" sz="1100" b="1" spc="200" kern="0" dirty="0">
                <a:solidFill>
                  <a:srgbClr val="ECB748"/>
                </a:solidFill>
                <a:latin typeface="Arial" pitchFamily="34" charset="0"/>
                <a:ea typeface="Arial" pitchFamily="34" charset="-122"/>
                <a:cs typeface="Arial" pitchFamily="34" charset="-120"/>
              </a:rPr>
              <a:t>YOUR "LAST READING" IS NOW MOST OF THE DATASET</a:t>
            </a:r>
            <a:endParaRPr lang="en-US" sz="1100" dirty="0"/>
          </a:p>
        </p:txBody>
      </p:sp>
      <p:sp>
        <p:nvSpPr>
          <p:cNvPr id="28" name="Text 25"/>
          <p:cNvSpPr/>
          <p:nvPr/>
        </p:nvSpPr>
        <p:spPr>
          <a:xfrm>
            <a:off x="1005840" y="4709160"/>
            <a:ext cx="10149840" cy="640080"/>
          </a:xfrm>
          <a:prstGeom prst="rect">
            <a:avLst/>
          </a:prstGeom>
          <a:noFill/>
          <a:ln/>
        </p:spPr>
        <p:txBody>
          <a:bodyPr wrap="square" rtlCol="0" anchor="ctr"/>
          <a:lstStyle/>
          <a:p>
            <a:pPr indent="0" marL="0">
              <a:buNone/>
            </a:pPr>
            <a:r>
              <a:rPr lang="en-US" sz="1600" b="1" dirty="0">
                <a:solidFill>
                  <a:srgbClr val="FFFFFF"/>
                </a:solidFill>
                <a:latin typeface="Courier New" pitchFamily="34" charset="0"/>
                <a:ea typeface="Courier New" pitchFamily="34" charset="-122"/>
                <a:cs typeface="Courier New" pitchFamily="34" charset="-120"/>
              </a:rPr>
              <a:t>Correct:   last_reading &lt;- bp[length(bp)]      or      tail(bp, 1)</a:t>
            </a:r>
            <a:pPr indent="0" marL="0">
              <a:buNone/>
            </a:pPr>
            <a:pPr indent="0" marL="0">
              <a:buNone/>
            </a:pPr>
            <a:pPr indent="0" marL="0">
              <a:buNone/>
            </a:pPr>
            <a:pPr indent="0" marL="0">
              <a:buNone/>
            </a:pPr>
            <a:pPr indent="0" marL="0">
              <a:buNone/>
            </a:pPr>
            <a:pPr indent="0" marL="0">
              <a:buNone/>
            </a:pPr>
            <a:endParaRPr lang="en-US" sz="1600" dirty="0"/>
          </a:p>
        </p:txBody>
      </p:sp>
      <p:sp>
        <p:nvSpPr>
          <p:cNvPr id="29" name="Shape 26"/>
          <p:cNvSpPr/>
          <p:nvPr/>
        </p:nvSpPr>
        <p:spPr>
          <a:xfrm>
            <a:off x="1005840" y="5486400"/>
            <a:ext cx="10149840" cy="0"/>
          </a:xfrm>
          <a:prstGeom prst="line">
            <a:avLst/>
          </a:prstGeom>
          <a:noFill/>
          <a:ln w="12700">
            <a:solidFill>
              <a:srgbClr val="444444"/>
            </a:solidFill>
            <a:prstDash val="solid"/>
          </a:ln>
        </p:spPr>
      </p:sp>
      <p:sp>
        <p:nvSpPr>
          <p:cNvPr id="30" name="Text 27"/>
          <p:cNvSpPr/>
          <p:nvPr/>
        </p:nvSpPr>
        <p:spPr>
          <a:xfrm>
            <a:off x="1005840" y="5669280"/>
            <a:ext cx="10149840" cy="640080"/>
          </a:xfrm>
          <a:prstGeom prst="rect">
            <a:avLst/>
          </a:prstGeom>
          <a:noFill/>
          <a:ln/>
        </p:spPr>
        <p:txBody>
          <a:bodyPr wrap="square" rtlCol="0" anchor="ctr"/>
          <a:lstStyle/>
          <a:p>
            <a:pPr indent="0" marL="0">
              <a:lnSpc>
                <a:spcPct val="130000"/>
              </a:lnSpc>
              <a:buNone/>
            </a:pPr>
            <a:r>
              <a:rPr lang="en-US" sz="1350" dirty="0">
                <a:solidFill>
                  <a:srgbClr val="F5F3EF"/>
                </a:solidFill>
                <a:latin typeface="Arial" pitchFamily="34" charset="0"/>
                <a:ea typeface="Arial" pitchFamily="34" charset="-122"/>
                <a:cs typeface="Arial" pitchFamily="34" charset="-120"/>
              </a:rPr>
              <a:t>No error, no warning, plausible-looking output. You catch this by knowing the rule — nothing else will catch it. This is step 3 of Expect → Run → Compare → Explain, and it only works if you had an expectation.</a:t>
            </a:r>
            <a:pPr indent="0" marL="0">
              <a:lnSpc>
                <a:spcPct val="130000"/>
              </a:lnSpc>
              <a:buNone/>
            </a:pPr>
            <a:endParaRPr lang="en-US" sz="1350" dirty="0"/>
          </a:p>
        </p:txBody>
      </p:sp>
      <p:sp>
        <p:nvSpPr>
          <p:cNvPr id="31" name="Text 28"/>
          <p:cNvSpPr/>
          <p:nvPr/>
        </p:nvSpPr>
        <p:spPr>
          <a:xfrm>
            <a:off x="11368735" y="6492240"/>
            <a:ext cx="457200" cy="274320"/>
          </a:xfrm>
          <a:prstGeom prst="rect">
            <a:avLst/>
          </a:prstGeom>
          <a:noFill/>
          <a:ln/>
        </p:spPr>
        <p:txBody>
          <a:bodyPr wrap="square" rtlCol="0" anchor="ctr"/>
          <a:lstStyle/>
          <a:p>
            <a:pPr algn="r" indent="0" marL="0">
              <a:buNone/>
            </a:pPr>
            <a:r>
              <a:rPr lang="en-US" sz="900" dirty="0">
                <a:solidFill>
                  <a:srgbClr val="9B9B9B"/>
                </a:solidFill>
                <a:latin typeface="Arial" pitchFamily="34" charset="0"/>
                <a:ea typeface="Arial" pitchFamily="34" charset="-122"/>
                <a:cs typeface="Arial" pitchFamily="34" charset="-120"/>
              </a:rPr>
              <a:t>11</a:t>
            </a:r>
            <a:endParaRPr lang="en-US" sz="9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8">
    <p:bg>
      <p:bgPr>
        <a:solidFill>
          <a:srgbClr val="1C1C1C"/>
        </a:solidFill>
      </p:bgPr>
    </p:bg>
    <p:spTree>
      <p:nvGrpSpPr>
        <p:cNvPr id="1" name=""/>
        <p:cNvGrpSpPr/>
        <p:nvPr/>
      </p:nvGrpSpPr>
      <p:grpSpPr>
        <a:xfrm>
          <a:off x="0" y="0"/>
          <a:ext cx="0" cy="0"/>
          <a:chOff x="0" y="0"/>
          <a:chExt cx="0" cy="0"/>
        </a:xfrm>
      </p:grpSpPr>
      <p:pic>
        <p:nvPicPr>
          <p:cNvPr id="2" name="Image 0" descr="/private/tmp/claude-503/-Users-boryczjd-claude-vanderbilt-database-assistant--claude-worktrees-publishing-citation-data-uses-8ba05f/250e4720-0954-4187-8930-09caab2cbef2/scratchpad/slides_build/vu_mark_gold.png">    </p:cNvPr>
          <p:cNvPicPr>
            <a:picLocks noChangeAspect="1"/>
          </p:cNvPicPr>
          <p:nvPr/>
        </p:nvPicPr>
        <p:blipFill>
          <a:blip r:embed="rId1"/>
          <a:stretch>
            <a:fillRect/>
          </a:stretch>
        </p:blipFill>
        <p:spPr>
          <a:xfrm>
            <a:off x="11231575" y="365760"/>
            <a:ext cx="457200" cy="327660"/>
          </a:xfrm>
          <a:prstGeom prst="rect">
            <a:avLst/>
          </a:prstGeom>
        </p:spPr>
      </p:pic>
      <p:sp>
        <p:nvSpPr>
          <p:cNvPr id="3" name="Text 0"/>
          <p:cNvSpPr/>
          <p:nvPr/>
        </p:nvSpPr>
        <p:spPr>
          <a:xfrm>
            <a:off x="640080" y="502920"/>
            <a:ext cx="5486400" cy="320040"/>
          </a:xfrm>
          <a:prstGeom prst="rect">
            <a:avLst/>
          </a:prstGeom>
          <a:noFill/>
          <a:ln/>
        </p:spPr>
        <p:txBody>
          <a:bodyPr wrap="square" rtlCol="0" anchor="ctr"/>
          <a:lstStyle/>
          <a:p>
            <a:pPr indent="0" marL="0">
              <a:buNone/>
            </a:pPr>
            <a:r>
              <a:rPr lang="en-US" sz="1200" b="1" spc="200" kern="0" dirty="0">
                <a:solidFill>
                  <a:srgbClr val="ECB748"/>
                </a:solidFill>
                <a:latin typeface="Arial" pitchFamily="34" charset="0"/>
                <a:ea typeface="Arial" pitchFamily="34" charset="-122"/>
                <a:cs typeface="Arial" pitchFamily="34" charset="-120"/>
              </a:rPr>
              <a:t>REFERENCE</a:t>
            </a:r>
            <a:endParaRPr lang="en-US" sz="1200" dirty="0"/>
          </a:p>
        </p:txBody>
      </p:sp>
      <p:sp>
        <p:nvSpPr>
          <p:cNvPr id="4" name="Text 1"/>
          <p:cNvSpPr/>
          <p:nvPr/>
        </p:nvSpPr>
        <p:spPr>
          <a:xfrm>
            <a:off x="594360" y="822960"/>
            <a:ext cx="9144000" cy="640080"/>
          </a:xfrm>
          <a:prstGeom prst="rect">
            <a:avLst/>
          </a:prstGeom>
          <a:noFill/>
          <a:ln/>
        </p:spPr>
        <p:txBody>
          <a:bodyPr wrap="square" rtlCol="0" anchor="ctr"/>
          <a:lstStyle/>
          <a:p>
            <a:pPr indent="0" marL="0">
              <a:buNone/>
            </a:pPr>
            <a:r>
              <a:rPr lang="en-US" sz="2800" b="1" dirty="0">
                <a:solidFill>
                  <a:srgbClr val="FFFFFF"/>
                </a:solidFill>
                <a:latin typeface="Arial" pitchFamily="34" charset="0"/>
                <a:ea typeface="Arial" pitchFamily="34" charset="-122"/>
                <a:cs typeface="Arial" pitchFamily="34" charset="-120"/>
              </a:rPr>
              <a:t>Vocabulary and traps</a:t>
            </a:r>
            <a:endParaRPr lang="en-US" sz="2800" dirty="0"/>
          </a:p>
        </p:txBody>
      </p:sp>
      <p:sp>
        <p:nvSpPr>
          <p:cNvPr id="5" name="Shape 2"/>
          <p:cNvSpPr/>
          <p:nvPr/>
        </p:nvSpPr>
        <p:spPr>
          <a:xfrm>
            <a:off x="640080" y="1600200"/>
            <a:ext cx="3538728" cy="960120"/>
          </a:xfrm>
          <a:prstGeom prst="roundRect">
            <a:avLst>
              <a:gd name="adj" fmla="val 9524"/>
            </a:avLst>
          </a:prstGeom>
          <a:solidFill>
            <a:srgbClr val="2E2E2E"/>
          </a:solidFill>
          <a:ln/>
        </p:spPr>
      </p:sp>
      <p:sp>
        <p:nvSpPr>
          <p:cNvPr id="6" name="Text 3"/>
          <p:cNvSpPr/>
          <p:nvPr/>
        </p:nvSpPr>
        <p:spPr>
          <a:xfrm>
            <a:off x="822960" y="1709928"/>
            <a:ext cx="3172968" cy="292608"/>
          </a:xfrm>
          <a:prstGeom prst="rect">
            <a:avLst/>
          </a:prstGeom>
          <a:noFill/>
          <a:ln/>
        </p:spPr>
        <p:txBody>
          <a:bodyPr wrap="square" rtlCol="0" anchor="ctr"/>
          <a:lstStyle/>
          <a:p>
            <a:pPr indent="0" marL="0">
              <a:buNone/>
            </a:pPr>
            <a:r>
              <a:rPr lang="en-US" sz="1300" b="1" dirty="0">
                <a:solidFill>
                  <a:srgbClr val="ECB748"/>
                </a:solidFill>
                <a:latin typeface="Arial" pitchFamily="34" charset="0"/>
                <a:ea typeface="Arial" pitchFamily="34" charset="-122"/>
                <a:cs typeface="Arial" pitchFamily="34" charset="-120"/>
              </a:rPr>
              <a:t>List / vector</a:t>
            </a:r>
            <a:endParaRPr lang="en-US" sz="1300" dirty="0"/>
          </a:p>
        </p:txBody>
      </p:sp>
      <p:sp>
        <p:nvSpPr>
          <p:cNvPr id="7" name="Text 4"/>
          <p:cNvSpPr/>
          <p:nvPr/>
        </p:nvSpPr>
        <p:spPr>
          <a:xfrm>
            <a:off x="822960" y="2011680"/>
            <a:ext cx="3172968" cy="502920"/>
          </a:xfrm>
          <a:prstGeom prst="rect">
            <a:avLst/>
          </a:prstGeom>
          <a:noFill/>
          <a:ln/>
        </p:spPr>
        <p:txBody>
          <a:bodyPr wrap="square" rtlCol="0" anchor="ctr"/>
          <a:lstStyle/>
          <a:p>
            <a:pPr indent="0" marL="0">
              <a:buNone/>
            </a:pPr>
            <a:r>
              <a:rPr lang="en-US" sz="1050" dirty="0">
                <a:solidFill>
                  <a:srgbClr val="F5F3EF"/>
                </a:solidFill>
                <a:latin typeface="Arial" pitchFamily="34" charset="0"/>
                <a:ea typeface="Arial" pitchFamily="34" charset="-122"/>
                <a:cs typeface="Arial" pitchFamily="34" charset="-120"/>
              </a:rPr>
              <a:t>Ordered container of values.</a:t>
            </a:r>
            <a:endParaRPr lang="en-US" sz="1050" dirty="0"/>
          </a:p>
        </p:txBody>
      </p:sp>
      <p:sp>
        <p:nvSpPr>
          <p:cNvPr id="8" name="Shape 5"/>
          <p:cNvSpPr/>
          <p:nvPr/>
        </p:nvSpPr>
        <p:spPr>
          <a:xfrm>
            <a:off x="4306824" y="1600200"/>
            <a:ext cx="3538728" cy="960120"/>
          </a:xfrm>
          <a:prstGeom prst="roundRect">
            <a:avLst>
              <a:gd name="adj" fmla="val 9524"/>
            </a:avLst>
          </a:prstGeom>
          <a:solidFill>
            <a:srgbClr val="2E2E2E"/>
          </a:solidFill>
          <a:ln/>
        </p:spPr>
      </p:sp>
      <p:sp>
        <p:nvSpPr>
          <p:cNvPr id="9" name="Text 6"/>
          <p:cNvSpPr/>
          <p:nvPr/>
        </p:nvSpPr>
        <p:spPr>
          <a:xfrm>
            <a:off x="4489704" y="1709928"/>
            <a:ext cx="3172968" cy="292608"/>
          </a:xfrm>
          <a:prstGeom prst="rect">
            <a:avLst/>
          </a:prstGeom>
          <a:noFill/>
          <a:ln/>
        </p:spPr>
        <p:txBody>
          <a:bodyPr wrap="square" rtlCol="0" anchor="ctr"/>
          <a:lstStyle/>
          <a:p>
            <a:pPr indent="0" marL="0">
              <a:buNone/>
            </a:pPr>
            <a:r>
              <a:rPr lang="en-US" sz="1300" b="1" dirty="0">
                <a:solidFill>
                  <a:srgbClr val="ECB748"/>
                </a:solidFill>
                <a:latin typeface="Arial" pitchFamily="34" charset="0"/>
                <a:ea typeface="Arial" pitchFamily="34" charset="-122"/>
                <a:cs typeface="Arial" pitchFamily="34" charset="-120"/>
              </a:rPr>
              <a:t>Element</a:t>
            </a:r>
            <a:endParaRPr lang="en-US" sz="1300" dirty="0"/>
          </a:p>
        </p:txBody>
      </p:sp>
      <p:sp>
        <p:nvSpPr>
          <p:cNvPr id="10" name="Text 7"/>
          <p:cNvSpPr/>
          <p:nvPr/>
        </p:nvSpPr>
        <p:spPr>
          <a:xfrm>
            <a:off x="4489704" y="2011680"/>
            <a:ext cx="3172968" cy="502920"/>
          </a:xfrm>
          <a:prstGeom prst="rect">
            <a:avLst/>
          </a:prstGeom>
          <a:noFill/>
          <a:ln/>
        </p:spPr>
        <p:txBody>
          <a:bodyPr wrap="square" rtlCol="0" anchor="ctr"/>
          <a:lstStyle/>
          <a:p>
            <a:pPr indent="0" marL="0">
              <a:buNone/>
            </a:pPr>
            <a:r>
              <a:rPr lang="en-US" sz="1050" dirty="0">
                <a:solidFill>
                  <a:srgbClr val="F5F3EF"/>
                </a:solidFill>
                <a:latin typeface="Arial" pitchFamily="34" charset="0"/>
                <a:ea typeface="Arial" pitchFamily="34" charset="-122"/>
                <a:cs typeface="Arial" pitchFamily="34" charset="-120"/>
              </a:rPr>
              <a:t>One item in a list.</a:t>
            </a:r>
            <a:endParaRPr lang="en-US" sz="1050" dirty="0"/>
          </a:p>
        </p:txBody>
      </p:sp>
      <p:sp>
        <p:nvSpPr>
          <p:cNvPr id="11" name="Shape 8"/>
          <p:cNvSpPr/>
          <p:nvPr/>
        </p:nvSpPr>
        <p:spPr>
          <a:xfrm>
            <a:off x="7973568" y="1600200"/>
            <a:ext cx="3538728" cy="960120"/>
          </a:xfrm>
          <a:prstGeom prst="roundRect">
            <a:avLst>
              <a:gd name="adj" fmla="val 9524"/>
            </a:avLst>
          </a:prstGeom>
          <a:solidFill>
            <a:srgbClr val="2E2E2E"/>
          </a:solidFill>
          <a:ln/>
        </p:spPr>
      </p:sp>
      <p:sp>
        <p:nvSpPr>
          <p:cNvPr id="12" name="Text 9"/>
          <p:cNvSpPr/>
          <p:nvPr/>
        </p:nvSpPr>
        <p:spPr>
          <a:xfrm>
            <a:off x="8156448" y="1709928"/>
            <a:ext cx="3172968" cy="292608"/>
          </a:xfrm>
          <a:prstGeom prst="rect">
            <a:avLst/>
          </a:prstGeom>
          <a:noFill/>
          <a:ln/>
        </p:spPr>
        <p:txBody>
          <a:bodyPr wrap="square" rtlCol="0" anchor="ctr"/>
          <a:lstStyle/>
          <a:p>
            <a:pPr indent="0" marL="0">
              <a:buNone/>
            </a:pPr>
            <a:r>
              <a:rPr lang="en-US" sz="1300" b="1" dirty="0">
                <a:solidFill>
                  <a:srgbClr val="ECB748"/>
                </a:solidFill>
                <a:latin typeface="Arial" pitchFamily="34" charset="0"/>
                <a:ea typeface="Arial" pitchFamily="34" charset="-122"/>
                <a:cs typeface="Arial" pitchFamily="34" charset="-120"/>
              </a:rPr>
              <a:t>Index</a:t>
            </a:r>
            <a:endParaRPr lang="en-US" sz="1300" dirty="0"/>
          </a:p>
        </p:txBody>
      </p:sp>
      <p:sp>
        <p:nvSpPr>
          <p:cNvPr id="13" name="Text 10"/>
          <p:cNvSpPr/>
          <p:nvPr/>
        </p:nvSpPr>
        <p:spPr>
          <a:xfrm>
            <a:off x="8156448" y="2011680"/>
            <a:ext cx="3172968" cy="502920"/>
          </a:xfrm>
          <a:prstGeom prst="rect">
            <a:avLst/>
          </a:prstGeom>
          <a:noFill/>
          <a:ln/>
        </p:spPr>
        <p:txBody>
          <a:bodyPr wrap="square" rtlCol="0" anchor="ctr"/>
          <a:lstStyle/>
          <a:p>
            <a:pPr indent="0" marL="0">
              <a:buNone/>
            </a:pPr>
            <a:r>
              <a:rPr lang="en-US" sz="1050" dirty="0">
                <a:solidFill>
                  <a:srgbClr val="F5F3EF"/>
                </a:solidFill>
                <a:latin typeface="Arial" pitchFamily="34" charset="0"/>
                <a:ea typeface="Arial" pitchFamily="34" charset="-122"/>
                <a:cs typeface="Arial" pitchFamily="34" charset="-120"/>
              </a:rPr>
              <a:t>Position of an element. Python starts at 0, R starts at 1.</a:t>
            </a:r>
            <a:endParaRPr lang="en-US" sz="1050" dirty="0"/>
          </a:p>
        </p:txBody>
      </p:sp>
      <p:sp>
        <p:nvSpPr>
          <p:cNvPr id="14" name="Shape 11"/>
          <p:cNvSpPr/>
          <p:nvPr/>
        </p:nvSpPr>
        <p:spPr>
          <a:xfrm>
            <a:off x="640080" y="2697480"/>
            <a:ext cx="3538728" cy="960120"/>
          </a:xfrm>
          <a:prstGeom prst="roundRect">
            <a:avLst>
              <a:gd name="adj" fmla="val 9524"/>
            </a:avLst>
          </a:prstGeom>
          <a:solidFill>
            <a:srgbClr val="2E2E2E"/>
          </a:solidFill>
          <a:ln/>
        </p:spPr>
      </p:sp>
      <p:sp>
        <p:nvSpPr>
          <p:cNvPr id="15" name="Text 12"/>
          <p:cNvSpPr/>
          <p:nvPr/>
        </p:nvSpPr>
        <p:spPr>
          <a:xfrm>
            <a:off x="822960" y="2807208"/>
            <a:ext cx="3172968" cy="292608"/>
          </a:xfrm>
          <a:prstGeom prst="rect">
            <a:avLst/>
          </a:prstGeom>
          <a:noFill/>
          <a:ln/>
        </p:spPr>
        <p:txBody>
          <a:bodyPr wrap="square" rtlCol="0" anchor="ctr"/>
          <a:lstStyle/>
          <a:p>
            <a:pPr indent="0" marL="0">
              <a:buNone/>
            </a:pPr>
            <a:r>
              <a:rPr lang="en-US" sz="1300" b="1" dirty="0">
                <a:solidFill>
                  <a:srgbClr val="ECB748"/>
                </a:solidFill>
                <a:latin typeface="Arial" pitchFamily="34" charset="0"/>
                <a:ea typeface="Arial" pitchFamily="34" charset="-122"/>
                <a:cs typeface="Arial" pitchFamily="34" charset="-120"/>
              </a:rPr>
              <a:t>Slice</a:t>
            </a:r>
            <a:endParaRPr lang="en-US" sz="1300" dirty="0"/>
          </a:p>
        </p:txBody>
      </p:sp>
      <p:sp>
        <p:nvSpPr>
          <p:cNvPr id="16" name="Text 13"/>
          <p:cNvSpPr/>
          <p:nvPr/>
        </p:nvSpPr>
        <p:spPr>
          <a:xfrm>
            <a:off x="822960" y="3108960"/>
            <a:ext cx="3172968" cy="502920"/>
          </a:xfrm>
          <a:prstGeom prst="rect">
            <a:avLst/>
          </a:prstGeom>
          <a:noFill/>
          <a:ln/>
        </p:spPr>
        <p:txBody>
          <a:bodyPr wrap="square" rtlCol="0" anchor="ctr"/>
          <a:lstStyle/>
          <a:p>
            <a:pPr indent="0" marL="0">
              <a:buNone/>
            </a:pPr>
            <a:r>
              <a:rPr lang="en-US" sz="1050" dirty="0">
                <a:solidFill>
                  <a:srgbClr val="F5F3EF"/>
                </a:solidFill>
                <a:latin typeface="Arial" pitchFamily="34" charset="0"/>
                <a:ea typeface="Arial" pitchFamily="34" charset="-122"/>
                <a:cs typeface="Arial" pitchFamily="34" charset="-120"/>
              </a:rPr>
              <a:t>A sub-range of a list.</a:t>
            </a:r>
            <a:endParaRPr lang="en-US" sz="1050" dirty="0"/>
          </a:p>
        </p:txBody>
      </p:sp>
      <p:sp>
        <p:nvSpPr>
          <p:cNvPr id="17" name="Shape 14"/>
          <p:cNvSpPr/>
          <p:nvPr/>
        </p:nvSpPr>
        <p:spPr>
          <a:xfrm>
            <a:off x="4306824" y="2697480"/>
            <a:ext cx="3538728" cy="960120"/>
          </a:xfrm>
          <a:prstGeom prst="roundRect">
            <a:avLst>
              <a:gd name="adj" fmla="val 9524"/>
            </a:avLst>
          </a:prstGeom>
          <a:solidFill>
            <a:srgbClr val="2E2E2E"/>
          </a:solidFill>
          <a:ln/>
        </p:spPr>
      </p:sp>
      <p:sp>
        <p:nvSpPr>
          <p:cNvPr id="18" name="Text 15"/>
          <p:cNvSpPr/>
          <p:nvPr/>
        </p:nvSpPr>
        <p:spPr>
          <a:xfrm>
            <a:off x="4489704" y="2807208"/>
            <a:ext cx="3172968" cy="292608"/>
          </a:xfrm>
          <a:prstGeom prst="rect">
            <a:avLst/>
          </a:prstGeom>
          <a:noFill/>
          <a:ln/>
        </p:spPr>
        <p:txBody>
          <a:bodyPr wrap="square" rtlCol="0" anchor="ctr"/>
          <a:lstStyle/>
          <a:p>
            <a:pPr indent="0" marL="0">
              <a:buNone/>
            </a:pPr>
            <a:r>
              <a:rPr lang="en-US" sz="1300" b="1" dirty="0">
                <a:solidFill>
                  <a:srgbClr val="ECB748"/>
                </a:solidFill>
                <a:latin typeface="Arial" pitchFamily="34" charset="0"/>
                <a:ea typeface="Arial" pitchFamily="34" charset="-122"/>
                <a:cs typeface="Arial" pitchFamily="34" charset="-120"/>
              </a:rPr>
              <a:t>Boolean mask</a:t>
            </a:r>
            <a:endParaRPr lang="en-US" sz="1300" dirty="0"/>
          </a:p>
        </p:txBody>
      </p:sp>
      <p:sp>
        <p:nvSpPr>
          <p:cNvPr id="19" name="Text 16"/>
          <p:cNvSpPr/>
          <p:nvPr/>
        </p:nvSpPr>
        <p:spPr>
          <a:xfrm>
            <a:off x="4489704" y="3108960"/>
            <a:ext cx="3172968" cy="502920"/>
          </a:xfrm>
          <a:prstGeom prst="rect">
            <a:avLst/>
          </a:prstGeom>
          <a:noFill/>
          <a:ln/>
        </p:spPr>
        <p:txBody>
          <a:bodyPr wrap="square" rtlCol="0" anchor="ctr"/>
          <a:lstStyle/>
          <a:p>
            <a:pPr indent="0" marL="0">
              <a:buNone/>
            </a:pPr>
            <a:r>
              <a:rPr lang="en-US" sz="1050" dirty="0">
                <a:solidFill>
                  <a:srgbClr val="F5F3EF"/>
                </a:solidFill>
                <a:latin typeface="Arial" pitchFamily="34" charset="0"/>
                <a:ea typeface="Arial" pitchFamily="34" charset="-122"/>
                <a:cs typeface="Arial" pitchFamily="34" charset="-120"/>
              </a:rPr>
              <a:t>A list of True/False the same length as the data, used to select elements.</a:t>
            </a:r>
            <a:endParaRPr lang="en-US" sz="1050" dirty="0"/>
          </a:p>
        </p:txBody>
      </p:sp>
      <p:sp>
        <p:nvSpPr>
          <p:cNvPr id="20" name="Shape 17"/>
          <p:cNvSpPr/>
          <p:nvPr/>
        </p:nvSpPr>
        <p:spPr>
          <a:xfrm>
            <a:off x="7973568" y="2697480"/>
            <a:ext cx="3538728" cy="960120"/>
          </a:xfrm>
          <a:prstGeom prst="roundRect">
            <a:avLst>
              <a:gd name="adj" fmla="val 9524"/>
            </a:avLst>
          </a:prstGeom>
          <a:solidFill>
            <a:srgbClr val="2E2E2E"/>
          </a:solidFill>
          <a:ln/>
        </p:spPr>
      </p:sp>
      <p:sp>
        <p:nvSpPr>
          <p:cNvPr id="21" name="Text 18"/>
          <p:cNvSpPr/>
          <p:nvPr/>
        </p:nvSpPr>
        <p:spPr>
          <a:xfrm>
            <a:off x="8156448" y="2807208"/>
            <a:ext cx="3172968" cy="292608"/>
          </a:xfrm>
          <a:prstGeom prst="rect">
            <a:avLst/>
          </a:prstGeom>
          <a:noFill/>
          <a:ln/>
        </p:spPr>
        <p:txBody>
          <a:bodyPr wrap="square" rtlCol="0" anchor="ctr"/>
          <a:lstStyle/>
          <a:p>
            <a:pPr indent="0" marL="0">
              <a:buNone/>
            </a:pPr>
            <a:r>
              <a:rPr lang="en-US" sz="1300" b="1" dirty="0">
                <a:solidFill>
                  <a:srgbClr val="ECB748"/>
                </a:solidFill>
                <a:latin typeface="Arial" pitchFamily="34" charset="0"/>
                <a:ea typeface="Arial" pitchFamily="34" charset="-122"/>
                <a:cs typeface="Arial" pitchFamily="34" charset="-120"/>
              </a:rPr>
              <a:t>Dictionary / named list</a:t>
            </a:r>
            <a:endParaRPr lang="en-US" sz="1300" dirty="0"/>
          </a:p>
        </p:txBody>
      </p:sp>
      <p:sp>
        <p:nvSpPr>
          <p:cNvPr id="22" name="Text 19"/>
          <p:cNvSpPr/>
          <p:nvPr/>
        </p:nvSpPr>
        <p:spPr>
          <a:xfrm>
            <a:off x="8156448" y="3108960"/>
            <a:ext cx="3172968" cy="502920"/>
          </a:xfrm>
          <a:prstGeom prst="rect">
            <a:avLst/>
          </a:prstGeom>
          <a:noFill/>
          <a:ln/>
        </p:spPr>
        <p:txBody>
          <a:bodyPr wrap="square" rtlCol="0" anchor="ctr"/>
          <a:lstStyle/>
          <a:p>
            <a:pPr indent="0" marL="0">
              <a:buNone/>
            </a:pPr>
            <a:r>
              <a:rPr lang="en-US" sz="1050" dirty="0">
                <a:solidFill>
                  <a:srgbClr val="F5F3EF"/>
                </a:solidFill>
                <a:latin typeface="Arial" pitchFamily="34" charset="0"/>
                <a:ea typeface="Arial" pitchFamily="34" charset="-122"/>
                <a:cs typeface="Arial" pitchFamily="34" charset="-120"/>
              </a:rPr>
              <a:t>A container mapping keys (names) to values.</a:t>
            </a:r>
            <a:endParaRPr lang="en-US" sz="1050" dirty="0"/>
          </a:p>
        </p:txBody>
      </p:sp>
      <p:sp>
        <p:nvSpPr>
          <p:cNvPr id="23" name="Shape 20"/>
          <p:cNvSpPr/>
          <p:nvPr/>
        </p:nvSpPr>
        <p:spPr>
          <a:xfrm>
            <a:off x="640080" y="3840480"/>
            <a:ext cx="5212080" cy="2606040"/>
          </a:xfrm>
          <a:prstGeom prst="roundRect">
            <a:avLst>
              <a:gd name="adj" fmla="val 3509"/>
            </a:avLst>
          </a:prstGeom>
          <a:solidFill>
            <a:srgbClr val="2E2E2E"/>
          </a:solidFill>
          <a:ln/>
        </p:spPr>
      </p:sp>
      <p:sp>
        <p:nvSpPr>
          <p:cNvPr id="24" name="Text 21"/>
          <p:cNvSpPr/>
          <p:nvPr/>
        </p:nvSpPr>
        <p:spPr>
          <a:xfrm>
            <a:off x="960120" y="4069080"/>
            <a:ext cx="4572000" cy="365760"/>
          </a:xfrm>
          <a:prstGeom prst="rect">
            <a:avLst/>
          </a:prstGeom>
          <a:noFill/>
          <a:ln/>
        </p:spPr>
        <p:txBody>
          <a:bodyPr wrap="square" rtlCol="0" anchor="ctr"/>
          <a:lstStyle/>
          <a:p>
            <a:pPr indent="0" marL="0">
              <a:buNone/>
            </a:pPr>
            <a:r>
              <a:rPr lang="en-US" sz="1500" b="1" dirty="0">
                <a:solidFill>
                  <a:srgbClr val="B3C9CD"/>
                </a:solidFill>
                <a:latin typeface="Arial" pitchFamily="34" charset="0"/>
                <a:ea typeface="Arial" pitchFamily="34" charset="-122"/>
                <a:cs typeface="Arial" pitchFamily="34" charset="-120"/>
              </a:rPr>
              <a:t>Common student mistakes</a:t>
            </a:r>
            <a:endParaRPr lang="en-US" sz="1500" dirty="0"/>
          </a:p>
        </p:txBody>
      </p:sp>
      <p:sp>
        <p:nvSpPr>
          <p:cNvPr id="25" name="Text 22"/>
          <p:cNvSpPr/>
          <p:nvPr/>
        </p:nvSpPr>
        <p:spPr>
          <a:xfrm>
            <a:off x="960120" y="4526280"/>
            <a:ext cx="4572000" cy="1691640"/>
          </a:xfrm>
          <a:prstGeom prst="rect">
            <a:avLst/>
          </a:prstGeom>
          <a:noFill/>
          <a:ln/>
        </p:spPr>
        <p:txBody>
          <a:bodyPr wrap="square" rtlCol="0" anchor="t"/>
          <a:lstStyle/>
          <a:p>
            <a:pPr marL="342900" indent="-342900">
              <a:spcAft>
                <a:spcPts val="800"/>
              </a:spcAft>
              <a:buSzPct val="100000"/>
              <a:buChar char="●"/>
            </a:pPr>
            <a:r>
              <a:rPr lang="en-US" sz="1200" dirty="0">
                <a:solidFill>
                  <a:srgbClr val="F5F3EF"/>
                </a:solidFill>
                <a:latin typeface="Arial" pitchFamily="34" charset="0"/>
                <a:ea typeface="Arial" pitchFamily="34" charset="-122"/>
                <a:cs typeface="Arial" pitchFamily="34" charset="-120"/>
              </a:rPr>
              <a:t>Off-by-one: forgetting Python starts at 0.</a:t>
            </a:r>
            <a:endParaRPr lang="en-US" sz="1200" dirty="0"/>
          </a:p>
          <a:p>
            <a:pPr marL="342900" indent="-342900">
              <a:spcAft>
                <a:spcPts val="800"/>
              </a:spcAft>
              <a:buSzPct val="100000"/>
              <a:buChar char="●"/>
            </a:pPr>
            <a:r>
              <a:rPr lang="en-US" sz="1200" dirty="0">
                <a:solidFill>
                  <a:srgbClr val="F5F3EF"/>
                </a:solidFill>
                <a:latin typeface="Arial" pitchFamily="34" charset="0"/>
                <a:ea typeface="Arial" pitchFamily="34" charset="-122"/>
                <a:cs typeface="Arial" pitchFamily="34" charset="-120"/>
              </a:rPr>
              <a:t>Assuming Python and R slice syntax means the same thing (-1 is the classic trap).</a:t>
            </a:r>
            <a:endParaRPr lang="en-US" sz="1200" dirty="0"/>
          </a:p>
          <a:p>
            <a:pPr marL="342900" indent="-342900">
              <a:spcAft>
                <a:spcPts val="800"/>
              </a:spcAft>
              <a:buSzPct val="100000"/>
              <a:buChar char="●"/>
            </a:pPr>
            <a:r>
              <a:rPr lang="en-US" sz="1200" dirty="0">
                <a:solidFill>
                  <a:srgbClr val="F5F3EF"/>
                </a:solidFill>
                <a:latin typeface="Arial" pitchFamily="34" charset="0"/>
                <a:ea typeface="Arial" pitchFamily="34" charset="-122"/>
                <a:cs typeface="Arial" pitchFamily="34" charset="-120"/>
              </a:rPr>
              <a:t>Using position when they mean name, or vice versa.</a:t>
            </a:r>
            <a:endParaRPr lang="en-US" sz="1200" dirty="0"/>
          </a:p>
          <a:p>
            <a:pPr marL="342900" indent="-342900">
              <a:spcAft>
                <a:spcPts val="800"/>
              </a:spcAft>
              <a:buSzPct val="100000"/>
              <a:buChar char="●"/>
            </a:pPr>
            <a:r>
              <a:rPr lang="en-US" sz="1200" dirty="0">
                <a:solidFill>
                  <a:srgbClr val="F5F3EF"/>
                </a:solidFill>
                <a:latin typeface="Arial" pitchFamily="34" charset="0"/>
                <a:ea typeface="Arial" pitchFamily="34" charset="-122"/>
                <a:cs typeface="Arial" pitchFamily="34" charset="-120"/>
              </a:rPr>
              <a:t>Silently coercing an R vector to strings by including one string element.</a:t>
            </a:r>
            <a:endParaRPr lang="en-US" sz="1200" dirty="0"/>
          </a:p>
        </p:txBody>
      </p:sp>
      <p:sp>
        <p:nvSpPr>
          <p:cNvPr id="26" name="Shape 23"/>
          <p:cNvSpPr/>
          <p:nvPr/>
        </p:nvSpPr>
        <p:spPr>
          <a:xfrm>
            <a:off x="5989320" y="3840480"/>
            <a:ext cx="5577840" cy="2606040"/>
          </a:xfrm>
          <a:prstGeom prst="roundRect">
            <a:avLst>
              <a:gd name="adj" fmla="val 3509"/>
            </a:avLst>
          </a:prstGeom>
          <a:solidFill>
            <a:srgbClr val="ECB748"/>
          </a:solidFill>
          <a:ln/>
        </p:spPr>
      </p:sp>
      <p:sp>
        <p:nvSpPr>
          <p:cNvPr id="27" name="Text 24"/>
          <p:cNvSpPr/>
          <p:nvPr/>
        </p:nvSpPr>
        <p:spPr>
          <a:xfrm>
            <a:off x="6309360" y="4069080"/>
            <a:ext cx="4937760" cy="365760"/>
          </a:xfrm>
          <a:prstGeom prst="rect">
            <a:avLst/>
          </a:prstGeom>
          <a:noFill/>
          <a:ln/>
        </p:spPr>
        <p:txBody>
          <a:bodyPr wrap="square" rtlCol="0" anchor="ctr"/>
          <a:lstStyle/>
          <a:p>
            <a:pPr indent="0" marL="0">
              <a:buNone/>
            </a:pPr>
            <a:r>
              <a:rPr lang="en-US" sz="1500" b="1" dirty="0">
                <a:solidFill>
                  <a:srgbClr val="1C1C1C"/>
                </a:solidFill>
                <a:latin typeface="Arial" pitchFamily="34" charset="0"/>
                <a:ea typeface="Arial" pitchFamily="34" charset="-122"/>
                <a:cs typeface="Arial" pitchFamily="34" charset="-120"/>
              </a:rPr>
              <a:t>Traps we saw today</a:t>
            </a:r>
            <a:endParaRPr lang="en-US" sz="1500" dirty="0"/>
          </a:p>
        </p:txBody>
      </p:sp>
      <p:sp>
        <p:nvSpPr>
          <p:cNvPr id="28" name="Text 25"/>
          <p:cNvSpPr/>
          <p:nvPr/>
        </p:nvSpPr>
        <p:spPr>
          <a:xfrm>
            <a:off x="6309360" y="4498848"/>
            <a:ext cx="4937760" cy="1691640"/>
          </a:xfrm>
          <a:prstGeom prst="rect">
            <a:avLst/>
          </a:prstGeom>
          <a:noFill/>
          <a:ln/>
        </p:spPr>
        <p:txBody>
          <a:bodyPr wrap="square" rtlCol="0" anchor="t"/>
          <a:lstStyle/>
          <a:p>
            <a:pPr indent="0" marL="0">
              <a:lnSpc>
                <a:spcPct val="125000"/>
              </a:lnSpc>
              <a:buNone/>
            </a:pPr>
            <a:r>
              <a:rPr lang="en-US" sz="1250" dirty="0">
                <a:solidFill>
                  <a:srgbClr val="1C1C1C"/>
                </a:solidFill>
                <a:latin typeface="Arial" pitchFamily="34" charset="0"/>
                <a:ea typeface="Arial" pitchFamily="34" charset="-122"/>
                <a:cs typeface="Arial" pitchFamily="34" charset="-120"/>
              </a:rPr>
              <a:t>Forgetting Python starts at 0
-1 meaning two different things
Python's exclusive stop vs R's inclusive stop
One string silently coercing an R vector
Using position where you meant a name
An empty result that is not an error</a:t>
            </a:r>
            <a:pPr indent="0" marL="0">
              <a:lnSpc>
                <a:spcPct val="125000"/>
              </a:lnSpc>
              <a:buNone/>
            </a:pPr>
            <a:endParaRPr lang="en-US" sz="1250" dirty="0"/>
          </a:p>
        </p:txBody>
      </p:sp>
      <p:sp>
        <p:nvSpPr>
          <p:cNvPr id="15" name="Text 12"/>
          <p:cNvSpPr/>
          <p:nvPr/>
        </p:nvSpPr>
        <p:spPr>
          <a:xfrm>
            <a:off x="11368735" y="6492240"/>
            <a:ext cx="457200" cy="274320"/>
          </a:xfrm>
          <a:prstGeom prst="rect">
            <a:avLst/>
          </a:prstGeom>
          <a:noFill/>
          <a:ln/>
        </p:spPr>
        <p:txBody>
          <a:bodyPr wrap="square" rtlCol="0" anchor="ctr"/>
          <a:lstStyle/>
          <a:p>
            <a:pPr algn="r" indent="0" marL="0">
              <a:buNone/>
            </a:pPr>
            <a:r>
              <a:rPr lang="en-US" sz="900" dirty="0">
                <a:solidFill>
                  <a:srgbClr val="9B9B9B"/>
                </a:solidFill>
                <a:latin typeface="Arial" pitchFamily="34" charset="0"/>
                <a:ea typeface="Arial" pitchFamily="34" charset="-122"/>
                <a:cs typeface="Arial" pitchFamily="34" charset="-120"/>
              </a:rPr>
              <a:t>12</a:t>
            </a:r>
            <a:endParaRPr lang="en-US" sz="900" dirty="0"/>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Image 0" descr="/private/tmp/claude-503/-Users-boryczjd-claude-vanderbilt-database-assistant--claude-worktrees-publishing-citation-data-uses-8ba05f/250e4720-0954-4187-8930-09caab2cbef2/scratchpad/slides_build/vu_mark_gold.png">    </p:cNvPr>
          <p:cNvPicPr>
            <a:picLocks noChangeAspect="1"/>
          </p:cNvPicPr>
          <p:nvPr/>
        </p:nvPicPr>
        <p:blipFill>
          <a:blip r:embed="rId2"/>
          <a:stretch>
            <a:fillRect/>
          </a:stretch>
        </p:blipFill>
        <p:spPr>
          <a:xfrm>
            <a:off x="11231575" y="365760"/>
            <a:ext cx="457200" cy="327660"/>
          </a:xfrm>
          <a:prstGeom prst="rect">
            <a:avLst/>
          </a:prstGeom>
        </p:spPr>
      </p:pic>
      <p:sp>
        <p:nvSpPr>
          <p:cNvPr id="3" name="Shape 0"/>
          <p:cNvSpPr/>
          <p:nvPr/>
        </p:nvSpPr>
        <p:spPr>
          <a:xfrm>
            <a:off x="640080" y="502920"/>
            <a:ext cx="1808683" cy="292608"/>
          </a:xfrm>
          <a:prstGeom prst="roundRect">
            <a:avLst>
              <a:gd name="adj" fmla="val 50000"/>
            </a:avLst>
          </a:prstGeom>
          <a:solidFill>
            <a:srgbClr val="ECB748"/>
          </a:solidFill>
          <a:ln/>
        </p:spPr>
      </p:sp>
      <p:sp>
        <p:nvSpPr>
          <p:cNvPr id="4" name="Text 1"/>
          <p:cNvSpPr/>
          <p:nvPr/>
        </p:nvSpPr>
        <p:spPr>
          <a:xfrm>
            <a:off x="640080" y="502920"/>
            <a:ext cx="1808683" cy="292608"/>
          </a:xfrm>
          <a:prstGeom prst="rect">
            <a:avLst/>
          </a:prstGeom>
          <a:noFill/>
          <a:ln/>
        </p:spPr>
        <p:txBody>
          <a:bodyPr wrap="square" rtlCol="0" anchor="ctr"/>
          <a:lstStyle/>
          <a:p>
            <a:pPr algn="ctr" indent="0" marL="0">
              <a:buNone/>
            </a:pPr>
            <a:r>
              <a:rPr lang="en-US" sz="1100" b="1" spc="100" kern="0" dirty="0">
                <a:solidFill>
                  <a:srgbClr val="1C1C1C"/>
                </a:solidFill>
                <a:latin typeface="Arial" pitchFamily="34" charset="0"/>
                <a:ea typeface="Arial" pitchFamily="34" charset="-122"/>
                <a:cs typeface="Arial" pitchFamily="34" charset="-120"/>
              </a:rPr>
              <a:t>36–55 MIN  ·  HANDOFF</a:t>
            </a:r>
            <a:endParaRPr lang="en-US" sz="1100" dirty="0"/>
          </a:p>
        </p:txBody>
      </p:sp>
      <p:sp>
        <p:nvSpPr>
          <p:cNvPr id="5" name="Text 2"/>
          <p:cNvSpPr/>
          <p:nvPr/>
        </p:nvSpPr>
        <p:spPr>
          <a:xfrm>
            <a:off x="640080" y="868680"/>
            <a:ext cx="9144000" cy="640080"/>
          </a:xfrm>
          <a:prstGeom prst="rect">
            <a:avLst/>
          </a:prstGeom>
          <a:noFill/>
          <a:ln/>
        </p:spPr>
        <p:txBody>
          <a:bodyPr wrap="square" rtlCol="0" anchor="ctr"/>
          <a:lstStyle/>
          <a:p>
            <a:pPr indent="0" marL="0">
              <a:buNone/>
            </a:pPr>
            <a:r>
              <a:rPr lang="en-US" sz="3200" b="1" dirty="0">
                <a:solidFill>
                  <a:srgbClr val="1C1C1C"/>
                </a:solidFill>
                <a:latin typeface="Arial" pitchFamily="34" charset="0"/>
                <a:ea typeface="Arial" pitchFamily="34" charset="-122"/>
                <a:cs typeface="Arial" pitchFamily="34" charset="-120"/>
              </a:rPr>
              <a:t>Your activity, and next week</a:t>
            </a:r>
            <a:endParaRPr lang="en-US" sz="3200" dirty="0"/>
          </a:p>
        </p:txBody>
      </p:sp>
      <p:sp>
        <p:nvSpPr>
          <p:cNvPr id="6" name="Text 3"/>
          <p:cNvSpPr/>
          <p:nvPr/>
        </p:nvSpPr>
        <p:spPr>
          <a:xfrm>
            <a:off x="640080" y="1783080"/>
            <a:ext cx="6309360" cy="914400"/>
          </a:xfrm>
          <a:prstGeom prst="rect">
            <a:avLst/>
          </a:prstGeom>
          <a:noFill/>
          <a:ln/>
        </p:spPr>
        <p:txBody>
          <a:bodyPr wrap="square" rtlCol="0" anchor="ctr"/>
          <a:lstStyle/>
          <a:p>
            <a:pPr indent="0" marL="0">
              <a:lnSpc>
                <a:spcPct val="125000"/>
              </a:lnSpc>
              <a:buNone/>
            </a:pPr>
            <a:r>
              <a:rPr lang="en-US" sz="1600" b="1" dirty="0">
                <a:solidFill>
                  <a:srgbClr val="1C1C1C"/>
                </a:solidFill>
                <a:latin typeface="Arial" pitchFamily="34" charset="0"/>
                <a:ea typeface="Arial" pitchFamily="34" charset="-122"/>
                <a:cs typeface="Arial" pitchFamily="34" charset="-120"/>
              </a:rPr>
              <a:t>Six problems, about nineteen minutes. Indexing puzzles that get progressively nastier, plus a cross-language translation trap.</a:t>
            </a:r>
            <a:pPr indent="0" marL="0">
              <a:lnSpc>
                <a:spcPct val="125000"/>
              </a:lnSpc>
              <a:buNone/>
            </a:pPr>
            <a:endParaRPr lang="en-US" sz="1600" dirty="0"/>
          </a:p>
        </p:txBody>
      </p:sp>
      <p:sp>
        <p:nvSpPr>
          <p:cNvPr id="7" name="Text 4"/>
          <p:cNvSpPr/>
          <p:nvPr/>
        </p:nvSpPr>
        <p:spPr>
          <a:xfrm>
            <a:off x="640080" y="2743200"/>
            <a:ext cx="6309360" cy="1554480"/>
          </a:xfrm>
          <a:prstGeom prst="rect">
            <a:avLst/>
          </a:prstGeom>
          <a:noFill/>
          <a:ln/>
        </p:spPr>
        <p:txBody>
          <a:bodyPr wrap="square" rtlCol="0" anchor="ctr"/>
          <a:lstStyle/>
          <a:p>
            <a:pPr indent="0" marL="0">
              <a:lnSpc>
                <a:spcPct val="125000"/>
              </a:lnSpc>
              <a:buNone/>
            </a:pPr>
            <a:r>
              <a:rPr lang="en-US" sz="1600" dirty="0">
                <a:solidFill>
                  <a:srgbClr val="1C1C1C"/>
                </a:solidFill>
                <a:latin typeface="Arial" pitchFamily="34" charset="0"/>
                <a:ea typeface="Arial" pitchFamily="34" charset="-122"/>
                <a:cs typeface="Arial" pitchFamily="34" charset="-120"/>
              </a:rPr>
              <a:t>The tutor will not move on until you have committed to a prediction. That is deliberate. Predicting wrong is fine and expected — refusing to predict is not.</a:t>
            </a:r>
            <a:pPr indent="0" marL="0">
              <a:lnSpc>
                <a:spcPct val="125000"/>
              </a:lnSpc>
              <a:buNone/>
            </a:pPr>
            <a:pPr indent="0" marL="0">
              <a:lnSpc>
                <a:spcPct val="125000"/>
              </a:lnSpc>
              <a:buNone/>
            </a:pPr>
            <a:endParaRPr lang="en-US" sz="1600" dirty="0"/>
          </a:p>
        </p:txBody>
      </p:sp>
      <p:sp>
        <p:nvSpPr>
          <p:cNvPr id="8" name="Shape 5"/>
          <p:cNvSpPr/>
          <p:nvPr/>
        </p:nvSpPr>
        <p:spPr>
          <a:xfrm>
            <a:off x="640080" y="4663440"/>
            <a:ext cx="6309360" cy="1005840"/>
          </a:xfrm>
          <a:prstGeom prst="roundRect">
            <a:avLst>
              <a:gd name="adj" fmla="val 7273"/>
            </a:avLst>
          </a:prstGeom>
          <a:solidFill>
            <a:srgbClr val="F5F3EF"/>
          </a:solidFill>
          <a:ln w="12700">
            <a:solidFill>
              <a:srgbClr val="E3E3E3"/>
            </a:solidFill>
            <a:prstDash val="solid"/>
          </a:ln>
        </p:spPr>
      </p:sp>
      <p:sp>
        <p:nvSpPr>
          <p:cNvPr id="9" name="Text 6"/>
          <p:cNvSpPr/>
          <p:nvPr/>
        </p:nvSpPr>
        <p:spPr>
          <a:xfrm>
            <a:off x="868680" y="4663440"/>
            <a:ext cx="5852160" cy="1005840"/>
          </a:xfrm>
          <a:prstGeom prst="rect">
            <a:avLst/>
          </a:prstGeom>
          <a:noFill/>
          <a:ln/>
        </p:spPr>
        <p:txBody>
          <a:bodyPr wrap="square" rtlCol="0" anchor="ctr"/>
          <a:lstStyle/>
          <a:p>
            <a:pPr indent="0" marL="0">
              <a:buNone/>
            </a:pPr>
            <a:r>
              <a:rPr lang="en-US" sz="1300" b="1" dirty="0">
                <a:solidFill>
                  <a:srgbClr val="1C1C1C"/>
                </a:solidFill>
                <a:latin typeface="Arial" pitchFamily="34" charset="0"/>
                <a:ea typeface="Arial" pitchFamily="34" charset="-122"/>
                <a:cs typeface="Arial" pitchFamily="34" charset="-120"/>
              </a:rPr>
              <a:t>Paste your transcript to Brightspace before you leave. Label who said what if the copy loses the formatting.</a:t>
            </a:r>
            <a:pPr indent="0" marL="0">
              <a:buNone/>
            </a:pPr>
            <a:endParaRPr lang="en-US" sz="1300" dirty="0"/>
          </a:p>
        </p:txBody>
      </p:sp>
      <p:sp>
        <p:nvSpPr>
          <p:cNvPr id="10" name="Shape 7"/>
          <p:cNvSpPr/>
          <p:nvPr/>
        </p:nvSpPr>
        <p:spPr>
          <a:xfrm>
            <a:off x="7223760" y="1783080"/>
            <a:ext cx="4297680" cy="3886200"/>
          </a:xfrm>
          <a:prstGeom prst="roundRect">
            <a:avLst>
              <a:gd name="adj" fmla="val 2353"/>
            </a:avLst>
          </a:prstGeom>
          <a:solidFill>
            <a:srgbClr val="1C1C1C"/>
          </a:solidFill>
          <a:ln/>
        </p:spPr>
      </p:sp>
      <p:sp>
        <p:nvSpPr>
          <p:cNvPr id="11" name="Text 8"/>
          <p:cNvSpPr/>
          <p:nvPr/>
        </p:nvSpPr>
        <p:spPr>
          <a:xfrm>
            <a:off x="7589520" y="2103120"/>
            <a:ext cx="3566160" cy="320040"/>
          </a:xfrm>
          <a:prstGeom prst="rect">
            <a:avLst/>
          </a:prstGeom>
          <a:noFill/>
          <a:ln/>
        </p:spPr>
        <p:txBody>
          <a:bodyPr wrap="square" rtlCol="0" anchor="ctr"/>
          <a:lstStyle/>
          <a:p>
            <a:pPr indent="0" marL="0">
              <a:buNone/>
            </a:pPr>
            <a:r>
              <a:rPr lang="en-US" sz="1100" b="1" spc="200" kern="0" dirty="0">
                <a:solidFill>
                  <a:srgbClr val="ECB748"/>
                </a:solidFill>
                <a:latin typeface="Arial" pitchFamily="34" charset="0"/>
                <a:ea typeface="Arial" pitchFamily="34" charset="-122"/>
                <a:cs typeface="Arial" pitchFamily="34" charset="-120"/>
              </a:rPr>
              <a:t>NEXT WEEK  ·  SESSION 4</a:t>
            </a:r>
            <a:endParaRPr lang="en-US" sz="1100" dirty="0"/>
          </a:p>
        </p:txBody>
      </p:sp>
      <p:sp>
        <p:nvSpPr>
          <p:cNvPr id="12" name="Text 9"/>
          <p:cNvSpPr/>
          <p:nvPr/>
        </p:nvSpPr>
        <p:spPr>
          <a:xfrm>
            <a:off x="7589520" y="2606040"/>
            <a:ext cx="3566160" cy="1097280"/>
          </a:xfrm>
          <a:prstGeom prst="rect">
            <a:avLst/>
          </a:prstGeom>
          <a:noFill/>
          <a:ln/>
        </p:spPr>
        <p:txBody>
          <a:bodyPr wrap="square" rtlCol="0" anchor="ctr"/>
          <a:lstStyle/>
          <a:p>
            <a:pPr indent="0" marL="0">
              <a:buNone/>
            </a:pPr>
            <a:r>
              <a:rPr lang="en-US" sz="2000" b="1" dirty="0">
                <a:solidFill>
                  <a:srgbClr val="B3C9CD"/>
                </a:solidFill>
                <a:latin typeface="Courier New" pitchFamily="34" charset="0"/>
                <a:ea typeface="Courier New" pitchFamily="34" charset="-122"/>
                <a:cs typeface="Courier New" pitchFamily="34" charset="-120"/>
              </a:rPr>
              <a:t>Control flow</a:t>
            </a:r>
            <a:pPr indent="0" marL="0">
              <a:buNone/>
            </a:pPr>
            <a:endParaRPr lang="en-US" sz="2000" dirty="0"/>
          </a:p>
        </p:txBody>
      </p:sp>
      <p:sp>
        <p:nvSpPr>
          <p:cNvPr id="13" name="Shape 10"/>
          <p:cNvSpPr/>
          <p:nvPr/>
        </p:nvSpPr>
        <p:spPr>
          <a:xfrm>
            <a:off x="7589520" y="3931920"/>
            <a:ext cx="3566160" cy="0"/>
          </a:xfrm>
          <a:prstGeom prst="line">
            <a:avLst/>
          </a:prstGeom>
          <a:noFill/>
          <a:ln w="12700">
            <a:solidFill>
              <a:srgbClr val="444444"/>
            </a:solidFill>
            <a:prstDash val="solid"/>
          </a:ln>
        </p:spPr>
      </p:sp>
      <p:sp>
        <p:nvSpPr>
          <p:cNvPr id="14" name="Text 11"/>
          <p:cNvSpPr/>
          <p:nvPr/>
        </p:nvSpPr>
        <p:spPr>
          <a:xfrm>
            <a:off x="7589520" y="4160520"/>
            <a:ext cx="3566160" cy="1280160"/>
          </a:xfrm>
          <a:prstGeom prst="rect">
            <a:avLst/>
          </a:prstGeom>
          <a:noFill/>
          <a:ln/>
        </p:spPr>
        <p:txBody>
          <a:bodyPr wrap="square" rtlCol="0" anchor="ctr"/>
          <a:lstStyle/>
          <a:p>
            <a:pPr indent="0" marL="0">
              <a:lnSpc>
                <a:spcPct val="130000"/>
              </a:lnSpc>
              <a:buNone/>
            </a:pPr>
            <a:r>
              <a:rPr lang="en-US" sz="1350" dirty="0">
                <a:solidFill>
                  <a:srgbClr val="F5F3EF"/>
                </a:solidFill>
                <a:latin typeface="Arial" pitchFamily="34" charset="0"/>
                <a:ea typeface="Arial" pitchFamily="34" charset="-122"/>
                <a:cs typeface="Arial" pitchFamily="34" charset="-120"/>
              </a:rPr>
              <a:t>Decisions and repetition — where you stop typing commands and start writing programs. Also: the single worst habit AI will teach you, and how to override it.  Bring a candidate project dataset next week. Even a bad one — you can switch by Session 6.</a:t>
            </a:r>
            <a:pPr indent="0" marL="0">
              <a:lnSpc>
                <a:spcPct val="130000"/>
              </a:lnSpc>
              <a:buNone/>
            </a:pPr>
            <a:pPr indent="0" marL="0">
              <a:lnSpc>
                <a:spcPct val="130000"/>
              </a:lnSpc>
              <a:buNone/>
            </a:pPr>
            <a:pPr indent="0" marL="0">
              <a:lnSpc>
                <a:spcPct val="130000"/>
              </a:lnSpc>
              <a:buNone/>
            </a:pPr>
            <a:pPr indent="0" marL="0">
              <a:lnSpc>
                <a:spcPct val="130000"/>
              </a:lnSpc>
              <a:buNone/>
            </a:pPr>
            <a:endParaRPr lang="en-US" sz="1350" dirty="0"/>
          </a:p>
        </p:txBody>
      </p:sp>
      <p:sp>
        <p:nvSpPr>
          <p:cNvPr id="15" name="Text 12"/>
          <p:cNvSpPr/>
          <p:nvPr/>
        </p:nvSpPr>
        <p:spPr>
          <a:xfrm>
            <a:off x="11368735" y="6492240"/>
            <a:ext cx="457200" cy="274320"/>
          </a:xfrm>
          <a:prstGeom prst="rect">
            <a:avLst/>
          </a:prstGeom>
          <a:noFill/>
          <a:ln/>
        </p:spPr>
        <p:txBody>
          <a:bodyPr wrap="square" rtlCol="0" anchor="ctr"/>
          <a:lstStyle/>
          <a:p>
            <a:pPr algn="r" indent="0" marL="0">
              <a:buNone/>
            </a:pPr>
            <a:r>
              <a:rPr lang="en-US" sz="900" dirty="0">
                <a:solidFill>
                  <a:srgbClr val="9B9B9B"/>
                </a:solidFill>
                <a:latin typeface="Arial" pitchFamily="34" charset="0"/>
                <a:ea typeface="Arial" pitchFamily="34" charset="-122"/>
                <a:cs typeface="Arial" pitchFamily="34" charset="-120"/>
              </a:rPr>
              <a:t>13</a:t>
            </a:r>
            <a:endParaRPr lang="en-US" sz="9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8</Slides>
  <Notes>8</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8</vt:i4>
      </vt:variant>
    </vt:vector>
  </HeadingPairs>
  <TitlesOfParts>
    <vt:vector size="11" baseType="lpstr">
      <vt:lpstr>Arial</vt:lpstr>
      <vt:lpstr>Calibri</vt:lpstr>
      <vt:lpstr>Office Theme</vt:lpstr>
      <vt:lpstr>Slide 1</vt:lpstr>
      <vt:lpstr>Slide 2</vt:lpstr>
      <vt:lpstr>Slide 3</vt:lpstr>
      <vt:lpstr>Slide 4</vt:lpstr>
      <vt:lpstr>Slide 5</vt:lpstr>
      <vt:lpstr>Slide 6</vt:lpstr>
      <vt:lpstr>Slide 7</vt:lpstr>
      <vt:lpstr>Slide 8</vt:lpstr>
    </vt:vector>
  </TitlesOfParts>
  <Company>Vanderbilt University</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CPBP 8306 — Session 3</dc:title>
  <dc:subject>PptxGenJS Presentation</dc:subject>
  <dc:creator>Joshua Borycz &amp; Daniel Genkins</dc:creator>
  <cp:lastModifiedBy>Joshua Borycz &amp; Daniel Genkins</cp:lastModifiedBy>
  <cp:revision>1</cp:revision>
  <dcterms:created xsi:type="dcterms:W3CDTF">2026-07-27T21:40:15Z</dcterms:created>
  <dcterms:modified xsi:type="dcterms:W3CDTF">2026-07-27T21:40:15Z</dcterms:modified>
</cp:coreProperties>
</file>