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16"/>
    <p:sldId id="257" r:id="rId3"/>
    <p:sldId id="266" r:id="rId17"/>
    <p:sldId id="258" r:id="rId4"/>
    <p:sldId id="267" r:id="rId18"/>
    <p:sldId id="259" r:id="rId5"/>
    <p:sldId id="268" r:id="rId19"/>
    <p:sldId id="260" r:id="rId6"/>
    <p:sldId id="269" r:id="rId20"/>
    <p:sldId id="261" r:id="rId7"/>
    <p:sldId id="262" r:id="rId8"/>
    <p:sldId id="270" r:id="rId21"/>
    <p:sldId id="263" r:id="rId9"/>
    <p:sldId id="271" r:id="rId22"/>
    <p:sldId id="264" r:id="rId10"/>
    <p:sldId id="272" r:id="rId23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5.xml"/><Relationship Id="rId5" Type="http://schemas.openxmlformats.org/officeDocument/2006/relationships/slide" Target="slides/slide7.xml"/><Relationship Id="rId6" Type="http://schemas.openxmlformats.org/officeDocument/2006/relationships/slide" Target="slides/slide9.xml"/><Relationship Id="rId7" Type="http://schemas.openxmlformats.org/officeDocument/2006/relationships/slide" Target="slides/slide11.xml"/><Relationship Id="rId8" Type="http://schemas.openxmlformats.org/officeDocument/2006/relationships/slide" Target="slides/slide12.xml"/><Relationship Id="rId9" Type="http://schemas.openxmlformats.org/officeDocument/2006/relationships/slide" Target="slides/slide14.xml"/><Relationship Id="rId10" Type="http://schemas.openxmlformats.org/officeDocument/2006/relationships/slide" Target="slides/slide16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2.xml"/><Relationship Id="rId17" Type="http://schemas.openxmlformats.org/officeDocument/2006/relationships/slide" Target="slides/slide4.xml"/><Relationship Id="rId18" Type="http://schemas.openxmlformats.org/officeDocument/2006/relationships/slide" Target="slides/slide6.xml"/><Relationship Id="rId19" Type="http://schemas.openxmlformats.org/officeDocument/2006/relationships/slide" Target="slides/slide8.xml"/><Relationship Id="rId20" Type="http://schemas.openxmlformats.org/officeDocument/2006/relationships/slide" Target="slides/slide10.xml"/><Relationship Id="rId21" Type="http://schemas.openxmlformats.org/officeDocument/2006/relationships/slide" Target="slides/slide13.xml"/><Relationship Id="rId22" Type="http://schemas.openxmlformats.org/officeDocument/2006/relationships/slide" Target="slides/slide15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before class: demos/02_types_demo.py in a terminal at the repo root, and an R console in a second window.</a:t>
            </a:r>
          </a:p>
          <a:p/>
          <a:p>
            <a:r>
              <a:t>Quick poll as people sit down: who got both installs working? Note who did not — pair them with the TA during the activity block. Today needs Python only; R is a comparison, not a dependency, so a broken R install is not a reason to sit out.</a:t>
            </a:r>
          </a:p>
          <a:p/>
          <a:p>
            <a:r>
              <a:t>data/patients.csv must be posted to Brightspace before this session — the demo's last section loads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the framing plainly and move. This slide is two minutes, not five.</a:t>
            </a:r>
          </a:p>
          <a:p/>
          <a:p>
            <a:r>
              <a:t>The "3" + "4" example in the right-hand panel is the whole session in one line — point at it, do not explain it yet. Slide 9 does the explaining.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load-bearing contrast: patient_id = patient_id + 1 is nonsense as an equation and obvious as a command.</a:t>
            </a:r>
          </a:p>
          <a:p/>
          <a:p>
            <a:r>
              <a:t>Say the reading rule out loud, twice: RIGHT SIDE FIRST, THEN STORE. Students who internalise this stop being confused by reassignment forever.</a:t>
            </a:r>
          </a:p>
          <a:p/>
          <a:p>
            <a:r>
              <a:t>Run it live in the Python window rather than reading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the room for a research example of each type BEFORE you reveal the last column. It takes ninety seconds and it makes the table theirs.</a:t>
            </a:r>
          </a:p>
          <a:p/>
          <a:p>
            <a:r>
              <a:t>Patient IDs are the classic trap: they look numeric, they are not numeric, and treating them as numeric destroys leading zeros permanently. P042 becomes 42 and you cannot get it back.</a:t>
            </a:r>
          </a:p>
          <a:p/>
          <a:p>
            <a:r>
              <a:t>Foreshadow the fifth type — missing (NaN / NA) — as a Session 7 problem. Name it, do not teach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Gotcha 1 is the first genuinely useful trick of the course. Make sure it lands — ask them what mean(age &gt; 65) would give. Answer: the proportion of patients over 65. That reframing is the seed of all filtering later.</a:t>
            </a:r>
          </a:p>
          <a:p/>
          <a:p>
            <a:r>
              <a:t>Gotcha 2: ask "is Python refusing to guess a good thing or a bad thing here?" Good — the alternative is a silent wrong answer. Contrast with R's quieter coercion next week.</a:t>
            </a:r>
          </a:p>
          <a:p/>
          <a:p>
            <a:r>
              <a:t>If you have a real example — a genotype column where "1/1" got autocorrected into a date by Excel — this is the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read the table. Point at the bottom three rows and connect them to the boolean trick from slide 9 — that connection is the payoff of the whole first half.</a:t>
            </a:r>
          </a:p>
          <a:p/>
          <a:p>
            <a:r>
              <a:t>Note Python's % against R's %%. Small translation trap, worth ten seconds, and it is exactly the kind of thing an AI gets wrong when translating between the two languages.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single most common beginner typo. This will not be the last time they see this slide.</a:t>
            </a:r>
          </a:p>
          <a:p/>
          <a:p>
            <a:r>
              <a:t>In R, if (mean(xs) = 3) is also an error but for a different reason — R cannot parse an assignment to a function call at all. Worth mentioning; the distinction shows up again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"read from the bottom up" twice. It is the highest-yield sentence in this lecture.</a:t>
            </a:r>
          </a:p>
          <a:p/>
          <a:p>
            <a:r>
              <a:t>The middle of a long traceback is usually library internals — tell them explicitly that it is fine to skip it. Beginners assume every line matters and freeze.</a:t>
            </a:r>
          </a:p>
          <a:p/>
          <a:p>
            <a:r>
              <a:t>Point 4 is the one that matters: the bug is almost always UPSTREAM of the line that crashed.</a:t>
            </a:r>
          </a:p>
          <a:p/>
          <a:p>
            <a:r>
              <a:t>Run the last section of demos/02_types_demo.py here — it produces a real TypeError from the real course data, where pandas concatenates every age value into one absurd string. Students remember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Leave this up during the transition to the tutor activity. Students will refer to it.</a:t>
            </a:r>
          </a:p>
          <a:p/>
          <a:p>
            <a:r>
              <a:t>Do not read it. It is a reference slide, and saying so is faster than pretending otherwise.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answers, thirty seconds. Do not let this run long — the meat is later.</a:t>
            </a:r>
          </a:p>
          <a:p/>
          <a:p>
            <a:r>
              <a:t>The install show of hands is the real business of this slide. Say plainly: "if it is not working you are not behind, but I need to know who you are." Get names to the TA before the activity.</a:t>
            </a:r>
          </a:p>
          <a:p/>
          <a:p>
            <a:r>
              <a:t>Call back to Session 1 as you move on: the trailing-space bug was a type-and-value bug that ran silently. Today is about the category of error that produced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read this aloud verbatim. Fifteen seconds on the objectives, fifteen on the hour, then move.</a:t>
            </a:r>
          </a:p>
          <a:p/>
          <a:p>
            <a:r>
              <a:t>Objective 4 — reading a traceback — is the one that pays off every week for the rest of the semester.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Ninety seconds. R uses the arrow by convention; = works but no real R codebase uses it.</a:t>
            </a:r>
          </a:p>
          <a:p/>
          <a:p>
            <a:r>
              <a:t>The naming half is the part worth slowing down for. "Future-you is a stranger" reframes naming from style rule to self-defence.</a:t>
            </a:r>
          </a:p>
          <a:p/>
          <a:p>
            <a:r>
              <a:t>The anti-pattern worth naming out loud: calling every intermediate step "data". They will all do it; say it now so they recognise it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that R has no separate integer class by default: class(42) is "numeric". Mention it, do not dwell.</a:t>
            </a:r>
          </a:p>
          <a:p/>
          <a:p>
            <a:r>
              <a:t>The habit is the point of the slide, not the syntax. "When something behaves strangely, check the type before you check anything else."</a:t>
            </a:r>
          </a:p>
          <a:p/>
          <a:p>
            <a:r>
              <a:t>Foreshadow the Session 7 version: df.dtypes in pandas, str(df) in 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PROTECT THIS SLIDE. Sixty seconds with a neighbour, answers out loud before anyone types.</a:t>
            </a:r>
          </a:p>
          <a:p/>
          <a:p>
            <a:r>
              <a:t>Answers: a == c is True (5 equals 5.0). a == b is False. d == 1 is True. b * 3 is '555'.</a:t>
            </a:r>
          </a:p>
          <a:p/>
          <a:p>
            <a:r>
              <a:t>a == b is the one that matters: comparing a number to a string does NOT error. It quietly returns False. That is exactly how a silent bug survives an entire analysis — and it is the same failure shape as last week's trailing space.</a:t>
            </a:r>
          </a:p>
          <a:p/>
          <a:p>
            <a:r>
              <a:t>Then run it live in the demo script so they see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minutes. This is not a Python bug, it is binary floating point, and R does it too — it just prints fewer digits and hides it.</a:t>
            </a:r>
          </a:p>
          <a:p/>
          <a:p>
            <a:r>
              <a:t>If you have R up, demo it: 0.1 + 0.2 == 0.3 is FALSE in R too, but print(0.1+0.2) shows 0.3. That makes the larger point that a clean-looking printout proves nothing.</a:t>
            </a:r>
          </a:p>
          <a:p/>
          <a:p>
            <a:r>
              <a:t>Where it actually bites research code: filtering on an exact threshold, or checking whether proportions sum to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PROTECT THIS SLIDE. This is the AI-literacy core of the week and the thread back to Session 1.</a:t>
            </a:r>
          </a:p>
          <a:p/>
          <a:p>
            <a:r>
              <a:t>The point: the fix that silences the error is often the wrong fix. str(10) makes the error disappear and produces "4210" — a silently wrong answer, which is worse than a crash.</a:t>
            </a:r>
          </a:p>
          <a:p/>
          <a:p>
            <a:r>
              <a:t>The better prompt works because it supplies the one thing the model cannot know: what you meant the variable to hold. Intent is not in the code.</a:t>
            </a:r>
          </a:p>
          <a:p/>
          <a:p>
            <a:r>
              <a:t>Connect it back to the Expect → Run → Compare → Explain loop from Session 1. This is the Compare step failing.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Warn them again that the tutor refuses to hand over code — the Session 1 cohort already knows, but say it anyway.</a:t>
            </a:r>
          </a:p>
          <a:p/>
          <a:p>
            <a:r>
              <a:t>This week the activity is IN CLASS, unlike last week. Transcript to Brightspace before they leave. Circulate; the TA takes anyone whose install is still broken.</a:t>
            </a:r>
          </a:p>
          <a:p/>
          <a:p>
            <a:r>
              <a:t>The predict-first rule is the whole design of this tutor: predicting wrong is fine, refusing to predict is not. Say that out loud before they start.</a:t>
            </a:r>
          </a:p>
          <a:p/>
          <a:p>
            <a:r>
              <a:t>Repeat the dataset deadline: choose by Session 4, which is two weeks away. Repeat this every single week until Session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Relationship Id="rId3" Type="http://schemas.openxmlformats.org/officeDocument/2006/relationships/notesSlide" Target="../notesSlides/notesSlide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8-1.png"/><Relationship Id="rId3" Type="http://schemas.openxmlformats.org/officeDocument/2006/relationships/notesSlide" Target="../notesSlides/notesSlide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5-1.png"/><Relationship Id="rId3" Type="http://schemas.openxmlformats.org/officeDocument/2006/relationships/notesSlide" Target="../notesSlides/notesSlide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3-1.png"/><Relationship Id="rId3" Type="http://schemas.openxmlformats.org/officeDocument/2006/relationships/notesSlide" Target="../notesSlides/notesSlide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7-1.png"/><Relationship Id="rId3" Type="http://schemas.openxmlformats.org/officeDocument/2006/relationships/notesSlide" Target="../notesSlides/notesSlide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7-1.png"/><Relationship Id="rId3" Type="http://schemas.openxmlformats.org/officeDocument/2006/relationships/notesSlide" Target="../notesSlides/notesSlide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3-1.png"/><Relationship Id="rId3" Type="http://schemas.openxmlformats.org/officeDocument/2006/relationships/notesSlide" Target="../notesSlides/notes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5-1.pn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2377440" cy="51625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50876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  ·  UNIT 1 — FOUNDATIONS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94360" y="192024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Variables, Types, and Expressions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324612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most of your bugs will come from — and how to see them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534924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CPBP 8306 — Coding for Research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Borycz  &amp;  Daniel Genkins   |   TA: Peyton Coleman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Thursdays 10:00–10:55am  ·  Light Hall 439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818120" y="2286000"/>
            <a:ext cx="3749040" cy="3108960"/>
          </a:xfrm>
          <a:prstGeom prst="roundRect">
            <a:avLst>
              <a:gd name="adj" fmla="val 3529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0" y="2514600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Shape 6"/>
          <p:cNvSpPr/>
          <p:nvPr/>
        </p:nvSpPr>
        <p:spPr>
          <a:xfrm>
            <a:off x="8302752" y="2514600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10" name="Shape 7"/>
          <p:cNvSpPr/>
          <p:nvPr/>
        </p:nvSpPr>
        <p:spPr>
          <a:xfrm>
            <a:off x="8558784" y="2514600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11" name="Text 8"/>
          <p:cNvSpPr/>
          <p:nvPr/>
        </p:nvSpPr>
        <p:spPr>
          <a:xfrm>
            <a:off x="9006840" y="2450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check_types.py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863840" y="2834640"/>
            <a:ext cx="365760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9244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patient_id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092440" y="3520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pPr indent="0" marL="0">
              <a:buNone/>
            </a:pPr>
            <a:r>
              <a:rPr lang="en-US" sz="13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'int'&gt;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09244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"P042"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092440" y="4480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pPr indent="0" marL="0">
              <a:buNone/>
            </a:pPr>
            <a:r>
              <a:rPr lang="en-US" sz="13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'str'&gt;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18120" y="5532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value has a type. Once you can see it, you can debug it.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mar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65760"/>
            <a:ext cx="457200" cy="3276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CB748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5029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0–4 MIN  ·  RECAP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left off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 we broke a research question into six steps: read the file → look at the data → split into groups → compute means → test the difference → report it.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6309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of those steps moves values around. Today is about what a value actually is — and why the answer is where most of your bugs will come from.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4663440"/>
            <a:ext cx="6309360" cy="1005840"/>
          </a:xfrm>
          <a:prstGeom prst="roundRect">
            <a:avLst>
              <a:gd name="adj" fmla="val 7273"/>
            </a:avLst>
          </a:prstGeom>
          <a:solidFill>
            <a:srgbClr val="F5F3E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466344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Somebody name one of the six steps. Two answers, thirty seconds.</a:t>
            </a:r>
            <a:pPr indent="0" marL="0">
              <a:buNone/>
            </a:pPr>
            <a:pPr indent="0" marL="0">
              <a:buNone/>
            </a:pP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223760" y="1783080"/>
            <a:ext cx="4297680" cy="3886200"/>
          </a:xfrm>
          <a:prstGeom prst="roundRect">
            <a:avLst>
              <a:gd name="adj" fmla="val 2353"/>
            </a:avLst>
          </a:prstGeom>
          <a:solidFill>
            <a:srgbClr val="1C1C1C"/>
          </a:solidFill>
          <a:ln/>
        </p:spPr>
      </p:sp>
      <p:sp>
        <p:nvSpPr>
          <p:cNvPr id="11" name="Text 8"/>
          <p:cNvSpPr/>
          <p:nvPr/>
        </p:nvSpPr>
        <p:spPr>
          <a:xfrm>
            <a:off x="7589520" y="2103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— A SHOW OF HANDS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589520" y="26060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Did your install finish?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7589520" y="3931920"/>
            <a:ext cx="356616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9520" y="41605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not, you are not behind — say so now so the TA can find you during the activity. Today needs Python only; R can wait.</a:t>
            </a:r>
            <a:pPr indent="0" marL="0">
              <a:lnSpc>
                <a:spcPct val="130000"/>
              </a:lnSpc>
              <a:buNone/>
            </a:pP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mar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365760"/>
            <a:ext cx="457200" cy="3276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CB748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5029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MIN  ·  FRAMING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Bugs Are Type Bugs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piece of data your computer sees has a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 number is a different kind of thing than a word, which is different from a yes/no.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6309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bugs you hit in your first year — and most of the subtle errors an AI slips past you — are type bugs: a "5" where you meant 5, a string compared to a number, an accidentally-text column you tried to average.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4663440"/>
            <a:ext cx="6309360" cy="1005840"/>
          </a:xfrm>
          <a:prstGeom prst="roundRect">
            <a:avLst>
              <a:gd name="adj" fmla="val 7273"/>
            </a:avLst>
          </a:prstGeom>
          <a:solidFill>
            <a:srgbClr val="F5F3E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466344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session teaches you to </a:t>
            </a:r>
            <a:pPr indent="0" marL="0">
              <a:buNone/>
            </a:pPr>
            <a:r>
              <a:rPr lang="en-US" sz="1350" b="1" i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</a:t>
            </a:r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types — because once you can see them, you can debug them.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223760" y="1783080"/>
            <a:ext cx="4297680" cy="3886200"/>
          </a:xfrm>
          <a:prstGeom prst="roundRect">
            <a:avLst>
              <a:gd name="adj" fmla="val 2353"/>
            </a:avLst>
          </a:prstGeom>
          <a:solidFill>
            <a:srgbClr val="1C1C1C"/>
          </a:solidFill>
          <a:ln/>
        </p:spPr>
      </p:sp>
      <p:sp>
        <p:nvSpPr>
          <p:cNvPr id="11" name="Text 8"/>
          <p:cNvSpPr/>
          <p:nvPr/>
        </p:nvSpPr>
        <p:spPr>
          <a:xfrm>
            <a:off x="7589520" y="2103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CLASSIC BUG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589520" y="26060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"3" + "4"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"34"   </a:t>
            </a:r>
            <a:endParaRPr lang="en-US" sz="20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string concatenation, not addition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7589520" y="3931920"/>
            <a:ext cx="356616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9520" y="41605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first bug you meet when a spreadsheet exports IDs as text. It comes back repeatedly this semester.</a:t>
            </a:r>
            <a:pPr indent="0" marL="0">
              <a:lnSpc>
                <a:spcPct val="130000"/>
              </a:lnSpc>
              <a:buNone/>
            </a:pP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mar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65760"/>
            <a:ext cx="457200" cy="3276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4572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CB748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572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today you can…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852160" cy="2834640"/>
          </a:xfrm>
          <a:prstGeom prst="roundRect">
            <a:avLst>
              <a:gd name="adj" fmla="val 3226"/>
            </a:avLst>
          </a:prstGeom>
          <a:solidFill>
            <a:srgbClr val="1C1C1C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19202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HOUR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60120" y="23774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0–7    Recap, framing, assignment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60120" y="28346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7–17    Types, and how to check one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60120" y="32918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17–30   Three gotchas, and operators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60120" y="37490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30–36  Tracebacks, and the AI trap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766560" y="1600200"/>
            <a:ext cx="365760" cy="365760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13" name="Text 10"/>
          <p:cNvSpPr/>
          <p:nvPr/>
        </p:nvSpPr>
        <p:spPr>
          <a:xfrm>
            <a:off x="676656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269480" y="157276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assignment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269480" y="189280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= actually does — and why it is not ==.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766560" y="2377440"/>
            <a:ext cx="365760" cy="365760"/>
          </a:xfrm>
          <a:prstGeom prst="ellipse">
            <a:avLst/>
          </a:prstGeom>
          <a:solidFill>
            <a:srgbClr val="B3C9CD"/>
          </a:solidFill>
          <a:ln/>
        </p:spPr>
      </p:sp>
      <p:sp>
        <p:nvSpPr>
          <p:cNvPr id="17" name="Text 14"/>
          <p:cNvSpPr/>
          <p:nvPr/>
        </p:nvSpPr>
        <p:spPr>
          <a:xfrm>
            <a:off x="676656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269480" y="235000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four types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269480" y="267004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Integer, float, string, boolean, and where each lives in research data.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766560" y="3154680"/>
            <a:ext cx="365760" cy="365760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21" name="Text 18"/>
          <p:cNvSpPr/>
          <p:nvPr/>
        </p:nvSpPr>
        <p:spPr>
          <a:xfrm>
            <a:off x="676656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269480" y="312724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a mixed expression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269480" y="344728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 the surprising ones that do not error.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766560" y="3931920"/>
            <a:ext cx="365760" cy="365760"/>
          </a:xfrm>
          <a:prstGeom prst="ellipse">
            <a:avLst/>
          </a:prstGeom>
          <a:solidFill>
            <a:srgbClr val="B3C9CD"/>
          </a:solidFill>
          <a:ln/>
        </p:spPr>
      </p:sp>
      <p:sp>
        <p:nvSpPr>
          <p:cNvPr id="25" name="Text 22"/>
          <p:cNvSpPr/>
          <p:nvPr/>
        </p:nvSpPr>
        <p:spPr>
          <a:xfrm>
            <a:off x="676656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269480" y="390448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 traceback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269480" y="422452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line that caused it — and the line that actually caused it.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40080" y="47091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5F3E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68680" y="470916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4 is the one that pays off every week for the rest of the semester.</a:t>
            </a:r>
            <a:pPr indent="0" marL="0">
              <a:buNone/>
            </a:pP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mar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365760"/>
            <a:ext cx="457200" cy="3276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457200"/>
            <a:ext cx="1870862" cy="292608"/>
          </a:xfrm>
          <a:prstGeom prst="roundRect">
            <a:avLst>
              <a:gd name="adj" fmla="val 50000"/>
            </a:avLst>
          </a:prstGeom>
          <a:solidFill>
            <a:srgbClr val="ECB748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57200"/>
            <a:ext cx="187086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7–12 MIN  ·  SEGMENT 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and Assignment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F5F3E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1031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253288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 claim about the world. “5 = x” means the same thing.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1C1C1C"/>
          </a:solidFill>
          <a:ln/>
        </p:spPr>
      </p:sp>
      <p:sp>
        <p:nvSpPr>
          <p:cNvPr id="11" name="Text 8"/>
          <p:cNvSpPr/>
          <p:nvPr/>
        </p:nvSpPr>
        <p:spPr>
          <a:xfrm>
            <a:off x="6537960" y="1783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37960" y="21031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537960" y="253288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 command: “store 5 in a location called x.” “5 = x” is a syntax error.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320040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8680" y="3401568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6" name="Shape 13"/>
          <p:cNvSpPr/>
          <p:nvPr/>
        </p:nvSpPr>
        <p:spPr>
          <a:xfrm>
            <a:off x="1124712" y="3401568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17" name="Shape 14"/>
          <p:cNvSpPr/>
          <p:nvPr/>
        </p:nvSpPr>
        <p:spPr>
          <a:xfrm>
            <a:off x="1380744" y="3401568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18" name="Text 15"/>
          <p:cNvSpPr/>
          <p:nvPr/>
        </p:nvSpPr>
        <p:spPr>
          <a:xfrm>
            <a:off x="1783080" y="334670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patient.py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85800" y="3703320"/>
            <a:ext cx="516636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3840480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patient_id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3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14400" y="4169664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patient_id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patient_id + </a:t>
            </a:r>
            <a:pPr indent="0" marL="0">
              <a:buNone/>
            </a:pPr>
            <a:r>
              <a:rPr lang="en-US" sz="13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14400" y="4498848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(patient_id) 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43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263640" y="320040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92240" y="3401568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5" name="Shape 22"/>
          <p:cNvSpPr/>
          <p:nvPr/>
        </p:nvSpPr>
        <p:spPr>
          <a:xfrm>
            <a:off x="6748272" y="3401568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26" name="Shape 23"/>
          <p:cNvSpPr/>
          <p:nvPr/>
        </p:nvSpPr>
        <p:spPr>
          <a:xfrm>
            <a:off x="7004304" y="3401568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27" name="Text 24"/>
          <p:cNvSpPr/>
          <p:nvPr/>
        </p:nvSpPr>
        <p:spPr>
          <a:xfrm>
            <a:off x="7406640" y="334670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patient.R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309360" y="3703320"/>
            <a:ext cx="516636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37960" y="3840480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patient_id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</a:t>
            </a:r>
            <a:pPr indent="0" marL="0">
              <a:buNone/>
            </a:pPr>
            <a:r>
              <a:rPr lang="en-US" sz="1300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537960" y="4169664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patient_id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patient_id + </a:t>
            </a:r>
            <a:pPr indent="0" marL="0">
              <a:buNone/>
            </a:pPr>
            <a:r>
              <a:rPr lang="en-US" sz="1300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537960" y="4498848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(patient_id) 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43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rules:  </a:t>
            </a:r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letter · case-sensitive (Patient ≠ patient) · use descriptive names — bp_systolic beats x1.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mar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65760"/>
            <a:ext cx="457200" cy="3276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4572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CB748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572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·  SAME IDEA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idea, different ink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5257800" cy="4434840"/>
          </a:xfrm>
          <a:prstGeom prst="roundRect">
            <a:avLst>
              <a:gd name="adj" fmla="val 2062"/>
            </a:avLst>
          </a:prstGeom>
          <a:solidFill>
            <a:srgbClr val="FBF0DA"/>
          </a:solidFill>
          <a:ln w="19050">
            <a:solidFill>
              <a:srgbClr val="ECB74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08760" y="198424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uses the arrow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60120" y="2651760"/>
            <a:ext cx="4617720" cy="1417320"/>
          </a:xfrm>
          <a:prstGeom prst="roundRect">
            <a:avLst>
              <a:gd name="adj" fmla="val 6452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88720" y="2852928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2" name="Shape 9"/>
          <p:cNvSpPr/>
          <p:nvPr/>
        </p:nvSpPr>
        <p:spPr>
          <a:xfrm>
            <a:off x="1444752" y="2852928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13" name="Shape 10"/>
          <p:cNvSpPr/>
          <p:nvPr/>
        </p:nvSpPr>
        <p:spPr>
          <a:xfrm>
            <a:off x="1700784" y="2852928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14" name="Text 11"/>
          <p:cNvSpPr/>
          <p:nvPr/>
        </p:nvSpPr>
        <p:spPr>
          <a:xfrm>
            <a:off x="2103120" y="279806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patient.R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005840" y="3154680"/>
            <a:ext cx="452628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34440" y="3291840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patient_id &lt;- 42</a:t>
            </a:r>
            <a:pPr indent="0" marL="0">
              <a:buNone/>
            </a:pPr>
            <a:pPr indent="0" marL="0">
              <a:buNone/>
            </a:pP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234440" y="3621024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patient_id &lt;- patient_id + 1</a:t>
            </a:r>
            <a:pPr indent="0" marL="0">
              <a:buNone/>
            </a:pPr>
            <a:pPr indent="0" marL="0">
              <a:buNone/>
            </a:pP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60120" y="4251960"/>
            <a:ext cx="4617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also works in R, but every R codebase you will ever read uses &lt;-. So use the arrow. The idea is identical to Python: right side first, then store.</a:t>
            </a:r>
            <a:pPr indent="0" marL="0">
              <a:lnSpc>
                <a:spcPct val="130000"/>
              </a:lnSpc>
              <a:buNone/>
            </a:pPr>
            <a:pPr indent="0" marL="0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263640" y="1691640"/>
            <a:ext cx="5257800" cy="4434840"/>
          </a:xfrm>
          <a:prstGeom prst="roundRect">
            <a:avLst>
              <a:gd name="adj" fmla="val 2062"/>
            </a:avLst>
          </a:prstGeom>
          <a:solidFill>
            <a:srgbClr val="EAF0F1"/>
          </a:solidFill>
          <a:ln w="19050">
            <a:solidFill>
              <a:srgbClr val="B3C9C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37960" y="1965960"/>
            <a:ext cx="457200" cy="457200"/>
          </a:xfrm>
          <a:prstGeom prst="ellipse">
            <a:avLst/>
          </a:prstGeom>
          <a:solidFill>
            <a:srgbClr val="B3C9CD"/>
          </a:solidFill>
          <a:ln/>
        </p:spPr>
      </p:sp>
      <p:sp>
        <p:nvSpPr>
          <p:cNvPr id="21" name="Text 18"/>
          <p:cNvSpPr/>
          <p:nvPr/>
        </p:nvSpPr>
        <p:spPr>
          <a:xfrm>
            <a:off x="65379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132320" y="198424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rules — identical in both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583680" y="2651760"/>
            <a:ext cx="4617720" cy="1417320"/>
          </a:xfrm>
          <a:prstGeom prst="roundRect">
            <a:avLst>
              <a:gd name="adj" fmla="val 6452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12280" y="2852928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5" name="Shape 22"/>
          <p:cNvSpPr/>
          <p:nvPr/>
        </p:nvSpPr>
        <p:spPr>
          <a:xfrm>
            <a:off x="7068312" y="2852928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26" name="Shape 23"/>
          <p:cNvSpPr/>
          <p:nvPr/>
        </p:nvSpPr>
        <p:spPr>
          <a:xfrm>
            <a:off x="7324344" y="2852928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27" name="Text 24"/>
          <p:cNvSpPr/>
          <p:nvPr/>
        </p:nvSpPr>
        <p:spPr>
          <a:xfrm>
            <a:off x="7726680" y="279806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naming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629400" y="3154680"/>
            <a:ext cx="452628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58000" y="3291840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bp_systolic     not     x1</a:t>
            </a:r>
            <a:pPr indent="0" marL="0">
              <a:buNone/>
            </a:pPr>
            <a:pPr indent="0" marL="0">
              <a:buNone/>
            </a:pPr>
            <a:pPr indent="0" marL="0">
              <a:buNone/>
            </a:pP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583680" y="4251960"/>
            <a:ext cx="4617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Letters, digits, underscore. Start with a letter, no spaces. Case-sensitive: Patient and patient are two different variables. Future-you is a stranger — and naming every step "data" is how you lose track of which step you are on.</a:t>
            </a:r>
            <a:pPr indent="0" marL="0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mar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365760"/>
            <a:ext cx="457200" cy="3276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457200"/>
            <a:ext cx="1933041" cy="292608"/>
          </a:xfrm>
          <a:prstGeom prst="roundRect">
            <a:avLst>
              <a:gd name="adj" fmla="val 50000"/>
            </a:avLst>
          </a:prstGeom>
          <a:solidFill>
            <a:srgbClr val="ECB748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57200"/>
            <a:ext cx="193304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12–17 MIN  ·  SEGMENT 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Primitive Types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2468880"/>
        </p:xfrm>
        <a:graphic>
          <a:graphicData uri="http://schemas.openxmlformats.org/drawingml/2006/table">
            <a:tbl>
              <a:tblPr/>
              <a:tblGrid>
                <a:gridCol w="2377440"/>
                <a:gridCol w="1920240"/>
                <a:gridCol w="1920240"/>
                <a:gridCol w="46634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 example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Integer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59595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59595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integer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 of trials, patient count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Floating point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59595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float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59595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numeric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Blood pressure (117.3), gene expression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String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59595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59595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character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Patient ID "P042", sample name, group label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Boolean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59595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59595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logical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 QC? (True / False)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42519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most useful debugging skill of the course: check the type.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40080" y="461772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" y="4818888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0" name="Shape 6"/>
          <p:cNvSpPr/>
          <p:nvPr/>
        </p:nvSpPr>
        <p:spPr>
          <a:xfrm>
            <a:off x="1124712" y="4818888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11" name="Shape 7"/>
          <p:cNvSpPr/>
          <p:nvPr/>
        </p:nvSpPr>
        <p:spPr>
          <a:xfrm>
            <a:off x="1380744" y="4818888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12" name="Text 8"/>
          <p:cNvSpPr/>
          <p:nvPr/>
        </p:nvSpPr>
        <p:spPr>
          <a:xfrm>
            <a:off x="1783080" y="476402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check.py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85800" y="5120640"/>
            <a:ext cx="516636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14400" y="5257800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(patient_id)     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'int'&gt;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914400" y="5586984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("P042")        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'str'&gt;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914400" y="5916168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(True)           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'bool'&gt;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63640" y="461772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92240" y="4818888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9" name="Shape 15"/>
          <p:cNvSpPr/>
          <p:nvPr/>
        </p:nvSpPr>
        <p:spPr>
          <a:xfrm>
            <a:off x="6748272" y="4818888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20" name="Shape 16"/>
          <p:cNvSpPr/>
          <p:nvPr/>
        </p:nvSpPr>
        <p:spPr>
          <a:xfrm>
            <a:off x="7004304" y="4818888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21" name="Text 17"/>
          <p:cNvSpPr/>
          <p:nvPr/>
        </p:nvSpPr>
        <p:spPr>
          <a:xfrm>
            <a:off x="7406640" y="476402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check.R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309360" y="5120640"/>
            <a:ext cx="516636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537960" y="5257800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(patient_id)    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"numeric"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537960" y="5586984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("P042")       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"character"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537960" y="5916168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(TRUE)          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"logical"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mar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65760"/>
            <a:ext cx="457200" cy="3276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4572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CB748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572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HABIT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useful debugging move of the semester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F5F3E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1031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type(x)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253288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what kind of thing x is.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1C1C1C"/>
          </a:solidFill>
          <a:ln/>
        </p:spPr>
      </p:sp>
      <p:sp>
        <p:nvSpPr>
          <p:cNvPr id="11" name="Text 8"/>
          <p:cNvSpPr/>
          <p:nvPr/>
        </p:nvSpPr>
        <p:spPr>
          <a:xfrm>
            <a:off x="6537960" y="1783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37960" y="21031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class(x)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537960" y="253288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question, different word.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320040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8680" y="3401568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6" name="Shape 13"/>
          <p:cNvSpPr/>
          <p:nvPr/>
        </p:nvSpPr>
        <p:spPr>
          <a:xfrm>
            <a:off x="1124712" y="3401568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17" name="Shape 14"/>
          <p:cNvSpPr/>
          <p:nvPr/>
        </p:nvSpPr>
        <p:spPr>
          <a:xfrm>
            <a:off x="1380744" y="3401568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18" name="Text 15"/>
          <p:cNvSpPr/>
          <p:nvPr/>
        </p:nvSpPr>
        <p:spPr>
          <a:xfrm>
            <a:off x="1783080" y="334670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check.py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85800" y="3703320"/>
            <a:ext cx="516636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3840480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type(patient_id)   # &lt;class 'int'&gt;</a:t>
            </a:r>
            <a:pPr indent="0" marL="0">
              <a:buNone/>
            </a:pPr>
            <a:pPr indent="0" marL="0">
              <a:buNone/>
            </a:pP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14400" y="4169664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type("P042")       # &lt;class 'str'&gt;</a:t>
            </a:r>
            <a:pPr indent="0" marL="0">
              <a:buNone/>
            </a:pPr>
            <a:pPr indent="0" marL="0">
              <a:buNone/>
            </a:pP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14400" y="4498848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type(117.3)        # &lt;class 'float'&gt;</a:t>
            </a:r>
            <a:pPr indent="0" marL="0">
              <a:buNone/>
            </a:pPr>
            <a:pPr indent="0" marL="0">
              <a:buNone/>
            </a:pP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263640" y="320040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92240" y="3401568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5" name="Shape 22"/>
          <p:cNvSpPr/>
          <p:nvPr/>
        </p:nvSpPr>
        <p:spPr>
          <a:xfrm>
            <a:off x="6748272" y="3401568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26" name="Shape 23"/>
          <p:cNvSpPr/>
          <p:nvPr/>
        </p:nvSpPr>
        <p:spPr>
          <a:xfrm>
            <a:off x="7004304" y="3401568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27" name="Text 24"/>
          <p:cNvSpPr/>
          <p:nvPr/>
        </p:nvSpPr>
        <p:spPr>
          <a:xfrm>
            <a:off x="7406640" y="334670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check.R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309360" y="3703320"/>
            <a:ext cx="516636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37960" y="3840480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class(patient_id)  # "numeric"</a:t>
            </a:r>
            <a:pPr indent="0" marL="0">
              <a:buNone/>
            </a:pPr>
            <a:pPr indent="0" marL="0">
              <a:buNone/>
            </a:pP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537960" y="4169664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class("P042")      # "character"</a:t>
            </a:r>
            <a:pPr indent="0" marL="0">
              <a:buNone/>
            </a:pPr>
            <a:pPr indent="0" marL="0">
              <a:buNone/>
            </a:pP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537960" y="4498848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class(TRUE)        # "logical"</a:t>
            </a:r>
            <a:pPr indent="0" marL="0">
              <a:buNone/>
            </a:pPr>
            <a:pPr indent="0" marL="0">
              <a:buNone/>
            </a:pP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habit to build starting now:  when something behaves strangely, check the type before you check anything else. Three seconds, and it is the answer surprisingly often.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mar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365760"/>
            <a:ext cx="457200" cy="3276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457200"/>
            <a:ext cx="1808683" cy="292608"/>
          </a:xfrm>
          <a:prstGeom prst="roundRect">
            <a:avLst>
              <a:gd name="adj" fmla="val 50000"/>
            </a:avLst>
          </a:prstGeom>
          <a:solidFill>
            <a:srgbClr val="ECB748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57200"/>
            <a:ext cx="180868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17–22 MIN  ·  GOTCHAS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Research-Relevant Gotchas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5257800" cy="4434840"/>
          </a:xfrm>
          <a:prstGeom prst="roundRect">
            <a:avLst>
              <a:gd name="adj" fmla="val 2062"/>
            </a:avLst>
          </a:prstGeom>
          <a:solidFill>
            <a:srgbClr val="FBF0DA"/>
          </a:solidFill>
          <a:ln w="19050">
            <a:solidFill>
              <a:srgbClr val="ECB74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08760" y="198424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Booleans behave like numbers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60120" y="2651760"/>
            <a:ext cx="4617720" cy="1417320"/>
          </a:xfrm>
          <a:prstGeom prst="roundRect">
            <a:avLst>
              <a:gd name="adj" fmla="val 6452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88720" y="2852928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2" name="Shape 9"/>
          <p:cNvSpPr/>
          <p:nvPr/>
        </p:nvSpPr>
        <p:spPr>
          <a:xfrm>
            <a:off x="1444752" y="2852928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13" name="Shape 10"/>
          <p:cNvSpPr/>
          <p:nvPr/>
        </p:nvSpPr>
        <p:spPr>
          <a:xfrm>
            <a:off x="1700784" y="2852928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14" name="Text 11"/>
          <p:cNvSpPr/>
          <p:nvPr/>
        </p:nvSpPr>
        <p:spPr>
          <a:xfrm>
            <a:off x="2103120" y="279806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bool_math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005840" y="3154680"/>
            <a:ext cx="452628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34440" y="3291840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+ True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pPr indent="0" marL="0">
              <a:buNone/>
            </a:pPr>
            <a:r>
              <a:rPr lang="en-US" sz="13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234440" y="3621024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sum(c(TRUE, FALSE, TRUE))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pPr indent="0" marL="0">
              <a:buNone/>
            </a:pPr>
            <a:r>
              <a:rPr lang="en-US" sz="13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60120" y="4251960"/>
            <a:ext cx="4617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mean(passed_qc)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gives the fraction of samples that passed — booleans are averaged as 1s and 0s.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263640" y="1691640"/>
            <a:ext cx="5257800" cy="4434840"/>
          </a:xfrm>
          <a:prstGeom prst="roundRect">
            <a:avLst>
              <a:gd name="adj" fmla="val 2062"/>
            </a:avLst>
          </a:prstGeom>
          <a:solidFill>
            <a:srgbClr val="EAF0F1"/>
          </a:solidFill>
          <a:ln w="19050">
            <a:solidFill>
              <a:srgbClr val="B3C9C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37960" y="1965960"/>
            <a:ext cx="457200" cy="457200"/>
          </a:xfrm>
          <a:prstGeom prst="ellipse">
            <a:avLst/>
          </a:prstGeom>
          <a:solidFill>
            <a:srgbClr val="B3C9CD"/>
          </a:solidFill>
          <a:ln/>
        </p:spPr>
      </p:sp>
      <p:sp>
        <p:nvSpPr>
          <p:cNvPr id="21" name="Text 18"/>
          <p:cNvSpPr/>
          <p:nvPr/>
        </p:nvSpPr>
        <p:spPr>
          <a:xfrm>
            <a:off x="65379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132320" y="198424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number stored as a string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583680" y="2651760"/>
            <a:ext cx="4617720" cy="1417320"/>
          </a:xfrm>
          <a:prstGeom prst="roundRect">
            <a:avLst>
              <a:gd name="adj" fmla="val 6452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12280" y="2852928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5" name="Shape 22"/>
          <p:cNvSpPr/>
          <p:nvPr/>
        </p:nvSpPr>
        <p:spPr>
          <a:xfrm>
            <a:off x="7068312" y="2852928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26" name="Shape 23"/>
          <p:cNvSpPr/>
          <p:nvPr/>
        </p:nvSpPr>
        <p:spPr>
          <a:xfrm>
            <a:off x="7324344" y="2852928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27" name="Text 24"/>
          <p:cNvSpPr/>
          <p:nvPr/>
        </p:nvSpPr>
        <p:spPr>
          <a:xfrm>
            <a:off x="7726680" y="279806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csv_bug.py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629400" y="3154680"/>
            <a:ext cx="452628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58000" y="3291840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"5" + "3"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pPr indent="0" marL="0">
              <a:buNone/>
            </a:pPr>
            <a:r>
              <a:rPr lang="en-US" sz="1300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"53"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(not 8!)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583680" y="4251960"/>
            <a:ext cx="4617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common Excel-to-CSV bug: your spreadsheet exported IDs as text. One stray cell — "unknown", a stray comma, a trailing space — and the whole column loads as text.</a:t>
            </a:r>
            <a:pPr indent="0" marL="0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mar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65760"/>
            <a:ext cx="457200" cy="3276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22–24 MIN  ·  PREDICT FIRST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9436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before you run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173736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to an answer out loud BEFORE anyone types it. Predicting wrong is fine and expected. Refusing to predict is not.</a:t>
            </a: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10881360" cy="3200400"/>
          </a:xfrm>
          <a:prstGeom prst="roundRect">
            <a:avLst>
              <a:gd name="adj" fmla="val 3429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6112" y="2834640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Shape 6"/>
          <p:cNvSpPr/>
          <p:nvPr/>
        </p:nvSpPr>
        <p:spPr>
          <a:xfrm>
            <a:off x="1152144" y="2834640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10" name="Shape 7"/>
          <p:cNvSpPr/>
          <p:nvPr/>
        </p:nvSpPr>
        <p:spPr>
          <a:xfrm>
            <a:off x="1408176" y="2834640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11" name="Text 8"/>
          <p:cNvSpPr/>
          <p:nvPr/>
        </p:nvSpPr>
        <p:spPr>
          <a:xfrm>
            <a:off x="1828800" y="27706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predict.py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85800" y="3154680"/>
            <a:ext cx="1078992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338328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5     b = "5"     c = 5.0     d = True</a:t>
            </a:r>
            <a:pPr indent="0" marL="0">
              <a:buNone/>
            </a:pPr>
            <a:pPr indent="0" marL="0">
              <a:buNone/>
            </a:pP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60120" y="3867912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== c        ?</a:t>
            </a:r>
            <a:pPr indent="0" marL="0">
              <a:buNone/>
            </a:pPr>
            <a:pPr indent="0" marL="0">
              <a:buNone/>
            </a:pP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60120" y="4352544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== b        ?</a:t>
            </a:r>
            <a:pPr indent="0" marL="0">
              <a:buNone/>
            </a:pPr>
            <a:pPr indent="0" marL="0">
              <a:buNone/>
            </a:pP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60120" y="4837176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== 1        ?</a:t>
            </a:r>
            <a:pPr indent="0" marL="0">
              <a:buNone/>
            </a:pPr>
            <a:pPr indent="0" marL="0">
              <a:buNone/>
            </a:pP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60120" y="5321808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* 3         ?</a:t>
            </a:r>
            <a:pPr indent="0" marL="0">
              <a:buNone/>
            </a:pPr>
            <a:pPr indent="0" marL="0">
              <a:buNone/>
            </a:pP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3C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== b is the important one: it does not error. It just quietly says False — which is exactly how a silent bug survives a whole analysis.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mar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365760"/>
            <a:ext cx="457200" cy="3276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457200"/>
            <a:ext cx="1933041" cy="292608"/>
          </a:xfrm>
          <a:prstGeom prst="roundRect">
            <a:avLst>
              <a:gd name="adj" fmla="val 50000"/>
            </a:avLst>
          </a:prstGeom>
          <a:solidFill>
            <a:srgbClr val="ECB748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57200"/>
            <a:ext cx="193304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24–27 MIN  ·  SEGMENT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Expressions and Operators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expression is code that evaluates to a value: 2 + 3  or  "hello" + " world". Everything in the bottom three rows produces a boolean — which you can then sum() or mean().</a:t>
            </a:r>
            <a:pPr indent="0" marL="0">
              <a:buNone/>
            </a:pPr>
            <a:pPr indent="0" marL="0">
              <a:buNone/>
            </a:pPr>
            <a:pPr indent="0" marL="0">
              <a:buNone/>
            </a:pP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3977640"/>
        </p:xfrm>
        <a:graphic>
          <a:graphicData uri="http://schemas.openxmlformats.org/drawingml/2006/table">
            <a:tbl>
              <a:tblPr/>
              <a:tblGrid>
                <a:gridCol w="3474720"/>
                <a:gridCol w="3291840"/>
                <a:gridCol w="41148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  -  *  /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arithmetic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bp / weight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**  (Py)   /   ^  (R)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exponent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sd**2   /   sd^2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  (Py)   /   %%  (R)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modulo (remainder)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even/odd, every-nth-row checks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==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equality test → boolean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group == "treated"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!=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not-equal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pvalue != NA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  &gt;  &lt;=  &gt;=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comparisons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 &gt;= 65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and or not  (Py)   /   &amp; | !  (R)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logical combination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 &gt;= 65 and treated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mar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365760"/>
            <a:ext cx="457200" cy="3276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27–29 MIN  ·  THE CLASSIC TYPO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9436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assigns.  == asks.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173736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assignment.   </a:t>
            </a:r>
            <a:pPr indent="0" marL="0">
              <a:buNone/>
            </a:pPr>
            <a:r>
              <a:rPr lang="en-US" sz="1400" b="1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comparison.   The single most common beginner typo: </a:t>
            </a:r>
            <a:pPr indent="0" marL="0">
              <a:buNone/>
            </a:pPr>
            <a:r>
              <a:rPr lang="en-US" sz="1400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= 5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is an error.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10881360" cy="3200400"/>
          </a:xfrm>
          <a:prstGeom prst="roundRect">
            <a:avLst>
              <a:gd name="adj" fmla="val 3429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6112" y="2834640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Shape 6"/>
          <p:cNvSpPr/>
          <p:nvPr/>
        </p:nvSpPr>
        <p:spPr>
          <a:xfrm>
            <a:off x="1152144" y="2834640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10" name="Shape 7"/>
          <p:cNvSpPr/>
          <p:nvPr/>
        </p:nvSpPr>
        <p:spPr>
          <a:xfrm>
            <a:off x="1408176" y="2834640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11" name="Text 8"/>
          <p:cNvSpPr/>
          <p:nvPr/>
        </p:nvSpPr>
        <p:spPr>
          <a:xfrm>
            <a:off x="1828800" y="27706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surprises.py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85800" y="3154680"/>
            <a:ext cx="1078992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338328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"3" + "4"        # "34"       — string concatenation</a:t>
            </a:r>
            <a:pPr indent="0" marL="0">
              <a:buNone/>
            </a:pPr>
            <a:pPr indent="0" marL="0">
              <a:buNone/>
            </a:pP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60120" y="3867912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+ 4            # 7</a:t>
            </a:r>
            <a:pPr indent="0" marL="0">
              <a:buNone/>
            </a:pPr>
            <a:pPr indent="0" marL="0">
              <a:buNone/>
            </a:pP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60120" y="4352544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+ "4"          # TypeError  — Python refuses to guess</a:t>
            </a:r>
            <a:pPr indent="0" marL="0">
              <a:buNone/>
            </a:pPr>
            <a:pPr indent="0" marL="0">
              <a:buNone/>
            </a:pP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60120" y="4837176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+ 1         # 2          — booleans are numeric</a:t>
            </a:r>
            <a:pPr indent="0" marL="0">
              <a:buNone/>
            </a:pPr>
            <a:pPr indent="0" marL="0">
              <a:buNone/>
            </a:pP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60120" y="5321808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== 5        # a question, not a command</a:t>
            </a:r>
            <a:pPr indent="0" marL="0">
              <a:buNone/>
            </a:pPr>
            <a:pPr indent="0" marL="0">
              <a:buNone/>
            </a:pP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3C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refusing to guess is a feature. The alternative — silently picking one interpretation — is how you get a wrong answer with no error at all.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mar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65760"/>
            <a:ext cx="457200" cy="3276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29–31 MIN  ·  GOTCHA 3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9436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Floats are approximate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173736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 not a Python bug. It is how binary computers store decimals — R does it too, it just prints fewer digits and hides it from you.</a:t>
            </a: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10881360" cy="3200400"/>
          </a:xfrm>
          <a:prstGeom prst="roundRect">
            <a:avLst>
              <a:gd name="adj" fmla="val 3429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6112" y="2834640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Shape 6"/>
          <p:cNvSpPr/>
          <p:nvPr/>
        </p:nvSpPr>
        <p:spPr>
          <a:xfrm>
            <a:off x="1152144" y="2834640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10" name="Shape 7"/>
          <p:cNvSpPr/>
          <p:nvPr/>
        </p:nvSpPr>
        <p:spPr>
          <a:xfrm>
            <a:off x="1408176" y="2834640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11" name="Text 8"/>
          <p:cNvSpPr/>
          <p:nvPr/>
        </p:nvSpPr>
        <p:spPr>
          <a:xfrm>
            <a:off x="1828800" y="27706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floats.py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85800" y="3154680"/>
            <a:ext cx="1078992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338328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 + 0.2               # 0.30000000000000004</a:t>
            </a:r>
            <a:pPr indent="0" marL="0">
              <a:buNone/>
            </a:pPr>
            <a:pPr indent="0" marL="0">
              <a:buNone/>
            </a:pP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60120" y="3867912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 + 0.2 == 0.3        # False</a:t>
            </a:r>
            <a:pPr indent="0" marL="0">
              <a:buNone/>
            </a:pPr>
            <a:pPr indent="0" marL="0">
              <a:buNone/>
            </a:pP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60120" y="4352544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pPr indent="0" marL="0">
              <a:buNone/>
            </a:pPr>
            <a:pPr indent="0" marL="0">
              <a:buNone/>
            </a:pP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60120" y="4837176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abs(a - b) &lt; 1e-9       # do this instead</a:t>
            </a:r>
            <a:pPr indent="0" marL="0">
              <a:buNone/>
            </a:pPr>
            <a:pPr indent="0" marL="0">
              <a:buNone/>
            </a:pP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60120" y="5321808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np.isclose(a, b)   /   all.equal(a, b)   # or this</a:t>
            </a:r>
            <a:pPr indent="0" marL="0">
              <a:buNone/>
            </a:pPr>
            <a:pPr indent="0" marL="0">
              <a:buNone/>
            </a:pP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3C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compare two floats with ==. Where this bites research code: filtering on an exact threshold, or checking whether proportions sum to 1.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mar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365760"/>
            <a:ext cx="457200" cy="3276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457200"/>
            <a:ext cx="1933041" cy="292608"/>
          </a:xfrm>
          <a:prstGeom prst="roundRect">
            <a:avLst>
              <a:gd name="adj" fmla="val 50000"/>
            </a:avLst>
          </a:prstGeom>
          <a:solidFill>
            <a:srgbClr val="ECB748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57200"/>
            <a:ext cx="193304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31–34 MIN  ·  SEGMENT 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 TypeError Traceback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852160" cy="2834640"/>
          </a:xfrm>
          <a:prstGeom prst="roundRect">
            <a:avLst>
              <a:gd name="adj" fmla="val 3226"/>
            </a:avLst>
          </a:prstGeom>
          <a:solidFill>
            <a:srgbClr val="1C1C1C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19202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Traceback (most recent call last):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60120" y="23774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 "analysis.py", line 12, in &lt;module&gt;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60120" y="28346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total_age = ages_str + 10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60120" y="32918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TypeError: can only concatenate str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60120" y="37490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(not "int") to str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766560" y="1600200"/>
            <a:ext cx="365760" cy="365760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13" name="Text 10"/>
          <p:cNvSpPr/>
          <p:nvPr/>
        </p:nvSpPr>
        <p:spPr>
          <a:xfrm>
            <a:off x="676656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269480" y="157276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 first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269480" y="189280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error type + message: Python saw a string next to +, doesn't know how to add an int.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766560" y="2377440"/>
            <a:ext cx="365760" cy="365760"/>
          </a:xfrm>
          <a:prstGeom prst="ellipse">
            <a:avLst/>
          </a:prstGeom>
          <a:solidFill>
            <a:srgbClr val="B3C9CD"/>
          </a:solidFill>
          <a:ln/>
        </p:spPr>
      </p:sp>
      <p:sp>
        <p:nvSpPr>
          <p:cNvPr id="17" name="Text 14"/>
          <p:cNvSpPr/>
          <p:nvPr/>
        </p:nvSpPr>
        <p:spPr>
          <a:xfrm>
            <a:off x="676656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269480" y="235000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and line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269480" y="267004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analysis.py, line 12 — go there.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766560" y="3154680"/>
            <a:ext cx="365760" cy="365760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21" name="Text 18"/>
          <p:cNvSpPr/>
          <p:nvPr/>
        </p:nvSpPr>
        <p:spPr>
          <a:xfrm>
            <a:off x="676656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269480" y="312724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offending code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269480" y="344728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total_age = ages_str + 10 — now you know ages_str is (probably) a string.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766560" y="3931920"/>
            <a:ext cx="365760" cy="365760"/>
          </a:xfrm>
          <a:prstGeom prst="ellipse">
            <a:avLst/>
          </a:prstGeom>
          <a:solidFill>
            <a:srgbClr val="B3C9CD"/>
          </a:solidFill>
          <a:ln/>
        </p:spPr>
      </p:sp>
      <p:sp>
        <p:nvSpPr>
          <p:cNvPr id="25" name="Text 22"/>
          <p:cNvSpPr/>
          <p:nvPr/>
        </p:nvSpPr>
        <p:spPr>
          <a:xfrm>
            <a:off x="676656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269480" y="390448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269480" y="422452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first: int(ages_str) + 10, or fix wherever ages_str was assigned.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40080" y="47091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5F3E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68680" y="470916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from the bottom up.  </a:t>
            </a:r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paste an error into ChatGPT, that's exactly what it's looking at too — but it doesn't know what your variable should have been. You do.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mar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65760"/>
            <a:ext cx="457200" cy="3276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457200"/>
            <a:ext cx="2057400" cy="292608"/>
          </a:xfrm>
          <a:prstGeom prst="roundRect">
            <a:avLst>
              <a:gd name="adj" fmla="val 50000"/>
            </a:avLst>
          </a:prstGeom>
          <a:solidFill>
            <a:srgbClr val="ECB748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40080" y="45720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34–36 MIN  ·  THE AI TRAP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Pasting the error into an AI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F5F3E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 GOOD AT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1031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Explaining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253288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reads the same four things you just read, and it is genuinely good at saying what a TypeError means.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1C1C1C"/>
          </a:solidFill>
          <a:ln/>
        </p:spPr>
      </p:sp>
      <p:sp>
        <p:nvSpPr>
          <p:cNvPr id="11" name="Text 8"/>
          <p:cNvSpPr/>
          <p:nvPr/>
        </p:nvSpPr>
        <p:spPr>
          <a:xfrm>
            <a:off x="6537960" y="1783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CATCH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37960" y="21031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537960" y="253288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not know what ages_str was supposed to be.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320040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8680" y="3401568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6" name="Shape 13"/>
          <p:cNvSpPr/>
          <p:nvPr/>
        </p:nvSpPr>
        <p:spPr>
          <a:xfrm>
            <a:off x="1124712" y="3401568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17" name="Shape 14"/>
          <p:cNvSpPr/>
          <p:nvPr/>
        </p:nvSpPr>
        <p:spPr>
          <a:xfrm>
            <a:off x="1380744" y="3401568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18" name="Text 15"/>
          <p:cNvSpPr/>
          <p:nvPr/>
        </p:nvSpPr>
        <p:spPr>
          <a:xfrm>
            <a:off x="1783080" y="334670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fix that silences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85800" y="3703320"/>
            <a:ext cx="516636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3840480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str(10)          # error gone</a:t>
            </a:r>
            <a:pPr indent="0" marL="0">
              <a:buNone/>
            </a:pPr>
            <a:pPr indent="0" marL="0">
              <a:buNone/>
            </a:pP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14400" y="4169664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"42" + "10"      # -&gt; "4210"</a:t>
            </a:r>
            <a:pPr indent="0" marL="0">
              <a:buNone/>
            </a:pPr>
            <a:pPr indent="0" marL="0">
              <a:buNone/>
            </a:pP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14400" y="4498848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...and the bug is now silent</a:t>
            </a:r>
            <a:pPr indent="0" marL="0">
              <a:buNone/>
            </a:pPr>
            <a:pPr indent="0" marL="0">
              <a:buNone/>
            </a:pP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263640" y="320040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92240" y="3401568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5" name="Shape 22"/>
          <p:cNvSpPr/>
          <p:nvPr/>
        </p:nvSpPr>
        <p:spPr>
          <a:xfrm>
            <a:off x="6748272" y="3401568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26" name="Shape 23"/>
          <p:cNvSpPr/>
          <p:nvPr/>
        </p:nvSpPr>
        <p:spPr>
          <a:xfrm>
            <a:off x="7004304" y="3401568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27" name="Text 24"/>
          <p:cNvSpPr/>
          <p:nvPr/>
        </p:nvSpPr>
        <p:spPr>
          <a:xfrm>
            <a:off x="7406640" y="334670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better prompt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309360" y="3703320"/>
            <a:ext cx="516636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37960" y="3840480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"This errors. I expect ages_str</a:t>
            </a:r>
            <a:pPr indent="0" marL="0">
              <a:buNone/>
            </a:pPr>
            <a:pPr indent="0" marL="0">
              <a:buNone/>
            </a:pP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537960" y="4169664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 hold ages as numbers.</a:t>
            </a:r>
            <a:pPr indent="0" marL="0">
              <a:buNone/>
            </a:pPr>
            <a:pPr indent="0" marL="0">
              <a:buNone/>
            </a:pP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537960" y="4498848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Where did it become a string?"</a:t>
            </a:r>
            <a:pPr indent="0" marL="0">
              <a:buNone/>
            </a:pPr>
            <a:pPr indent="0" marL="0">
              <a:buNone/>
            </a:pP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the error go away is not the same as fixing the bug.  The better prompt works because it supplies the one thing the model cannot know: what you meant.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mar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365760"/>
            <a:ext cx="457200" cy="3276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9436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 and traps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3538728" cy="960120"/>
          </a:xfrm>
          <a:prstGeom prst="roundRect">
            <a:avLst>
              <a:gd name="adj" fmla="val 9524"/>
            </a:avLst>
          </a:prstGeom>
          <a:solidFill>
            <a:srgbClr val="2E2E2E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709928"/>
            <a:ext cx="3172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201168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named location that stores a value.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06824" y="1600200"/>
            <a:ext cx="3538728" cy="960120"/>
          </a:xfrm>
          <a:prstGeom prst="roundRect">
            <a:avLst>
              <a:gd name="adj" fmla="val 9524"/>
            </a:avLst>
          </a:prstGeom>
          <a:solidFill>
            <a:srgbClr val="2E2E2E"/>
          </a:solidFill>
          <a:ln/>
        </p:spPr>
      </p:sp>
      <p:sp>
        <p:nvSpPr>
          <p:cNvPr id="9" name="Text 6"/>
          <p:cNvSpPr/>
          <p:nvPr/>
        </p:nvSpPr>
        <p:spPr>
          <a:xfrm>
            <a:off x="4489704" y="1709928"/>
            <a:ext cx="3172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489704" y="201168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a value into a variable (= in Python, &lt;- in R).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973568" y="1600200"/>
            <a:ext cx="3538728" cy="960120"/>
          </a:xfrm>
          <a:prstGeom prst="roundRect">
            <a:avLst>
              <a:gd name="adj" fmla="val 9524"/>
            </a:avLst>
          </a:prstGeom>
          <a:solidFill>
            <a:srgbClr val="2E2E2E"/>
          </a:solidFill>
          <a:ln/>
        </p:spPr>
      </p:sp>
      <p:sp>
        <p:nvSpPr>
          <p:cNvPr id="12" name="Text 9"/>
          <p:cNvSpPr/>
          <p:nvPr/>
        </p:nvSpPr>
        <p:spPr>
          <a:xfrm>
            <a:off x="8156448" y="1709928"/>
            <a:ext cx="3172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156448" y="201168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kind of value (int, float, string, bool).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0080" y="2697480"/>
            <a:ext cx="3538728" cy="960120"/>
          </a:xfrm>
          <a:prstGeom prst="roundRect">
            <a:avLst>
              <a:gd name="adj" fmla="val 9524"/>
            </a:avLst>
          </a:prstGeom>
          <a:solidFill>
            <a:srgbClr val="2E2E2E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2807208"/>
            <a:ext cx="3172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22960" y="310896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piece of code that evaluates to a value.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06824" y="2697480"/>
            <a:ext cx="3538728" cy="960120"/>
          </a:xfrm>
          <a:prstGeom prst="roundRect">
            <a:avLst>
              <a:gd name="adj" fmla="val 9524"/>
            </a:avLst>
          </a:prstGeom>
          <a:solidFill>
            <a:srgbClr val="2E2E2E"/>
          </a:solidFill>
          <a:ln/>
        </p:spPr>
      </p:sp>
      <p:sp>
        <p:nvSpPr>
          <p:cNvPr id="18" name="Text 15"/>
          <p:cNvSpPr/>
          <p:nvPr/>
        </p:nvSpPr>
        <p:spPr>
          <a:xfrm>
            <a:off x="4489704" y="2807208"/>
            <a:ext cx="3172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TypeError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489704" y="310896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Python's complaint that you combined incompatible types.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973568" y="2697480"/>
            <a:ext cx="3538728" cy="960120"/>
          </a:xfrm>
          <a:prstGeom prst="roundRect">
            <a:avLst>
              <a:gd name="adj" fmla="val 9524"/>
            </a:avLst>
          </a:prstGeom>
          <a:solidFill>
            <a:srgbClr val="2E2E2E"/>
          </a:solidFill>
          <a:ln/>
        </p:spPr>
      </p:sp>
      <p:sp>
        <p:nvSpPr>
          <p:cNvPr id="21" name="Text 18"/>
          <p:cNvSpPr/>
          <p:nvPr/>
        </p:nvSpPr>
        <p:spPr>
          <a:xfrm>
            <a:off x="8156448" y="2807208"/>
            <a:ext cx="3172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Coercion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8156448" y="310896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Converting a value from one type to another.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40080" y="3840480"/>
            <a:ext cx="5212080" cy="2606040"/>
          </a:xfrm>
          <a:prstGeom prst="roundRect">
            <a:avLst>
              <a:gd name="adj" fmla="val 3509"/>
            </a:avLst>
          </a:prstGeom>
          <a:solidFill>
            <a:srgbClr val="2E2E2E"/>
          </a:solidFill>
          <a:ln/>
        </p:spPr>
      </p:sp>
      <p:sp>
        <p:nvSpPr>
          <p:cNvPr id="24" name="Text 21"/>
          <p:cNvSpPr/>
          <p:nvPr/>
        </p:nvSpPr>
        <p:spPr>
          <a:xfrm>
            <a:off x="960120" y="4069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C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student mistakes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60120" y="4526280"/>
            <a:ext cx="45720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= instead of == inside if.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Assuming numbers loaded from CSV are numeric.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floats with ==.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only the top of a traceback.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989320" y="3840480"/>
            <a:ext cx="5577840" cy="2606040"/>
          </a:xfrm>
          <a:prstGeom prst="roundRect">
            <a:avLst>
              <a:gd name="adj" fmla="val 3509"/>
            </a:avLst>
          </a:prstGeom>
          <a:solidFill>
            <a:srgbClr val="ECB748"/>
          </a:solidFill>
          <a:ln/>
        </p:spPr>
      </p:sp>
      <p:sp>
        <p:nvSpPr>
          <p:cNvPr id="27" name="Text 24"/>
          <p:cNvSpPr/>
          <p:nvPr/>
        </p:nvSpPr>
        <p:spPr>
          <a:xfrm>
            <a:off x="6309360" y="4069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Traps we saw today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309360" y="4498848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where you meant ==
Assuming numbers from a CSV loaded as numbers
Comparing floats with ==
Reading only the top of a traceback
Accepting an AI fix that silences rather than solves</a:t>
            </a:r>
            <a:pPr indent="0" marL="0">
              <a:lnSpc>
                <a:spcPct val="125000"/>
              </a:lnSpc>
              <a:buNone/>
            </a:pP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mar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65760"/>
            <a:ext cx="457200" cy="3276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457200"/>
            <a:ext cx="1808683" cy="292608"/>
          </a:xfrm>
          <a:prstGeom prst="roundRect">
            <a:avLst>
              <a:gd name="adj" fmla="val 50000"/>
            </a:avLst>
          </a:prstGeom>
          <a:solidFill>
            <a:srgbClr val="ECB748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40080" y="457200"/>
            <a:ext cx="180868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36–55 MIN  ·  HANDOFF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activity, and next week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5257800" cy="4434840"/>
          </a:xfrm>
          <a:prstGeom prst="roundRect">
            <a:avLst>
              <a:gd name="adj" fmla="val 2062"/>
            </a:avLst>
          </a:prstGeom>
          <a:solidFill>
            <a:srgbClr val="FBF0DA"/>
          </a:solidFill>
          <a:ln w="19050">
            <a:solidFill>
              <a:srgbClr val="ECB74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08760" y="198424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week’s tutor — 20 min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60120" y="2651760"/>
            <a:ext cx="4617720" cy="1417320"/>
          </a:xfrm>
          <a:prstGeom prst="roundRect">
            <a:avLst>
              <a:gd name="adj" fmla="val 6452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88720" y="2852928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2" name="Shape 9"/>
          <p:cNvSpPr/>
          <p:nvPr/>
        </p:nvSpPr>
        <p:spPr>
          <a:xfrm>
            <a:off x="1444752" y="2852928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13" name="Shape 10"/>
          <p:cNvSpPr/>
          <p:nvPr/>
        </p:nvSpPr>
        <p:spPr>
          <a:xfrm>
            <a:off x="1700784" y="2852928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14" name="Text 11"/>
          <p:cNvSpPr/>
          <p:nvPr/>
        </p:nvSpPr>
        <p:spPr>
          <a:xfrm>
            <a:off x="2103120" y="279806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deal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005840" y="3154680"/>
            <a:ext cx="452628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34440" y="3291840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 first. Then run.</a:t>
            </a:r>
            <a:pPr indent="0" marL="0">
              <a:buNone/>
            </a:pPr>
            <a:pPr indent="0" marL="0">
              <a:buNone/>
            </a:pP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234440" y="3621024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Transcript to Brightspace.</a:t>
            </a:r>
            <a:pPr indent="0" marL="0">
              <a:buNone/>
            </a:pPr>
            <a:pPr indent="0" marL="0">
              <a:buNone/>
            </a:pP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60120" y="4251960"/>
            <a:ext cx="4617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problems. You will be handed broken code and asked to predict what it does before running it. Predicting wrong is fine and expected — refusing to predict is not. Paste the transcript before you leave.</a:t>
            </a:r>
            <a:pPr indent="0" marL="0">
              <a:lnSpc>
                <a:spcPct val="130000"/>
              </a:lnSpc>
              <a:buNone/>
            </a:pPr>
            <a:pPr indent="0" marL="0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263640" y="1691640"/>
            <a:ext cx="5257800" cy="4434840"/>
          </a:xfrm>
          <a:prstGeom prst="roundRect">
            <a:avLst>
              <a:gd name="adj" fmla="val 2062"/>
            </a:avLst>
          </a:prstGeom>
          <a:solidFill>
            <a:srgbClr val="EAF0F1"/>
          </a:solidFill>
          <a:ln w="19050">
            <a:solidFill>
              <a:srgbClr val="B3C9C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37960" y="1965960"/>
            <a:ext cx="457200" cy="457200"/>
          </a:xfrm>
          <a:prstGeom prst="ellipse">
            <a:avLst/>
          </a:prstGeom>
          <a:solidFill>
            <a:srgbClr val="B3C9CD"/>
          </a:solidFill>
          <a:ln/>
        </p:spPr>
      </p:sp>
      <p:sp>
        <p:nvSpPr>
          <p:cNvPr id="21" name="Text 18"/>
          <p:cNvSpPr/>
          <p:nvPr/>
        </p:nvSpPr>
        <p:spPr>
          <a:xfrm>
            <a:off x="65379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132320" y="198424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 — Collections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583680" y="2651760"/>
            <a:ext cx="4617720" cy="1417320"/>
          </a:xfrm>
          <a:prstGeom prst="roundRect">
            <a:avLst>
              <a:gd name="adj" fmla="val 6452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12280" y="2852928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5" name="Shape 22"/>
          <p:cNvSpPr/>
          <p:nvPr/>
        </p:nvSpPr>
        <p:spPr>
          <a:xfrm>
            <a:off x="7068312" y="2852928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26" name="Shape 23"/>
          <p:cNvSpPr/>
          <p:nvPr/>
        </p:nvSpPr>
        <p:spPr>
          <a:xfrm>
            <a:off x="7324344" y="2852928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27" name="Text 24"/>
          <p:cNvSpPr/>
          <p:nvPr/>
        </p:nvSpPr>
        <p:spPr>
          <a:xfrm>
            <a:off x="7726680" y="279806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3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629400" y="3154680"/>
            <a:ext cx="452628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58000" y="3291840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lists, vectors, dictionaries</a:t>
            </a:r>
            <a:pPr indent="0" marL="0">
              <a:buNone/>
            </a:pPr>
            <a:pPr indent="0" marL="0">
              <a:buNone/>
            </a:pPr>
            <a:pPr indent="0" marL="0">
              <a:buNone/>
            </a:pP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583680" y="4251960"/>
            <a:ext cx="4617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value becomes many, and we learn to reach in and grab the ones we want. It is also the first place Python and R genuinely disagree — and that disagreement is a favourite AI trap. Reminder: choose your project dataset by Session 4. That is two weeks away.</a:t>
            </a:r>
            <a:pPr indent="0" marL="0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Vanderbilt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CPBP 8306 — Session 2</dc:title>
  <dc:subject>PptxGenJS Presentation</dc:subject>
  <dc:creator>Joshua Borycz &amp; Daniel Genkins</dc:creator>
  <cp:lastModifiedBy>Joshua Borycz &amp; Daniel Genkins</cp:lastModifiedBy>
  <cp:revision>1</cp:revision>
  <dcterms:created xsi:type="dcterms:W3CDTF">2026-07-27T21:12:18Z</dcterms:created>
  <dcterms:modified xsi:type="dcterms:W3CDTF">2026-07-27T21:12:18Z</dcterms:modified>
</cp:coreProperties>
</file>