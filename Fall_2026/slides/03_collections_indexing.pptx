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377440" cy="5162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08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 ·  UNIT 1 — FOUNDATIONS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920240"/>
            <a:ext cx="6766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Lists, Vectors, and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and indexing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CPBP 8306 — Coding for Research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Borycz  &amp;  Daniel Genkins   |   TA: Peyton Coleman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Thursdays 10:00–10:55am  ·  Light Hall 439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001000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51460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8485632" y="251460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8741664" y="251460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918972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collections.py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2834640"/>
            <a:ext cx="34747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bp_systolic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35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117, 122, 141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…]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7532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bp_systolic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117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010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two containers, two conventions.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Hold Many Values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research data is never one value.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column of blood pressures, a set of patient IDs, a table of gene expressions.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can analyze data, we need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hold many values — and a way to reach in and grab the ones we want. This session covers the three you'll use every day: lists / vectors, and dictionaries.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66344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6634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check: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type of [1, 2, 3]? Not “int” — a container's type is not its contents.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≠ CONTENTS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([1, 2, 3])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3931920"/>
            <a:ext cx="35661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41605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is a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contents are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These are two different questions — keep them separate.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3–12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and Vectors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Shape 5"/>
          <p:cNvSpPr/>
          <p:nvPr/>
        </p:nvSpPr>
        <p:spPr>
          <a:xfrm>
            <a:off x="112471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9" name="Shape 6"/>
          <p:cNvSpPr/>
          <p:nvPr/>
        </p:nvSpPr>
        <p:spPr>
          <a:xfrm>
            <a:off x="138074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cohort.py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bp_systolic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117, 122, 141, 130, 118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["P001", "P002", "P003"]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(bp_systolic)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Shape 14"/>
          <p:cNvSpPr/>
          <p:nvPr/>
        </p:nvSpPr>
        <p:spPr>
          <a:xfrm>
            <a:off x="674827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8" name="Shape 15"/>
          <p:cNvSpPr/>
          <p:nvPr/>
        </p:nvSpPr>
        <p:spPr>
          <a:xfrm>
            <a:off x="700430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64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cohort.R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bp_systolic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c(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117, 122, 141, 130, 118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3796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c("P001", "P002", "P003")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(bp_systolic)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3566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Both are ordered.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matters — bp_systolic[1] in R is 117, the first element.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40233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 vectors are homogeneous.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elements become the same type. Python lists are heterogeneous — but keep them homogeneous in practice.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5720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EAF0F1"/>
          </a:solidFill>
          <a:ln w="19050">
            <a:solidFill>
              <a:srgbClr val="B3C9C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47548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COERCION — A BUG SOURCE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0120" y="5074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c(1, 2, </a:t>
            </a:r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"three"</a:t>
            </a:r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 "2" "three"</a:t>
            </a:r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all strings, no warning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60120" y="55778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Foreshadow: this is exactly what happens when your CSV has one row where “age” is “unknown.” The whole column becomes a string, and mean(age) fails.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— 0-Indexed vs. 1-Indexed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C1C1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08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</a:t>
            </a:r>
            <a:pPr indent="0" marL="0">
              <a:buNone/>
            </a:pPr>
            <a:r>
              <a:rPr lang="en-US" sz="15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0-indexed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 is </a:t>
            </a:r>
            <a:pPr indent="0" marL="0">
              <a:buNone/>
            </a:pPr>
            <a:r>
              <a:rPr lang="en-US" sz="1500" b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1-indexed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will bite you.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4040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200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10" name="Text 7"/>
          <p:cNvSpPr/>
          <p:nvPr/>
        </p:nvSpPr>
        <p:spPr>
          <a:xfrm>
            <a:off x="911200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5640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3C9CD"/>
          </a:solidFill>
          <a:ln/>
        </p:spPr>
      </p:sp>
      <p:sp>
        <p:nvSpPr>
          <p:cNvPr id="12" name="Text 9"/>
          <p:cNvSpPr/>
          <p:nvPr/>
        </p:nvSpPr>
        <p:spPr>
          <a:xfrm>
            <a:off x="2145640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404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2932024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69184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16" name="Text 13"/>
          <p:cNvSpPr/>
          <p:nvPr/>
        </p:nvSpPr>
        <p:spPr>
          <a:xfrm>
            <a:off x="3069184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03624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3C9CD"/>
          </a:solidFill>
          <a:ln/>
        </p:spPr>
      </p:sp>
      <p:sp>
        <p:nvSpPr>
          <p:cNvPr id="18" name="Text 15"/>
          <p:cNvSpPr/>
          <p:nvPr/>
        </p:nvSpPr>
        <p:spPr>
          <a:xfrm>
            <a:off x="4303624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32024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090008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27168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22" name="Text 19"/>
          <p:cNvSpPr/>
          <p:nvPr/>
        </p:nvSpPr>
        <p:spPr>
          <a:xfrm>
            <a:off x="5227168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61608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3C9CD"/>
          </a:solidFill>
          <a:ln/>
        </p:spPr>
      </p:sp>
      <p:sp>
        <p:nvSpPr>
          <p:cNvPr id="24" name="Text 21"/>
          <p:cNvSpPr/>
          <p:nvPr/>
        </p:nvSpPr>
        <p:spPr>
          <a:xfrm>
            <a:off x="6461608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90008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7247992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85152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28" name="Text 25"/>
          <p:cNvSpPr/>
          <p:nvPr/>
        </p:nvSpPr>
        <p:spPr>
          <a:xfrm>
            <a:off x="7385152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619592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3C9CD"/>
          </a:solidFill>
          <a:ln/>
        </p:spPr>
      </p:sp>
      <p:sp>
        <p:nvSpPr>
          <p:cNvPr id="30" name="Text 27"/>
          <p:cNvSpPr/>
          <p:nvPr/>
        </p:nvSpPr>
        <p:spPr>
          <a:xfrm>
            <a:off x="8619592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47992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9405976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43136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34" name="Text 31"/>
          <p:cNvSpPr/>
          <p:nvPr/>
        </p:nvSpPr>
        <p:spPr>
          <a:xfrm>
            <a:off x="9543136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777576" y="25146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3C9CD"/>
          </a:solidFill>
          <a:ln/>
        </p:spPr>
      </p:sp>
      <p:sp>
        <p:nvSpPr>
          <p:cNvPr id="36" name="Text 33"/>
          <p:cNvSpPr/>
          <p:nvPr/>
        </p:nvSpPr>
        <p:spPr>
          <a:xfrm>
            <a:off x="10777576" y="25146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405976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728320" y="2084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731856" y="2084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0080" y="4160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68680" y="43616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42" name="Shape 39"/>
          <p:cNvSpPr/>
          <p:nvPr/>
        </p:nvSpPr>
        <p:spPr>
          <a:xfrm>
            <a:off x="1124712" y="43616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43" name="Shape 40"/>
          <p:cNvSpPr/>
          <p:nvPr/>
        </p:nvSpPr>
        <p:spPr>
          <a:xfrm>
            <a:off x="1380744" y="43616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44" name="Text 41"/>
          <p:cNvSpPr/>
          <p:nvPr/>
        </p:nvSpPr>
        <p:spPr>
          <a:xfrm>
            <a:off x="1783080" y="43068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index.py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85800" y="46634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4400" y="48006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117 (first)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914400" y="51297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122 (second)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914400" y="54589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118 (last!)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263640" y="4160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43616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1" name="Shape 48"/>
          <p:cNvSpPr/>
          <p:nvPr/>
        </p:nvSpPr>
        <p:spPr>
          <a:xfrm>
            <a:off x="6748272" y="43616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52" name="Shape 49"/>
          <p:cNvSpPr/>
          <p:nvPr/>
        </p:nvSpPr>
        <p:spPr>
          <a:xfrm>
            <a:off x="7004304" y="43616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53" name="Text 50"/>
          <p:cNvSpPr/>
          <p:nvPr/>
        </p:nvSpPr>
        <p:spPr>
          <a:xfrm>
            <a:off x="7406640" y="43068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index.R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309360" y="46634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37960" y="48006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117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537960" y="51297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122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537960" y="54589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bp[length(bp)]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118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Slicing — Same Syntax, Different Meaning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Shape 5"/>
          <p:cNvSpPr/>
          <p:nvPr/>
        </p:nvSpPr>
        <p:spPr>
          <a:xfrm>
            <a:off x="112471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9" name="Shape 6"/>
          <p:cNvSpPr/>
          <p:nvPr/>
        </p:nvSpPr>
        <p:spPr>
          <a:xfrm>
            <a:off x="138074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slice.py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bp[1:4]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[122,141,130]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bp[:3]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three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bp[-2:]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two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22783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is </a:t>
            </a:r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EXCLUSIVE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Shape 15"/>
          <p:cNvSpPr/>
          <p:nvPr/>
        </p:nvSpPr>
        <p:spPr>
          <a:xfrm>
            <a:off x="674827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slice.R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bp[2:4]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122 141 130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bp[c(1,3,5)]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117 141 118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3796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bp[-1]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drops elem 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37960" y="322783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is </a:t>
            </a:r>
            <a:pPr indent="0" marL="0">
              <a:buNone/>
            </a:pPr>
            <a:r>
              <a:rPr lang="en-US" sz="13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INCLUSIVE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977640"/>
            <a:ext cx="10881360" cy="2423160"/>
          </a:xfrm>
          <a:prstGeom prst="roundRect">
            <a:avLst>
              <a:gd name="adj" fmla="val 3774"/>
            </a:avLst>
          </a:prstGeom>
          <a:solidFill>
            <a:srgbClr val="1C1C1C"/>
          </a:solidFill>
          <a:ln/>
        </p:spPr>
      </p:sp>
      <p:sp>
        <p:nvSpPr>
          <p:cNvPr id="27" name="Text 24"/>
          <p:cNvSpPr/>
          <p:nvPr/>
        </p:nvSpPr>
        <p:spPr>
          <a:xfrm>
            <a:off x="1005840" y="42519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TRAP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7091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</a:t>
            </a:r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Python → </a:t>
            </a:r>
            <a:pPr indent="0" marL="0">
              <a:buNone/>
            </a:pPr>
            <a:r>
              <a:rPr lang="en-US" sz="1600" b="1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element</a:t>
            </a:r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 → </a:t>
            </a:r>
            <a:pPr indent="0" marL="0">
              <a:buNone/>
            </a:pPr>
            <a:r>
              <a:rPr lang="en-US" sz="16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except the first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05840" y="5486400"/>
            <a:ext cx="1014984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syntax means completely different things.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paste code from ChatGPT written for one language into the other, this is a common silent bug.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IDIOM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Indexing — The Research Idiom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useful pattern you'll use all semester: select elements by a condition, not a position.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21284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1124712" y="221284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1380744" y="221284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783080" y="2157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filter.py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251460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65176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= [117, 122, 141, 130, 118]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98094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[x &gt; 130 for x in bp]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31012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[False, False,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False, False]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01168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21284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Shape 15"/>
          <p:cNvSpPr/>
          <p:nvPr/>
        </p:nvSpPr>
        <p:spPr>
          <a:xfrm>
            <a:off x="6748272" y="221284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221284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2157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filter.R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251460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65176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&lt;- c(117, 122, 141, 130, 118)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298094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&lt;- bp &gt;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37960" y="331012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bp[high]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37960" y="363931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bp[bp &gt; 130]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same, inline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BF0DA"/>
          </a:solidFill>
          <a:ln w="19050">
            <a:solidFill>
              <a:srgbClr val="ECB74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bp[bp &gt; 130]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seed of every filter operation you will do this semester. </a:t>
            </a:r>
            <a:pPr indent="0" marL="0">
              <a:buNone/>
            </a:pPr>
            <a:r>
              <a:rPr lang="en-US" sz="1400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that bell.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20–27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and Named Lists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Shape 5"/>
          <p:cNvSpPr/>
          <p:nvPr/>
        </p:nvSpPr>
        <p:spPr>
          <a:xfrm>
            <a:off x="112471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9" name="Shape 6"/>
          <p:cNvSpPr/>
          <p:nvPr/>
        </p:nvSpPr>
        <p:spPr>
          <a:xfrm>
            <a:off x="138074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record.py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= {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"P042", "age":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"treated": True }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22783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patient[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61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18013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Shape 15"/>
          <p:cNvSpPr/>
          <p:nvPr/>
        </p:nvSpPr>
        <p:spPr>
          <a:xfrm>
            <a:off x="6748272" y="18013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18013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17465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21031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2402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&lt;- list(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25694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= "P042", age =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37960" y="28986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treated = TRUE)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37960" y="322783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patient$age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61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881360" cy="1920240"/>
        </p:xfrm>
        <a:graphic>
          <a:graphicData uri="http://schemas.openxmlformats.org/drawingml/2006/table">
            <a:tbl>
              <a:tblPr/>
              <a:tblGrid>
                <a:gridCol w="76809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column of measurements (all one kind of thing)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/ vector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subject's attributes (mixed types, named fields)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 / named 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lookup table (gene name → chromosome, ID → group)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 / named 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stack of columns lined up as a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dataframe (Session 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Vocabulary, Mistakes &amp; Handoff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vector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container of values.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06824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4489704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9704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item in a list.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73568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2" name="Text 9"/>
          <p:cNvSpPr/>
          <p:nvPr/>
        </p:nvSpPr>
        <p:spPr>
          <a:xfrm>
            <a:off x="8156448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56448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of an element. Python starts at 0, R starts at 1.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sub-range of a list.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06824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8" name="Text 15"/>
          <p:cNvSpPr/>
          <p:nvPr/>
        </p:nvSpPr>
        <p:spPr>
          <a:xfrm>
            <a:off x="4489704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mask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89704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True/False the same length as the data, used to select elements.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73568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21" name="Text 18"/>
          <p:cNvSpPr/>
          <p:nvPr/>
        </p:nvSpPr>
        <p:spPr>
          <a:xfrm>
            <a:off x="8156448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/ named list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56448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mapping keys (names) to values.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38404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2E2E2E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student mistakes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60120" y="45262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Off-by-one: forgetting Python starts at 0.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Python and R slice syntax means the same thing (-1 is the classic trap).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position when they mean name, or vice versa.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Silently coercing an R vector to strings by including one string element.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89320" y="384048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ECB748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to tutor activity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4498848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assistants_per_lecture/03_collections_indexing_gpt.md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tutor will give increasingly tricky indexing puzzles and cross-language translation problems — you predict the result, ChatGPT only runs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Vanderbilt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CPBP 8306 — Session 3</dc:title>
  <dc:subject>PptxGenJS Presentation</dc:subject>
  <dc:creator>Joshua Borycz &amp; Daniel Genkins</dc:creator>
  <cp:lastModifiedBy>Joshua Borycz &amp; Daniel Genkins</cp:lastModifiedBy>
  <cp:revision>1</cp:revision>
  <dcterms:created xsi:type="dcterms:W3CDTF">2026-07-27T21:40:15Z</dcterms:created>
  <dcterms:modified xsi:type="dcterms:W3CDTF">2026-07-27T21:40:15Z</dcterms:modified>
</cp:coreProperties>
</file>