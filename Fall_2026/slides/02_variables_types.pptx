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1C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3/-Users-boryczjd-claude-vanderbilt-database-assistant--claude-worktrees-publishing-citation-data-uses-8ba05f/250e4720-0954-4187-8930-09caab2cbef2/scratchpad/slides_build/vu_logo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594360"/>
            <a:ext cx="2377440" cy="51625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1508760"/>
            <a:ext cx="6675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CB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2  ·  UNIT 1 — FOUNDATIONS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594360" y="1920240"/>
            <a:ext cx="67665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Variables, Types, and Expressions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640080" y="3246120"/>
            <a:ext cx="6675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5F3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Everything is a typed value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640080" y="5349240"/>
            <a:ext cx="6675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CPBP 8306 — Coding for Research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9B96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Joshua Borycz  &amp;  Daniel Genkins   |   TA: Peyton Coleman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9B96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Thursdays 10:00–10:55am  ·  Light Hall 439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7818120" y="2286000"/>
            <a:ext cx="3749040" cy="3108960"/>
          </a:xfrm>
          <a:prstGeom prst="roundRect">
            <a:avLst>
              <a:gd name="adj" fmla="val 3529"/>
            </a:avLst>
          </a:prstGeom>
          <a:solidFill>
            <a:srgbClr val="2E2E2E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046720" y="2514600"/>
            <a:ext cx="146304" cy="146304"/>
          </a:xfrm>
          <a:prstGeom prst="ellipse">
            <a:avLst/>
          </a:prstGeom>
          <a:solidFill>
            <a:srgbClr val="D64550"/>
          </a:solidFill>
          <a:ln/>
        </p:spPr>
      </p:sp>
      <p:sp>
        <p:nvSpPr>
          <p:cNvPr id="9" name="Shape 6"/>
          <p:cNvSpPr/>
          <p:nvPr/>
        </p:nvSpPr>
        <p:spPr>
          <a:xfrm>
            <a:off x="8302752" y="2514600"/>
            <a:ext cx="146304" cy="146304"/>
          </a:xfrm>
          <a:prstGeom prst="ellipse">
            <a:avLst/>
          </a:prstGeom>
          <a:solidFill>
            <a:srgbClr val="ECB748"/>
          </a:solidFill>
          <a:ln/>
        </p:spPr>
      </p:sp>
      <p:sp>
        <p:nvSpPr>
          <p:cNvPr id="10" name="Shape 7"/>
          <p:cNvSpPr/>
          <p:nvPr/>
        </p:nvSpPr>
        <p:spPr>
          <a:xfrm>
            <a:off x="8558784" y="2514600"/>
            <a:ext cx="146304" cy="146304"/>
          </a:xfrm>
          <a:prstGeom prst="ellipse">
            <a:avLst/>
          </a:prstGeom>
          <a:solidFill>
            <a:srgbClr val="6B6B6B"/>
          </a:solidFill>
          <a:ln/>
        </p:spPr>
      </p:sp>
      <p:sp>
        <p:nvSpPr>
          <p:cNvPr id="11" name="Text 8"/>
          <p:cNvSpPr/>
          <p:nvPr/>
        </p:nvSpPr>
        <p:spPr>
          <a:xfrm>
            <a:off x="9006840" y="245059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B96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check_types.py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7863840" y="2834640"/>
            <a:ext cx="3657600" cy="0"/>
          </a:xfrm>
          <a:prstGeom prst="line">
            <a:avLst/>
          </a:prstGeom>
          <a:noFill/>
          <a:ln w="12700">
            <a:solidFill>
              <a:srgbClr val="444444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092440" y="31089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CB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5F3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patient_id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8092440" y="35204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8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</a:t>
            </a:r>
            <a:pPr indent="0" marL="0">
              <a:buNone/>
            </a:pPr>
            <a:r>
              <a:rPr lang="en-US" sz="1300" dirty="0">
                <a:solidFill>
                  <a:srgbClr val="ECB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&lt;class 'int'&gt;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8092440" y="40690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CB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B3C9C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"P042"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8092440" y="44805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8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</a:t>
            </a:r>
            <a:pPr indent="0" marL="0">
              <a:buNone/>
            </a:pPr>
            <a:r>
              <a:rPr lang="en-US" sz="1300" dirty="0">
                <a:solidFill>
                  <a:srgbClr val="ECB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&lt;class 'str'&gt;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7818120" y="553212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B96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value has a type. Once you can see it, you can debug it.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3/-Users-boryczjd-claude-vanderbilt-database-assistant--claude-worktrees-publishing-citation-data-uses-8ba05f/250e4720-0954-4187-8930-09caab2cbef2/scratchpad/slides_build/vu_mark_go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31575" y="365760"/>
            <a:ext cx="457200" cy="32766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40080" y="502920"/>
            <a:ext cx="1737360" cy="292608"/>
          </a:xfrm>
          <a:prstGeom prst="roundRect">
            <a:avLst>
              <a:gd name="adj" fmla="val 50000"/>
            </a:avLst>
          </a:prstGeom>
          <a:solidFill>
            <a:srgbClr val="ECB748"/>
          </a:solidFill>
          <a:ln/>
        </p:spPr>
      </p:sp>
      <p:sp>
        <p:nvSpPr>
          <p:cNvPr id="4" name="Text 1"/>
          <p:cNvSpPr/>
          <p:nvPr/>
        </p:nvSpPr>
        <p:spPr>
          <a:xfrm>
            <a:off x="640080" y="502920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FRAMING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86868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Bugs Are Type Bugs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640080" y="1783080"/>
            <a:ext cx="6309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piece of data your computer sees has a </a:t>
            </a:r>
            <a:pPr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</a:t>
            </a:r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A number is a different kind of thing than a word, which is different from a yes/no.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40080" y="2880360"/>
            <a:ext cx="63093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bugs students hit in their first year — and most subtle errors AI slips past students — are </a:t>
            </a:r>
            <a:pPr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 bugs</a:t>
            </a:r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a </a:t>
            </a:r>
            <a:pPr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1C1C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"5"</a:t>
            </a:r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where you meant </a:t>
            </a:r>
            <a:pPr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1C1C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a string compared to a number, an accidentally-text column you tried to average.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640080" y="4663440"/>
            <a:ext cx="6309360" cy="1005840"/>
          </a:xfrm>
          <a:prstGeom prst="roundRect">
            <a:avLst>
              <a:gd name="adj" fmla="val 7273"/>
            </a:avLst>
          </a:prstGeom>
          <a:solidFill>
            <a:srgbClr val="F5F3EF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68680" y="4663440"/>
            <a:ext cx="5852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session teaches you to </a:t>
            </a:r>
            <a:pPr indent="0" marL="0">
              <a:buNone/>
            </a:pPr>
            <a:r>
              <a:rPr lang="en-US" sz="1350" b="1" i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</a:t>
            </a:r>
            <a:pPr indent="0" marL="0">
              <a:buNone/>
            </a:pPr>
            <a:r>
              <a:rPr lang="en-US" sz="135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types — because once you can see them, you can debug them.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7223760" y="1783080"/>
            <a:ext cx="4297680" cy="3886200"/>
          </a:xfrm>
          <a:prstGeom prst="roundRect">
            <a:avLst>
              <a:gd name="adj" fmla="val 2353"/>
            </a:avLst>
          </a:prstGeom>
          <a:solidFill>
            <a:srgbClr val="1C1C1C"/>
          </a:solidFill>
          <a:ln/>
        </p:spPr>
      </p:sp>
      <p:sp>
        <p:nvSpPr>
          <p:cNvPr id="11" name="Text 8"/>
          <p:cNvSpPr/>
          <p:nvPr/>
        </p:nvSpPr>
        <p:spPr>
          <a:xfrm>
            <a:off x="7589520" y="210312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CB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CLASSIC BUG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7589520" y="2606040"/>
            <a:ext cx="3566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3C9C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"3" + "4"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ECB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"34"   </a:t>
            </a:r>
            <a:endParaRPr lang="en-US" sz="2000" dirty="0"/>
          </a:p>
          <a:p>
            <a:pPr indent="0" marL="0">
              <a:buNone/>
            </a:pPr>
            <a:r>
              <a:rPr lang="en-US" sz="1200" i="1" dirty="0">
                <a:solidFill>
                  <a:srgbClr val="9B96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 string concatenation, not addition</a:t>
            </a:r>
            <a:endParaRPr lang="en-US" sz="2000" dirty="0"/>
          </a:p>
        </p:txBody>
      </p:sp>
      <p:sp>
        <p:nvSpPr>
          <p:cNvPr id="13" name="Shape 10"/>
          <p:cNvSpPr/>
          <p:nvPr/>
        </p:nvSpPr>
        <p:spPr>
          <a:xfrm>
            <a:off x="7589520" y="3931920"/>
            <a:ext cx="3566160" cy="0"/>
          </a:xfrm>
          <a:prstGeom prst="line">
            <a:avLst/>
          </a:prstGeom>
          <a:noFill/>
          <a:ln w="12700">
            <a:solidFill>
              <a:srgbClr val="444444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589520" y="4160520"/>
            <a:ext cx="3566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F5F3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the first bug students hit when their spreadsheet exported IDs as text. </a:t>
            </a:r>
            <a:pPr indent="0" marL="0">
              <a:lnSpc>
                <a:spcPct val="130000"/>
              </a:lnSpc>
              <a:buNone/>
            </a:pPr>
            <a:r>
              <a:rPr lang="en-US" sz="1350" b="1" dirty="0">
                <a:solidFill>
                  <a:srgbClr val="ECB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will hit this repeatedly this semester.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11368735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B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3/-Users-boryczjd-claude-vanderbilt-database-assistant--claude-worktrees-publishing-citation-data-uses-8ba05f/250e4720-0954-4187-8930-09caab2cbef2/scratchpad/slides_build/vu_mark_go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31575" y="365760"/>
            <a:ext cx="457200" cy="32766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40080" y="457200"/>
            <a:ext cx="1737360" cy="292608"/>
          </a:xfrm>
          <a:prstGeom prst="roundRect">
            <a:avLst>
              <a:gd name="adj" fmla="val 50000"/>
            </a:avLst>
          </a:prstGeom>
          <a:solidFill>
            <a:srgbClr val="ECB748"/>
          </a:solidFill>
          <a:ln/>
        </p:spPr>
      </p:sp>
      <p:sp>
        <p:nvSpPr>
          <p:cNvPr id="4" name="Text 1"/>
          <p:cNvSpPr/>
          <p:nvPr/>
        </p:nvSpPr>
        <p:spPr>
          <a:xfrm>
            <a:off x="640080" y="457200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3–10 MIN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822960"/>
            <a:ext cx="9144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Variables and Assignment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600200"/>
            <a:ext cx="5257800" cy="1371600"/>
          </a:xfrm>
          <a:prstGeom prst="roundRect">
            <a:avLst>
              <a:gd name="adj" fmla="val 6667"/>
            </a:avLst>
          </a:prstGeom>
          <a:solidFill>
            <a:srgbClr val="F5F3EF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14400" y="17830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MATH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914400" y="2103120"/>
            <a:ext cx="4709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C1C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5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914400" y="2532888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a claim about the world. “5 = x” means the same thing.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263640" y="1600200"/>
            <a:ext cx="5257800" cy="1371600"/>
          </a:xfrm>
          <a:prstGeom prst="roundRect">
            <a:avLst>
              <a:gd name="adj" fmla="val 6667"/>
            </a:avLst>
          </a:prstGeom>
          <a:solidFill>
            <a:srgbClr val="1C1C1C"/>
          </a:solidFill>
          <a:ln/>
        </p:spPr>
      </p:sp>
      <p:sp>
        <p:nvSpPr>
          <p:cNvPr id="11" name="Text 8"/>
          <p:cNvSpPr/>
          <p:nvPr/>
        </p:nvSpPr>
        <p:spPr>
          <a:xfrm>
            <a:off x="6537960" y="17830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ECB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PROGRAMMING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6537960" y="2103120"/>
            <a:ext cx="4709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5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6537960" y="2532888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5F3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a command: “store 5 in a location called x.” “5 = x” is a syntax error.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640080" y="3200400"/>
            <a:ext cx="5257800" cy="1691640"/>
          </a:xfrm>
          <a:prstGeom prst="roundRect">
            <a:avLst>
              <a:gd name="adj" fmla="val 5405"/>
            </a:avLst>
          </a:prstGeom>
          <a:solidFill>
            <a:srgbClr val="2E2E2E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868680" y="3401568"/>
            <a:ext cx="146304" cy="146304"/>
          </a:xfrm>
          <a:prstGeom prst="ellipse">
            <a:avLst/>
          </a:prstGeom>
          <a:solidFill>
            <a:srgbClr val="D64550"/>
          </a:solidFill>
          <a:ln/>
        </p:spPr>
      </p:sp>
      <p:sp>
        <p:nvSpPr>
          <p:cNvPr id="16" name="Shape 13"/>
          <p:cNvSpPr/>
          <p:nvPr/>
        </p:nvSpPr>
        <p:spPr>
          <a:xfrm>
            <a:off x="1124712" y="3401568"/>
            <a:ext cx="146304" cy="146304"/>
          </a:xfrm>
          <a:prstGeom prst="ellipse">
            <a:avLst/>
          </a:prstGeom>
          <a:solidFill>
            <a:srgbClr val="ECB748"/>
          </a:solidFill>
          <a:ln/>
        </p:spPr>
      </p:sp>
      <p:sp>
        <p:nvSpPr>
          <p:cNvPr id="17" name="Shape 14"/>
          <p:cNvSpPr/>
          <p:nvPr/>
        </p:nvSpPr>
        <p:spPr>
          <a:xfrm>
            <a:off x="1380744" y="3401568"/>
            <a:ext cx="146304" cy="146304"/>
          </a:xfrm>
          <a:prstGeom prst="ellipse">
            <a:avLst/>
          </a:prstGeom>
          <a:solidFill>
            <a:srgbClr val="6B6B6B"/>
          </a:solidFill>
          <a:ln/>
        </p:spPr>
      </p:sp>
      <p:sp>
        <p:nvSpPr>
          <p:cNvPr id="18" name="Text 15"/>
          <p:cNvSpPr/>
          <p:nvPr/>
        </p:nvSpPr>
        <p:spPr>
          <a:xfrm>
            <a:off x="1783080" y="3346704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B96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patient.py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685800" y="3703320"/>
            <a:ext cx="5166360" cy="0"/>
          </a:xfrm>
          <a:prstGeom prst="line">
            <a:avLst/>
          </a:prstGeom>
          <a:noFill/>
          <a:ln w="12700">
            <a:solidFill>
              <a:srgbClr val="444444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914400" y="3840480"/>
            <a:ext cx="4709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F3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patient_id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indent="0" marL="0">
              <a:buNone/>
            </a:pPr>
            <a:r>
              <a:rPr lang="en-US" sz="1300" dirty="0">
                <a:solidFill>
                  <a:srgbClr val="ECB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42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914400" y="4169664"/>
            <a:ext cx="4709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F3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patient_id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patient_id + </a:t>
            </a:r>
            <a:pPr indent="0" marL="0">
              <a:buNone/>
            </a:pPr>
            <a:r>
              <a:rPr lang="en-US" sz="1300" dirty="0">
                <a:solidFill>
                  <a:srgbClr val="ECB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914400" y="4498848"/>
            <a:ext cx="4709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CB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(patient_id)  </a:t>
            </a:r>
            <a:pPr indent="0" marL="0">
              <a:buNone/>
            </a:pPr>
            <a:r>
              <a:rPr lang="en-US" sz="1300" dirty="0">
                <a:solidFill>
                  <a:srgbClr val="8A8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43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6263640" y="3200400"/>
            <a:ext cx="5257800" cy="1691640"/>
          </a:xfrm>
          <a:prstGeom prst="roundRect">
            <a:avLst>
              <a:gd name="adj" fmla="val 5405"/>
            </a:avLst>
          </a:prstGeom>
          <a:solidFill>
            <a:srgbClr val="2E2E2E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492240" y="3401568"/>
            <a:ext cx="146304" cy="146304"/>
          </a:xfrm>
          <a:prstGeom prst="ellipse">
            <a:avLst/>
          </a:prstGeom>
          <a:solidFill>
            <a:srgbClr val="D64550"/>
          </a:solidFill>
          <a:ln/>
        </p:spPr>
      </p:sp>
      <p:sp>
        <p:nvSpPr>
          <p:cNvPr id="25" name="Shape 22"/>
          <p:cNvSpPr/>
          <p:nvPr/>
        </p:nvSpPr>
        <p:spPr>
          <a:xfrm>
            <a:off x="6748272" y="3401568"/>
            <a:ext cx="146304" cy="146304"/>
          </a:xfrm>
          <a:prstGeom prst="ellipse">
            <a:avLst/>
          </a:prstGeom>
          <a:solidFill>
            <a:srgbClr val="ECB748"/>
          </a:solidFill>
          <a:ln/>
        </p:spPr>
      </p:sp>
      <p:sp>
        <p:nvSpPr>
          <p:cNvPr id="26" name="Shape 23"/>
          <p:cNvSpPr/>
          <p:nvPr/>
        </p:nvSpPr>
        <p:spPr>
          <a:xfrm>
            <a:off x="7004304" y="3401568"/>
            <a:ext cx="146304" cy="146304"/>
          </a:xfrm>
          <a:prstGeom prst="ellipse">
            <a:avLst/>
          </a:prstGeom>
          <a:solidFill>
            <a:srgbClr val="6B6B6B"/>
          </a:solidFill>
          <a:ln/>
        </p:spPr>
      </p:sp>
      <p:sp>
        <p:nvSpPr>
          <p:cNvPr id="27" name="Text 24"/>
          <p:cNvSpPr/>
          <p:nvPr/>
        </p:nvSpPr>
        <p:spPr>
          <a:xfrm>
            <a:off x="7406640" y="3346704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B96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patient.R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6309360" y="3703320"/>
            <a:ext cx="5166360" cy="0"/>
          </a:xfrm>
          <a:prstGeom prst="line">
            <a:avLst/>
          </a:prstGeom>
          <a:noFill/>
          <a:ln w="12700">
            <a:solidFill>
              <a:srgbClr val="444444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537960" y="3840480"/>
            <a:ext cx="4709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F3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patient_id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&lt;- </a:t>
            </a:r>
            <a:pPr indent="0" marL="0">
              <a:buNone/>
            </a:pPr>
            <a:r>
              <a:rPr lang="en-US" sz="1300" dirty="0">
                <a:solidFill>
                  <a:srgbClr val="B3C9C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42</a:t>
            </a:r>
            <a:endParaRPr lang="en-US" sz="1300" dirty="0"/>
          </a:p>
        </p:txBody>
      </p:sp>
      <p:sp>
        <p:nvSpPr>
          <p:cNvPr id="30" name="Text 27"/>
          <p:cNvSpPr/>
          <p:nvPr/>
        </p:nvSpPr>
        <p:spPr>
          <a:xfrm>
            <a:off x="6537960" y="4169664"/>
            <a:ext cx="4709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F3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patient_id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&lt;- patient_id + </a:t>
            </a:r>
            <a:pPr indent="0" marL="0">
              <a:buNone/>
            </a:pPr>
            <a:r>
              <a:rPr lang="en-US" sz="1300" dirty="0">
                <a:solidFill>
                  <a:srgbClr val="B3C9C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300" dirty="0"/>
          </a:p>
        </p:txBody>
      </p:sp>
      <p:sp>
        <p:nvSpPr>
          <p:cNvPr id="31" name="Text 28"/>
          <p:cNvSpPr/>
          <p:nvPr/>
        </p:nvSpPr>
        <p:spPr>
          <a:xfrm>
            <a:off x="6537960" y="4498848"/>
            <a:ext cx="4709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3C9C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(patient_id)  </a:t>
            </a:r>
            <a:pPr indent="0" marL="0">
              <a:buNone/>
            </a:pPr>
            <a:r>
              <a:rPr lang="en-US" sz="1300" dirty="0">
                <a:solidFill>
                  <a:srgbClr val="8A8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43</a:t>
            </a:r>
            <a:endParaRPr lang="en-US" sz="1300" dirty="0"/>
          </a:p>
        </p:txBody>
      </p:sp>
      <p:sp>
        <p:nvSpPr>
          <p:cNvPr id="32" name="Text 29"/>
          <p:cNvSpPr/>
          <p:nvPr/>
        </p:nvSpPr>
        <p:spPr>
          <a:xfrm>
            <a:off x="640080" y="507492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Naming rules:  </a:t>
            </a:r>
            <a:pPr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with a letter · case-sensitive (Patient ≠ patient) · use descriptive names — bp_systolic beats x1.</a:t>
            </a:r>
            <a:endParaRPr lang="en-US" sz="1300" dirty="0"/>
          </a:p>
        </p:txBody>
      </p:sp>
      <p:sp>
        <p:nvSpPr>
          <p:cNvPr id="33" name="Text 30"/>
          <p:cNvSpPr/>
          <p:nvPr/>
        </p:nvSpPr>
        <p:spPr>
          <a:xfrm>
            <a:off x="11368735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B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3/-Users-boryczjd-claude-vanderbilt-database-assistant--claude-worktrees-publishing-citation-data-uses-8ba05f/250e4720-0954-4187-8930-09caab2cbef2/scratchpad/slides_build/vu_mark_go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31575" y="365760"/>
            <a:ext cx="457200" cy="32766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40080" y="457200"/>
            <a:ext cx="1737360" cy="292608"/>
          </a:xfrm>
          <a:prstGeom prst="roundRect">
            <a:avLst>
              <a:gd name="adj" fmla="val 50000"/>
            </a:avLst>
          </a:prstGeom>
          <a:solidFill>
            <a:srgbClr val="ECB748"/>
          </a:solidFill>
          <a:ln/>
        </p:spPr>
      </p:sp>
      <p:sp>
        <p:nvSpPr>
          <p:cNvPr id="4" name="Text 1"/>
          <p:cNvSpPr/>
          <p:nvPr/>
        </p:nvSpPr>
        <p:spPr>
          <a:xfrm>
            <a:off x="640080" y="457200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10–18 MIN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822960"/>
            <a:ext cx="9144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Four Primitive Types</a:t>
            </a:r>
            <a:endParaRPr lang="en-US" sz="3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45920"/>
          <a:ext cx="10881360" cy="2468880"/>
        </p:xfrm>
        <a:graphic>
          <a:graphicData uri="http://schemas.openxmlformats.org/drawingml/2006/table">
            <a:tbl>
              <a:tblPr/>
              <a:tblGrid>
                <a:gridCol w="2377440"/>
                <a:gridCol w="1920240"/>
                <a:gridCol w="1920240"/>
                <a:gridCol w="466344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Type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Python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Research example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1C1C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Integer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59595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int</a:t>
                      </a:r>
                      <a:endParaRPr lang="en-US" sz="13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59595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integer</a:t>
                      </a:r>
                      <a:endParaRPr lang="en-US" sz="13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Number of trials, patient count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1C1C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Floating point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59595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float</a:t>
                      </a:r>
                      <a:endParaRPr lang="en-US" sz="13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59595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numeric</a:t>
                      </a:r>
                      <a:endParaRPr lang="en-US" sz="13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Blood pressure (117.3), gene expression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1C1C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String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59595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str</a:t>
                      </a:r>
                      <a:endParaRPr lang="en-US" sz="13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59595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character</a:t>
                      </a:r>
                      <a:endParaRPr lang="en-US" sz="13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Patient ID "P042", sample name, group label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1C1C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Boolean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59595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bool</a:t>
                      </a:r>
                      <a:endParaRPr lang="en-US" sz="13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59595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logical</a:t>
                      </a:r>
                      <a:endParaRPr lang="en-US" sz="13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Passed QC? (True / False)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640080" y="4251960"/>
            <a:ext cx="10881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single most useful debugging skill of the course: check the type.</a:t>
            </a:r>
            <a:endParaRPr lang="en-US" sz="1300" dirty="0"/>
          </a:p>
        </p:txBody>
      </p:sp>
      <p:sp>
        <p:nvSpPr>
          <p:cNvPr id="8" name="Shape 4"/>
          <p:cNvSpPr/>
          <p:nvPr/>
        </p:nvSpPr>
        <p:spPr>
          <a:xfrm>
            <a:off x="640080" y="4617720"/>
            <a:ext cx="5257800" cy="1828800"/>
          </a:xfrm>
          <a:prstGeom prst="roundRect">
            <a:avLst>
              <a:gd name="adj" fmla="val 5000"/>
            </a:avLst>
          </a:prstGeom>
          <a:solidFill>
            <a:srgbClr val="2E2E2E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868680" y="4818888"/>
            <a:ext cx="146304" cy="146304"/>
          </a:xfrm>
          <a:prstGeom prst="ellipse">
            <a:avLst/>
          </a:prstGeom>
          <a:solidFill>
            <a:srgbClr val="D64550"/>
          </a:solidFill>
          <a:ln/>
        </p:spPr>
      </p:sp>
      <p:sp>
        <p:nvSpPr>
          <p:cNvPr id="10" name="Shape 6"/>
          <p:cNvSpPr/>
          <p:nvPr/>
        </p:nvSpPr>
        <p:spPr>
          <a:xfrm>
            <a:off x="1124712" y="4818888"/>
            <a:ext cx="146304" cy="146304"/>
          </a:xfrm>
          <a:prstGeom prst="ellipse">
            <a:avLst/>
          </a:prstGeom>
          <a:solidFill>
            <a:srgbClr val="ECB748"/>
          </a:solidFill>
          <a:ln/>
        </p:spPr>
      </p:sp>
      <p:sp>
        <p:nvSpPr>
          <p:cNvPr id="11" name="Shape 7"/>
          <p:cNvSpPr/>
          <p:nvPr/>
        </p:nvSpPr>
        <p:spPr>
          <a:xfrm>
            <a:off x="1380744" y="4818888"/>
            <a:ext cx="146304" cy="146304"/>
          </a:xfrm>
          <a:prstGeom prst="ellipse">
            <a:avLst/>
          </a:prstGeom>
          <a:solidFill>
            <a:srgbClr val="6B6B6B"/>
          </a:solidFill>
          <a:ln/>
        </p:spPr>
      </p:sp>
      <p:sp>
        <p:nvSpPr>
          <p:cNvPr id="12" name="Text 8"/>
          <p:cNvSpPr/>
          <p:nvPr/>
        </p:nvSpPr>
        <p:spPr>
          <a:xfrm>
            <a:off x="1783080" y="4764024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B96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check.py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685800" y="5120640"/>
            <a:ext cx="5166360" cy="0"/>
          </a:xfrm>
          <a:prstGeom prst="line">
            <a:avLst/>
          </a:prstGeom>
          <a:noFill/>
          <a:ln w="12700">
            <a:solidFill>
              <a:srgbClr val="444444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914400" y="5257800"/>
            <a:ext cx="4709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CB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(patient_id)      </a:t>
            </a:r>
            <a:pPr indent="0" marL="0">
              <a:buNone/>
            </a:pPr>
            <a:r>
              <a:rPr lang="en-US" sz="1300" dirty="0">
                <a:solidFill>
                  <a:srgbClr val="8A8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&lt;class 'int'&gt;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914400" y="5586984"/>
            <a:ext cx="4709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CB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("P042")         </a:t>
            </a:r>
            <a:pPr indent="0" marL="0">
              <a:buNone/>
            </a:pPr>
            <a:r>
              <a:rPr lang="en-US" sz="1300" dirty="0">
                <a:solidFill>
                  <a:srgbClr val="8A8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&lt;class 'str'&gt;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914400" y="5916168"/>
            <a:ext cx="4709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CB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(True)            </a:t>
            </a:r>
            <a:pPr indent="0" marL="0">
              <a:buNone/>
            </a:pPr>
            <a:r>
              <a:rPr lang="en-US" sz="1300" dirty="0">
                <a:solidFill>
                  <a:srgbClr val="8A8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&lt;class 'bool'&gt;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6263640" y="4617720"/>
            <a:ext cx="5257800" cy="1828800"/>
          </a:xfrm>
          <a:prstGeom prst="roundRect">
            <a:avLst>
              <a:gd name="adj" fmla="val 5000"/>
            </a:avLst>
          </a:prstGeom>
          <a:solidFill>
            <a:srgbClr val="2E2E2E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6492240" y="4818888"/>
            <a:ext cx="146304" cy="146304"/>
          </a:xfrm>
          <a:prstGeom prst="ellipse">
            <a:avLst/>
          </a:prstGeom>
          <a:solidFill>
            <a:srgbClr val="D64550"/>
          </a:solidFill>
          <a:ln/>
        </p:spPr>
      </p:sp>
      <p:sp>
        <p:nvSpPr>
          <p:cNvPr id="19" name="Shape 15"/>
          <p:cNvSpPr/>
          <p:nvPr/>
        </p:nvSpPr>
        <p:spPr>
          <a:xfrm>
            <a:off x="6748272" y="4818888"/>
            <a:ext cx="146304" cy="146304"/>
          </a:xfrm>
          <a:prstGeom prst="ellipse">
            <a:avLst/>
          </a:prstGeom>
          <a:solidFill>
            <a:srgbClr val="ECB748"/>
          </a:solidFill>
          <a:ln/>
        </p:spPr>
      </p:sp>
      <p:sp>
        <p:nvSpPr>
          <p:cNvPr id="20" name="Shape 16"/>
          <p:cNvSpPr/>
          <p:nvPr/>
        </p:nvSpPr>
        <p:spPr>
          <a:xfrm>
            <a:off x="7004304" y="4818888"/>
            <a:ext cx="146304" cy="146304"/>
          </a:xfrm>
          <a:prstGeom prst="ellipse">
            <a:avLst/>
          </a:prstGeom>
          <a:solidFill>
            <a:srgbClr val="6B6B6B"/>
          </a:solidFill>
          <a:ln/>
        </p:spPr>
      </p:sp>
      <p:sp>
        <p:nvSpPr>
          <p:cNvPr id="21" name="Text 17"/>
          <p:cNvSpPr/>
          <p:nvPr/>
        </p:nvSpPr>
        <p:spPr>
          <a:xfrm>
            <a:off x="7406640" y="4764024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B96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check.R</a:t>
            </a:r>
            <a:endParaRPr lang="en-US" sz="1050" dirty="0"/>
          </a:p>
        </p:txBody>
      </p:sp>
      <p:sp>
        <p:nvSpPr>
          <p:cNvPr id="22" name="Shape 18"/>
          <p:cNvSpPr/>
          <p:nvPr/>
        </p:nvSpPr>
        <p:spPr>
          <a:xfrm>
            <a:off x="6309360" y="5120640"/>
            <a:ext cx="5166360" cy="0"/>
          </a:xfrm>
          <a:prstGeom prst="line">
            <a:avLst/>
          </a:prstGeom>
          <a:noFill/>
          <a:ln w="12700">
            <a:solidFill>
              <a:srgbClr val="444444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6537960" y="5257800"/>
            <a:ext cx="4709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3C9C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(patient_id)     </a:t>
            </a:r>
            <a:pPr indent="0" marL="0">
              <a:buNone/>
            </a:pPr>
            <a:r>
              <a:rPr lang="en-US" sz="1300" dirty="0">
                <a:solidFill>
                  <a:srgbClr val="8A8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"numeric"</a:t>
            </a:r>
            <a:endParaRPr lang="en-US" sz="1300" dirty="0"/>
          </a:p>
        </p:txBody>
      </p:sp>
      <p:sp>
        <p:nvSpPr>
          <p:cNvPr id="24" name="Text 20"/>
          <p:cNvSpPr/>
          <p:nvPr/>
        </p:nvSpPr>
        <p:spPr>
          <a:xfrm>
            <a:off x="6537960" y="5586984"/>
            <a:ext cx="4709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3C9C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("P042")        </a:t>
            </a:r>
            <a:pPr indent="0" marL="0">
              <a:buNone/>
            </a:pPr>
            <a:r>
              <a:rPr lang="en-US" sz="1300" dirty="0">
                <a:solidFill>
                  <a:srgbClr val="8A8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"character"</a:t>
            </a:r>
            <a:endParaRPr lang="en-US" sz="1300" dirty="0"/>
          </a:p>
        </p:txBody>
      </p:sp>
      <p:sp>
        <p:nvSpPr>
          <p:cNvPr id="25" name="Text 21"/>
          <p:cNvSpPr/>
          <p:nvPr/>
        </p:nvSpPr>
        <p:spPr>
          <a:xfrm>
            <a:off x="6537960" y="5916168"/>
            <a:ext cx="4709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3C9C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(TRUE)           </a:t>
            </a:r>
            <a:pPr indent="0" marL="0">
              <a:buNone/>
            </a:pPr>
            <a:r>
              <a:rPr lang="en-US" sz="1300" dirty="0">
                <a:solidFill>
                  <a:srgbClr val="8A8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"logical"</a:t>
            </a:r>
            <a:endParaRPr lang="en-US" sz="1300" dirty="0"/>
          </a:p>
        </p:txBody>
      </p:sp>
      <p:sp>
        <p:nvSpPr>
          <p:cNvPr id="26" name="Text 22"/>
          <p:cNvSpPr/>
          <p:nvPr/>
        </p:nvSpPr>
        <p:spPr>
          <a:xfrm>
            <a:off x="11368735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B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3/-Users-boryczjd-claude-vanderbilt-database-assistant--claude-worktrees-publishing-citation-data-uses-8ba05f/250e4720-0954-4187-8930-09caab2cbef2/scratchpad/slides_build/vu_mark_go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31575" y="365760"/>
            <a:ext cx="457200" cy="32766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40080" y="457200"/>
            <a:ext cx="1737360" cy="292608"/>
          </a:xfrm>
          <a:prstGeom prst="roundRect">
            <a:avLst>
              <a:gd name="adj" fmla="val 50000"/>
            </a:avLst>
          </a:prstGeom>
          <a:solidFill>
            <a:srgbClr val="ECB748"/>
          </a:solidFill>
          <a:ln/>
        </p:spPr>
      </p:sp>
      <p:sp>
        <p:nvSpPr>
          <p:cNvPr id="4" name="Text 1"/>
          <p:cNvSpPr/>
          <p:nvPr/>
        </p:nvSpPr>
        <p:spPr>
          <a:xfrm>
            <a:off x="640080" y="457200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GOTCHAS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822960"/>
            <a:ext cx="9144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Research-Relevant Gotchas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691640"/>
            <a:ext cx="5257800" cy="4434840"/>
          </a:xfrm>
          <a:prstGeom prst="roundRect">
            <a:avLst>
              <a:gd name="adj" fmla="val 2062"/>
            </a:avLst>
          </a:prstGeom>
          <a:solidFill>
            <a:srgbClr val="FBF0DA"/>
          </a:solidFill>
          <a:ln w="19050">
            <a:solidFill>
              <a:srgbClr val="ECB748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914400" y="1965960"/>
            <a:ext cx="457200" cy="457200"/>
          </a:xfrm>
          <a:prstGeom prst="ellipse">
            <a:avLst/>
          </a:prstGeom>
          <a:solidFill>
            <a:srgbClr val="ECB748"/>
          </a:solidFill>
          <a:ln/>
        </p:spPr>
      </p:sp>
      <p:sp>
        <p:nvSpPr>
          <p:cNvPr id="8" name="Text 5"/>
          <p:cNvSpPr/>
          <p:nvPr/>
        </p:nvSpPr>
        <p:spPr>
          <a:xfrm>
            <a:off x="914400" y="1965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1508760" y="1984248"/>
            <a:ext cx="4160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Booleans behave like numbers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960120" y="2651760"/>
            <a:ext cx="4617720" cy="1417320"/>
          </a:xfrm>
          <a:prstGeom prst="roundRect">
            <a:avLst>
              <a:gd name="adj" fmla="val 6452"/>
            </a:avLst>
          </a:prstGeom>
          <a:solidFill>
            <a:srgbClr val="2E2E2E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188720" y="2852928"/>
            <a:ext cx="146304" cy="146304"/>
          </a:xfrm>
          <a:prstGeom prst="ellipse">
            <a:avLst/>
          </a:prstGeom>
          <a:solidFill>
            <a:srgbClr val="D64550"/>
          </a:solidFill>
          <a:ln/>
        </p:spPr>
      </p:sp>
      <p:sp>
        <p:nvSpPr>
          <p:cNvPr id="12" name="Shape 9"/>
          <p:cNvSpPr/>
          <p:nvPr/>
        </p:nvSpPr>
        <p:spPr>
          <a:xfrm>
            <a:off x="1444752" y="2852928"/>
            <a:ext cx="146304" cy="146304"/>
          </a:xfrm>
          <a:prstGeom prst="ellipse">
            <a:avLst/>
          </a:prstGeom>
          <a:solidFill>
            <a:srgbClr val="ECB748"/>
          </a:solidFill>
          <a:ln/>
        </p:spPr>
      </p:sp>
      <p:sp>
        <p:nvSpPr>
          <p:cNvPr id="13" name="Shape 10"/>
          <p:cNvSpPr/>
          <p:nvPr/>
        </p:nvSpPr>
        <p:spPr>
          <a:xfrm>
            <a:off x="1700784" y="2852928"/>
            <a:ext cx="146304" cy="146304"/>
          </a:xfrm>
          <a:prstGeom prst="ellipse">
            <a:avLst/>
          </a:prstGeom>
          <a:solidFill>
            <a:srgbClr val="6B6B6B"/>
          </a:solidFill>
          <a:ln/>
        </p:spPr>
      </p:sp>
      <p:sp>
        <p:nvSpPr>
          <p:cNvPr id="14" name="Text 11"/>
          <p:cNvSpPr/>
          <p:nvPr/>
        </p:nvSpPr>
        <p:spPr>
          <a:xfrm>
            <a:off x="2103120" y="2798064"/>
            <a:ext cx="3337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B96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bool_math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1005840" y="3154680"/>
            <a:ext cx="4526280" cy="0"/>
          </a:xfrm>
          <a:prstGeom prst="line">
            <a:avLst/>
          </a:prstGeom>
          <a:noFill/>
          <a:ln w="12700">
            <a:solidFill>
              <a:srgbClr val="444444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234440" y="3291840"/>
            <a:ext cx="4069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F3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 + True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== </a:t>
            </a:r>
            <a:pPr indent="0" marL="0">
              <a:buNone/>
            </a:pPr>
            <a:r>
              <a:rPr lang="en-US" sz="1300" dirty="0">
                <a:solidFill>
                  <a:srgbClr val="ECB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1234440" y="3621024"/>
            <a:ext cx="4069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F3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sum(c(TRUE, FALSE, TRUE))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== </a:t>
            </a:r>
            <a:pPr indent="0" marL="0">
              <a:buNone/>
            </a:pPr>
            <a:r>
              <a:rPr lang="en-US" sz="1300" dirty="0">
                <a:solidFill>
                  <a:srgbClr val="ECB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960120" y="4251960"/>
            <a:ext cx="461772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why </a:t>
            </a:r>
            <a:pPr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1C1C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mean(passed_qc)</a:t>
            </a:r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gives the fraction of samples that passed — booleans are averaged as 1s and 0s.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6263640" y="1691640"/>
            <a:ext cx="5257800" cy="4434840"/>
          </a:xfrm>
          <a:prstGeom prst="roundRect">
            <a:avLst>
              <a:gd name="adj" fmla="val 2062"/>
            </a:avLst>
          </a:prstGeom>
          <a:solidFill>
            <a:srgbClr val="EAF0F1"/>
          </a:solidFill>
          <a:ln w="19050">
            <a:solidFill>
              <a:srgbClr val="B3C9CD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537960" y="1965960"/>
            <a:ext cx="457200" cy="457200"/>
          </a:xfrm>
          <a:prstGeom prst="ellipse">
            <a:avLst/>
          </a:prstGeom>
          <a:solidFill>
            <a:srgbClr val="B3C9CD"/>
          </a:solidFill>
          <a:ln/>
        </p:spPr>
      </p:sp>
      <p:sp>
        <p:nvSpPr>
          <p:cNvPr id="21" name="Text 18"/>
          <p:cNvSpPr/>
          <p:nvPr/>
        </p:nvSpPr>
        <p:spPr>
          <a:xfrm>
            <a:off x="6537960" y="1965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7132320" y="1984248"/>
            <a:ext cx="4160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number stored as a string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6583680" y="2651760"/>
            <a:ext cx="4617720" cy="1417320"/>
          </a:xfrm>
          <a:prstGeom prst="roundRect">
            <a:avLst>
              <a:gd name="adj" fmla="val 6452"/>
            </a:avLst>
          </a:prstGeom>
          <a:solidFill>
            <a:srgbClr val="2E2E2E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812280" y="2852928"/>
            <a:ext cx="146304" cy="146304"/>
          </a:xfrm>
          <a:prstGeom prst="ellipse">
            <a:avLst/>
          </a:prstGeom>
          <a:solidFill>
            <a:srgbClr val="D64550"/>
          </a:solidFill>
          <a:ln/>
        </p:spPr>
      </p:sp>
      <p:sp>
        <p:nvSpPr>
          <p:cNvPr id="25" name="Shape 22"/>
          <p:cNvSpPr/>
          <p:nvPr/>
        </p:nvSpPr>
        <p:spPr>
          <a:xfrm>
            <a:off x="7068312" y="2852928"/>
            <a:ext cx="146304" cy="146304"/>
          </a:xfrm>
          <a:prstGeom prst="ellipse">
            <a:avLst/>
          </a:prstGeom>
          <a:solidFill>
            <a:srgbClr val="ECB748"/>
          </a:solidFill>
          <a:ln/>
        </p:spPr>
      </p:sp>
      <p:sp>
        <p:nvSpPr>
          <p:cNvPr id="26" name="Shape 23"/>
          <p:cNvSpPr/>
          <p:nvPr/>
        </p:nvSpPr>
        <p:spPr>
          <a:xfrm>
            <a:off x="7324344" y="2852928"/>
            <a:ext cx="146304" cy="146304"/>
          </a:xfrm>
          <a:prstGeom prst="ellipse">
            <a:avLst/>
          </a:prstGeom>
          <a:solidFill>
            <a:srgbClr val="6B6B6B"/>
          </a:solidFill>
          <a:ln/>
        </p:spPr>
      </p:sp>
      <p:sp>
        <p:nvSpPr>
          <p:cNvPr id="27" name="Text 24"/>
          <p:cNvSpPr/>
          <p:nvPr/>
        </p:nvSpPr>
        <p:spPr>
          <a:xfrm>
            <a:off x="7726680" y="2798064"/>
            <a:ext cx="3337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B96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csv_bug.py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6629400" y="3154680"/>
            <a:ext cx="4526280" cy="0"/>
          </a:xfrm>
          <a:prstGeom prst="line">
            <a:avLst/>
          </a:prstGeom>
          <a:noFill/>
          <a:ln w="12700">
            <a:solidFill>
              <a:srgbClr val="444444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858000" y="3291840"/>
            <a:ext cx="4069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F3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"5" + "3"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== </a:t>
            </a:r>
            <a:pPr indent="0" marL="0">
              <a:buNone/>
            </a:pPr>
            <a:r>
              <a:rPr lang="en-US" sz="1300" dirty="0">
                <a:solidFill>
                  <a:srgbClr val="B3C9C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"53"</a:t>
            </a:r>
            <a:pPr indent="0" marL="0">
              <a:buNone/>
            </a:pPr>
            <a:r>
              <a:rPr lang="en-US" sz="1300" dirty="0">
                <a:solidFill>
                  <a:srgbClr val="8A8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(not 8!)</a:t>
            </a:r>
            <a:endParaRPr lang="en-US" sz="1300" dirty="0"/>
          </a:p>
        </p:txBody>
      </p:sp>
      <p:sp>
        <p:nvSpPr>
          <p:cNvPr id="30" name="Text 27"/>
          <p:cNvSpPr/>
          <p:nvPr/>
        </p:nvSpPr>
        <p:spPr>
          <a:xfrm>
            <a:off x="6583680" y="4251960"/>
            <a:ext cx="461772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common Excel-CSV bug: your spreadsheet exported IDs as text. </a:t>
            </a:r>
            <a:pPr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the first bug students hit — and we will hit it repeatedly this semester.</a:t>
            </a:r>
            <a:endParaRPr lang="en-US" sz="1400" dirty="0"/>
          </a:p>
        </p:txBody>
      </p:sp>
      <p:sp>
        <p:nvSpPr>
          <p:cNvPr id="31" name="Text 28"/>
          <p:cNvSpPr/>
          <p:nvPr/>
        </p:nvSpPr>
        <p:spPr>
          <a:xfrm>
            <a:off x="11368735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B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3/-Users-boryczjd-claude-vanderbilt-database-assistant--claude-worktrees-publishing-citation-data-uses-8ba05f/250e4720-0954-4187-8930-09caab2cbef2/scratchpad/slides_build/vu_mark_go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31575" y="365760"/>
            <a:ext cx="457200" cy="32766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40080" y="457200"/>
            <a:ext cx="1737360" cy="292608"/>
          </a:xfrm>
          <a:prstGeom prst="roundRect">
            <a:avLst>
              <a:gd name="adj" fmla="val 50000"/>
            </a:avLst>
          </a:prstGeom>
          <a:solidFill>
            <a:srgbClr val="ECB748"/>
          </a:solidFill>
          <a:ln/>
        </p:spPr>
      </p:sp>
      <p:sp>
        <p:nvSpPr>
          <p:cNvPr id="4" name="Text 1"/>
          <p:cNvSpPr/>
          <p:nvPr/>
        </p:nvSpPr>
        <p:spPr>
          <a:xfrm>
            <a:off x="640080" y="457200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18–25 MIN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822960"/>
            <a:ext cx="9144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Expressions and Operators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640080" y="141732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expression is code that evaluates to a value: </a:t>
            </a:r>
            <a:pPr indent="0" marL="0">
              <a:buNone/>
            </a:pPr>
            <a:r>
              <a:rPr lang="en-US" sz="1400" b="1" dirty="0">
                <a:solidFill>
                  <a:srgbClr val="1C1C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+ 3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or  </a:t>
            </a:r>
            <a:pPr indent="0" marL="0">
              <a:buNone/>
            </a:pPr>
            <a:r>
              <a:rPr lang="en-US" sz="1400" b="1" dirty="0">
                <a:solidFill>
                  <a:srgbClr val="1C1C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"hello" + " world"</a:t>
            </a:r>
            <a:endParaRPr lang="en-US" sz="1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920240"/>
          <a:ext cx="10881360" cy="3977640"/>
        </p:xfrm>
        <a:graphic>
          <a:graphicData uri="http://schemas.openxmlformats.org/drawingml/2006/table">
            <a:tbl>
              <a:tblPr/>
              <a:tblGrid>
                <a:gridCol w="3474720"/>
                <a:gridCol w="3291840"/>
                <a:gridCol w="4114800"/>
              </a:tblGrid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Operator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Meaning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Example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C1C1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+  -  *  /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arithmetic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C1C1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bp / weight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C1C1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**  (Py)   /   ^  (R)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exponent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C1C1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sd**2   /   sd^2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C1C1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%%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modulo (remainder)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C1C1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useful for even/odd checks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C1C1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==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equality test → boolean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C1C1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group == "treated"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C1C1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!=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not-equal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C1C1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pvalue != NA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C1C1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&lt;  &gt;  &lt;=  &gt;=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comparisons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C1C1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age &gt;= 65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C1C1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and / or (Py)  &amp;  | (R)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logical combination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C1C1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age &gt;= 65 and treated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11368735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B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C1C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3/-Users-boryczjd-claude-vanderbilt-database-assistant--claude-worktrees-publishing-citation-data-uses-8ba05f/250e4720-0954-4187-8930-09caab2cbef2/scratchpad/slides_build/vu_mark_go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31575" y="365760"/>
            <a:ext cx="457200" cy="3276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CB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SEGMENT 4  ·  LIVE DEMO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94360" y="8229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Operator Surprises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>
            <a:off x="640080" y="1737360"/>
            <a:ext cx="10881360" cy="594360"/>
          </a:xfrm>
          <a:prstGeom prst="roundRect">
            <a:avLst>
              <a:gd name="adj" fmla="val 12308"/>
            </a:avLst>
          </a:prstGeom>
          <a:solidFill>
            <a:srgbClr val="2E2E2E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68680" y="1737360"/>
            <a:ext cx="10424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3C9C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is assignment.   </a:t>
            </a:r>
            <a:pPr indent="0" marL="0">
              <a:buNone/>
            </a:pPr>
            <a:r>
              <a:rPr lang="en-US" sz="1400" b="1" dirty="0">
                <a:solidFill>
                  <a:srgbClr val="ECB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==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is comparison.   The single most common beginner typo: </a:t>
            </a:r>
            <a:pPr indent="0" marL="0">
              <a:buNone/>
            </a:pPr>
            <a:r>
              <a:rPr lang="en-US" sz="1400" dirty="0">
                <a:solidFill>
                  <a:srgbClr val="D645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x = 5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is an error.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640080" y="2606040"/>
            <a:ext cx="10881360" cy="3200400"/>
          </a:xfrm>
          <a:prstGeom prst="roundRect">
            <a:avLst>
              <a:gd name="adj" fmla="val 3429"/>
            </a:avLst>
          </a:prstGeom>
          <a:solidFill>
            <a:srgbClr val="2E2E2E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96112" y="2834640"/>
            <a:ext cx="146304" cy="146304"/>
          </a:xfrm>
          <a:prstGeom prst="ellipse">
            <a:avLst/>
          </a:prstGeom>
          <a:solidFill>
            <a:srgbClr val="D64550"/>
          </a:solidFill>
          <a:ln/>
        </p:spPr>
      </p:sp>
      <p:sp>
        <p:nvSpPr>
          <p:cNvPr id="9" name="Shape 6"/>
          <p:cNvSpPr/>
          <p:nvPr/>
        </p:nvSpPr>
        <p:spPr>
          <a:xfrm>
            <a:off x="1152144" y="2834640"/>
            <a:ext cx="146304" cy="146304"/>
          </a:xfrm>
          <a:prstGeom prst="ellipse">
            <a:avLst/>
          </a:prstGeom>
          <a:solidFill>
            <a:srgbClr val="ECB748"/>
          </a:solidFill>
          <a:ln/>
        </p:spPr>
      </p:sp>
      <p:sp>
        <p:nvSpPr>
          <p:cNvPr id="10" name="Shape 7"/>
          <p:cNvSpPr/>
          <p:nvPr/>
        </p:nvSpPr>
        <p:spPr>
          <a:xfrm>
            <a:off x="1408176" y="2834640"/>
            <a:ext cx="146304" cy="146304"/>
          </a:xfrm>
          <a:prstGeom prst="ellipse">
            <a:avLst/>
          </a:prstGeom>
          <a:solidFill>
            <a:srgbClr val="6B6B6B"/>
          </a:solidFill>
          <a:ln/>
        </p:spPr>
      </p:sp>
      <p:sp>
        <p:nvSpPr>
          <p:cNvPr id="11" name="Text 8"/>
          <p:cNvSpPr/>
          <p:nvPr/>
        </p:nvSpPr>
        <p:spPr>
          <a:xfrm>
            <a:off x="1828800" y="277063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96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surprises.py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85800" y="3154680"/>
            <a:ext cx="10789920" cy="0"/>
          </a:xfrm>
          <a:prstGeom prst="line">
            <a:avLst/>
          </a:prstGeom>
          <a:noFill/>
          <a:ln w="12700">
            <a:solidFill>
              <a:srgbClr val="444444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60120" y="3383280"/>
            <a:ext cx="10241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F3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"3" + "4"</a:t>
            </a:r>
            <a:pPr indent="0" marL="0">
              <a:buNone/>
            </a:pPr>
            <a:r>
              <a:rPr lang="en-US" sz="1500" dirty="0">
                <a:solidFill>
                  <a:srgbClr val="8A8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# "34"</a:t>
            </a:r>
            <a:pPr indent="0" marL="0">
              <a:buNone/>
            </a:pPr>
            <a:r>
              <a:rPr lang="en-US" sz="1500" dirty="0">
                <a:solidFill>
                  <a:srgbClr val="9B96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— string concatenation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960120" y="3867912"/>
            <a:ext cx="10241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F3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+ 4</a:t>
            </a:r>
            <a:pPr indent="0" marL="0">
              <a:buNone/>
            </a:pPr>
            <a:r>
              <a:rPr lang="en-US" sz="1500" dirty="0">
                <a:solidFill>
                  <a:srgbClr val="8A8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# 7</a:t>
            </a:r>
            <a:pPr indent="0" marL="0">
              <a:buNone/>
            </a:pP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960120" y="4352544"/>
            <a:ext cx="10241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645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+ "4"</a:t>
            </a:r>
            <a:pPr indent="0" marL="0">
              <a:buNone/>
            </a:pPr>
            <a:r>
              <a:rPr lang="en-US" sz="1500" dirty="0">
                <a:solidFill>
                  <a:srgbClr val="D645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# TypeError</a:t>
            </a:r>
            <a:pPr indent="0" marL="0">
              <a:buNone/>
            </a:pPr>
            <a:r>
              <a:rPr lang="en-US" sz="1500" dirty="0">
                <a:solidFill>
                  <a:srgbClr val="9B96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— Python refuses to guess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960120" y="4837176"/>
            <a:ext cx="10241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F3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 + 1</a:t>
            </a:r>
            <a:pPr indent="0" marL="0">
              <a:buNone/>
            </a:pPr>
            <a:r>
              <a:rPr lang="en-US" sz="1500" dirty="0">
                <a:solidFill>
                  <a:srgbClr val="8A8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# 2</a:t>
            </a:r>
            <a:pPr indent="0" marL="0">
              <a:buNone/>
            </a:pPr>
            <a:r>
              <a:rPr lang="en-US" sz="1500" dirty="0">
                <a:solidFill>
                  <a:srgbClr val="9B96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— booleans are numeric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960120" y="5321808"/>
            <a:ext cx="10241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F3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0.1 + 0.2</a:t>
            </a:r>
            <a:pPr indent="0" marL="0">
              <a:buNone/>
            </a:pPr>
            <a:r>
              <a:rPr lang="en-US" sz="1500" dirty="0">
                <a:solidFill>
                  <a:srgbClr val="8A8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# 0.30000000000000004</a:t>
            </a:r>
            <a:pPr indent="0" marL="0">
              <a:buNone/>
            </a:pPr>
            <a:r>
              <a:rPr lang="en-US" sz="1500" dirty="0">
                <a:solidFill>
                  <a:srgbClr val="9B96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— floats are approximate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640080" y="603504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B3C9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 use == to compare two floats. This will bite students later — foreshadow it now.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3/-Users-boryczjd-claude-vanderbilt-database-assistant--claude-worktrees-publishing-citation-data-uses-8ba05f/250e4720-0954-4187-8930-09caab2cbef2/scratchpad/slides_build/vu_mark_go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31575" y="365760"/>
            <a:ext cx="457200" cy="32766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40080" y="457200"/>
            <a:ext cx="1737360" cy="292608"/>
          </a:xfrm>
          <a:prstGeom prst="roundRect">
            <a:avLst>
              <a:gd name="adj" fmla="val 50000"/>
            </a:avLst>
          </a:prstGeom>
          <a:solidFill>
            <a:srgbClr val="ECB748"/>
          </a:solidFill>
          <a:ln/>
        </p:spPr>
      </p:sp>
      <p:sp>
        <p:nvSpPr>
          <p:cNvPr id="4" name="Text 1"/>
          <p:cNvSpPr/>
          <p:nvPr/>
        </p:nvSpPr>
        <p:spPr>
          <a:xfrm>
            <a:off x="640080" y="457200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25–30 MIN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822960"/>
            <a:ext cx="9144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Reading a TypeError Traceback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600200"/>
            <a:ext cx="5852160" cy="2834640"/>
          </a:xfrm>
          <a:prstGeom prst="roundRect">
            <a:avLst>
              <a:gd name="adj" fmla="val 3226"/>
            </a:avLst>
          </a:prstGeom>
          <a:solidFill>
            <a:srgbClr val="1C1C1C"/>
          </a:solidFill>
          <a:ln/>
        </p:spPr>
      </p:sp>
      <p:sp>
        <p:nvSpPr>
          <p:cNvPr id="7" name="Text 4"/>
          <p:cNvSpPr/>
          <p:nvPr/>
        </p:nvSpPr>
        <p:spPr>
          <a:xfrm>
            <a:off x="960120" y="1920240"/>
            <a:ext cx="5212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B96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Traceback (most recent call last):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960120" y="2377440"/>
            <a:ext cx="5212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5F3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File "analysis.py", line 12, in &lt;module&gt;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960120" y="2834640"/>
            <a:ext cx="5212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2D4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total_age = ages_str + 10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960120" y="3291840"/>
            <a:ext cx="5212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D645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TypeError: can only concatenate str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960120" y="3749040"/>
            <a:ext cx="5212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D645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(not "int") to str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6766560" y="1600200"/>
            <a:ext cx="365760" cy="365760"/>
          </a:xfrm>
          <a:prstGeom prst="ellipse">
            <a:avLst/>
          </a:prstGeom>
          <a:solidFill>
            <a:srgbClr val="ECB748"/>
          </a:solidFill>
          <a:ln/>
        </p:spPr>
      </p:sp>
      <p:sp>
        <p:nvSpPr>
          <p:cNvPr id="13" name="Text 10"/>
          <p:cNvSpPr/>
          <p:nvPr/>
        </p:nvSpPr>
        <p:spPr>
          <a:xfrm>
            <a:off x="6766560" y="16002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7269480" y="1572768"/>
            <a:ext cx="4251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line first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7269480" y="1892808"/>
            <a:ext cx="4251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error type + message: Python saw a string next to +, doesn't know how to add an int.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6766560" y="2377440"/>
            <a:ext cx="365760" cy="365760"/>
          </a:xfrm>
          <a:prstGeom prst="ellipse">
            <a:avLst/>
          </a:prstGeom>
          <a:solidFill>
            <a:srgbClr val="B3C9CD"/>
          </a:solidFill>
          <a:ln/>
        </p:spPr>
      </p:sp>
      <p:sp>
        <p:nvSpPr>
          <p:cNvPr id="17" name="Text 14"/>
          <p:cNvSpPr/>
          <p:nvPr/>
        </p:nvSpPr>
        <p:spPr>
          <a:xfrm>
            <a:off x="6766560" y="2377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7269480" y="2350008"/>
            <a:ext cx="4251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 and line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7269480" y="2670048"/>
            <a:ext cx="4251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analysis.py, line 12 — go there.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6766560" y="3154680"/>
            <a:ext cx="365760" cy="365760"/>
          </a:xfrm>
          <a:prstGeom prst="ellipse">
            <a:avLst/>
          </a:prstGeom>
          <a:solidFill>
            <a:srgbClr val="ECB748"/>
          </a:solidFill>
          <a:ln/>
        </p:spPr>
      </p:sp>
      <p:sp>
        <p:nvSpPr>
          <p:cNvPr id="21" name="Text 18"/>
          <p:cNvSpPr/>
          <p:nvPr/>
        </p:nvSpPr>
        <p:spPr>
          <a:xfrm>
            <a:off x="6766560" y="31546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7269480" y="3127248"/>
            <a:ext cx="4251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offending code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7269480" y="3447288"/>
            <a:ext cx="4251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total_age = ages_str + 10 — now you know ages_str is (probably) a string.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6766560" y="3931920"/>
            <a:ext cx="365760" cy="365760"/>
          </a:xfrm>
          <a:prstGeom prst="ellipse">
            <a:avLst/>
          </a:prstGeom>
          <a:solidFill>
            <a:srgbClr val="B3C9CD"/>
          </a:solidFill>
          <a:ln/>
        </p:spPr>
      </p:sp>
      <p:sp>
        <p:nvSpPr>
          <p:cNvPr id="25" name="Text 22"/>
          <p:cNvSpPr/>
          <p:nvPr/>
        </p:nvSpPr>
        <p:spPr>
          <a:xfrm>
            <a:off x="6766560" y="39319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7269480" y="3904488"/>
            <a:ext cx="4251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fix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7269480" y="4224528"/>
            <a:ext cx="4251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Convert first: int(ages_str) + 10, or fix wherever ages_str was assigned.</a:t>
            </a:r>
            <a:endParaRPr lang="en-US" sz="1150" dirty="0"/>
          </a:p>
        </p:txBody>
      </p:sp>
      <p:sp>
        <p:nvSpPr>
          <p:cNvPr id="28" name="Shape 25"/>
          <p:cNvSpPr/>
          <p:nvPr/>
        </p:nvSpPr>
        <p:spPr>
          <a:xfrm>
            <a:off x="640080" y="4709160"/>
            <a:ext cx="10881360" cy="868680"/>
          </a:xfrm>
          <a:prstGeom prst="roundRect">
            <a:avLst>
              <a:gd name="adj" fmla="val 8421"/>
            </a:avLst>
          </a:prstGeom>
          <a:solidFill>
            <a:srgbClr val="F5F3EF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868680" y="4709160"/>
            <a:ext cx="10424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from the bottom up.  </a:t>
            </a:r>
            <a:pPr indent="0" marL="0">
              <a:buNone/>
            </a:pPr>
            <a:r>
              <a:rPr lang="en-US" sz="13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you paste an error into ChatGPT, that's exactly what it's looking at too — but it doesn't know what your variable should have been. You do.</a:t>
            </a:r>
            <a:endParaRPr lang="en-US" sz="1350" dirty="0"/>
          </a:p>
        </p:txBody>
      </p:sp>
      <p:sp>
        <p:nvSpPr>
          <p:cNvPr id="30" name="Text 27"/>
          <p:cNvSpPr/>
          <p:nvPr/>
        </p:nvSpPr>
        <p:spPr>
          <a:xfrm>
            <a:off x="11368735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B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C1C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3/-Users-boryczjd-claude-vanderbilt-database-assistant--claude-worktrees-publishing-citation-data-uses-8ba05f/250e4720-0954-4187-8930-09caab2cbef2/scratchpad/slides_build/vu_mark_go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31575" y="365760"/>
            <a:ext cx="457200" cy="3276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CB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YOU GO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94360" y="82296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Vocabulary, Mistakes &amp; Handoff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640080" y="1600200"/>
            <a:ext cx="3538728" cy="960120"/>
          </a:xfrm>
          <a:prstGeom prst="roundRect">
            <a:avLst>
              <a:gd name="adj" fmla="val 9524"/>
            </a:avLst>
          </a:prstGeom>
          <a:solidFill>
            <a:srgbClr val="2E2E2E"/>
          </a:solidFill>
          <a:ln/>
        </p:spPr>
      </p:sp>
      <p:sp>
        <p:nvSpPr>
          <p:cNvPr id="6" name="Text 3"/>
          <p:cNvSpPr/>
          <p:nvPr/>
        </p:nvSpPr>
        <p:spPr>
          <a:xfrm>
            <a:off x="822960" y="1709928"/>
            <a:ext cx="31729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CB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Variable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822960" y="2011680"/>
            <a:ext cx="31729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5F3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named location that stores a value.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4306824" y="1600200"/>
            <a:ext cx="3538728" cy="960120"/>
          </a:xfrm>
          <a:prstGeom prst="roundRect">
            <a:avLst>
              <a:gd name="adj" fmla="val 9524"/>
            </a:avLst>
          </a:prstGeom>
          <a:solidFill>
            <a:srgbClr val="2E2E2E"/>
          </a:solidFill>
          <a:ln/>
        </p:spPr>
      </p:sp>
      <p:sp>
        <p:nvSpPr>
          <p:cNvPr id="9" name="Text 6"/>
          <p:cNvSpPr/>
          <p:nvPr/>
        </p:nvSpPr>
        <p:spPr>
          <a:xfrm>
            <a:off x="4489704" y="1709928"/>
            <a:ext cx="31729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CB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Assignment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4489704" y="2011680"/>
            <a:ext cx="31729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5F3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Putting a value into a variable (= in Python, &lt;- in R).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7973568" y="1600200"/>
            <a:ext cx="3538728" cy="960120"/>
          </a:xfrm>
          <a:prstGeom prst="roundRect">
            <a:avLst>
              <a:gd name="adj" fmla="val 9524"/>
            </a:avLst>
          </a:prstGeom>
          <a:solidFill>
            <a:srgbClr val="2E2E2E"/>
          </a:solidFill>
          <a:ln/>
        </p:spPr>
      </p:sp>
      <p:sp>
        <p:nvSpPr>
          <p:cNvPr id="12" name="Text 9"/>
          <p:cNvSpPr/>
          <p:nvPr/>
        </p:nvSpPr>
        <p:spPr>
          <a:xfrm>
            <a:off x="8156448" y="1709928"/>
            <a:ext cx="31729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CB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8156448" y="2011680"/>
            <a:ext cx="31729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5F3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kind of value (int, float, string, bool).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640080" y="2697480"/>
            <a:ext cx="3538728" cy="960120"/>
          </a:xfrm>
          <a:prstGeom prst="roundRect">
            <a:avLst>
              <a:gd name="adj" fmla="val 9524"/>
            </a:avLst>
          </a:prstGeom>
          <a:solidFill>
            <a:srgbClr val="2E2E2E"/>
          </a:solidFill>
          <a:ln/>
        </p:spPr>
      </p:sp>
      <p:sp>
        <p:nvSpPr>
          <p:cNvPr id="15" name="Text 12"/>
          <p:cNvSpPr/>
          <p:nvPr/>
        </p:nvSpPr>
        <p:spPr>
          <a:xfrm>
            <a:off x="822960" y="2807208"/>
            <a:ext cx="31729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CB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Expression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822960" y="3108960"/>
            <a:ext cx="31729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5F3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piece of code that evaluates to a value.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4306824" y="2697480"/>
            <a:ext cx="3538728" cy="960120"/>
          </a:xfrm>
          <a:prstGeom prst="roundRect">
            <a:avLst>
              <a:gd name="adj" fmla="val 9524"/>
            </a:avLst>
          </a:prstGeom>
          <a:solidFill>
            <a:srgbClr val="2E2E2E"/>
          </a:solidFill>
          <a:ln/>
        </p:spPr>
      </p:sp>
      <p:sp>
        <p:nvSpPr>
          <p:cNvPr id="18" name="Text 15"/>
          <p:cNvSpPr/>
          <p:nvPr/>
        </p:nvSpPr>
        <p:spPr>
          <a:xfrm>
            <a:off x="4489704" y="2807208"/>
            <a:ext cx="31729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CB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TypeError</a:t>
            </a:r>
            <a:endParaRPr lang="en-US" sz="1350" dirty="0"/>
          </a:p>
        </p:txBody>
      </p:sp>
      <p:sp>
        <p:nvSpPr>
          <p:cNvPr id="19" name="Text 16"/>
          <p:cNvSpPr/>
          <p:nvPr/>
        </p:nvSpPr>
        <p:spPr>
          <a:xfrm>
            <a:off x="4489704" y="3108960"/>
            <a:ext cx="31729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5F3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Python's complaint that you combined incompatible types.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7973568" y="2697480"/>
            <a:ext cx="3538728" cy="960120"/>
          </a:xfrm>
          <a:prstGeom prst="roundRect">
            <a:avLst>
              <a:gd name="adj" fmla="val 9524"/>
            </a:avLst>
          </a:prstGeom>
          <a:solidFill>
            <a:srgbClr val="2E2E2E"/>
          </a:solidFill>
          <a:ln/>
        </p:spPr>
      </p:sp>
      <p:sp>
        <p:nvSpPr>
          <p:cNvPr id="21" name="Text 18"/>
          <p:cNvSpPr/>
          <p:nvPr/>
        </p:nvSpPr>
        <p:spPr>
          <a:xfrm>
            <a:off x="8156448" y="2807208"/>
            <a:ext cx="31729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CB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Traceback</a:t>
            </a:r>
            <a:endParaRPr lang="en-US" sz="1350" dirty="0"/>
          </a:p>
        </p:txBody>
      </p:sp>
      <p:sp>
        <p:nvSpPr>
          <p:cNvPr id="22" name="Text 19"/>
          <p:cNvSpPr/>
          <p:nvPr/>
        </p:nvSpPr>
        <p:spPr>
          <a:xfrm>
            <a:off x="8156448" y="3108960"/>
            <a:ext cx="31729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5F3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error message the interpreter prints when something breaks.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640080" y="3840480"/>
            <a:ext cx="5212080" cy="2606040"/>
          </a:xfrm>
          <a:prstGeom prst="roundRect">
            <a:avLst>
              <a:gd name="adj" fmla="val 3509"/>
            </a:avLst>
          </a:prstGeom>
          <a:solidFill>
            <a:srgbClr val="2E2E2E"/>
          </a:solidFill>
          <a:ln/>
        </p:spPr>
      </p:sp>
      <p:sp>
        <p:nvSpPr>
          <p:cNvPr id="24" name="Text 21"/>
          <p:cNvSpPr/>
          <p:nvPr/>
        </p:nvSpPr>
        <p:spPr>
          <a:xfrm>
            <a:off x="960120" y="40690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3C9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student mistakes</a:t>
            </a:r>
            <a:endParaRPr lang="en-US" sz="1500" dirty="0"/>
          </a:p>
        </p:txBody>
      </p:sp>
      <p:sp>
        <p:nvSpPr>
          <p:cNvPr id="25" name="Text 22"/>
          <p:cNvSpPr/>
          <p:nvPr/>
        </p:nvSpPr>
        <p:spPr>
          <a:xfrm>
            <a:off x="960120" y="4526280"/>
            <a:ext cx="457200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250" dirty="0">
                <a:solidFill>
                  <a:srgbClr val="F5F3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Using = instead of == inside if.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250" dirty="0">
                <a:solidFill>
                  <a:srgbClr val="F5F3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Assuming numbers loaded from CSV are numeric.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250" dirty="0">
                <a:solidFill>
                  <a:srgbClr val="F5F3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Comparing floats with ==.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250" dirty="0">
                <a:solidFill>
                  <a:srgbClr val="F5F3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Reading only the top of a traceback.</a:t>
            </a:r>
            <a:endParaRPr lang="en-US" sz="1250" dirty="0"/>
          </a:p>
        </p:txBody>
      </p:sp>
      <p:sp>
        <p:nvSpPr>
          <p:cNvPr id="26" name="Shape 23"/>
          <p:cNvSpPr/>
          <p:nvPr/>
        </p:nvSpPr>
        <p:spPr>
          <a:xfrm>
            <a:off x="5989320" y="3840480"/>
            <a:ext cx="5577840" cy="2606040"/>
          </a:xfrm>
          <a:prstGeom prst="roundRect">
            <a:avLst>
              <a:gd name="adj" fmla="val 3509"/>
            </a:avLst>
          </a:prstGeom>
          <a:solidFill>
            <a:srgbClr val="ECB748"/>
          </a:solidFill>
          <a:ln/>
        </p:spPr>
      </p:sp>
      <p:sp>
        <p:nvSpPr>
          <p:cNvPr id="27" name="Text 24"/>
          <p:cNvSpPr/>
          <p:nvPr/>
        </p:nvSpPr>
        <p:spPr>
          <a:xfrm>
            <a:off x="6309360" y="406908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Handoff to tutor activity</a:t>
            </a:r>
            <a:endParaRPr lang="en-US" sz="1500" dirty="0"/>
          </a:p>
        </p:txBody>
      </p:sp>
      <p:sp>
        <p:nvSpPr>
          <p:cNvPr id="28" name="Text 25"/>
          <p:cNvSpPr/>
          <p:nvPr/>
        </p:nvSpPr>
        <p:spPr>
          <a:xfrm>
            <a:off x="6309360" y="4498848"/>
            <a:ext cx="493776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 to </a:t>
            </a:r>
            <a:pPr indent="0" marL="0">
              <a:lnSpc>
                <a:spcPct val="125000"/>
              </a:lnSpc>
              <a:buNone/>
            </a:pPr>
            <a:r>
              <a:rPr lang="en-US" sz="1250" i="1" dirty="0">
                <a:solidFill>
                  <a:srgbClr val="1C1C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assistants_per_lecture/02_variables_types_gpt.md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tutor will hand students broken code and ask them to predict its type behavior and diagnose type errors.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Vanderbilt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CPBP 8306 — Session 2</dc:title>
  <dc:subject>PptxGenJS Presentation</dc:subject>
  <dc:creator>Joshua Borycz &amp; Daniel Genkins</dc:creator>
  <cp:lastModifiedBy>Joshua Borycz &amp; Daniel Genkins</cp:lastModifiedBy>
  <cp:revision>1</cp:revision>
  <dcterms:created xsi:type="dcterms:W3CDTF">2026-07-27T21:12:18Z</dcterms:created>
  <dcterms:modified xsi:type="dcterms:W3CDTF">2026-07-27T21:12:18Z</dcterms:modified>
</cp:coreProperties>
</file>