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77" r:id="rId27"/>
    <p:sldId id="257" r:id="rId3"/>
    <p:sldId id="258" r:id="rId4"/>
    <p:sldId id="259" r:id="rId5"/>
    <p:sldId id="260" r:id="rId6"/>
    <p:sldId id="261" r:id="rId7"/>
    <p:sldId id="272" r:id="rId8"/>
    <p:sldId id="262" r:id="rId9"/>
    <p:sldId id="273" r:id="rId10"/>
    <p:sldId id="274" r:id="rId11"/>
    <p:sldId id="275" r:id="rId12"/>
    <p:sldId id="263" r:id="rId13"/>
    <p:sldId id="276" r:id="rId14"/>
    <p:sldId id="264" r:id="rId15"/>
    <p:sldId id="265" r:id="rId16"/>
    <p:sldId id="267" r:id="rId17"/>
    <p:sldId id="268" r:id="rId18"/>
    <p:sldId id="269" r:id="rId19"/>
    <p:sldId id="270" r:id="rId20"/>
    <p:sldId id="271"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2" d="100"/>
          <a:sy n="162" d="100"/>
        </p:scale>
        <p:origin x="204" y="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82710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Take attendance.</a:t>
            </a:r>
          </a:p>
          <a:p>
            <a:endParaRPr/>
          </a:p>
          <a:p>
            <a:r>
              <a:t>IMPORTANT — no pre-work install email went out this year. Assume nobody has anything installed. The plan for today is built around that: minutes 12–40 are a guided install, and the tutor activity has moved to homework.</a:t>
            </a:r>
          </a:p>
          <a:p>
            <a:endParaRPr/>
          </a:p>
          <a:p>
            <a:r>
              <a:t>Hands up: who has written code before? Who has used an AI assistant to write code? Remember the second number — it will be nearly everyone, and you will refer back to it.</a:t>
            </a:r>
          </a:p>
          <a:p>
            <a:endParaRPr/>
          </a:p>
          <a:p>
            <a:r>
              <a:t>Before class: have hello.py open in VS Code and hello.R open in RStudio on YOUR machine, and demos/01_the_hook.py ready to run from the repo root. Have the Brightspace page with the four download links open on the projector — you will put it up at minute 12.</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plainly and early. If students think we are policing AI use, they will hide it — and then we cannot teach them to use it well.
Tone: matter-of-fact, not scolding. This is a description of the world, not a concession.
Callback: reference the show of hands from the title slide.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against the course dataset — the numbers here are the real output.
Read the code out loud in plain English before moving on. Model the behavior you want from them.
Do NOT explain the bug yet. Let the next slide land.
Show of hands: “who thinks this is fine?” Most hands go up. That is the point. (Reveal the third bullet only after the hands are up, or leave it for the next slide if you want a cleaner beat.)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trailing-space bug is real and extremely common in research data. Tell a war story if you have one.
Key framing: the AI was not wrong. It answered the question it was asked; the question was underspecified.
This is a FALSE NEGATIVE — the most dangerous kind, because a null result rarely gets scrutinized. Say that out loud.
If you have time: 9 missing systolic values were also silently dropped; ttest_ind assumes equal variances by default; nobody looked at effect size. Do not go deep — that is Session 11.
Foreshadow Session 9: group A's distribution here is visibly bimodal. One histogram would have exposed this in two seconds. That is why “look before you test” gets a whole week.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course contract. Say it out loud. Repeat it in Session 6 and Session 13.
Tell them plainly: the success criterion is not “can you write code from scratch.” It is “can you look at a block of AI-generated code and explain what it does, whether it is correct, and how you would fix it.” That is also the format of the final project write-up.
Pause on the corollary. It is the ethical core of the course and it takes ten seconds to say.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this up while you give the agenda; do not read it aloud verbatim.</a:t>
            </a:r>
          </a:p>
          <a:p>
            <a:endParaRPr/>
          </a:p>
          <a:p>
            <a:r>
              <a:t>Time check: you should reach this slide at about minute 9 and leave it by 12. The install block is the thing that will overrun, so protect the front end.</a:t>
            </a:r>
          </a:p>
          <a:p>
            <a:endParaRPr/>
          </a:p>
          <a:p>
            <a:r>
              <a:t>Be explicit that objective 1 is plumbing — it lowers the stakes, and today it is also most of the hour. Say plainly: "we are going to install everything together, in class, because nothing was sent out ahead of time. That is on us, not you."</a:t>
            </a:r>
          </a:p>
          <a:p>
            <a:endParaRPr/>
          </a:p>
          <a:p>
            <a:r>
              <a:t>Objectives 2 and 3 are the ones that survive if the installs eat the room.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Put the Brightspace links page on the projector NOW, before you say anything else. Four downloads, started in parallel, is the single highest-leverage thing in this hour — the download is the slow part on classroom wifi, not the install.</a:t>
            </a:r>
          </a:p>
          <a:p>
            <a:endParaRPr/>
          </a:p>
          <a:p>
            <a:r>
              <a:t>Say it in this order: (1) go to Brightspace, (2) click all four links, (3) do not run anything yet, (4) come back to me.</a:t>
            </a:r>
          </a:p>
          <a:p>
            <a:endParaRPr/>
          </a:p>
          <a:p>
            <a:r>
              <a:t>Walk the room for sixty seconds and confirm downloads are actually moving. Anyone whose wifi is dead: pair them with a neighbour now, do not troubleshoot networking.</a:t>
            </a:r>
          </a:p>
          <a:p>
            <a:endParaRPr/>
          </a:p>
          <a:p>
            <a:r>
              <a:t>If the room's bandwidth collapses, that is the signal to stagger — have the back half start R and RStudio first while the front half starts Python and VS Code.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tool tour, and it exists here to fill download time productively. Four minutes maximum — watch the download bars, not the clock.</a:t>
            </a:r>
          </a:p>
          <a:p>
            <a:endParaRPr/>
          </a:p>
          <a:p>
            <a:r>
              <a:t>Analogy that lands: the interpreter is the engine; the editor is the dashboard. Any dashboard can sit in front of the same engine.</a:t>
            </a:r>
          </a:p>
          <a:p>
            <a:endParaRPr/>
          </a:p>
          <a:p>
            <a:r>
              <a:t>Second analogy: Copilot is autocomplete on your phone. ChatGPT is texting a colleague.</a:t>
            </a:r>
          </a:p>
          <a:p>
            <a:endParaRPr/>
          </a:p>
          <a:p>
            <a:r>
              <a:t>Copilot is free for students through GitHub Education, but do NOT let anyone start that today — it needs an account and .edu verification. It is on the homework slide.</a:t>
            </a:r>
          </a:p>
          <a:p>
            <a:endParaRPr/>
          </a:p>
          <a:p>
            <a:r>
              <a:t>If downloads are running fast, stretch this. If they are already done, cut it to two minutes and start installing.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this on the projector at the same pace as the room. Install it yourself, on screen, step by step.</a:t>
            </a:r>
          </a:p>
          <a:p>
            <a:endParaRPr/>
          </a:p>
          <a:p>
            <a:r>
              <a:t>The PATH checkbox is the whole slide. Say it twice. It is unticked by default, it is at the bottom of the first screen in small text, and missing it is the single most common cause of a broken Week 2.</a:t>
            </a:r>
          </a:p>
          <a:p>
            <a:endParaRPr/>
          </a:p>
          <a:p>
            <a:r>
              <a:t>Mac users: there is nothing to get wrong here, so send them ahead to VS Code while you handle the Windows room.</a:t>
            </a:r>
          </a:p>
          <a:p>
            <a:endParaRPr/>
          </a:p>
          <a:p>
            <a:r>
              <a:t>Do not verify with a script yet — just python --version / python3 --version. The real check is slide 12.</a:t>
            </a:r>
          </a:p>
          <a:p>
            <a:endParaRPr/>
          </a:p>
          <a:p>
            <a:r>
              <a:t>If more than a third of the room is stuck, stop, get the TA moving through them, and keep going. Do not debug one laptop from the front.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Fastest of the four. Accept-the-defaults all the way.</a:t>
            </a:r>
          </a:p>
          <a:p>
            <a:endParaRPr/>
          </a:p>
          <a:p>
            <a:r>
              <a:t>The extensions step is the part people get wrong: make them check the publisher says Microsoft. There are lookalikes.</a:t>
            </a:r>
          </a:p>
          <a:p>
            <a:endParaRPr/>
          </a:p>
          <a:p>
            <a:r>
              <a:t>Say explicitly: installing VS Code did NOT install Python. This is the confusion from the tool tour, and here it is concrete — good moment to land it.</a:t>
            </a:r>
          </a:p>
          <a:p>
            <a:endParaRPr/>
          </a:p>
          <a:p>
            <a:r>
              <a:t>Hold the line on Copilot. It needs a GitHub account and student verification, and it will eat ten minutes you do not have.</a:t>
            </a:r>
          </a:p>
          <a:p>
            <a:endParaRPr/>
          </a:p>
          <a:p>
            <a:r>
              <a:t>Anyone finished early should be helping a neighbour. Say so out loud — it genuinely halves this block.</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order is the content of this slide. R first, RStudio second. RStudio installed first will launch and announce it cannot find R, which reads as catastrophic to a beginner and is a thirty-second fix.</a:t>
            </a:r>
          </a:p>
          <a:p>
            <a:endParaRPr/>
          </a:p>
          <a:p>
            <a:r>
              <a:t>RStudio is the 250 MB download. If someone has not started it, they will not finish in class — tell them that plainly now, not at minute 34, and point them at the guide.</a:t>
            </a:r>
          </a:p>
          <a:p>
            <a:endParaRPr/>
          </a:p>
          <a:p>
            <a:r>
              <a:t>Do not open R itself. There is nothing to see and it invites questions you do not have time for.</a:t>
            </a:r>
          </a:p>
          <a:p>
            <a:endParaRPr/>
          </a:p>
          <a:p>
            <a:r>
              <a:t>Hard stop at 34 regardless of where the room is. The next slide is the checkpoint and the one after it is the escape hatch — both are built for a half-finished room.</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now the install verification, not just a demo. Everyone types both lines on their own machine.</a:t>
            </a:r>
          </a:p>
          <a:p>
            <a:endParaRPr/>
          </a:p>
          <a:p>
            <a:r>
              <a:t>Do it on the projector in three places: a .py file in VS Code, a Jupyter cell, and an .R script in RStudio. Ninety seconds.</a:t>
            </a:r>
          </a:p>
          <a:p>
            <a:endParaRPr/>
          </a:p>
          <a:p>
            <a:r>
              <a:t>Deliberately make one typo (prnt) and show the error. Say: "you will see a lot of these; they are not a sign that you are bad at this."</a:t>
            </a:r>
          </a:p>
          <a:p>
            <a:endParaRPr/>
          </a:p>
          <a:p>
            <a:r>
              <a:t>Walk the room. This is where you find out who is actually working — note names and hand them to the TA.</a:t>
            </a:r>
          </a:p>
          <a:p>
            <a:endParaRPr/>
          </a:p>
          <a:p>
            <a:r>
              <a:t>CHECKPOINT: still run the 60 seconds. Take two answers out loud and do not correct them.</a:t>
            </a:r>
          </a:p>
          <a:p>
            <a:r>
              <a:t>Target answer: a text file that the interpreter reads and executes, top to bottom.</a:t>
            </a:r>
          </a:p>
          <a:p>
            <a:r>
              <a:t>Common wrong answer: "an app." Useful distinction — an app is a program with a face on 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minutes, and it is the most important two minutes for the students who are struggling.</a:t>
            </a:r>
          </a:p>
          <a:p>
            <a:endParaRPr/>
          </a:p>
          <a:p>
            <a:r>
              <a:t>Say the second box out loud, slowly: nothing else today needs a laptop. A student whose install failed is about to decide whether this course is for them. Do not let anyone leave thinking they are behind on day one.</a:t>
            </a:r>
          </a:p>
          <a:p>
            <a:endParaRPr/>
          </a:p>
          <a:p>
            <a:r>
              <a:t>Name the study hall (Monday 10–11, Light Hall 439) and tell them to bring the broken machine.</a:t>
            </a:r>
          </a:p>
          <a:p>
            <a:endParaRPr/>
          </a:p>
          <a:p>
            <a:r>
              <a:t>Get the TA a list of who is unresolved before you move on.</a:t>
            </a:r>
          </a:p>
          <a:p>
            <a:endParaRPr/>
          </a:p>
          <a:p>
            <a:r>
              <a:t>Then say "laptops closed" and mean it — the decomposition segment is better without screens.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you only have time for one segment from here, it is this one. Protect it.</a:t>
            </a:r>
          </a:p>
          <a:p>
            <a:endParaRPr/>
          </a:p>
          <a:p>
            <a:r>
              <a:t>Go to the whiteboard and do NOT advance the slide. Write what they call out, in their words, even when imprecise.</a:t>
            </a:r>
          </a:p>
          <a:p>
            <a:endParaRPr/>
          </a:p>
          <a:p>
            <a:r>
              <a:t>When someone says "analyze the data," push: "what specifically? What is step one at the level of what a computer does?"</a:t>
            </a:r>
          </a:p>
          <a:p>
            <a:endParaRPr/>
          </a:p>
          <a:p>
            <a:r>
              <a:t>Aim for six steps in about five minutes. The next slide is the tidy version — reveal it only after the board is full.</a:t>
            </a:r>
          </a:p>
          <a:p>
            <a:endParaRPr/>
          </a:p>
          <a:p>
            <a:r>
              <a:t>The second decomposition exercise (gene expression) is no longer in the deck — it is Problem 4 of the tutor, which they now do as homework. Do not try to squeeze it back in.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their whiteboard version onto this. Praise anything they had that this list does not — especially step 2, which beginners always skip.
Say out loud: step 2 is exactly where the trailing-space bug from earlier would have been caught.
The tag reveal is the moment that stops students asking “when do we get to the real stuff.” Everything is the real stuff. Come back to this slide at the start of each unit.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form/meaning distinction in the bottom bar is the compression of this whole slide. Say it.
If you have a hallucinated-package example from your own work, this is the moment for it.
Connect back to the trailing-space bug: it sits squarely in the right-hand column.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is the one they will skip. It is also the only one that catches silent errors — like the one that opened this class.
This four-step loop reappears in every week's tutor activity. Name it now so you can refer back to it all semester.
If you are short on time, this slide can be delivered in 60 seconds — but do not cut it.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activity has moved to homework because the installs took the block. Say that as a plan, not an apology.</a:t>
            </a:r>
          </a:p>
          <a:p/>
          <a:p>
            <a:r>
              <a:t>Warn them explicitly: the tutor is DESIGNED to refuse to give code. Students who have not been told this get frustrated and rate it badly. Frame the refusal as respect: "it thinks you can get there."</a:t>
            </a:r>
          </a:p>
          <a:p/>
          <a:p>
            <a:r>
              <a:t>Restate the participation rule: full credit for engaging with the questions, not for reaching a correct answer. Paste the transcript as-is, including anywhere they went in circles.</a:t>
            </a:r>
          </a:p>
          <a:p/>
          <a:p>
            <a:r>
              <a:t>Tell them the deadline out loud: before Session 2, next Thursday.</a:t>
            </a:r>
          </a:p>
          <a:p/>
          <a:p>
            <a:r>
              <a:t>Important for the students still broken: only the tutor's first problem needs a working laptop. Everything else is a conversation. They should do it regardless.</a:t>
            </a:r>
          </a:p>
          <a:p/>
          <a:p>
            <a:r>
              <a:t>The URL on the slide is the live tutor, but do not make anyone type it — send them to the Brightspace link. It is on the slide so that a student who photographs this slide has a way back to it.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during the tutor activity — students will refer to it.
Say explicitly: vocabulary is the difference between “fix my data” and “strip whitespace from the group column before filtering.” One of those gets you the right answer.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Push hard on all four required items — this is a heavier homework week than planned, and saying so honestly gets better compliance than pretending it is light.</a:t>
            </a:r>
          </a:p>
          <a:p>
            <a:endParaRPr/>
          </a:p>
          <a:p>
            <a:r>
              <a:t>The check script is the safety net. If they run only one thing tonight, it is that: it names exactly what is missing and prints the command that fixes it.</a:t>
            </a:r>
          </a:p>
          <a:p>
            <a:endParaRPr/>
          </a:p>
          <a:p>
            <a:r>
              <a:t>Copilot setup is genuinely fiddly (account, .edu verification, then the extension). Point them at the written guide rather than explaining it now.</a:t>
            </a:r>
          </a:p>
          <a:p>
            <a:endParaRPr/>
          </a:p>
          <a:p>
            <a:r>
              <a:t>Push the dataset deadline. "Data you already have" is genuinely the best answer — their own lab's data makes the whole semester matter.</a:t>
            </a:r>
          </a:p>
          <a:p>
            <a:endParaRPr/>
          </a:p>
          <a:p>
            <a:r>
              <a:t>Remind them the pre-test is graded on completion, not correctness.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this first, while people are still settling in and getting laptops open — it costs almost nothing if it overlaps with attendance.</a:t>
            </a:r>
          </a:p>
          <a:p/>
          <a:p>
            <a:r>
              <a:t>Say the three things that get people to actually submit it: two minutes, phone is fine, graded on completion. Then say the honest version — we are measuring whether the course works, and a low-confidence answer today is the most useful kind.</a:t>
            </a:r>
          </a:p>
          <a:p/>
          <a:p>
            <a:r>
              <a:t>Put the URL up and leave it up while you take attendance. Do not read it aloud character by character; it is also on Brightspace.</a:t>
            </a:r>
          </a:p>
          <a:p/>
          <a:p>
            <a:r>
              <a:t>Most students finish in under 90 seconds. If the room is done early, take the time back — it goes straight into the install block later, which is where you will want it.</a:t>
            </a:r>
          </a:p>
          <a:p/>
          <a:p>
            <a:r>
              <a:t>Anyone without a device can do it tonight. Do not stall the session for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C1C"/>
        </a:solidFill>
        <a:effectLst/>
      </p:bgPr>
    </p:bg>
    <p:spTree>
      <p:nvGrpSpPr>
        <p:cNvPr id="1" name=""/>
        <p:cNvGrpSpPr/>
        <p:nvPr/>
      </p:nvGrpSpPr>
      <p:grpSpPr>
        <a:xfrm>
          <a:off x="0" y="0"/>
          <a:ext cx="0" cy="0"/>
          <a:chOff x="0" y="0"/>
          <a:chExt cx="0" cy="0"/>
        </a:xfrm>
      </p:grpSpPr>
      <p:pic>
        <p:nvPicPr>
          <p:cNvPr id="2" name="Image 0" descr="vu_logo_white.png"/>
          <p:cNvPicPr>
            <a:picLocks noChangeAspect="1"/>
          </p:cNvPicPr>
          <p:nvPr/>
        </p:nvPicPr>
        <p:blipFill>
          <a:blip r:embed="rId3"/>
          <a:stretch>
            <a:fillRect/>
          </a:stretch>
        </p:blipFill>
        <p:spPr>
          <a:xfrm>
            <a:off x="640080" y="475488"/>
            <a:ext cx="2377440" cy="516636"/>
          </a:xfrm>
          <a:prstGeom prst="rect">
            <a:avLst/>
          </a:prstGeom>
        </p:spPr>
      </p:pic>
      <p:sp>
        <p:nvSpPr>
          <p:cNvPr id="3" name="Text 0"/>
          <p:cNvSpPr txBox="1"/>
          <p:nvPr/>
        </p:nvSpPr>
        <p:spPr>
          <a:xfrm>
            <a:off x="658368" y="1572768"/>
            <a:ext cx="6400800" cy="292608"/>
          </a:xfrm>
          <a:prstGeom prst="rect">
            <a:avLst/>
          </a:prstGeom>
          <a:noFill/>
          <a:ln/>
        </p:spPr>
        <p:txBody>
          <a:bodyPr wrap="square" lIns="0" tIns="0" rIns="0" bIns="0" rtlCol="0" anchor="ctr"/>
          <a:lstStyle/>
          <a:p>
            <a:pPr marL="0" indent="0">
              <a:buNone/>
            </a:pPr>
            <a:r>
              <a:rPr lang="en-US" sz="1250" b="1" kern="0" spc="220" dirty="0">
                <a:solidFill>
                  <a:srgbClr val="D9A441"/>
                </a:solidFill>
                <a:latin typeface="Arial" pitchFamily="34" charset="0"/>
                <a:ea typeface="Arial" pitchFamily="34" charset="-122"/>
                <a:cs typeface="Arial" pitchFamily="34" charset="-120"/>
              </a:rPr>
              <a:t>SESSION 1  ·  UNIT 1 — FOUNDATIONS</a:t>
            </a:r>
            <a:endParaRPr lang="en-US" sz="1250" dirty="0"/>
          </a:p>
        </p:txBody>
      </p:sp>
      <p:sp>
        <p:nvSpPr>
          <p:cNvPr id="4" name="Text 1"/>
          <p:cNvSpPr txBox="1"/>
          <p:nvPr/>
        </p:nvSpPr>
        <p:spPr>
          <a:xfrm>
            <a:off x="640080" y="1938528"/>
            <a:ext cx="6766560" cy="868680"/>
          </a:xfrm>
          <a:prstGeom prst="rect">
            <a:avLst/>
          </a:prstGeom>
          <a:noFill/>
          <a:ln/>
        </p:spPr>
        <p:txBody>
          <a:bodyPr wrap="square" lIns="0" tIns="0" rIns="0" bIns="0" rtlCol="0" anchor="ctr"/>
          <a:lstStyle/>
          <a:p>
            <a:pPr marL="0" indent="0">
              <a:buNone/>
            </a:pPr>
            <a:r>
              <a:rPr lang="en-US" sz="4200" b="1" dirty="0">
                <a:solidFill>
                  <a:srgbClr val="FFFFFF"/>
                </a:solidFill>
                <a:latin typeface="Arial" pitchFamily="34" charset="0"/>
                <a:ea typeface="Arial" pitchFamily="34" charset="-122"/>
                <a:cs typeface="Arial" pitchFamily="34" charset="-120"/>
              </a:rPr>
              <a:t>Thinking Like a Coder</a:t>
            </a:r>
            <a:endParaRPr lang="en-US" sz="4200" dirty="0"/>
          </a:p>
        </p:txBody>
      </p:sp>
      <p:sp>
        <p:nvSpPr>
          <p:cNvPr id="5" name="Text 2"/>
          <p:cNvSpPr txBox="1"/>
          <p:nvPr/>
        </p:nvSpPr>
        <p:spPr>
          <a:xfrm>
            <a:off x="658368" y="2889504"/>
            <a:ext cx="6583680" cy="365760"/>
          </a:xfrm>
          <a:prstGeom prst="rect">
            <a:avLst/>
          </a:prstGeom>
          <a:noFill/>
          <a:ln/>
        </p:spPr>
        <p:txBody>
          <a:bodyPr wrap="square" lIns="0" tIns="0" rIns="0" bIns="0" rtlCol="0" anchor="ctr"/>
          <a:lstStyle/>
          <a:p>
            <a:pPr marL="0" indent="0">
              <a:buNone/>
            </a:pPr>
            <a:r>
              <a:rPr lang="en-US" sz="1700" dirty="0">
                <a:solidFill>
                  <a:srgbClr val="C9C9C9"/>
                </a:solidFill>
                <a:latin typeface="Calibri" pitchFamily="34" charset="0"/>
                <a:ea typeface="Calibri" pitchFamily="34" charset="-122"/>
                <a:cs typeface="Calibri" pitchFamily="34" charset="-120"/>
              </a:rPr>
              <a:t>Course intro, setup, and the one skill that survives AI</a:t>
            </a:r>
            <a:endParaRPr lang="en-US" sz="1700" dirty="0"/>
          </a:p>
        </p:txBody>
      </p:sp>
      <p:sp>
        <p:nvSpPr>
          <p:cNvPr id="6" name="Shape 3"/>
          <p:cNvSpPr/>
          <p:nvPr/>
        </p:nvSpPr>
        <p:spPr>
          <a:xfrm>
            <a:off x="7818120" y="1920240"/>
            <a:ext cx="3749040" cy="2331720"/>
          </a:xfrm>
          <a:prstGeom prst="roundRect">
            <a:avLst>
              <a:gd name="adj" fmla="val 3529"/>
            </a:avLst>
          </a:prstGeom>
          <a:solidFill>
            <a:srgbClr val="2E2E2E"/>
          </a:solidFill>
          <a:ln w="12700">
            <a:solidFill>
              <a:srgbClr val="3D3D3D"/>
            </a:solidFill>
            <a:prstDash val="solid"/>
          </a:ln>
        </p:spPr>
        <p:txBody>
          <a:bodyPr/>
          <a:lstStyle/>
          <a:p>
            <a:endParaRPr lang="en-US"/>
          </a:p>
        </p:txBody>
      </p:sp>
      <p:sp>
        <p:nvSpPr>
          <p:cNvPr id="7" name="Shape 4"/>
          <p:cNvSpPr/>
          <p:nvPr/>
        </p:nvSpPr>
        <p:spPr>
          <a:xfrm>
            <a:off x="8037576" y="2107692"/>
            <a:ext cx="100584" cy="100584"/>
          </a:xfrm>
          <a:prstGeom prst="ellipse">
            <a:avLst/>
          </a:prstGeom>
          <a:solidFill>
            <a:srgbClr val="E06C60"/>
          </a:solidFill>
          <a:ln w="12700">
            <a:solidFill>
              <a:srgbClr val="E06C60"/>
            </a:solidFill>
            <a:prstDash val="solid"/>
          </a:ln>
        </p:spPr>
        <p:txBody>
          <a:bodyPr/>
          <a:lstStyle/>
          <a:p>
            <a:endParaRPr lang="en-US"/>
          </a:p>
        </p:txBody>
      </p:sp>
      <p:sp>
        <p:nvSpPr>
          <p:cNvPr id="8" name="Shape 5"/>
          <p:cNvSpPr/>
          <p:nvPr/>
        </p:nvSpPr>
        <p:spPr>
          <a:xfrm>
            <a:off x="8220456" y="2107692"/>
            <a:ext cx="100584" cy="100584"/>
          </a:xfrm>
          <a:prstGeom prst="ellipse">
            <a:avLst/>
          </a:prstGeom>
          <a:solidFill>
            <a:srgbClr val="E5B84B"/>
          </a:solidFill>
          <a:ln w="12700">
            <a:solidFill>
              <a:srgbClr val="E5B84B"/>
            </a:solidFill>
            <a:prstDash val="solid"/>
          </a:ln>
        </p:spPr>
        <p:txBody>
          <a:bodyPr/>
          <a:lstStyle/>
          <a:p>
            <a:endParaRPr lang="en-US"/>
          </a:p>
        </p:txBody>
      </p:sp>
      <p:sp>
        <p:nvSpPr>
          <p:cNvPr id="9" name="Shape 6"/>
          <p:cNvSpPr/>
          <p:nvPr/>
        </p:nvSpPr>
        <p:spPr>
          <a:xfrm>
            <a:off x="8403336" y="2107692"/>
            <a:ext cx="100584" cy="100584"/>
          </a:xfrm>
          <a:prstGeom prst="ellipse">
            <a:avLst/>
          </a:prstGeom>
          <a:solidFill>
            <a:srgbClr val="9AA0A6"/>
          </a:solidFill>
          <a:ln w="12700">
            <a:solidFill>
              <a:srgbClr val="9AA0A6"/>
            </a:solidFill>
            <a:prstDash val="solid"/>
          </a:ln>
        </p:spPr>
        <p:txBody>
          <a:bodyPr/>
          <a:lstStyle/>
          <a:p>
            <a:endParaRPr lang="en-US"/>
          </a:p>
        </p:txBody>
      </p:sp>
      <p:sp>
        <p:nvSpPr>
          <p:cNvPr id="10" name="Text 7"/>
          <p:cNvSpPr txBox="1"/>
          <p:nvPr/>
        </p:nvSpPr>
        <p:spPr>
          <a:xfrm>
            <a:off x="8595360" y="2039112"/>
            <a:ext cx="2834640" cy="237744"/>
          </a:xfrm>
          <a:prstGeom prst="rect">
            <a:avLst/>
          </a:prstGeom>
          <a:noFill/>
          <a:ln/>
        </p:spPr>
        <p:txBody>
          <a:bodyPr wrap="square" lIns="0" tIns="0" rIns="0" bIns="0" rtlCol="0" anchor="ctr"/>
          <a:lstStyle/>
          <a:p>
            <a:pPr marL="0" indent="0">
              <a:buNone/>
            </a:pPr>
            <a:r>
              <a:rPr lang="en-US" sz="1050" dirty="0">
                <a:solidFill>
                  <a:srgbClr val="A9A9A9"/>
                </a:solidFill>
                <a:latin typeface="Courier New" pitchFamily="34" charset="0"/>
                <a:ea typeface="Courier New" pitchFamily="34" charset="-122"/>
                <a:cs typeface="Courier New" pitchFamily="34" charset="-120"/>
              </a:rPr>
              <a:t>hello.py</a:t>
            </a:r>
            <a:endParaRPr lang="en-US" sz="1050" dirty="0"/>
          </a:p>
        </p:txBody>
      </p:sp>
      <p:sp>
        <p:nvSpPr>
          <p:cNvPr id="11" name="Shape 8"/>
          <p:cNvSpPr/>
          <p:nvPr/>
        </p:nvSpPr>
        <p:spPr>
          <a:xfrm>
            <a:off x="7827264" y="2395728"/>
            <a:ext cx="3730752" cy="9144"/>
          </a:xfrm>
          <a:prstGeom prst="rect">
            <a:avLst/>
          </a:prstGeom>
          <a:solidFill>
            <a:srgbClr val="3D3D3D"/>
          </a:solidFill>
          <a:ln w="12700">
            <a:solidFill>
              <a:srgbClr val="3D3D3D"/>
            </a:solidFill>
            <a:prstDash val="solid"/>
          </a:ln>
        </p:spPr>
        <p:txBody>
          <a:bodyPr/>
          <a:lstStyle/>
          <a:p>
            <a:endParaRPr lang="en-US"/>
          </a:p>
        </p:txBody>
      </p:sp>
      <p:sp>
        <p:nvSpPr>
          <p:cNvPr id="12" name="Text 9"/>
          <p:cNvSpPr txBox="1"/>
          <p:nvPr/>
        </p:nvSpPr>
        <p:spPr>
          <a:xfrm>
            <a:off x="8037576" y="2505456"/>
            <a:ext cx="3310128" cy="1581912"/>
          </a:xfrm>
          <a:prstGeom prst="rect">
            <a:avLst/>
          </a:prstGeom>
          <a:noFill/>
          <a:ln/>
        </p:spPr>
        <p:txBody>
          <a:bodyPr wrap="square" lIns="0" tIns="0" rIns="0" bIns="0" rtlCol="0" anchor="t"/>
          <a:lstStyle/>
          <a:p>
            <a:pPr marL="0" indent="0">
              <a:lnSpc>
                <a:spcPts val="2000"/>
              </a:lnSpc>
              <a:buNone/>
            </a:pPr>
            <a:r>
              <a:rPr lang="en-US" sz="1250" dirty="0">
                <a:solidFill>
                  <a:srgbClr val="F2C879"/>
                </a:solidFill>
                <a:latin typeface="Courier New" pitchFamily="34" charset="0"/>
                <a:ea typeface="Courier New" pitchFamily="34" charset="-122"/>
                <a:cs typeface="Courier New" pitchFamily="34" charset="-120"/>
              </a:rPr>
              <a:t>print("hello, research")
</a:t>
            </a:r>
            <a:r>
              <a:rPr lang="en-US" sz="1250" dirty="0">
                <a:solidFill>
                  <a:srgbClr val="E4E4E4"/>
                </a:solidFill>
                <a:latin typeface="Courier New" pitchFamily="34" charset="0"/>
                <a:ea typeface="Courier New" pitchFamily="34" charset="-122"/>
                <a:cs typeface="Courier New" pitchFamily="34" charset="-120"/>
              </a:rPr>
              <a:t>
</a:t>
            </a:r>
            <a:r>
              <a:rPr lang="en-US" sz="1250" dirty="0">
                <a:solidFill>
                  <a:srgbClr val="9BD2A0"/>
                </a:solidFill>
                <a:latin typeface="Courier New" pitchFamily="34" charset="0"/>
                <a:ea typeface="Courier New" pitchFamily="34" charset="-122"/>
                <a:cs typeface="Courier New" pitchFamily="34" charset="-120"/>
              </a:rPr>
              <a:t>&gt; hello, research</a:t>
            </a:r>
            <a:endParaRPr lang="en-US" sz="1250" dirty="0"/>
          </a:p>
        </p:txBody>
      </p:sp>
      <p:sp>
        <p:nvSpPr>
          <p:cNvPr id="13" name="Text 10"/>
          <p:cNvSpPr txBox="1"/>
          <p:nvPr/>
        </p:nvSpPr>
        <p:spPr>
          <a:xfrm>
            <a:off x="7818120" y="4352544"/>
            <a:ext cx="3749040" cy="457200"/>
          </a:xfrm>
          <a:prstGeom prst="rect">
            <a:avLst/>
          </a:prstGeom>
          <a:noFill/>
          <a:ln/>
        </p:spPr>
        <p:txBody>
          <a:bodyPr wrap="square" lIns="0" tIns="0" rIns="0" bIns="0" rtlCol="0" anchor="ctr"/>
          <a:lstStyle/>
          <a:p>
            <a:pPr marL="0" indent="0" algn="ctr">
              <a:buNone/>
            </a:pPr>
            <a:r>
              <a:rPr lang="en-US" sz="1150" i="1" dirty="0">
                <a:solidFill>
                  <a:srgbClr val="9A9A9A"/>
                </a:solidFill>
                <a:latin typeface="Calibri" pitchFamily="34" charset="0"/>
                <a:ea typeface="Calibri" pitchFamily="34" charset="-122"/>
                <a:cs typeface="Calibri" pitchFamily="34" charset="-120"/>
              </a:rPr>
              <a:t>Two languages. One command. The concepts transfer.</a:t>
            </a:r>
            <a:endParaRPr lang="en-US" sz="1150" dirty="0"/>
          </a:p>
        </p:txBody>
      </p:sp>
      <p:sp>
        <p:nvSpPr>
          <p:cNvPr id="14" name="Text 11"/>
          <p:cNvSpPr txBox="1"/>
          <p:nvPr/>
        </p:nvSpPr>
        <p:spPr>
          <a:xfrm>
            <a:off x="658368" y="5138928"/>
            <a:ext cx="6766560" cy="1005840"/>
          </a:xfrm>
          <a:prstGeom prst="rect">
            <a:avLst/>
          </a:prstGeom>
          <a:noFill/>
          <a:ln/>
        </p:spPr>
        <p:txBody>
          <a:bodyPr wrap="square" lIns="0" tIns="0" rIns="0" bIns="0" rtlCol="0" anchor="ctr"/>
          <a:lstStyle/>
          <a:p>
            <a:pPr marL="0" indent="0">
              <a:lnSpc>
                <a:spcPts val="1900"/>
              </a:lnSpc>
              <a:buNone/>
            </a:pPr>
            <a:r>
              <a:rPr lang="en-US" sz="1400" b="1" dirty="0">
                <a:solidFill>
                  <a:srgbClr val="FFFFFF"/>
                </a:solidFill>
                <a:latin typeface="Calibri" pitchFamily="34" charset="0"/>
                <a:ea typeface="Calibri" pitchFamily="34" charset="-122"/>
                <a:cs typeface="Calibri" pitchFamily="34" charset="-120"/>
              </a:rPr>
              <a:t>CPBP 8306 — Coding for Research
</a:t>
            </a:r>
            <a:r>
              <a:rPr lang="en-US" sz="1250" dirty="0">
                <a:solidFill>
                  <a:srgbClr val="A8A8A8"/>
                </a:solidFill>
                <a:latin typeface="Calibri" pitchFamily="34" charset="0"/>
                <a:ea typeface="Calibri" pitchFamily="34" charset="-122"/>
                <a:cs typeface="Calibri" pitchFamily="34" charset="-120"/>
              </a:rPr>
              <a:t>Joshua Borycz  &amp;  Daniel Genkins   |   TA: Peyton Coleman
Thursdays 10:00–10:55am  ·  Light Hall 439</a:t>
            </a:r>
            <a:endParaRPr lang="en-US" sz="14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vu_mark_gold.png"/>
          <p:cNvPicPr>
            <a:picLocks noChangeAspect="1"/>
          </p:cNvPicPr>
          <p:nvPr/>
        </p:nvPicPr>
        <p:blipFill>
          <a:blip r:embed="rId2"/>
          <a:stretch>
            <a:fillRect/>
          </a:stretch>
        </p:blipFill>
        <p:spPr>
          <a:xfrm>
            <a:off x="11356848" y="310896"/>
            <a:ext cx="384048" cy="274320"/>
          </a:xfrm>
          <a:prstGeom prst="rect">
            <a:avLst/>
          </a:prstGeom>
        </p:spPr>
      </p:pic>
      <p:sp>
        <p:nvSpPr>
          <p:cNvPr id="3" name="Shape 0"/>
          <p:cNvSpPr/>
          <p:nvPr/>
        </p:nvSpPr>
        <p:spPr>
          <a:xfrm>
            <a:off x="566928" y="329184"/>
            <a:ext cx="2413099" cy="310896"/>
          </a:xfrm>
          <a:prstGeom prst="roundRect">
            <a:avLst>
              <a:gd name="adj" fmla="val 50000"/>
            </a:avLst>
          </a:prstGeom>
          <a:solidFill>
            <a:srgbClr val="F2C879"/>
          </a:solidFill>
          <a:ln w="12700">
            <a:solidFill>
              <a:srgbClr val="F2C879"/>
            </a:solidFill>
            <a:prstDash val="solid"/>
          </a:ln>
        </p:spPr>
        <p:txBody>
          <a:bodyPr/>
          <a:lstStyle/>
          <a:p>
            <a:endParaRPr lang="en-US"/>
          </a:p>
        </p:txBody>
      </p:sp>
      <p:sp>
        <p:nvSpPr>
          <p:cNvPr id="4" name="Text 1"/>
          <p:cNvSpPr txBox="1"/>
          <p:nvPr/>
        </p:nvSpPr>
        <p:spPr>
          <a:xfrm>
            <a:off x="566928" y="329184"/>
            <a:ext cx="2413099" cy="310896"/>
          </a:xfrm>
          <a:prstGeom prst="rect">
            <a:avLst/>
          </a:prstGeom>
          <a:noFill/>
          <a:ln/>
        </p:spPr>
        <p:txBody>
          <a:bodyPr wrap="square" lIns="0" tIns="0" rIns="0" bIns="0" rtlCol="0" anchor="ctr"/>
          <a:lstStyle/>
          <a:p>
            <a:pPr marL="0" indent="0" algn="ctr">
              <a:buNone/>
            </a:pPr>
            <a:r>
              <a:rPr lang="en-US" sz="1050" b="1" kern="0" spc="110" dirty="0">
                <a:solidFill>
                  <a:srgbClr val="5A4415"/>
                </a:solidFill>
                <a:latin typeface="Arial" pitchFamily="34" charset="0"/>
                <a:ea typeface="Arial" pitchFamily="34" charset="-122"/>
                <a:cs typeface="Arial" pitchFamily="34" charset="-120"/>
              </a:rPr>
              <a:t>0–3 MIN  ·  FIRST THING</a:t>
            </a:r>
            <a:endParaRPr lang="en-US" sz="1050" dirty="0"/>
          </a:p>
        </p:txBody>
      </p:sp>
      <p:sp>
        <p:nvSpPr>
          <p:cNvPr id="5" name="Text 2"/>
          <p:cNvSpPr txBox="1"/>
          <p:nvPr/>
        </p:nvSpPr>
        <p:spPr>
          <a:xfrm>
            <a:off x="566928" y="749808"/>
            <a:ext cx="10692079" cy="658368"/>
          </a:xfrm>
          <a:prstGeom prst="rect">
            <a:avLst/>
          </a:prstGeom>
          <a:noFill/>
          <a:ln/>
        </p:spPr>
        <p:txBody>
          <a:bodyPr wrap="square" lIns="0" tIns="0" rIns="0" bIns="0" rtlCol="0" anchor="ctr"/>
          <a:lstStyle/>
          <a:p>
            <a:pPr marL="0" indent="0">
              <a:buNone/>
            </a:pPr>
            <a:r>
              <a:rPr lang="en-US" sz="3300" b="1" dirty="0">
                <a:solidFill>
                  <a:srgbClr val="1C1C1C"/>
                </a:solidFill>
                <a:latin typeface="Arial" pitchFamily="34" charset="0"/>
                <a:ea typeface="Arial" pitchFamily="34" charset="-122"/>
                <a:cs typeface="Arial" pitchFamily="34" charset="-120"/>
              </a:rPr>
              <a:t>Before anything else — the pre-test</a:t>
            </a:r>
            <a:endParaRPr lang="en-US" sz="3300" dirty="0"/>
          </a:p>
        </p:txBody>
      </p:sp>
      <p:sp>
        <p:nvSpPr>
          <p:cNvPr id="6" name="Text 3"/>
          <p:cNvSpPr txBox="1"/>
          <p:nvPr/>
        </p:nvSpPr>
        <p:spPr>
          <a:xfrm>
            <a:off x="11430000" y="6419088"/>
            <a:ext cx="320040" cy="228600"/>
          </a:xfrm>
          <a:prstGeom prst="rect">
            <a:avLst/>
          </a:prstGeom>
          <a:noFill/>
          <a:ln/>
        </p:spPr>
        <p:txBody>
          <a:bodyPr wrap="square" lIns="0" tIns="0" rIns="0" bIns="0" rtlCol="0" anchor="ctr"/>
          <a:lstStyle/>
          <a:p>
            <a:pPr marL="0" indent="0" algn="r">
              <a:buNone/>
            </a:pPr>
            <a:r>
              <a:rPr lang="en-US" sz="1000" dirty="0">
                <a:solidFill>
                  <a:srgbClr val="B5B5B5"/>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566928" y="1572768"/>
            <a:ext cx="5532120" cy="2834640"/>
          </a:xfrm>
          <a:prstGeom prst="roundRect">
            <a:avLst>
              <a:gd name="adj" fmla="val 2903"/>
            </a:avLst>
          </a:prstGeom>
          <a:solidFill>
            <a:srgbClr val="FBF7EF"/>
          </a:solidFill>
          <a:ln w="12700">
            <a:solidFill>
              <a:srgbClr val="E6E6E6"/>
            </a:solidFill>
            <a:prstDash val="solid"/>
          </a:ln>
        </p:spPr>
        <p:txBody>
          <a:bodyPr/>
          <a:lstStyle/>
          <a:p>
            <a:endParaRPr lang="en-US"/>
          </a:p>
        </p:txBody>
      </p:sp>
      <p:sp>
        <p:nvSpPr>
          <p:cNvPr id="8" name="Text 5"/>
          <p:cNvSpPr txBox="1"/>
          <p:nvPr/>
        </p:nvSpPr>
        <p:spPr>
          <a:xfrm>
            <a:off x="822960" y="1773936"/>
            <a:ext cx="4937760" cy="237744"/>
          </a:xfrm>
          <a:prstGeom prst="rect">
            <a:avLst/>
          </a:prstGeom>
          <a:noFill/>
          <a:ln/>
        </p:spPr>
        <p:txBody>
          <a:bodyPr wrap="square" lIns="0" tIns="0" rIns="0" bIns="0" rtlCol="0" anchor="ctr"/>
          <a:lstStyle/>
          <a:p>
            <a:pPr marL="0" indent="0">
              <a:buNone/>
            </a:pPr>
            <a:r>
              <a:rPr lang="en-US" sz="1000" b="1" kern="0" spc="150" dirty="0">
                <a:solidFill>
                  <a:srgbClr val="8A6D3B"/>
                </a:solidFill>
                <a:latin typeface="Arial" pitchFamily="34" charset="0"/>
                <a:ea typeface="Arial" pitchFamily="34" charset="-122"/>
                <a:cs typeface="Arial" pitchFamily="34" charset="-120"/>
              </a:rPr>
              <a:t>WHAT IT IS</a:t>
            </a:r>
            <a:endParaRPr lang="en-US" sz="1000" dirty="0"/>
          </a:p>
        </p:txBody>
      </p:sp>
      <p:sp>
        <p:nvSpPr>
          <p:cNvPr id="9" name="Text 6"/>
          <p:cNvSpPr txBox="1"/>
          <p:nvPr/>
        </p:nvSpPr>
        <p:spPr>
          <a:xfrm>
            <a:off x="841248" y="2103120"/>
            <a:ext cx="5029200" cy="2377440"/>
          </a:xfrm>
          <a:prstGeom prst="rect">
            <a:avLst/>
          </a:prstGeom>
          <a:noFill/>
          <a:ln/>
        </p:spPr>
        <p:txBody>
          <a:bodyPr wrap="square" lIns="0" tIns="0" rIns="0" bIns="0" rtlCol="0" anchor="t"/>
          <a:lstStyle/>
          <a:p>
            <a:pPr marL="203200" indent="-203200">
              <a:lnSpc>
                <a:spcPts val="1800"/>
              </a:lnSpc>
              <a:spcAft>
                <a:spcPts val="1300"/>
              </a:spcAft>
              <a:buSzPct val="100000"/>
              <a:buChar char="•"/>
            </a:pPr>
            <a:r>
              <a:rPr lang="en-US" sz="1400" dirty="0">
                <a:solidFill>
                  <a:srgbClr val="3A3A3A"/>
                </a:solidFill>
                <a:latin typeface="Calibri" pitchFamily="34" charset="0"/>
                <a:ea typeface="Calibri" pitchFamily="34" charset="-122"/>
                <a:cs typeface="Calibri" pitchFamily="34" charset="-120"/>
              </a:rPr>
              <a:t>A few quick questions about how confident you feel about coding, plus one short written answer.</a:t>
            </a:r>
            <a:endParaRPr lang="en-US" sz="1400" dirty="0"/>
          </a:p>
          <a:p>
            <a:pPr marL="203200" indent="-203200">
              <a:lnSpc>
                <a:spcPts val="1800"/>
              </a:lnSpc>
              <a:spcAft>
                <a:spcPts val="1300"/>
              </a:spcAft>
              <a:buSzPct val="100000"/>
              <a:buChar char="•"/>
            </a:pPr>
            <a:r>
              <a:rPr lang="en-US" sz="1400" dirty="0">
                <a:solidFill>
                  <a:srgbClr val="3A3A3A"/>
                </a:solidFill>
                <a:latin typeface="Calibri" pitchFamily="34" charset="0"/>
                <a:ea typeface="Calibri" pitchFamily="34" charset="-122"/>
                <a:cs typeface="Calibri" pitchFamily="34" charset="-120"/>
              </a:rPr>
              <a:t>Two minutes. Your phone is fine.</a:t>
            </a:r>
            <a:endParaRPr lang="en-US" sz="1400" dirty="0"/>
          </a:p>
          <a:p>
            <a:pPr marL="203200" indent="-203200">
              <a:lnSpc>
                <a:spcPts val="1800"/>
              </a:lnSpc>
              <a:spcAft>
                <a:spcPts val="1300"/>
              </a:spcAft>
              <a:buSzPct val="100000"/>
              <a:buChar char="•"/>
            </a:pPr>
            <a:r>
              <a:rPr lang="en-US" sz="1400" dirty="0">
                <a:solidFill>
                  <a:srgbClr val="3A3A3A"/>
                </a:solidFill>
                <a:latin typeface="Calibri" pitchFamily="34" charset="0"/>
                <a:ea typeface="Calibri" pitchFamily="34" charset="-122"/>
                <a:cs typeface="Calibri" pitchFamily="34" charset="-120"/>
              </a:rPr>
              <a:t>It is not a test of knowledge. There is nothing to study and nothing to get wrong.</a:t>
            </a:r>
            <a:endParaRPr lang="en-US" sz="1400" dirty="0"/>
          </a:p>
        </p:txBody>
      </p:sp>
      <p:sp>
        <p:nvSpPr>
          <p:cNvPr id="10" name="Shape 7"/>
          <p:cNvSpPr/>
          <p:nvPr/>
        </p:nvSpPr>
        <p:spPr>
          <a:xfrm>
            <a:off x="6382512" y="1572768"/>
            <a:ext cx="5230368" cy="2834640"/>
          </a:xfrm>
          <a:prstGeom prst="roundRect">
            <a:avLst>
              <a:gd name="adj" fmla="val 2903"/>
            </a:avLst>
          </a:prstGeom>
          <a:solidFill>
            <a:srgbClr val="FFFFFF"/>
          </a:solidFill>
          <a:ln w="12700">
            <a:solidFill>
              <a:srgbClr val="E6E6E6"/>
            </a:solidFill>
            <a:prstDash val="solid"/>
          </a:ln>
        </p:spPr>
        <p:txBody>
          <a:bodyPr/>
          <a:lstStyle/>
          <a:p>
            <a:endParaRPr lang="en-US"/>
          </a:p>
        </p:txBody>
      </p:sp>
      <p:sp>
        <p:nvSpPr>
          <p:cNvPr id="11" name="Text 8"/>
          <p:cNvSpPr txBox="1"/>
          <p:nvPr/>
        </p:nvSpPr>
        <p:spPr>
          <a:xfrm>
            <a:off x="6638544" y="1773936"/>
            <a:ext cx="4754880" cy="237744"/>
          </a:xfrm>
          <a:prstGeom prst="rect">
            <a:avLst/>
          </a:prstGeom>
          <a:noFill/>
          <a:ln/>
        </p:spPr>
        <p:txBody>
          <a:bodyPr wrap="square" lIns="0" tIns="0" rIns="0" bIns="0" rtlCol="0" anchor="ctr"/>
          <a:lstStyle/>
          <a:p>
            <a:pPr marL="0" indent="0">
              <a:buNone/>
            </a:pPr>
            <a:r>
              <a:rPr lang="en-US" sz="1000" b="1" kern="0" spc="150" dirty="0">
                <a:solidFill>
                  <a:srgbClr val="6B7A88"/>
                </a:solidFill>
                <a:latin typeface="Arial" pitchFamily="34" charset="0"/>
                <a:ea typeface="Arial" pitchFamily="34" charset="-122"/>
                <a:cs typeface="Arial" pitchFamily="34" charset="-120"/>
              </a:rPr>
              <a:t>WHY WE ASK</a:t>
            </a:r>
            <a:endParaRPr lang="en-US" sz="1000" dirty="0"/>
          </a:p>
        </p:txBody>
      </p:sp>
      <p:sp>
        <p:nvSpPr>
          <p:cNvPr id="12" name="Text 9"/>
          <p:cNvSpPr txBox="1"/>
          <p:nvPr/>
        </p:nvSpPr>
        <p:spPr>
          <a:xfrm>
            <a:off x="6656832" y="2103120"/>
            <a:ext cx="4754880" cy="2377440"/>
          </a:xfrm>
          <a:prstGeom prst="rect">
            <a:avLst/>
          </a:prstGeom>
          <a:noFill/>
          <a:ln/>
        </p:spPr>
        <p:txBody>
          <a:bodyPr wrap="square" lIns="0" tIns="0" rIns="0" bIns="0" rtlCol="0" anchor="t"/>
          <a:lstStyle/>
          <a:p>
            <a:pPr marL="203200" indent="-203200">
              <a:lnSpc>
                <a:spcPts val="1800"/>
              </a:lnSpc>
              <a:spcAft>
                <a:spcPts val="1300"/>
              </a:spcAft>
              <a:buSzPct val="100000"/>
              <a:buChar char="•"/>
            </a:pPr>
            <a:r>
              <a:rPr lang="en-US" sz="1400" dirty="0">
                <a:solidFill>
                  <a:srgbClr val="3A3A3A"/>
                </a:solidFill>
                <a:latin typeface="Calibri" pitchFamily="34" charset="0"/>
                <a:ea typeface="Calibri" pitchFamily="34" charset="-122"/>
                <a:cs typeface="Calibri" pitchFamily="34" charset="-120"/>
              </a:rPr>
              <a:t>Graded on completion, not correctness — submitting it is full marks.</a:t>
            </a:r>
            <a:endParaRPr lang="en-US" sz="1400" dirty="0"/>
          </a:p>
          <a:p>
            <a:pPr marL="203200" indent="-203200">
              <a:lnSpc>
                <a:spcPts val="1800"/>
              </a:lnSpc>
              <a:spcAft>
                <a:spcPts val="1300"/>
              </a:spcAft>
              <a:buSzPct val="100000"/>
              <a:buChar char="•"/>
            </a:pPr>
            <a:r>
              <a:rPr lang="en-US" sz="1400" dirty="0">
                <a:solidFill>
                  <a:srgbClr val="3A3A3A"/>
                </a:solidFill>
                <a:latin typeface="Calibri" pitchFamily="34" charset="0"/>
                <a:ea typeface="Calibri" pitchFamily="34" charset="-122"/>
                <a:cs typeface="Calibri" pitchFamily="34" charset="-120"/>
              </a:rPr>
              <a:t>We run the same survey again at the end of the semester.</a:t>
            </a:r>
            <a:endParaRPr lang="en-US" sz="1400" dirty="0"/>
          </a:p>
          <a:p>
            <a:pPr marL="203200" indent="-203200">
              <a:lnSpc>
                <a:spcPts val="1800"/>
              </a:lnSpc>
              <a:spcAft>
                <a:spcPts val="1300"/>
              </a:spcAft>
              <a:buSzPct val="100000"/>
              <a:buChar char="•"/>
            </a:pPr>
            <a:r>
              <a:rPr lang="en-US" sz="1400" dirty="0">
                <a:solidFill>
                  <a:srgbClr val="3A3A3A"/>
                </a:solidFill>
                <a:latin typeface="Calibri" pitchFamily="34" charset="0"/>
                <a:ea typeface="Calibri" pitchFamily="34" charset="-122"/>
                <a:cs typeface="Calibri" pitchFamily="34" charset="-120"/>
              </a:rPr>
              <a:t>Comparing the two is how we find out whether this course actually worked.</a:t>
            </a:r>
            <a:endParaRPr lang="en-US" sz="1400" dirty="0"/>
          </a:p>
          <a:p>
            <a:pPr marL="203200" indent="-203200">
              <a:lnSpc>
                <a:spcPts val="1800"/>
              </a:lnSpc>
              <a:spcAft>
                <a:spcPts val="1300"/>
              </a:spcAft>
              <a:buSzPct val="100000"/>
              <a:buChar char="•"/>
            </a:pPr>
            <a:r>
              <a:rPr lang="en-US" sz="1400" dirty="0">
                <a:solidFill>
                  <a:srgbClr val="3A3A3A"/>
                </a:solidFill>
                <a:latin typeface="Calibri" pitchFamily="34" charset="0"/>
                <a:ea typeface="Calibri" pitchFamily="34" charset="-122"/>
                <a:cs typeface="Calibri" pitchFamily="34" charset="-120"/>
              </a:rPr>
              <a:t>So answer honestly. “Not confident at all” is a genuinely useful answer.</a:t>
            </a:r>
            <a:endParaRPr lang="en-US" sz="1400" dirty="0"/>
          </a:p>
        </p:txBody>
      </p:sp>
      <p:sp>
        <p:nvSpPr>
          <p:cNvPr id="13" name="Shape 10"/>
          <p:cNvSpPr/>
          <p:nvPr/>
        </p:nvSpPr>
        <p:spPr>
          <a:xfrm>
            <a:off x="566928" y="4754880"/>
            <a:ext cx="11057839" cy="1207008"/>
          </a:xfrm>
          <a:prstGeom prst="roundRect">
            <a:avLst>
              <a:gd name="adj" fmla="val 6818"/>
            </a:avLst>
          </a:prstGeom>
          <a:solidFill>
            <a:srgbClr val="1C1C1C"/>
          </a:solidFill>
          <a:ln w="12700">
            <a:solidFill>
              <a:srgbClr val="1C1C1C"/>
            </a:solidFill>
            <a:prstDash val="solid"/>
          </a:ln>
        </p:spPr>
        <p:txBody>
          <a:bodyPr/>
          <a:lstStyle/>
          <a:p>
            <a:endParaRPr lang="en-US"/>
          </a:p>
        </p:txBody>
      </p:sp>
      <p:sp>
        <p:nvSpPr>
          <p:cNvPr id="14" name="Text 11"/>
          <p:cNvSpPr txBox="1"/>
          <p:nvPr/>
        </p:nvSpPr>
        <p:spPr>
          <a:xfrm>
            <a:off x="886968" y="4956048"/>
            <a:ext cx="5486400" cy="237744"/>
          </a:xfrm>
          <a:prstGeom prst="rect">
            <a:avLst/>
          </a:prstGeom>
          <a:noFill/>
          <a:ln/>
        </p:spPr>
        <p:txBody>
          <a:bodyPr wrap="square" lIns="0" tIns="0" rIns="0" bIns="0" rtlCol="0" anchor="ctr"/>
          <a:lstStyle/>
          <a:p>
            <a:pPr marL="0" indent="0">
              <a:buNone/>
            </a:pPr>
            <a:r>
              <a:rPr lang="en-US" sz="950" b="1" kern="0" spc="160" dirty="0">
                <a:solidFill>
                  <a:srgbClr val="D9A441"/>
                </a:solidFill>
                <a:latin typeface="Arial" pitchFamily="34" charset="0"/>
                <a:ea typeface="Arial" pitchFamily="34" charset="-122"/>
                <a:cs typeface="Arial" pitchFamily="34" charset="-120"/>
              </a:rPr>
              <a:t>TAKE IT NOW  ·  ALSO LINKED ON BRIGHTSPACE</a:t>
            </a:r>
            <a:endParaRPr lang="en-US" sz="950" dirty="0"/>
          </a:p>
        </p:txBody>
      </p:sp>
      <p:sp>
        <p:nvSpPr>
          <p:cNvPr id="15" name="Text 12"/>
          <p:cNvSpPr txBox="1"/>
          <p:nvPr/>
        </p:nvSpPr>
        <p:spPr>
          <a:xfrm>
            <a:off x="886968" y="5230368"/>
            <a:ext cx="10424160" cy="713232"/>
          </a:xfrm>
          <a:prstGeom prst="rect">
            <a:avLst/>
          </a:prstGeom>
          <a:noFill/>
          <a:ln/>
        </p:spPr>
        <p:txBody>
          <a:bodyPr wrap="square" lIns="0" tIns="0" rIns="0" bIns="0" rtlCol="0" anchor="t"/>
          <a:lstStyle/>
          <a:p>
            <a:pPr marL="0" indent="0">
              <a:lnSpc>
                <a:spcPts val="2400"/>
              </a:lnSpc>
              <a:buNone/>
            </a:pPr>
            <a:r>
              <a:rPr lang="en-US" sz="3000" b="1" dirty="0">
                <a:solidFill>
                  <a:srgbClr val="FFFFFF"/>
                </a:solidFill>
                <a:latin typeface="Arial" pitchFamily="34" charset="0"/>
                <a:ea typeface="Arial" pitchFamily="34" charset="-122"/>
                <a:cs typeface="Arial" pitchFamily="34" charset="-120"/>
              </a:rPr>
              <a:t>forms.cloud.microsoft/r/ee6cN6cpkz</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1C1C1C"/>
        </a:solidFill>
        <a:effectLst/>
      </p:bgPr>
    </p:bg>
    <p:spTree>
      <p:nvGrpSpPr>
        <p:cNvPr id="1" name=""/>
        <p:cNvGrpSpPr/>
        <p:nvPr/>
      </p:nvGrpSpPr>
      <p:grpSpPr>
        <a:xfrm>
          <a:off x="0" y="0"/>
          <a:ext cx="0" cy="0"/>
          <a:chOff x="0" y="0"/>
          <a:chExt cx="0" cy="0"/>
        </a:xfrm>
      </p:grpSpPr>
      <p:pic>
        <p:nvPicPr>
          <p:cNvPr id="2" name="Image 0" descr="vu_mark_gold.png"/>
          <p:cNvPicPr>
            <a:picLocks noChangeAspect="1"/>
          </p:cNvPicPr>
          <p:nvPr/>
        </p:nvPicPr>
        <p:blipFill>
          <a:blip r:embed="rId3">
            <a:alphaModFix amt="14000"/>
          </a:blip>
          <a:stretch>
            <a:fillRect/>
          </a:stretch>
        </p:blipFill>
        <p:spPr>
          <a:xfrm>
            <a:off x="10149840" y="4617720"/>
            <a:ext cx="1481328" cy="1060704"/>
          </a:xfrm>
          <a:prstGeom prst="rect">
            <a:avLst/>
          </a:prstGeom>
        </p:spPr>
      </p:pic>
      <p:sp>
        <p:nvSpPr>
          <p:cNvPr id="3" name="Text 0"/>
          <p:cNvSpPr txBox="1"/>
          <p:nvPr/>
        </p:nvSpPr>
        <p:spPr>
          <a:xfrm>
            <a:off x="566928" y="914400"/>
            <a:ext cx="7315200" cy="292608"/>
          </a:xfrm>
          <a:prstGeom prst="rect">
            <a:avLst/>
          </a:prstGeom>
          <a:noFill/>
          <a:ln/>
        </p:spPr>
        <p:txBody>
          <a:bodyPr wrap="square" lIns="0" tIns="0" rIns="0" bIns="0" rtlCol="0" anchor="ctr"/>
          <a:lstStyle/>
          <a:p>
            <a:pPr marL="0" indent="0">
              <a:buNone/>
            </a:pPr>
            <a:r>
              <a:rPr lang="en-US" sz="1200" b="1" kern="0" spc="200" dirty="0">
                <a:solidFill>
                  <a:srgbClr val="D9A441"/>
                </a:solidFill>
                <a:latin typeface="Arial" pitchFamily="34" charset="0"/>
                <a:ea typeface="Arial" pitchFamily="34" charset="-122"/>
                <a:cs typeface="Arial" pitchFamily="34" charset="-120"/>
              </a:rPr>
              <a:t>3–5 MIN  ·  THE HONEST CONVERSATION</a:t>
            </a:r>
            <a:endParaRPr lang="en-US" sz="1200" dirty="0"/>
          </a:p>
        </p:txBody>
      </p:sp>
      <p:sp>
        <p:nvSpPr>
          <p:cNvPr id="4" name="Text 1"/>
          <p:cNvSpPr txBox="1"/>
          <p:nvPr/>
        </p:nvSpPr>
        <p:spPr>
          <a:xfrm>
            <a:off x="566928" y="1554480"/>
            <a:ext cx="10424160" cy="1234440"/>
          </a:xfrm>
          <a:prstGeom prst="rect">
            <a:avLst/>
          </a:prstGeom>
          <a:noFill/>
          <a:ln/>
        </p:spPr>
        <p:txBody>
          <a:bodyPr wrap="square" lIns="0" tIns="0" rIns="0" bIns="0" rtlCol="0" anchor="ctr"/>
          <a:lstStyle/>
          <a:p>
            <a:pPr marL="0" indent="0">
              <a:lnSpc>
                <a:spcPts val="4200"/>
              </a:lnSpc>
              <a:buNone/>
            </a:pPr>
            <a:r>
              <a:rPr lang="en-US" sz="3400" b="1" dirty="0">
                <a:solidFill>
                  <a:srgbClr val="FFFFFF"/>
                </a:solidFill>
                <a:latin typeface="Arial" pitchFamily="34" charset="0"/>
                <a:ea typeface="Arial" pitchFamily="34" charset="-122"/>
                <a:cs typeface="Arial" pitchFamily="34" charset="-120"/>
              </a:rPr>
              <a:t>Every one of you will ask an AI to write code this semester.</a:t>
            </a:r>
            <a:endParaRPr lang="en-US" sz="3400" dirty="0"/>
          </a:p>
        </p:txBody>
      </p:sp>
      <p:sp>
        <p:nvSpPr>
          <p:cNvPr id="5" name="Text 2"/>
          <p:cNvSpPr txBox="1"/>
          <p:nvPr/>
        </p:nvSpPr>
        <p:spPr>
          <a:xfrm>
            <a:off x="566928" y="3127248"/>
            <a:ext cx="10424160" cy="411480"/>
          </a:xfrm>
          <a:prstGeom prst="rect">
            <a:avLst/>
          </a:prstGeom>
          <a:noFill/>
          <a:ln/>
        </p:spPr>
        <p:txBody>
          <a:bodyPr wrap="square" lIns="0" tIns="0" rIns="0" bIns="0" rtlCol="0" anchor="ctr"/>
          <a:lstStyle/>
          <a:p>
            <a:pPr marL="0" indent="0">
              <a:buNone/>
            </a:pPr>
            <a:r>
              <a:rPr lang="en-US" sz="2100" dirty="0">
                <a:solidFill>
                  <a:srgbClr val="F2C879"/>
                </a:solidFill>
                <a:latin typeface="Calibri" pitchFamily="34" charset="0"/>
                <a:ea typeface="Calibri" pitchFamily="34" charset="-122"/>
                <a:cs typeface="Calibri" pitchFamily="34" charset="-120"/>
              </a:rPr>
              <a:t>That is fine. That is the job now.</a:t>
            </a:r>
            <a:endParaRPr lang="en-US" sz="2100" dirty="0"/>
          </a:p>
        </p:txBody>
      </p:sp>
      <p:sp>
        <p:nvSpPr>
          <p:cNvPr id="6" name="Text 3"/>
          <p:cNvSpPr txBox="1"/>
          <p:nvPr/>
        </p:nvSpPr>
        <p:spPr>
          <a:xfrm>
            <a:off x="566928" y="3803904"/>
            <a:ext cx="9326880" cy="822960"/>
          </a:xfrm>
          <a:prstGeom prst="rect">
            <a:avLst/>
          </a:prstGeom>
          <a:noFill/>
          <a:ln/>
        </p:spPr>
        <p:txBody>
          <a:bodyPr wrap="square" lIns="0" tIns="0" rIns="0" bIns="0" rtlCol="0" anchor="ctr"/>
          <a:lstStyle/>
          <a:p>
            <a:pPr marL="0" indent="0">
              <a:lnSpc>
                <a:spcPts val="2800"/>
              </a:lnSpc>
              <a:buNone/>
            </a:pPr>
            <a:r>
              <a:rPr lang="en-US" sz="2000" dirty="0">
                <a:solidFill>
                  <a:srgbClr val="D4D4D4"/>
                </a:solidFill>
                <a:latin typeface="Calibri" pitchFamily="34" charset="0"/>
                <a:ea typeface="Calibri" pitchFamily="34" charset="-122"/>
                <a:cs typeface="Calibri" pitchFamily="34" charset="-120"/>
              </a:rPr>
              <a:t>The problem is that most first-time programmers </a:t>
            </a:r>
            <a:r>
              <a:rPr lang="en-US" sz="2000" b="1" dirty="0">
                <a:solidFill>
                  <a:srgbClr val="FFFFFF"/>
                </a:solidFill>
                <a:latin typeface="Calibri" pitchFamily="34" charset="0"/>
                <a:ea typeface="Calibri" pitchFamily="34" charset="-122"/>
                <a:cs typeface="Calibri" pitchFamily="34" charset="-120"/>
              </a:rPr>
              <a:t>cannot tell whether the code they got back does what they need.</a:t>
            </a:r>
            <a:endParaRPr lang="en-US" sz="2000" dirty="0"/>
          </a:p>
        </p:txBody>
      </p:sp>
      <p:sp>
        <p:nvSpPr>
          <p:cNvPr id="7" name="Shape 4"/>
          <p:cNvSpPr/>
          <p:nvPr/>
        </p:nvSpPr>
        <p:spPr>
          <a:xfrm>
            <a:off x="566928" y="4956048"/>
            <a:ext cx="6949440" cy="749808"/>
          </a:xfrm>
          <a:prstGeom prst="roundRect">
            <a:avLst>
              <a:gd name="adj" fmla="val 10976"/>
            </a:avLst>
          </a:prstGeom>
          <a:solidFill>
            <a:srgbClr val="262626"/>
          </a:solidFill>
          <a:ln w="12700">
            <a:solidFill>
              <a:srgbClr val="8A6D3B"/>
            </a:solidFill>
            <a:prstDash val="solid"/>
          </a:ln>
        </p:spPr>
        <p:txBody>
          <a:bodyPr/>
          <a:lstStyle/>
          <a:p>
            <a:endParaRPr lang="en-US"/>
          </a:p>
        </p:txBody>
      </p:sp>
      <p:sp>
        <p:nvSpPr>
          <p:cNvPr id="8" name="Text 5"/>
          <p:cNvSpPr txBox="1"/>
          <p:nvPr/>
        </p:nvSpPr>
        <p:spPr>
          <a:xfrm>
            <a:off x="841248" y="4956048"/>
            <a:ext cx="6400800" cy="749808"/>
          </a:xfrm>
          <a:prstGeom prst="rect">
            <a:avLst/>
          </a:prstGeom>
          <a:noFill/>
          <a:ln/>
        </p:spPr>
        <p:txBody>
          <a:bodyPr wrap="square" lIns="0" tIns="0" rIns="0" bIns="0" rtlCol="0" anchor="ctr"/>
          <a:lstStyle/>
          <a:p>
            <a:pPr marL="0" indent="0">
              <a:buNone/>
            </a:pPr>
            <a:r>
              <a:rPr lang="en-US" sz="1900" b="1" dirty="0">
                <a:solidFill>
                  <a:srgbClr val="F2C879"/>
                </a:solidFill>
                <a:latin typeface="Arial" pitchFamily="34" charset="0"/>
                <a:ea typeface="Arial" pitchFamily="34" charset="-122"/>
                <a:cs typeface="Arial" pitchFamily="34" charset="-120"/>
              </a:rPr>
              <a:t>This course exists to fix exactly that.</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vu_mark_gold.png"/>
          <p:cNvPicPr>
            <a:picLocks noChangeAspect="1"/>
          </p:cNvPicPr>
          <p:nvPr/>
        </p:nvPicPr>
        <p:blipFill>
          <a:blip r:embed="rId3"/>
          <a:stretch>
            <a:fillRect/>
          </a:stretch>
        </p:blipFill>
        <p:spPr>
          <a:xfrm>
            <a:off x="11356848" y="310896"/>
            <a:ext cx="384048" cy="274320"/>
          </a:xfrm>
          <a:prstGeom prst="rect">
            <a:avLst/>
          </a:prstGeom>
        </p:spPr>
      </p:pic>
      <p:sp>
        <p:nvSpPr>
          <p:cNvPr id="3" name="Shape 0"/>
          <p:cNvSpPr/>
          <p:nvPr/>
        </p:nvSpPr>
        <p:spPr>
          <a:xfrm>
            <a:off x="566928" y="329184"/>
            <a:ext cx="2583177" cy="310896"/>
          </a:xfrm>
          <a:prstGeom prst="roundRect">
            <a:avLst>
              <a:gd name="adj" fmla="val 50000"/>
            </a:avLst>
          </a:prstGeom>
          <a:solidFill>
            <a:srgbClr val="F2C879"/>
          </a:solidFill>
          <a:ln w="12700">
            <a:solidFill>
              <a:srgbClr val="F2C879"/>
            </a:solidFill>
            <a:prstDash val="solid"/>
          </a:ln>
        </p:spPr>
        <p:txBody>
          <a:bodyPr/>
          <a:lstStyle/>
          <a:p>
            <a:endParaRPr lang="en-US"/>
          </a:p>
        </p:txBody>
      </p:sp>
      <p:sp>
        <p:nvSpPr>
          <p:cNvPr id="4" name="Text 1"/>
          <p:cNvSpPr txBox="1"/>
          <p:nvPr/>
        </p:nvSpPr>
        <p:spPr>
          <a:xfrm>
            <a:off x="566928" y="329184"/>
            <a:ext cx="2583177" cy="310896"/>
          </a:xfrm>
          <a:prstGeom prst="rect">
            <a:avLst/>
          </a:prstGeom>
          <a:noFill/>
          <a:ln/>
        </p:spPr>
        <p:txBody>
          <a:bodyPr wrap="square" lIns="0" tIns="0" rIns="0" bIns="0" rtlCol="0" anchor="ctr"/>
          <a:lstStyle/>
          <a:p>
            <a:pPr marL="0" indent="0" algn="ctr">
              <a:buNone/>
            </a:pPr>
            <a:r>
              <a:rPr lang="en-US" sz="1050" b="1" kern="0" spc="110" dirty="0">
                <a:solidFill>
                  <a:srgbClr val="5A4415"/>
                </a:solidFill>
                <a:latin typeface="Arial" pitchFamily="34" charset="0"/>
                <a:ea typeface="Arial" pitchFamily="34" charset="-122"/>
                <a:cs typeface="Arial" pitchFamily="34" charset="-120"/>
              </a:rPr>
              <a:t>5–8 MIN  ·  DEMONSTRATION</a:t>
            </a:r>
            <a:endParaRPr lang="en-US" sz="1050" dirty="0"/>
          </a:p>
        </p:txBody>
      </p:sp>
      <p:sp>
        <p:nvSpPr>
          <p:cNvPr id="5" name="Text 2"/>
          <p:cNvSpPr txBox="1"/>
          <p:nvPr/>
        </p:nvSpPr>
        <p:spPr>
          <a:xfrm>
            <a:off x="566928" y="749808"/>
            <a:ext cx="10692079" cy="658368"/>
          </a:xfrm>
          <a:prstGeom prst="rect">
            <a:avLst/>
          </a:prstGeom>
          <a:noFill/>
          <a:ln/>
        </p:spPr>
        <p:txBody>
          <a:bodyPr wrap="square" lIns="0" tIns="0" rIns="0" bIns="0" rtlCol="0" anchor="ctr"/>
          <a:lstStyle/>
          <a:p>
            <a:pPr marL="0" indent="0">
              <a:buNone/>
            </a:pPr>
            <a:r>
              <a:rPr lang="en-US" sz="3300" b="1" dirty="0">
                <a:solidFill>
                  <a:srgbClr val="1C1C1C"/>
                </a:solidFill>
                <a:latin typeface="Arial" pitchFamily="34" charset="0"/>
                <a:ea typeface="Arial" pitchFamily="34" charset="-122"/>
                <a:cs typeface="Arial" pitchFamily="34" charset="-120"/>
              </a:rPr>
              <a:t>Syntax is free now</a:t>
            </a:r>
            <a:endParaRPr lang="en-US" sz="3300" dirty="0"/>
          </a:p>
        </p:txBody>
      </p:sp>
      <p:sp>
        <p:nvSpPr>
          <p:cNvPr id="6" name="Text 3"/>
          <p:cNvSpPr txBox="1"/>
          <p:nvPr/>
        </p:nvSpPr>
        <p:spPr>
          <a:xfrm>
            <a:off x="11430000" y="6419088"/>
            <a:ext cx="320040" cy="228600"/>
          </a:xfrm>
          <a:prstGeom prst="rect">
            <a:avLst/>
          </a:prstGeom>
          <a:noFill/>
          <a:ln/>
        </p:spPr>
        <p:txBody>
          <a:bodyPr wrap="square" lIns="0" tIns="0" rIns="0" bIns="0" rtlCol="0" anchor="ctr"/>
          <a:lstStyle/>
          <a:p>
            <a:pPr marL="0" indent="0" algn="r">
              <a:buNone/>
            </a:pPr>
            <a:r>
              <a:rPr lang="en-US" sz="1000" dirty="0">
                <a:solidFill>
                  <a:srgbClr val="B5B5B5"/>
                </a:solidFill>
                <a:latin typeface="Calibri" pitchFamily="34" charset="0"/>
                <a:ea typeface="Calibri" pitchFamily="34" charset="-122"/>
                <a:cs typeface="Calibri" pitchFamily="34" charset="-120"/>
              </a:rPr>
              <a:t>4</a:t>
            </a:r>
            <a:endParaRPr lang="en-US" sz="1000" dirty="0"/>
          </a:p>
        </p:txBody>
      </p:sp>
      <p:sp>
        <p:nvSpPr>
          <p:cNvPr id="7" name="Text 4"/>
          <p:cNvSpPr txBox="1"/>
          <p:nvPr/>
        </p:nvSpPr>
        <p:spPr>
          <a:xfrm>
            <a:off x="566928" y="1426464"/>
            <a:ext cx="10692079" cy="310896"/>
          </a:xfrm>
          <a:prstGeom prst="rect">
            <a:avLst/>
          </a:prstGeom>
          <a:noFill/>
          <a:ln/>
        </p:spPr>
        <p:txBody>
          <a:bodyPr wrap="square" lIns="0" tIns="0" rIns="0" bIns="0" rtlCol="0" anchor="ctr"/>
          <a:lstStyle/>
          <a:p>
            <a:pPr marL="0" indent="0">
              <a:buNone/>
            </a:pPr>
            <a:r>
              <a:rPr lang="en-US" sz="1450" i="1" dirty="0">
                <a:solidFill>
                  <a:srgbClr val="7A7A7A"/>
                </a:solidFill>
                <a:latin typeface="Calibri" pitchFamily="34" charset="0"/>
                <a:ea typeface="Calibri" pitchFamily="34" charset="-122"/>
                <a:cs typeface="Calibri" pitchFamily="34" charset="-120"/>
              </a:rPr>
              <a:t>Prompt: “Write Python to test whether blood pressure differs between treatment groups.”</a:t>
            </a:r>
            <a:endParaRPr lang="en-US" sz="1450" dirty="0"/>
          </a:p>
        </p:txBody>
      </p:sp>
      <p:sp>
        <p:nvSpPr>
          <p:cNvPr id="8" name="Shape 5"/>
          <p:cNvSpPr/>
          <p:nvPr/>
        </p:nvSpPr>
        <p:spPr>
          <a:xfrm>
            <a:off x="566928" y="1901952"/>
            <a:ext cx="6903720" cy="3246120"/>
          </a:xfrm>
          <a:prstGeom prst="roundRect">
            <a:avLst>
              <a:gd name="adj" fmla="val 2535"/>
            </a:avLst>
          </a:prstGeom>
          <a:solidFill>
            <a:srgbClr val="2E2E2E"/>
          </a:solidFill>
          <a:ln w="12700">
            <a:solidFill>
              <a:srgbClr val="3D3D3D"/>
            </a:solidFill>
            <a:prstDash val="solid"/>
          </a:ln>
        </p:spPr>
        <p:txBody>
          <a:bodyPr/>
          <a:lstStyle/>
          <a:p>
            <a:endParaRPr lang="en-US"/>
          </a:p>
        </p:txBody>
      </p:sp>
      <p:sp>
        <p:nvSpPr>
          <p:cNvPr id="9" name="Shape 6"/>
          <p:cNvSpPr/>
          <p:nvPr/>
        </p:nvSpPr>
        <p:spPr>
          <a:xfrm>
            <a:off x="786384" y="2089404"/>
            <a:ext cx="100584" cy="100584"/>
          </a:xfrm>
          <a:prstGeom prst="ellipse">
            <a:avLst/>
          </a:prstGeom>
          <a:solidFill>
            <a:srgbClr val="E06C60"/>
          </a:solidFill>
          <a:ln w="12700">
            <a:solidFill>
              <a:srgbClr val="E06C60"/>
            </a:solidFill>
            <a:prstDash val="solid"/>
          </a:ln>
        </p:spPr>
        <p:txBody>
          <a:bodyPr/>
          <a:lstStyle/>
          <a:p>
            <a:endParaRPr lang="en-US"/>
          </a:p>
        </p:txBody>
      </p:sp>
      <p:sp>
        <p:nvSpPr>
          <p:cNvPr id="10" name="Shape 7"/>
          <p:cNvSpPr/>
          <p:nvPr/>
        </p:nvSpPr>
        <p:spPr>
          <a:xfrm>
            <a:off x="969264" y="2089404"/>
            <a:ext cx="100584" cy="100584"/>
          </a:xfrm>
          <a:prstGeom prst="ellipse">
            <a:avLst/>
          </a:prstGeom>
          <a:solidFill>
            <a:srgbClr val="E5B84B"/>
          </a:solidFill>
          <a:ln w="12700">
            <a:solidFill>
              <a:srgbClr val="E5B84B"/>
            </a:solidFill>
            <a:prstDash val="solid"/>
          </a:ln>
        </p:spPr>
        <p:txBody>
          <a:bodyPr/>
          <a:lstStyle/>
          <a:p>
            <a:endParaRPr lang="en-US"/>
          </a:p>
        </p:txBody>
      </p:sp>
      <p:sp>
        <p:nvSpPr>
          <p:cNvPr id="11" name="Shape 8"/>
          <p:cNvSpPr/>
          <p:nvPr/>
        </p:nvSpPr>
        <p:spPr>
          <a:xfrm>
            <a:off x="1152144" y="2089404"/>
            <a:ext cx="100584" cy="100584"/>
          </a:xfrm>
          <a:prstGeom prst="ellipse">
            <a:avLst/>
          </a:prstGeom>
          <a:solidFill>
            <a:srgbClr val="9AA0A6"/>
          </a:solidFill>
          <a:ln w="12700">
            <a:solidFill>
              <a:srgbClr val="9AA0A6"/>
            </a:solidFill>
            <a:prstDash val="solid"/>
          </a:ln>
        </p:spPr>
        <p:txBody>
          <a:bodyPr/>
          <a:lstStyle/>
          <a:p>
            <a:endParaRPr lang="en-US"/>
          </a:p>
        </p:txBody>
      </p:sp>
      <p:sp>
        <p:nvSpPr>
          <p:cNvPr id="12" name="Text 9"/>
          <p:cNvSpPr txBox="1"/>
          <p:nvPr/>
        </p:nvSpPr>
        <p:spPr>
          <a:xfrm>
            <a:off x="1344168" y="2020824"/>
            <a:ext cx="5989320" cy="237744"/>
          </a:xfrm>
          <a:prstGeom prst="rect">
            <a:avLst/>
          </a:prstGeom>
          <a:noFill/>
          <a:ln/>
        </p:spPr>
        <p:txBody>
          <a:bodyPr wrap="square" lIns="0" tIns="0" rIns="0" bIns="0" rtlCol="0" anchor="ctr"/>
          <a:lstStyle/>
          <a:p>
            <a:pPr marL="0" indent="0">
              <a:buNone/>
            </a:pPr>
            <a:r>
              <a:rPr lang="en-US" sz="1050" dirty="0">
                <a:solidFill>
                  <a:srgbClr val="A9A9A9"/>
                </a:solidFill>
                <a:latin typeface="Courier New" pitchFamily="34" charset="0"/>
                <a:ea typeface="Courier New" pitchFamily="34" charset="-122"/>
                <a:cs typeface="Courier New" pitchFamily="34" charset="-120"/>
              </a:rPr>
              <a:t>ai_answer.py</a:t>
            </a:r>
            <a:endParaRPr lang="en-US" sz="1050" dirty="0"/>
          </a:p>
        </p:txBody>
      </p:sp>
      <p:sp>
        <p:nvSpPr>
          <p:cNvPr id="13" name="Shape 10"/>
          <p:cNvSpPr/>
          <p:nvPr/>
        </p:nvSpPr>
        <p:spPr>
          <a:xfrm>
            <a:off x="576072" y="2377440"/>
            <a:ext cx="6885432" cy="9144"/>
          </a:xfrm>
          <a:prstGeom prst="rect">
            <a:avLst/>
          </a:prstGeom>
          <a:solidFill>
            <a:srgbClr val="3D3D3D"/>
          </a:solidFill>
          <a:ln w="12700">
            <a:solidFill>
              <a:srgbClr val="3D3D3D"/>
            </a:solidFill>
            <a:prstDash val="solid"/>
          </a:ln>
        </p:spPr>
        <p:txBody>
          <a:bodyPr/>
          <a:lstStyle/>
          <a:p>
            <a:endParaRPr lang="en-US"/>
          </a:p>
        </p:txBody>
      </p:sp>
      <p:sp>
        <p:nvSpPr>
          <p:cNvPr id="14" name="Text 11"/>
          <p:cNvSpPr txBox="1"/>
          <p:nvPr/>
        </p:nvSpPr>
        <p:spPr>
          <a:xfrm>
            <a:off x="786384" y="2487168"/>
            <a:ext cx="6464808" cy="2496312"/>
          </a:xfrm>
          <a:prstGeom prst="rect">
            <a:avLst/>
          </a:prstGeom>
          <a:noFill/>
          <a:ln/>
        </p:spPr>
        <p:txBody>
          <a:bodyPr wrap="square" lIns="0" tIns="0" rIns="0" bIns="0" rtlCol="0" anchor="t"/>
          <a:lstStyle/>
          <a:p>
            <a:pPr marL="0" indent="0">
              <a:lnSpc>
                <a:spcPts val="1900"/>
              </a:lnSpc>
              <a:buNone/>
            </a:pPr>
            <a:r>
              <a:rPr lang="en-US" sz="1150" dirty="0">
                <a:solidFill>
                  <a:srgbClr val="C3A6E0"/>
                </a:solidFill>
                <a:latin typeface="Courier New" pitchFamily="34" charset="0"/>
                <a:ea typeface="Courier New" pitchFamily="34" charset="-122"/>
                <a:cs typeface="Courier New" pitchFamily="34" charset="-120"/>
              </a:rPr>
              <a:t>import pandas as pd
from scipy import stats
</a:t>
            </a:r>
            <a:r>
              <a:rPr lang="en-US" sz="1150" dirty="0">
                <a:solidFill>
                  <a:srgbClr val="E4E4E4"/>
                </a:solidFill>
                <a:latin typeface="Courier New" pitchFamily="34" charset="0"/>
                <a:ea typeface="Courier New" pitchFamily="34" charset="-122"/>
                <a:cs typeface="Courier New" pitchFamily="34" charset="-120"/>
              </a:rPr>
              <a:t>df = pd.read_csv("data/patients.csv")
group_a = df[df["group"] == "A"]["systolic"].dropna()
group_b = df[df["group"] == "B"]["systolic"].dropna()
t, p = stats.ttest_ind(group_a, group_b)
print(f"p = {p:.4f}")</a:t>
            </a:r>
            <a:endParaRPr lang="en-US" sz="1150" dirty="0"/>
          </a:p>
        </p:txBody>
      </p:sp>
      <p:sp>
        <p:nvSpPr>
          <p:cNvPr id="15" name="Shape 12"/>
          <p:cNvSpPr/>
          <p:nvPr/>
        </p:nvSpPr>
        <p:spPr>
          <a:xfrm>
            <a:off x="7726680" y="1901952"/>
            <a:ext cx="3886200" cy="1508760"/>
          </a:xfrm>
          <a:prstGeom prst="roundRect">
            <a:avLst>
              <a:gd name="adj" fmla="val 5455"/>
            </a:avLst>
          </a:prstGeom>
          <a:solidFill>
            <a:srgbClr val="FBF7EF"/>
          </a:solidFill>
          <a:ln w="12700">
            <a:solidFill>
              <a:srgbClr val="E6E6E6"/>
            </a:solidFill>
            <a:prstDash val="solid"/>
          </a:ln>
        </p:spPr>
        <p:txBody>
          <a:bodyPr/>
          <a:lstStyle/>
          <a:p>
            <a:endParaRPr lang="en-US"/>
          </a:p>
        </p:txBody>
      </p:sp>
      <p:sp>
        <p:nvSpPr>
          <p:cNvPr id="16" name="Text 13"/>
          <p:cNvSpPr txBox="1"/>
          <p:nvPr/>
        </p:nvSpPr>
        <p:spPr>
          <a:xfrm>
            <a:off x="7973568" y="2066544"/>
            <a:ext cx="3383280" cy="237744"/>
          </a:xfrm>
          <a:prstGeom prst="rect">
            <a:avLst/>
          </a:prstGeom>
          <a:noFill/>
          <a:ln/>
        </p:spPr>
        <p:txBody>
          <a:bodyPr wrap="square" lIns="0" tIns="0" rIns="0" bIns="0" rtlCol="0" anchor="ctr"/>
          <a:lstStyle/>
          <a:p>
            <a:pPr marL="0" indent="0">
              <a:buNone/>
            </a:pPr>
            <a:r>
              <a:rPr lang="en-US" sz="950" b="1" kern="0" spc="160" dirty="0">
                <a:solidFill>
                  <a:srgbClr val="8A6D3B"/>
                </a:solidFill>
                <a:latin typeface="Arial" pitchFamily="34" charset="0"/>
                <a:ea typeface="Arial" pitchFamily="34" charset="-122"/>
                <a:cs typeface="Arial" pitchFamily="34" charset="-120"/>
              </a:rPr>
              <a:t>OUTPUT</a:t>
            </a:r>
            <a:endParaRPr lang="en-US" sz="950" dirty="0"/>
          </a:p>
        </p:txBody>
      </p:sp>
      <p:sp>
        <p:nvSpPr>
          <p:cNvPr id="17" name="Text 14"/>
          <p:cNvSpPr txBox="1"/>
          <p:nvPr/>
        </p:nvSpPr>
        <p:spPr>
          <a:xfrm>
            <a:off x="7973568" y="2359152"/>
            <a:ext cx="3383280" cy="658368"/>
          </a:xfrm>
          <a:prstGeom prst="rect">
            <a:avLst/>
          </a:prstGeom>
          <a:noFill/>
          <a:ln/>
        </p:spPr>
        <p:txBody>
          <a:bodyPr wrap="square" lIns="0" tIns="0" rIns="0" bIns="0" rtlCol="0" anchor="ctr"/>
          <a:lstStyle/>
          <a:p>
            <a:pPr marL="0" indent="0">
              <a:buNone/>
            </a:pPr>
            <a:r>
              <a:rPr lang="en-US" sz="3000" b="1" dirty="0">
                <a:solidFill>
                  <a:srgbClr val="1C1C1C"/>
                </a:solidFill>
                <a:latin typeface="Courier New" pitchFamily="34" charset="0"/>
                <a:ea typeface="Courier New" pitchFamily="34" charset="-122"/>
                <a:cs typeface="Courier New" pitchFamily="34" charset="-120"/>
              </a:rPr>
              <a:t>p = 0.2152</a:t>
            </a:r>
            <a:endParaRPr lang="en-US" sz="3000" dirty="0"/>
          </a:p>
        </p:txBody>
      </p:sp>
      <p:sp>
        <p:nvSpPr>
          <p:cNvPr id="18" name="Text 15"/>
          <p:cNvSpPr txBox="1"/>
          <p:nvPr/>
        </p:nvSpPr>
        <p:spPr>
          <a:xfrm>
            <a:off x="7973568" y="3017520"/>
            <a:ext cx="3383280" cy="256032"/>
          </a:xfrm>
          <a:prstGeom prst="rect">
            <a:avLst/>
          </a:prstGeom>
          <a:noFill/>
          <a:ln/>
        </p:spPr>
        <p:txBody>
          <a:bodyPr wrap="square" lIns="0" tIns="0" rIns="0" bIns="0" rtlCol="0" anchor="ctr"/>
          <a:lstStyle/>
          <a:p>
            <a:pPr marL="0" indent="0">
              <a:buNone/>
            </a:pPr>
            <a:r>
              <a:rPr lang="en-US" sz="1200" i="1" dirty="0">
                <a:solidFill>
                  <a:srgbClr val="7A7A7A"/>
                </a:solidFill>
                <a:latin typeface="Calibri" pitchFamily="34" charset="0"/>
                <a:ea typeface="Calibri" pitchFamily="34" charset="-122"/>
                <a:cs typeface="Calibri" pitchFamily="34" charset="-120"/>
              </a:rPr>
              <a:t>No significant difference.</a:t>
            </a:r>
            <a:endParaRPr lang="en-US" sz="1200" dirty="0"/>
          </a:p>
        </p:txBody>
      </p:sp>
      <p:sp>
        <p:nvSpPr>
          <p:cNvPr id="19" name="Shape 16"/>
          <p:cNvSpPr/>
          <p:nvPr/>
        </p:nvSpPr>
        <p:spPr>
          <a:xfrm>
            <a:off x="7726680" y="3593592"/>
            <a:ext cx="3886200" cy="1554480"/>
          </a:xfrm>
          <a:prstGeom prst="roundRect">
            <a:avLst>
              <a:gd name="adj" fmla="val 5294"/>
            </a:avLst>
          </a:prstGeom>
          <a:solidFill>
            <a:srgbClr val="FFFFFF"/>
          </a:solidFill>
          <a:ln w="12700">
            <a:solidFill>
              <a:srgbClr val="E6E6E6"/>
            </a:solidFill>
            <a:prstDash val="solid"/>
          </a:ln>
        </p:spPr>
        <p:txBody>
          <a:bodyPr/>
          <a:lstStyle/>
          <a:p>
            <a:endParaRPr lang="en-US"/>
          </a:p>
        </p:txBody>
      </p:sp>
      <p:sp>
        <p:nvSpPr>
          <p:cNvPr id="20" name="Text 17"/>
          <p:cNvSpPr txBox="1"/>
          <p:nvPr/>
        </p:nvSpPr>
        <p:spPr>
          <a:xfrm>
            <a:off x="7973568" y="3776472"/>
            <a:ext cx="3429000" cy="256032"/>
          </a:xfrm>
          <a:prstGeom prst="rect">
            <a:avLst/>
          </a:prstGeom>
          <a:noFill/>
          <a:ln/>
        </p:spPr>
        <p:txBody>
          <a:bodyPr wrap="square" lIns="0" tIns="0" rIns="0" bIns="0" rtlCol="0" anchor="ctr"/>
          <a:lstStyle/>
          <a:p>
            <a:pPr marL="0" indent="0">
              <a:buNone/>
            </a:pPr>
            <a:r>
              <a:rPr lang="en-US" sz="1250" b="1" dirty="0">
                <a:solidFill>
                  <a:srgbClr val="1C1C1C"/>
                </a:solidFill>
                <a:latin typeface="Arial" pitchFamily="34" charset="0"/>
                <a:ea typeface="Arial" pitchFamily="34" charset="-122"/>
                <a:cs typeface="Arial" pitchFamily="34" charset="-120"/>
              </a:rPr>
              <a:t>Three things are true:</a:t>
            </a:r>
            <a:endParaRPr lang="en-US" sz="1250" dirty="0"/>
          </a:p>
        </p:txBody>
      </p:sp>
      <p:sp>
        <p:nvSpPr>
          <p:cNvPr id="21" name="Text 18"/>
          <p:cNvSpPr txBox="1"/>
          <p:nvPr/>
        </p:nvSpPr>
        <p:spPr>
          <a:xfrm>
            <a:off x="7973568" y="4087368"/>
            <a:ext cx="3429000" cy="1005840"/>
          </a:xfrm>
          <a:prstGeom prst="rect">
            <a:avLst/>
          </a:prstGeom>
          <a:noFill/>
          <a:ln/>
        </p:spPr>
        <p:txBody>
          <a:bodyPr wrap="square" lIns="0" tIns="0" rIns="0" bIns="0" rtlCol="0" anchor="t"/>
          <a:lstStyle/>
          <a:p>
            <a:pPr marL="203200" indent="-203200">
              <a:lnSpc>
                <a:spcPts val="1800"/>
              </a:lnSpc>
              <a:spcAft>
                <a:spcPts val="600"/>
              </a:spcAft>
              <a:buSzPct val="100000"/>
              <a:buChar char="•"/>
            </a:pPr>
            <a:r>
              <a:rPr lang="en-US" sz="1300" dirty="0">
                <a:solidFill>
                  <a:srgbClr val="3A3A3A"/>
                </a:solidFill>
                <a:latin typeface="Calibri" pitchFamily="34" charset="0"/>
                <a:ea typeface="Calibri" pitchFamily="34" charset="-122"/>
                <a:cs typeface="Calibri" pitchFamily="34" charset="-120"/>
              </a:rPr>
              <a:t>It runs without error.</a:t>
            </a:r>
            <a:endParaRPr lang="en-US" sz="1300" dirty="0"/>
          </a:p>
          <a:p>
            <a:pPr marL="203200" indent="-203200">
              <a:lnSpc>
                <a:spcPts val="1800"/>
              </a:lnSpc>
              <a:spcAft>
                <a:spcPts val="600"/>
              </a:spcAft>
              <a:buSzPct val="100000"/>
              <a:buChar char="•"/>
            </a:pPr>
            <a:r>
              <a:rPr lang="en-US" sz="1300" dirty="0">
                <a:solidFill>
                  <a:srgbClr val="3A3A3A"/>
                </a:solidFill>
                <a:latin typeface="Calibri" pitchFamily="34" charset="0"/>
                <a:ea typeface="Calibri" pitchFamily="34" charset="-122"/>
                <a:cs typeface="Calibri" pitchFamily="34" charset="-120"/>
              </a:rPr>
              <a:t>The syntax is correct.</a:t>
            </a:r>
            <a:endParaRPr lang="en-US" sz="1300" dirty="0"/>
          </a:p>
          <a:p>
            <a:pPr marL="203200" indent="-203200">
              <a:lnSpc>
                <a:spcPts val="1800"/>
              </a:lnSpc>
              <a:spcAft>
                <a:spcPts val="600"/>
              </a:spcAft>
              <a:buSzPct val="100000"/>
              <a:buChar char="•"/>
            </a:pPr>
            <a:r>
              <a:rPr lang="en-US" sz="1300" dirty="0">
                <a:solidFill>
                  <a:srgbClr val="3A3A3A"/>
                </a:solidFill>
                <a:latin typeface="Calibri" pitchFamily="34" charset="0"/>
                <a:ea typeface="Calibri" pitchFamily="34" charset="-122"/>
                <a:cs typeface="Calibri" pitchFamily="34" charset="-120"/>
              </a:rPr>
              <a:t>The result is wrong.</a:t>
            </a:r>
            <a:endParaRPr lang="en-US" sz="1300" dirty="0"/>
          </a:p>
        </p:txBody>
      </p:sp>
      <p:sp>
        <p:nvSpPr>
          <p:cNvPr id="22" name="Shape 19"/>
          <p:cNvSpPr/>
          <p:nvPr/>
        </p:nvSpPr>
        <p:spPr>
          <a:xfrm>
            <a:off x="566928" y="5504688"/>
            <a:ext cx="11057839" cy="566928"/>
          </a:xfrm>
          <a:prstGeom prst="roundRect">
            <a:avLst>
              <a:gd name="adj" fmla="val 14516"/>
            </a:avLst>
          </a:prstGeom>
          <a:solidFill>
            <a:srgbClr val="1C1C1C"/>
          </a:solidFill>
          <a:ln w="12700">
            <a:solidFill>
              <a:srgbClr val="1C1C1C"/>
            </a:solidFill>
            <a:prstDash val="solid"/>
          </a:ln>
        </p:spPr>
        <p:txBody>
          <a:bodyPr/>
          <a:lstStyle/>
          <a:p>
            <a:endParaRPr lang="en-US"/>
          </a:p>
        </p:txBody>
      </p:sp>
      <p:sp>
        <p:nvSpPr>
          <p:cNvPr id="23" name="Text 20"/>
          <p:cNvSpPr txBox="1"/>
          <p:nvPr/>
        </p:nvSpPr>
        <p:spPr>
          <a:xfrm>
            <a:off x="841248" y="5504688"/>
            <a:ext cx="10509199" cy="566928"/>
          </a:xfrm>
          <a:prstGeom prst="rect">
            <a:avLst/>
          </a:prstGeom>
          <a:noFill/>
          <a:ln/>
        </p:spPr>
        <p:txBody>
          <a:bodyPr wrap="square" lIns="0" tIns="0" rIns="0" bIns="0" rtlCol="0" anchor="ctr"/>
          <a:lstStyle/>
          <a:p>
            <a:pPr marL="0" indent="0">
              <a:lnSpc>
                <a:spcPts val="1700"/>
              </a:lnSpc>
              <a:buNone/>
            </a:pPr>
            <a:r>
              <a:rPr lang="en-US" sz="1350" b="1" dirty="0">
                <a:solidFill>
                  <a:srgbClr val="F2C879"/>
                </a:solidFill>
                <a:latin typeface="Calibri" pitchFamily="34" charset="0"/>
                <a:ea typeface="Calibri" pitchFamily="34" charset="-122"/>
                <a:cs typeface="Calibri" pitchFamily="34" charset="-120"/>
              </a:rPr>
              <a:t>So:  </a:t>
            </a:r>
            <a:r>
              <a:rPr lang="en-US" sz="1350" dirty="0">
                <a:solidFill>
                  <a:srgbClr val="EDEDED"/>
                </a:solidFill>
                <a:latin typeface="Calibri" pitchFamily="34" charset="0"/>
                <a:ea typeface="Calibri" pitchFamily="34" charset="-122"/>
                <a:cs typeface="Calibri" pitchFamily="34" charset="-120"/>
              </a:rPr>
              <a:t>It runs. It reports no significant difference. Do we write that up?</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vu_mark_gold.png"/>
          <p:cNvPicPr>
            <a:picLocks noChangeAspect="1"/>
          </p:cNvPicPr>
          <p:nvPr/>
        </p:nvPicPr>
        <p:blipFill>
          <a:blip r:embed="rId3"/>
          <a:stretch>
            <a:fillRect/>
          </a:stretch>
        </p:blipFill>
        <p:spPr>
          <a:xfrm>
            <a:off x="11356848" y="310896"/>
            <a:ext cx="384048" cy="274320"/>
          </a:xfrm>
          <a:prstGeom prst="rect">
            <a:avLst/>
          </a:prstGeom>
        </p:spPr>
      </p:pic>
      <p:sp>
        <p:nvSpPr>
          <p:cNvPr id="3" name="Shape 0"/>
          <p:cNvSpPr/>
          <p:nvPr/>
        </p:nvSpPr>
        <p:spPr>
          <a:xfrm>
            <a:off x="566928" y="329184"/>
            <a:ext cx="2413099" cy="310896"/>
          </a:xfrm>
          <a:prstGeom prst="roundRect">
            <a:avLst>
              <a:gd name="adj" fmla="val 50000"/>
            </a:avLst>
          </a:prstGeom>
          <a:solidFill>
            <a:srgbClr val="F2C879"/>
          </a:solidFill>
          <a:ln w="12700">
            <a:solidFill>
              <a:srgbClr val="F2C879"/>
            </a:solidFill>
            <a:prstDash val="solid"/>
          </a:ln>
        </p:spPr>
        <p:txBody>
          <a:bodyPr/>
          <a:lstStyle/>
          <a:p>
            <a:endParaRPr lang="en-US"/>
          </a:p>
        </p:txBody>
      </p:sp>
      <p:sp>
        <p:nvSpPr>
          <p:cNvPr id="4" name="Text 1"/>
          <p:cNvSpPr txBox="1"/>
          <p:nvPr/>
        </p:nvSpPr>
        <p:spPr>
          <a:xfrm>
            <a:off x="566928" y="329184"/>
            <a:ext cx="2413099" cy="310896"/>
          </a:xfrm>
          <a:prstGeom prst="rect">
            <a:avLst/>
          </a:prstGeom>
          <a:noFill/>
          <a:ln/>
        </p:spPr>
        <p:txBody>
          <a:bodyPr wrap="square" lIns="0" tIns="0" rIns="0" bIns="0" rtlCol="0" anchor="ctr"/>
          <a:lstStyle/>
          <a:p>
            <a:pPr marL="0" indent="0" algn="ctr">
              <a:buNone/>
            </a:pPr>
            <a:r>
              <a:rPr lang="en-US" sz="1050" b="1" kern="0" spc="110" dirty="0">
                <a:solidFill>
                  <a:srgbClr val="5A4415"/>
                </a:solidFill>
                <a:latin typeface="Arial" pitchFamily="34" charset="0"/>
                <a:ea typeface="Arial" pitchFamily="34" charset="-122"/>
                <a:cs typeface="Arial" pitchFamily="34" charset="-120"/>
              </a:rPr>
              <a:t>8–11 MIN  ·  THE REVEAL</a:t>
            </a:r>
            <a:endParaRPr lang="en-US" sz="1050" dirty="0"/>
          </a:p>
        </p:txBody>
      </p:sp>
      <p:sp>
        <p:nvSpPr>
          <p:cNvPr id="5" name="Text 2"/>
          <p:cNvSpPr txBox="1"/>
          <p:nvPr/>
        </p:nvSpPr>
        <p:spPr>
          <a:xfrm>
            <a:off x="566928" y="749808"/>
            <a:ext cx="10692079" cy="658368"/>
          </a:xfrm>
          <a:prstGeom prst="rect">
            <a:avLst/>
          </a:prstGeom>
          <a:noFill/>
          <a:ln/>
        </p:spPr>
        <p:txBody>
          <a:bodyPr wrap="square" lIns="0" tIns="0" rIns="0" bIns="0" rtlCol="0" anchor="ctr"/>
          <a:lstStyle/>
          <a:p>
            <a:pPr marL="0" indent="0">
              <a:buNone/>
            </a:pPr>
            <a:r>
              <a:rPr lang="en-US" sz="3300" b="1" dirty="0">
                <a:solidFill>
                  <a:srgbClr val="1C1C1C"/>
                </a:solidFill>
                <a:latin typeface="Arial" pitchFamily="34" charset="0"/>
                <a:ea typeface="Arial" pitchFamily="34" charset="-122"/>
                <a:cs typeface="Arial" pitchFamily="34" charset="-120"/>
              </a:rPr>
              <a:t>It ran. It was still wrong.</a:t>
            </a:r>
            <a:endParaRPr lang="en-US" sz="3300" dirty="0"/>
          </a:p>
        </p:txBody>
      </p:sp>
      <p:sp>
        <p:nvSpPr>
          <p:cNvPr id="6" name="Text 3"/>
          <p:cNvSpPr txBox="1"/>
          <p:nvPr/>
        </p:nvSpPr>
        <p:spPr>
          <a:xfrm>
            <a:off x="11430000" y="6419088"/>
            <a:ext cx="320040" cy="228600"/>
          </a:xfrm>
          <a:prstGeom prst="rect">
            <a:avLst/>
          </a:prstGeom>
          <a:noFill/>
          <a:ln/>
        </p:spPr>
        <p:txBody>
          <a:bodyPr wrap="square" lIns="0" tIns="0" rIns="0" bIns="0" rtlCol="0" anchor="ctr"/>
          <a:lstStyle/>
          <a:p>
            <a:pPr marL="0" indent="0" algn="r">
              <a:buNone/>
            </a:pPr>
            <a:r>
              <a:rPr lang="en-US" sz="1000" dirty="0">
                <a:solidFill>
                  <a:srgbClr val="B5B5B5"/>
                </a:solidFill>
                <a:latin typeface="Calibri" pitchFamily="34" charset="0"/>
                <a:ea typeface="Calibri" pitchFamily="34" charset="-122"/>
                <a:cs typeface="Calibri" pitchFamily="34" charset="-120"/>
              </a:rPr>
              <a:t>5</a:t>
            </a:r>
            <a:endParaRPr lang="en-US" sz="1000" dirty="0"/>
          </a:p>
        </p:txBody>
      </p:sp>
      <p:sp>
        <p:nvSpPr>
          <p:cNvPr id="7" name="Shape 4"/>
          <p:cNvSpPr/>
          <p:nvPr/>
        </p:nvSpPr>
        <p:spPr>
          <a:xfrm>
            <a:off x="566928" y="1481328"/>
            <a:ext cx="5532120" cy="2578608"/>
          </a:xfrm>
          <a:prstGeom prst="roundRect">
            <a:avLst>
              <a:gd name="adj" fmla="val 3191"/>
            </a:avLst>
          </a:prstGeom>
          <a:solidFill>
            <a:srgbClr val="FFFFFF"/>
          </a:solidFill>
          <a:ln w="12700">
            <a:solidFill>
              <a:srgbClr val="E6E6E6"/>
            </a:solidFill>
            <a:prstDash val="solid"/>
          </a:ln>
        </p:spPr>
        <p:txBody>
          <a:bodyPr/>
          <a:lstStyle/>
          <a:p>
            <a:endParaRPr lang="en-US"/>
          </a:p>
        </p:txBody>
      </p:sp>
      <p:sp>
        <p:nvSpPr>
          <p:cNvPr id="8" name="Text 5"/>
          <p:cNvSpPr txBox="1"/>
          <p:nvPr/>
        </p:nvSpPr>
        <p:spPr>
          <a:xfrm>
            <a:off x="822960" y="1664208"/>
            <a:ext cx="5029200" cy="256032"/>
          </a:xfrm>
          <a:prstGeom prst="rect">
            <a:avLst/>
          </a:prstGeom>
          <a:noFill/>
          <a:ln/>
        </p:spPr>
        <p:txBody>
          <a:bodyPr wrap="square" lIns="0" tIns="0" rIns="0" bIns="0" rtlCol="0" anchor="ctr"/>
          <a:lstStyle/>
          <a:p>
            <a:pPr marL="0" indent="0">
              <a:buNone/>
            </a:pPr>
            <a:r>
              <a:rPr lang="en-US" sz="1000" b="1" kern="0" spc="150" dirty="0">
                <a:solidFill>
                  <a:srgbClr val="A83A2C"/>
                </a:solidFill>
                <a:latin typeface="Arial" pitchFamily="34" charset="0"/>
                <a:ea typeface="Arial" pitchFamily="34" charset="-122"/>
                <a:cs typeface="Arial" pitchFamily="34" charset="-120"/>
              </a:rPr>
              <a:t>WHAT ACTUALLY HAPPENED</a:t>
            </a:r>
            <a:endParaRPr lang="en-US" sz="1000" dirty="0"/>
          </a:p>
        </p:txBody>
      </p:sp>
      <p:sp>
        <p:nvSpPr>
          <p:cNvPr id="9" name="Text 6"/>
          <p:cNvSpPr txBox="1"/>
          <p:nvPr/>
        </p:nvSpPr>
        <p:spPr>
          <a:xfrm>
            <a:off x="822960" y="1975104"/>
            <a:ext cx="5029200" cy="2103120"/>
          </a:xfrm>
          <a:prstGeom prst="rect">
            <a:avLst/>
          </a:prstGeom>
          <a:noFill/>
          <a:ln/>
        </p:spPr>
        <p:txBody>
          <a:bodyPr wrap="square" lIns="0" tIns="0" rIns="0" bIns="0" rtlCol="0" anchor="t"/>
          <a:lstStyle/>
          <a:p>
            <a:pPr marL="0" indent="0">
              <a:lnSpc>
                <a:spcPts val="1800"/>
              </a:lnSpc>
              <a:buNone/>
            </a:pPr>
            <a:r>
              <a:rPr lang="en-US" sz="1300" dirty="0">
                <a:solidFill>
                  <a:srgbClr val="3A3A3A"/>
                </a:solidFill>
                <a:latin typeface="Calibri" pitchFamily="34" charset="0"/>
                <a:ea typeface="Calibri" pitchFamily="34" charset="-122"/>
                <a:cs typeface="Calibri" pitchFamily="34" charset="-120"/>
              </a:rPr>
              <a:t>The </a:t>
            </a:r>
            <a:r>
              <a:rPr lang="en-US" sz="1300" dirty="0">
                <a:solidFill>
                  <a:srgbClr val="1C1C1C"/>
                </a:solidFill>
                <a:latin typeface="Courier New" pitchFamily="34" charset="0"/>
                <a:ea typeface="Courier New" pitchFamily="34" charset="-122"/>
                <a:cs typeface="Courier New" pitchFamily="34" charset="-120"/>
              </a:rPr>
              <a:t>group</a:t>
            </a:r>
            <a:r>
              <a:rPr lang="en-US" sz="1300" dirty="0">
                <a:solidFill>
                  <a:srgbClr val="3A3A3A"/>
                </a:solidFill>
                <a:latin typeface="Calibri" pitchFamily="34" charset="0"/>
                <a:ea typeface="Calibri" pitchFamily="34" charset="-122"/>
                <a:cs typeface="Calibri" pitchFamily="34" charset="-120"/>
              </a:rPr>
              <a:t> column holds </a:t>
            </a:r>
            <a:r>
              <a:rPr lang="en-US" sz="1300" dirty="0">
                <a:solidFill>
                  <a:srgbClr val="1C1C1C"/>
                </a:solidFill>
                <a:latin typeface="Courier New" pitchFamily="34" charset="0"/>
                <a:ea typeface="Courier New" pitchFamily="34" charset="-122"/>
                <a:cs typeface="Courier New" pitchFamily="34" charset="-120"/>
              </a:rPr>
              <a:t>"A"</a:t>
            </a:r>
            <a:r>
              <a:rPr lang="en-US" sz="1300" dirty="0">
                <a:solidFill>
                  <a:srgbClr val="3A3A3A"/>
                </a:solidFill>
                <a:latin typeface="Calibri" pitchFamily="34" charset="0"/>
                <a:ea typeface="Calibri" pitchFamily="34" charset="-122"/>
                <a:cs typeface="Calibri" pitchFamily="34" charset="-120"/>
              </a:rPr>
              <a:t>, </a:t>
            </a:r>
            <a:r>
              <a:rPr lang="en-US" sz="1300" dirty="0">
                <a:solidFill>
                  <a:srgbClr val="1C1C1C"/>
                </a:solidFill>
                <a:latin typeface="Courier New" pitchFamily="34" charset="0"/>
                <a:ea typeface="Courier New" pitchFamily="34" charset="-122"/>
                <a:cs typeface="Courier New" pitchFamily="34" charset="-120"/>
              </a:rPr>
              <a:t>"B"</a:t>
            </a:r>
            <a:r>
              <a:rPr lang="en-US" sz="1300" dirty="0">
                <a:solidFill>
                  <a:srgbClr val="3A3A3A"/>
                </a:solidFill>
                <a:latin typeface="Calibri" pitchFamily="34" charset="0"/>
                <a:ea typeface="Calibri" pitchFamily="34" charset="-122"/>
                <a:cs typeface="Calibri" pitchFamily="34" charset="-120"/>
              </a:rPr>
              <a:t> — and </a:t>
            </a:r>
            <a:r>
              <a:rPr lang="en-US" sz="1300" b="1" dirty="0">
                <a:solidFill>
                  <a:srgbClr val="A83A2C"/>
                </a:solidFill>
                <a:latin typeface="Courier New" pitchFamily="34" charset="0"/>
                <a:ea typeface="Courier New" pitchFamily="34" charset="-122"/>
                <a:cs typeface="Courier New" pitchFamily="34" charset="-120"/>
              </a:rPr>
              <a:t>"A "</a:t>
            </a:r>
            <a:r>
              <a:rPr lang="en-US" sz="1300" dirty="0">
                <a:solidFill>
                  <a:srgbClr val="3A3A3A"/>
                </a:solidFill>
                <a:latin typeface="Calibri" pitchFamily="34" charset="0"/>
                <a:ea typeface="Calibri" pitchFamily="34" charset="-122"/>
                <a:cs typeface="Calibri" pitchFamily="34" charset="-120"/>
              </a:rPr>
              <a:t>, with a trailing space, in 40 rows entered at a second site.
</a:t>
            </a:r>
            <a:r>
              <a:rPr lang="en-US" sz="1300" dirty="0">
                <a:solidFill>
                  <a:srgbClr val="1C1C1C"/>
                </a:solidFill>
                <a:latin typeface="Courier New" pitchFamily="34" charset="0"/>
                <a:ea typeface="Courier New" pitchFamily="34" charset="-122"/>
                <a:cs typeface="Courier New" pitchFamily="34" charset="-120"/>
              </a:rPr>
              <a:t>== "A"</a:t>
            </a:r>
            <a:r>
              <a:rPr lang="en-US" sz="1300" dirty="0">
                <a:solidFill>
                  <a:srgbClr val="3A3A3A"/>
                </a:solidFill>
                <a:latin typeface="Calibri" pitchFamily="34" charset="0"/>
                <a:ea typeface="Calibri" pitchFamily="34" charset="-122"/>
                <a:cs typeface="Calibri" pitchFamily="34" charset="-120"/>
              </a:rPr>
              <a:t> silently discarded all 40. They were the site with the </a:t>
            </a:r>
            <a:r>
              <a:rPr lang="en-US" sz="1300" i="1" dirty="0">
                <a:solidFill>
                  <a:srgbClr val="3A3A3A"/>
                </a:solidFill>
                <a:latin typeface="Calibri" pitchFamily="34" charset="0"/>
                <a:ea typeface="Calibri" pitchFamily="34" charset="-122"/>
                <a:cs typeface="Calibri" pitchFamily="34" charset="-120"/>
              </a:rPr>
              <a:t>lower</a:t>
            </a:r>
            <a:r>
              <a:rPr lang="en-US" sz="1300" dirty="0">
                <a:solidFill>
                  <a:srgbClr val="3A3A3A"/>
                </a:solidFill>
                <a:latin typeface="Calibri" pitchFamily="34" charset="0"/>
                <a:ea typeface="Calibri" pitchFamily="34" charset="-122"/>
                <a:cs typeface="Calibri" pitchFamily="34" charset="-120"/>
              </a:rPr>
              <a:t> pressures — so the test lost exactly the rows that mattered.</a:t>
            </a:r>
            <a:endParaRPr lang="en-US" sz="1300" dirty="0"/>
          </a:p>
        </p:txBody>
      </p:sp>
      <p:sp>
        <p:nvSpPr>
          <p:cNvPr id="10" name="Shape 7"/>
          <p:cNvSpPr/>
          <p:nvPr/>
        </p:nvSpPr>
        <p:spPr>
          <a:xfrm>
            <a:off x="6382512" y="1481328"/>
            <a:ext cx="5230368" cy="2578608"/>
          </a:xfrm>
          <a:prstGeom prst="roundRect">
            <a:avLst>
              <a:gd name="adj" fmla="val 3191"/>
            </a:avLst>
          </a:prstGeom>
          <a:solidFill>
            <a:srgbClr val="FBF7EF"/>
          </a:solidFill>
          <a:ln w="12700">
            <a:solidFill>
              <a:srgbClr val="E6E6E6"/>
            </a:solidFill>
            <a:prstDash val="solid"/>
          </a:ln>
        </p:spPr>
        <p:txBody>
          <a:bodyPr/>
          <a:lstStyle/>
          <a:p>
            <a:endParaRPr lang="en-US"/>
          </a:p>
        </p:txBody>
      </p:sp>
      <p:sp>
        <p:nvSpPr>
          <p:cNvPr id="11" name="Text 8"/>
          <p:cNvSpPr txBox="1"/>
          <p:nvPr/>
        </p:nvSpPr>
        <p:spPr>
          <a:xfrm>
            <a:off x="6638544" y="1664208"/>
            <a:ext cx="4754880" cy="256032"/>
          </a:xfrm>
          <a:prstGeom prst="rect">
            <a:avLst/>
          </a:prstGeom>
          <a:noFill/>
          <a:ln/>
        </p:spPr>
        <p:txBody>
          <a:bodyPr wrap="square" lIns="0" tIns="0" rIns="0" bIns="0" rtlCol="0" anchor="ctr"/>
          <a:lstStyle/>
          <a:p>
            <a:pPr marL="0" indent="0">
              <a:buNone/>
            </a:pPr>
            <a:r>
              <a:rPr lang="en-US" sz="1000" b="1" kern="0" spc="150" dirty="0">
                <a:solidFill>
                  <a:srgbClr val="8A6D3B"/>
                </a:solidFill>
                <a:latin typeface="Arial" pitchFamily="34" charset="0"/>
                <a:ea typeface="Arial" pitchFamily="34" charset="-122"/>
                <a:cs typeface="Arial" pitchFamily="34" charset="-120"/>
              </a:rPr>
              <a:t>THE SAME TEST, DONE RIGHT</a:t>
            </a:r>
            <a:endParaRPr lang="en-US" sz="1000" dirty="0"/>
          </a:p>
        </p:txBody>
      </p:sp>
      <p:sp>
        <p:nvSpPr>
          <p:cNvPr id="12" name="Shape 9"/>
          <p:cNvSpPr/>
          <p:nvPr/>
        </p:nvSpPr>
        <p:spPr>
          <a:xfrm>
            <a:off x="6638544" y="1975104"/>
            <a:ext cx="4718304" cy="402336"/>
          </a:xfrm>
          <a:prstGeom prst="roundRect">
            <a:avLst>
              <a:gd name="adj" fmla="val 15909"/>
            </a:avLst>
          </a:prstGeom>
          <a:solidFill>
            <a:srgbClr val="2E2E2E"/>
          </a:solidFill>
          <a:ln w="12700">
            <a:solidFill>
              <a:srgbClr val="2E2E2E"/>
            </a:solidFill>
            <a:prstDash val="solid"/>
          </a:ln>
        </p:spPr>
        <p:txBody>
          <a:bodyPr/>
          <a:lstStyle/>
          <a:p>
            <a:endParaRPr lang="en-US"/>
          </a:p>
        </p:txBody>
      </p:sp>
      <p:sp>
        <p:nvSpPr>
          <p:cNvPr id="13" name="Text 10"/>
          <p:cNvSpPr txBox="1"/>
          <p:nvPr/>
        </p:nvSpPr>
        <p:spPr>
          <a:xfrm>
            <a:off x="6766560" y="1975104"/>
            <a:ext cx="4480560" cy="402336"/>
          </a:xfrm>
          <a:prstGeom prst="rect">
            <a:avLst/>
          </a:prstGeom>
          <a:noFill/>
          <a:ln/>
        </p:spPr>
        <p:txBody>
          <a:bodyPr wrap="square" lIns="0" tIns="0" rIns="0" bIns="0" rtlCol="0" anchor="ctr"/>
          <a:lstStyle/>
          <a:p>
            <a:pPr marL="0" indent="0">
              <a:buNone/>
            </a:pPr>
            <a:r>
              <a:rPr lang="en-US" sz="1150" dirty="0">
                <a:solidFill>
                  <a:srgbClr val="F2C879"/>
                </a:solidFill>
                <a:latin typeface="Courier New" pitchFamily="34" charset="0"/>
                <a:ea typeface="Courier New" pitchFamily="34" charset="-122"/>
                <a:cs typeface="Courier New" pitchFamily="34" charset="-120"/>
              </a:rPr>
              <a:t>df["group"] = df["group"].str.strip()</a:t>
            </a:r>
            <a:endParaRPr lang="en-US" sz="1150" dirty="0"/>
          </a:p>
        </p:txBody>
      </p:sp>
      <p:sp>
        <p:nvSpPr>
          <p:cNvPr id="14" name="Text 11"/>
          <p:cNvSpPr txBox="1"/>
          <p:nvPr/>
        </p:nvSpPr>
        <p:spPr>
          <a:xfrm>
            <a:off x="6638544" y="2523744"/>
            <a:ext cx="4718304" cy="292608"/>
          </a:xfrm>
          <a:prstGeom prst="rect">
            <a:avLst/>
          </a:prstGeom>
          <a:noFill/>
          <a:ln/>
        </p:spPr>
        <p:txBody>
          <a:bodyPr wrap="square" lIns="0" tIns="0" rIns="0" bIns="0" rtlCol="0" anchor="ctr"/>
          <a:lstStyle/>
          <a:p>
            <a:pPr marL="0" indent="0">
              <a:buNone/>
            </a:pPr>
            <a:r>
              <a:rPr lang="en-US" sz="1400" b="1" dirty="0">
                <a:solidFill>
                  <a:srgbClr val="3A3A3A"/>
                </a:solidFill>
                <a:latin typeface="Calibri" pitchFamily="34" charset="0"/>
                <a:ea typeface="Calibri" pitchFamily="34" charset="-122"/>
                <a:cs typeface="Calibri" pitchFamily="34" charset="-120"/>
              </a:rPr>
              <a:t>A: 129.4 mmHg</a:t>
            </a:r>
            <a:r>
              <a:rPr lang="en-US" sz="1400" dirty="0">
                <a:solidFill>
                  <a:srgbClr val="7A7A7A"/>
                </a:solidFill>
                <a:latin typeface="Calibri" pitchFamily="34" charset="0"/>
                <a:ea typeface="Calibri" pitchFamily="34" charset="-122"/>
                <a:cs typeface="Calibri" pitchFamily="34" charset="-120"/>
              </a:rPr>
              <a:t>   ·   </a:t>
            </a:r>
            <a:r>
              <a:rPr lang="en-US" sz="1400" b="1" dirty="0">
                <a:solidFill>
                  <a:srgbClr val="3A3A3A"/>
                </a:solidFill>
                <a:latin typeface="Calibri" pitchFamily="34" charset="0"/>
                <a:ea typeface="Calibri" pitchFamily="34" charset="-122"/>
                <a:cs typeface="Calibri" pitchFamily="34" charset="-120"/>
              </a:rPr>
              <a:t>B: 134.2 mmHg</a:t>
            </a:r>
            <a:endParaRPr lang="en-US" sz="1400" dirty="0"/>
          </a:p>
        </p:txBody>
      </p:sp>
      <p:sp>
        <p:nvSpPr>
          <p:cNvPr id="15" name="Text 12"/>
          <p:cNvSpPr txBox="1"/>
          <p:nvPr/>
        </p:nvSpPr>
        <p:spPr>
          <a:xfrm>
            <a:off x="6638544" y="2852928"/>
            <a:ext cx="4718304" cy="713232"/>
          </a:xfrm>
          <a:prstGeom prst="rect">
            <a:avLst/>
          </a:prstGeom>
          <a:noFill/>
          <a:ln/>
        </p:spPr>
        <p:txBody>
          <a:bodyPr wrap="square" lIns="0" tIns="0" rIns="0" bIns="0" rtlCol="0" anchor="ctr"/>
          <a:lstStyle/>
          <a:p>
            <a:pPr marL="0" indent="0">
              <a:buNone/>
            </a:pPr>
            <a:r>
              <a:rPr lang="en-US" sz="3200" b="1" dirty="0">
                <a:solidFill>
                  <a:srgbClr val="8A6D3B"/>
                </a:solidFill>
                <a:latin typeface="Courier New" pitchFamily="34" charset="0"/>
                <a:ea typeface="Courier New" pitchFamily="34" charset="-122"/>
                <a:cs typeface="Courier New" pitchFamily="34" charset="-120"/>
              </a:rPr>
              <a:t>p = 0.0064</a:t>
            </a:r>
            <a:endParaRPr lang="en-US" sz="3200" dirty="0"/>
          </a:p>
        </p:txBody>
      </p:sp>
      <p:sp>
        <p:nvSpPr>
          <p:cNvPr id="16" name="Text 13"/>
          <p:cNvSpPr txBox="1"/>
          <p:nvPr/>
        </p:nvSpPr>
        <p:spPr>
          <a:xfrm>
            <a:off x="6638544" y="3602736"/>
            <a:ext cx="4718304" cy="274320"/>
          </a:xfrm>
          <a:prstGeom prst="rect">
            <a:avLst/>
          </a:prstGeom>
          <a:noFill/>
          <a:ln/>
        </p:spPr>
        <p:txBody>
          <a:bodyPr wrap="square" lIns="0" tIns="0" rIns="0" bIns="0" rtlCol="0" anchor="ctr"/>
          <a:lstStyle/>
          <a:p>
            <a:pPr marL="0" indent="0">
              <a:buNone/>
            </a:pPr>
            <a:r>
              <a:rPr lang="en-US" sz="1250" i="1" dirty="0">
                <a:solidFill>
                  <a:srgbClr val="7A7A7A"/>
                </a:solidFill>
                <a:latin typeface="Calibri" pitchFamily="34" charset="0"/>
                <a:ea typeface="Calibri" pitchFamily="34" charset="-122"/>
                <a:cs typeface="Calibri" pitchFamily="34" charset="-120"/>
              </a:rPr>
              <a:t>There was a difference. The first version threw it away.</a:t>
            </a:r>
            <a:endParaRPr lang="en-US" sz="1250" dirty="0"/>
          </a:p>
        </p:txBody>
      </p:sp>
      <p:sp>
        <p:nvSpPr>
          <p:cNvPr id="17" name="Text 14"/>
          <p:cNvSpPr txBox="1"/>
          <p:nvPr/>
        </p:nvSpPr>
        <p:spPr>
          <a:xfrm>
            <a:off x="566928" y="4334256"/>
            <a:ext cx="3474720" cy="457200"/>
          </a:xfrm>
          <a:prstGeom prst="rect">
            <a:avLst/>
          </a:prstGeom>
          <a:noFill/>
          <a:ln/>
        </p:spPr>
        <p:txBody>
          <a:bodyPr wrap="square" lIns="0" tIns="0" rIns="0" bIns="0" rtlCol="0" anchor="ctr"/>
          <a:lstStyle/>
          <a:p>
            <a:pPr marL="0" indent="0">
              <a:buNone/>
            </a:pPr>
            <a:r>
              <a:rPr lang="en-US" sz="2700" b="1" dirty="0">
                <a:solidFill>
                  <a:srgbClr val="A83A2C"/>
                </a:solidFill>
                <a:latin typeface="Arial" pitchFamily="34" charset="0"/>
                <a:ea typeface="Arial" pitchFamily="34" charset="-122"/>
                <a:cs typeface="Arial" pitchFamily="34" charset="-120"/>
              </a:rPr>
              <a:t>201 / 250</a:t>
            </a:r>
            <a:endParaRPr lang="en-US" sz="2700" dirty="0"/>
          </a:p>
        </p:txBody>
      </p:sp>
      <p:sp>
        <p:nvSpPr>
          <p:cNvPr id="18" name="Text 15"/>
          <p:cNvSpPr txBox="1"/>
          <p:nvPr/>
        </p:nvSpPr>
        <p:spPr>
          <a:xfrm>
            <a:off x="566928" y="4773168"/>
            <a:ext cx="3474720" cy="256032"/>
          </a:xfrm>
          <a:prstGeom prst="rect">
            <a:avLst/>
          </a:prstGeom>
          <a:noFill/>
          <a:ln/>
        </p:spPr>
        <p:txBody>
          <a:bodyPr wrap="square" lIns="0" tIns="0" rIns="0" bIns="0" rtlCol="0" anchor="ctr"/>
          <a:lstStyle/>
          <a:p>
            <a:pPr marL="0" indent="0">
              <a:buNone/>
            </a:pPr>
            <a:r>
              <a:rPr lang="en-US" sz="1250" dirty="0">
                <a:solidFill>
                  <a:srgbClr val="7A7A7A"/>
                </a:solidFill>
                <a:latin typeface="Calibri" pitchFamily="34" charset="0"/>
                <a:ea typeface="Calibri" pitchFamily="34" charset="-122"/>
                <a:cs typeface="Calibri" pitchFamily="34" charset="-120"/>
              </a:rPr>
              <a:t>patients actually tested</a:t>
            </a:r>
            <a:endParaRPr lang="en-US" sz="1250" dirty="0"/>
          </a:p>
        </p:txBody>
      </p:sp>
      <p:sp>
        <p:nvSpPr>
          <p:cNvPr id="19" name="Text 16"/>
          <p:cNvSpPr txBox="1"/>
          <p:nvPr/>
        </p:nvSpPr>
        <p:spPr>
          <a:xfrm>
            <a:off x="4261104" y="4334256"/>
            <a:ext cx="3474720" cy="457200"/>
          </a:xfrm>
          <a:prstGeom prst="rect">
            <a:avLst/>
          </a:prstGeom>
          <a:noFill/>
          <a:ln/>
        </p:spPr>
        <p:txBody>
          <a:bodyPr wrap="square" lIns="0" tIns="0" rIns="0" bIns="0" rtlCol="0" anchor="ctr"/>
          <a:lstStyle/>
          <a:p>
            <a:pPr marL="0" indent="0">
              <a:buNone/>
            </a:pPr>
            <a:r>
              <a:rPr lang="en-US" sz="2700" b="1" dirty="0">
                <a:solidFill>
                  <a:srgbClr val="A83A2C"/>
                </a:solidFill>
                <a:latin typeface="Arial" pitchFamily="34" charset="0"/>
                <a:ea typeface="Arial" pitchFamily="34" charset="-122"/>
                <a:cs typeface="Arial" pitchFamily="34" charset="-120"/>
              </a:rPr>
              <a:t>0</a:t>
            </a:r>
            <a:endParaRPr lang="en-US" sz="2700" dirty="0"/>
          </a:p>
        </p:txBody>
      </p:sp>
      <p:sp>
        <p:nvSpPr>
          <p:cNvPr id="20" name="Text 17"/>
          <p:cNvSpPr txBox="1"/>
          <p:nvPr/>
        </p:nvSpPr>
        <p:spPr>
          <a:xfrm>
            <a:off x="4261104" y="4773168"/>
            <a:ext cx="3474720" cy="256032"/>
          </a:xfrm>
          <a:prstGeom prst="rect">
            <a:avLst/>
          </a:prstGeom>
          <a:noFill/>
          <a:ln/>
        </p:spPr>
        <p:txBody>
          <a:bodyPr wrap="square" lIns="0" tIns="0" rIns="0" bIns="0" rtlCol="0" anchor="ctr"/>
          <a:lstStyle/>
          <a:p>
            <a:pPr marL="0" indent="0">
              <a:buNone/>
            </a:pPr>
            <a:r>
              <a:rPr lang="en-US" sz="1250" dirty="0">
                <a:solidFill>
                  <a:srgbClr val="7A7A7A"/>
                </a:solidFill>
                <a:latin typeface="Calibri" pitchFamily="34" charset="0"/>
                <a:ea typeface="Calibri" pitchFamily="34" charset="-122"/>
                <a:cs typeface="Calibri" pitchFamily="34" charset="-120"/>
              </a:rPr>
              <a:t>errors raised</a:t>
            </a:r>
            <a:endParaRPr lang="en-US" sz="1250" dirty="0"/>
          </a:p>
        </p:txBody>
      </p:sp>
      <p:sp>
        <p:nvSpPr>
          <p:cNvPr id="21" name="Text 18"/>
          <p:cNvSpPr txBox="1"/>
          <p:nvPr/>
        </p:nvSpPr>
        <p:spPr>
          <a:xfrm>
            <a:off x="7955280" y="4334256"/>
            <a:ext cx="3474720" cy="457200"/>
          </a:xfrm>
          <a:prstGeom prst="rect">
            <a:avLst/>
          </a:prstGeom>
          <a:noFill/>
          <a:ln/>
        </p:spPr>
        <p:txBody>
          <a:bodyPr wrap="square" lIns="0" tIns="0" rIns="0" bIns="0" rtlCol="0" anchor="ctr"/>
          <a:lstStyle/>
          <a:p>
            <a:pPr marL="0" indent="0">
              <a:buNone/>
            </a:pPr>
            <a:r>
              <a:rPr lang="en-US" sz="2700" b="1" dirty="0">
                <a:solidFill>
                  <a:srgbClr val="A83A2C"/>
                </a:solidFill>
                <a:latin typeface="Arial" pitchFamily="34" charset="0"/>
                <a:ea typeface="Arial" pitchFamily="34" charset="-122"/>
                <a:cs typeface="Arial" pitchFamily="34" charset="-120"/>
              </a:rPr>
              <a:t>0</a:t>
            </a:r>
            <a:endParaRPr lang="en-US" sz="2700" dirty="0"/>
          </a:p>
        </p:txBody>
      </p:sp>
      <p:sp>
        <p:nvSpPr>
          <p:cNvPr id="22" name="Text 19"/>
          <p:cNvSpPr txBox="1"/>
          <p:nvPr/>
        </p:nvSpPr>
        <p:spPr>
          <a:xfrm>
            <a:off x="7955280" y="4773168"/>
            <a:ext cx="3474720" cy="256032"/>
          </a:xfrm>
          <a:prstGeom prst="rect">
            <a:avLst/>
          </a:prstGeom>
          <a:noFill/>
          <a:ln/>
        </p:spPr>
        <p:txBody>
          <a:bodyPr wrap="square" lIns="0" tIns="0" rIns="0" bIns="0" rtlCol="0" anchor="ctr"/>
          <a:lstStyle/>
          <a:p>
            <a:pPr marL="0" indent="0">
              <a:buNone/>
            </a:pPr>
            <a:r>
              <a:rPr lang="en-US" sz="1250" dirty="0">
                <a:solidFill>
                  <a:srgbClr val="7A7A7A"/>
                </a:solidFill>
                <a:latin typeface="Calibri" pitchFamily="34" charset="0"/>
                <a:ea typeface="Calibri" pitchFamily="34" charset="-122"/>
                <a:cs typeface="Calibri" pitchFamily="34" charset="-120"/>
              </a:rPr>
              <a:t>warnings printed</a:t>
            </a:r>
            <a:endParaRPr lang="en-US" sz="1250" dirty="0"/>
          </a:p>
        </p:txBody>
      </p:sp>
      <p:sp>
        <p:nvSpPr>
          <p:cNvPr id="23" name="Shape 20"/>
          <p:cNvSpPr/>
          <p:nvPr/>
        </p:nvSpPr>
        <p:spPr>
          <a:xfrm>
            <a:off x="566928" y="5248656"/>
            <a:ext cx="11057839" cy="914400"/>
          </a:xfrm>
          <a:prstGeom prst="roundRect">
            <a:avLst>
              <a:gd name="adj" fmla="val 9000"/>
            </a:avLst>
          </a:prstGeom>
          <a:solidFill>
            <a:srgbClr val="1C1C1C"/>
          </a:solidFill>
          <a:ln w="12700">
            <a:solidFill>
              <a:srgbClr val="1C1C1C"/>
            </a:solidFill>
            <a:prstDash val="solid"/>
          </a:ln>
        </p:spPr>
        <p:txBody>
          <a:bodyPr/>
          <a:lstStyle/>
          <a:p>
            <a:endParaRPr lang="en-US"/>
          </a:p>
        </p:txBody>
      </p:sp>
      <p:sp>
        <p:nvSpPr>
          <p:cNvPr id="24" name="Text 21"/>
          <p:cNvSpPr txBox="1"/>
          <p:nvPr/>
        </p:nvSpPr>
        <p:spPr>
          <a:xfrm>
            <a:off x="841248" y="5248656"/>
            <a:ext cx="10509199" cy="914400"/>
          </a:xfrm>
          <a:prstGeom prst="rect">
            <a:avLst/>
          </a:prstGeom>
          <a:noFill/>
          <a:ln/>
        </p:spPr>
        <p:txBody>
          <a:bodyPr wrap="square" lIns="0" tIns="0" rIns="0" bIns="0" rtlCol="0" anchor="ctr"/>
          <a:lstStyle/>
          <a:p>
            <a:pPr marL="0" indent="0">
              <a:lnSpc>
                <a:spcPts val="1700"/>
              </a:lnSpc>
              <a:buNone/>
            </a:pPr>
            <a:r>
              <a:rPr lang="en-US" sz="1350" b="1" dirty="0">
                <a:solidFill>
                  <a:srgbClr val="F2C879"/>
                </a:solidFill>
                <a:latin typeface="Calibri" pitchFamily="34" charset="0"/>
                <a:ea typeface="Calibri" pitchFamily="34" charset="-122"/>
                <a:cs typeface="Calibri" pitchFamily="34" charset="-120"/>
              </a:rPr>
              <a:t>The lesson:  </a:t>
            </a:r>
            <a:r>
              <a:rPr lang="en-US" sz="1350" dirty="0">
                <a:solidFill>
                  <a:srgbClr val="EDEDED"/>
                </a:solidFill>
                <a:latin typeface="Calibri" pitchFamily="34" charset="0"/>
                <a:ea typeface="Calibri" pitchFamily="34" charset="-122"/>
                <a:cs typeface="Calibri" pitchFamily="34" charset="-120"/>
              </a:rPr>
              <a:t>The AI was not “wrong” — it answered the question it was asked. Catching this requires knowing something about your data that is not in the code. That knowledge is yours, and it cannot be delegated.</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vu_mark_gold.png"/>
          <p:cNvPicPr>
            <a:picLocks noChangeAspect="1"/>
          </p:cNvPicPr>
          <p:nvPr/>
        </p:nvPicPr>
        <p:blipFill>
          <a:blip r:embed="rId3"/>
          <a:stretch>
            <a:fillRect/>
          </a:stretch>
        </p:blipFill>
        <p:spPr>
          <a:xfrm>
            <a:off x="11356848" y="310896"/>
            <a:ext cx="384048" cy="274320"/>
          </a:xfrm>
          <a:prstGeom prst="rect">
            <a:avLst/>
          </a:prstGeom>
        </p:spPr>
      </p:pic>
      <p:sp>
        <p:nvSpPr>
          <p:cNvPr id="3" name="Shape 0"/>
          <p:cNvSpPr/>
          <p:nvPr/>
        </p:nvSpPr>
        <p:spPr>
          <a:xfrm>
            <a:off x="566928" y="329184"/>
            <a:ext cx="2668216" cy="310896"/>
          </a:xfrm>
          <a:prstGeom prst="roundRect">
            <a:avLst>
              <a:gd name="adj" fmla="val 50000"/>
            </a:avLst>
          </a:prstGeom>
          <a:solidFill>
            <a:srgbClr val="F2C879"/>
          </a:solidFill>
          <a:ln w="12700">
            <a:solidFill>
              <a:srgbClr val="F2C879"/>
            </a:solidFill>
            <a:prstDash val="solid"/>
          </a:ln>
        </p:spPr>
        <p:txBody>
          <a:bodyPr/>
          <a:lstStyle/>
          <a:p>
            <a:endParaRPr lang="en-US"/>
          </a:p>
        </p:txBody>
      </p:sp>
      <p:sp>
        <p:nvSpPr>
          <p:cNvPr id="4" name="Text 1"/>
          <p:cNvSpPr txBox="1"/>
          <p:nvPr/>
        </p:nvSpPr>
        <p:spPr>
          <a:xfrm>
            <a:off x="566928" y="329184"/>
            <a:ext cx="2668216" cy="310896"/>
          </a:xfrm>
          <a:prstGeom prst="rect">
            <a:avLst/>
          </a:prstGeom>
          <a:noFill/>
          <a:ln/>
        </p:spPr>
        <p:txBody>
          <a:bodyPr wrap="square" lIns="0" tIns="0" rIns="0" bIns="0" rtlCol="0" anchor="ctr"/>
          <a:lstStyle/>
          <a:p>
            <a:pPr marL="0" indent="0" algn="ctr">
              <a:buNone/>
            </a:pPr>
            <a:r>
              <a:rPr lang="en-US" sz="1050" b="1" kern="0" spc="110" dirty="0">
                <a:solidFill>
                  <a:srgbClr val="5A4415"/>
                </a:solidFill>
                <a:latin typeface="Arial" pitchFamily="34" charset="0"/>
                <a:ea typeface="Arial" pitchFamily="34" charset="-122"/>
                <a:cs typeface="Arial" pitchFamily="34" charset="-120"/>
              </a:rPr>
              <a:t>11–14 MIN  ·  THE CONTRACT</a:t>
            </a:r>
            <a:endParaRPr lang="en-US" sz="1050" dirty="0"/>
          </a:p>
        </p:txBody>
      </p:sp>
      <p:sp>
        <p:nvSpPr>
          <p:cNvPr id="5" name="Text 2"/>
          <p:cNvSpPr txBox="1"/>
          <p:nvPr/>
        </p:nvSpPr>
        <p:spPr>
          <a:xfrm>
            <a:off x="566928" y="749808"/>
            <a:ext cx="10692079" cy="658368"/>
          </a:xfrm>
          <a:prstGeom prst="rect">
            <a:avLst/>
          </a:prstGeom>
          <a:noFill/>
          <a:ln/>
        </p:spPr>
        <p:txBody>
          <a:bodyPr wrap="square" lIns="0" tIns="0" rIns="0" bIns="0" rtlCol="0" anchor="ctr"/>
          <a:lstStyle/>
          <a:p>
            <a:pPr marL="0" indent="0">
              <a:buNone/>
            </a:pPr>
            <a:r>
              <a:rPr lang="en-US" sz="3300" b="1" dirty="0">
                <a:solidFill>
                  <a:srgbClr val="1C1C1C"/>
                </a:solidFill>
                <a:latin typeface="Arial" pitchFamily="34" charset="0"/>
                <a:ea typeface="Arial" pitchFamily="34" charset="-122"/>
                <a:cs typeface="Arial" pitchFamily="34" charset="-120"/>
              </a:rPr>
              <a:t>What this course is — and isn’t</a:t>
            </a:r>
            <a:endParaRPr lang="en-US" sz="3300" dirty="0"/>
          </a:p>
        </p:txBody>
      </p:sp>
      <p:sp>
        <p:nvSpPr>
          <p:cNvPr id="6" name="Text 3"/>
          <p:cNvSpPr txBox="1"/>
          <p:nvPr/>
        </p:nvSpPr>
        <p:spPr>
          <a:xfrm>
            <a:off x="11430000" y="6419088"/>
            <a:ext cx="320040" cy="228600"/>
          </a:xfrm>
          <a:prstGeom prst="rect">
            <a:avLst/>
          </a:prstGeom>
          <a:noFill/>
          <a:ln/>
        </p:spPr>
        <p:txBody>
          <a:bodyPr wrap="square" lIns="0" tIns="0" rIns="0" bIns="0" rtlCol="0" anchor="ctr"/>
          <a:lstStyle/>
          <a:p>
            <a:pPr marL="0" indent="0" algn="r">
              <a:buNone/>
            </a:pPr>
            <a:r>
              <a:rPr lang="en-US" sz="1000" dirty="0">
                <a:solidFill>
                  <a:srgbClr val="B5B5B5"/>
                </a:solidFill>
                <a:latin typeface="Calibri" pitchFamily="34" charset="0"/>
                <a:ea typeface="Calibri" pitchFamily="34" charset="-122"/>
                <a:cs typeface="Calibri" pitchFamily="34" charset="-120"/>
              </a:rPr>
              <a:t>6</a:t>
            </a:r>
            <a:endParaRPr lang="en-US" sz="1000" dirty="0"/>
          </a:p>
        </p:txBody>
      </p:sp>
      <p:sp>
        <p:nvSpPr>
          <p:cNvPr id="7" name="Shape 4"/>
          <p:cNvSpPr/>
          <p:nvPr/>
        </p:nvSpPr>
        <p:spPr>
          <a:xfrm>
            <a:off x="566928" y="1517904"/>
            <a:ext cx="5376672" cy="2907792"/>
          </a:xfrm>
          <a:prstGeom prst="roundRect">
            <a:avLst>
              <a:gd name="adj" fmla="val 2830"/>
            </a:avLst>
          </a:prstGeom>
          <a:solidFill>
            <a:srgbClr val="FFFFFF"/>
          </a:solidFill>
          <a:ln w="12700">
            <a:solidFill>
              <a:srgbClr val="E6E6E6"/>
            </a:solidFill>
            <a:prstDash val="solid"/>
          </a:ln>
        </p:spPr>
        <p:txBody>
          <a:bodyPr/>
          <a:lstStyle/>
          <a:p>
            <a:endParaRPr lang="en-US"/>
          </a:p>
        </p:txBody>
      </p:sp>
      <p:sp>
        <p:nvSpPr>
          <p:cNvPr id="8" name="Shape 5"/>
          <p:cNvSpPr/>
          <p:nvPr/>
        </p:nvSpPr>
        <p:spPr>
          <a:xfrm>
            <a:off x="822960" y="1737360"/>
            <a:ext cx="310896" cy="310896"/>
          </a:xfrm>
          <a:prstGeom prst="ellipse">
            <a:avLst/>
          </a:prstGeom>
          <a:solidFill>
            <a:srgbClr val="F2C879"/>
          </a:solidFill>
          <a:ln w="12700">
            <a:solidFill>
              <a:srgbClr val="F2C879"/>
            </a:solidFill>
            <a:prstDash val="solid"/>
          </a:ln>
        </p:spPr>
        <p:txBody>
          <a:bodyPr/>
          <a:lstStyle/>
          <a:p>
            <a:endParaRPr lang="en-US"/>
          </a:p>
        </p:txBody>
      </p:sp>
      <p:sp>
        <p:nvSpPr>
          <p:cNvPr id="9" name="Text 6"/>
          <p:cNvSpPr txBox="1"/>
          <p:nvPr/>
        </p:nvSpPr>
        <p:spPr>
          <a:xfrm>
            <a:off x="822960" y="1737360"/>
            <a:ext cx="310896" cy="310896"/>
          </a:xfrm>
          <a:prstGeom prst="rect">
            <a:avLst/>
          </a:prstGeom>
          <a:noFill/>
          <a:ln/>
        </p:spPr>
        <p:txBody>
          <a:bodyPr wrap="square" lIns="0" tIns="0" rIns="0" bIns="0" rtlCol="0" anchor="ctr"/>
          <a:lstStyle/>
          <a:p>
            <a:pPr marL="0" indent="0" algn="ctr">
              <a:buNone/>
            </a:pPr>
            <a:r>
              <a:rPr lang="en-US" sz="1300" b="1" dirty="0">
                <a:solidFill>
                  <a:srgbClr val="5A4415"/>
                </a:solidFill>
                <a:latin typeface="Arial" pitchFamily="34" charset="0"/>
                <a:ea typeface="Arial" pitchFamily="34" charset="-122"/>
                <a:cs typeface="Arial" pitchFamily="34" charset="-120"/>
              </a:rPr>
              <a:t>✓</a:t>
            </a:r>
            <a:endParaRPr lang="en-US" sz="1300" dirty="0"/>
          </a:p>
        </p:txBody>
      </p:sp>
      <p:sp>
        <p:nvSpPr>
          <p:cNvPr id="10" name="Text 7"/>
          <p:cNvSpPr txBox="1"/>
          <p:nvPr/>
        </p:nvSpPr>
        <p:spPr>
          <a:xfrm>
            <a:off x="1243584" y="1737360"/>
            <a:ext cx="4114800" cy="310896"/>
          </a:xfrm>
          <a:prstGeom prst="rect">
            <a:avLst/>
          </a:prstGeom>
          <a:noFill/>
          <a:ln/>
        </p:spPr>
        <p:txBody>
          <a:bodyPr wrap="square" lIns="0" tIns="0" rIns="0" bIns="0" rtlCol="0" anchor="ctr"/>
          <a:lstStyle/>
          <a:p>
            <a:pPr marL="0" indent="0">
              <a:buNone/>
            </a:pPr>
            <a:r>
              <a:rPr lang="en-US" sz="1600" b="1" dirty="0">
                <a:solidFill>
                  <a:srgbClr val="1C1C1C"/>
                </a:solidFill>
                <a:latin typeface="Arial" pitchFamily="34" charset="0"/>
                <a:ea typeface="Arial" pitchFamily="34" charset="-122"/>
                <a:cs typeface="Arial" pitchFamily="34" charset="-120"/>
              </a:rPr>
              <a:t>It is</a:t>
            </a:r>
            <a:endParaRPr lang="en-US" sz="1600" dirty="0"/>
          </a:p>
        </p:txBody>
      </p:sp>
      <p:sp>
        <p:nvSpPr>
          <p:cNvPr id="11" name="Text 8"/>
          <p:cNvSpPr txBox="1"/>
          <p:nvPr/>
        </p:nvSpPr>
        <p:spPr>
          <a:xfrm>
            <a:off x="841248" y="2231136"/>
            <a:ext cx="4892040" cy="2286000"/>
          </a:xfrm>
          <a:prstGeom prst="rect">
            <a:avLst/>
          </a:prstGeom>
          <a:noFill/>
          <a:ln/>
        </p:spPr>
        <p:txBody>
          <a:bodyPr wrap="square" lIns="0" tIns="0" rIns="0" bIns="0" rtlCol="0" anchor="t"/>
          <a:lstStyle/>
          <a:p>
            <a:pPr marL="203200" indent="-203200">
              <a:lnSpc>
                <a:spcPts val="1800"/>
              </a:lnSpc>
              <a:spcAft>
                <a:spcPts val="900"/>
              </a:spcAft>
              <a:buSzPct val="100000"/>
              <a:buChar char="•"/>
            </a:pPr>
            <a:r>
              <a:rPr lang="en-US" sz="1350" dirty="0">
                <a:solidFill>
                  <a:srgbClr val="3A3A3A"/>
                </a:solidFill>
                <a:latin typeface="Calibri" pitchFamily="34" charset="0"/>
                <a:ea typeface="Calibri" pitchFamily="34" charset="-122"/>
                <a:cs typeface="Calibri" pitchFamily="34" charset="-120"/>
              </a:rPr>
              <a:t>The logic underneath the syntax</a:t>
            </a:r>
            <a:endParaRPr lang="en-US" sz="1350" dirty="0"/>
          </a:p>
          <a:p>
            <a:pPr marL="203200" indent="-203200">
              <a:lnSpc>
                <a:spcPts val="1800"/>
              </a:lnSpc>
              <a:spcAft>
                <a:spcPts val="900"/>
              </a:spcAft>
              <a:buSzPct val="100000"/>
              <a:buChar char="•"/>
            </a:pPr>
            <a:r>
              <a:rPr lang="en-US" sz="1350" dirty="0">
                <a:solidFill>
                  <a:srgbClr val="3A3A3A"/>
                </a:solidFill>
                <a:latin typeface="Calibri" pitchFamily="34" charset="0"/>
                <a:ea typeface="Calibri" pitchFamily="34" charset="-122"/>
                <a:cs typeface="Calibri" pitchFamily="34" charset="-120"/>
              </a:rPr>
              <a:t>Reading code critically</a:t>
            </a:r>
            <a:endParaRPr lang="en-US" sz="1350" dirty="0"/>
          </a:p>
          <a:p>
            <a:pPr marL="203200" indent="-203200">
              <a:lnSpc>
                <a:spcPts val="1800"/>
              </a:lnSpc>
              <a:spcAft>
                <a:spcPts val="900"/>
              </a:spcAft>
              <a:buSzPct val="100000"/>
              <a:buChar char="•"/>
            </a:pPr>
            <a:r>
              <a:rPr lang="en-US" sz="1350" dirty="0">
                <a:solidFill>
                  <a:srgbClr val="3A3A3A"/>
                </a:solidFill>
                <a:latin typeface="Calibri" pitchFamily="34" charset="0"/>
                <a:ea typeface="Calibri" pitchFamily="34" charset="-122"/>
                <a:cs typeface="Calibri" pitchFamily="34" charset="-120"/>
              </a:rPr>
              <a:t>Knowing what to ask for, in the right vocabulary</a:t>
            </a:r>
            <a:endParaRPr lang="en-US" sz="1350" dirty="0"/>
          </a:p>
          <a:p>
            <a:pPr marL="203200" indent="-203200">
              <a:lnSpc>
                <a:spcPts val="1800"/>
              </a:lnSpc>
              <a:spcAft>
                <a:spcPts val="900"/>
              </a:spcAft>
              <a:buSzPct val="100000"/>
              <a:buChar char="•"/>
            </a:pPr>
            <a:r>
              <a:rPr lang="en-US" sz="1350" dirty="0">
                <a:solidFill>
                  <a:srgbClr val="3A3A3A"/>
                </a:solidFill>
                <a:latin typeface="Calibri" pitchFamily="34" charset="0"/>
                <a:ea typeface="Calibri" pitchFamily="34" charset="-122"/>
                <a:cs typeface="Calibri" pitchFamily="34" charset="-120"/>
              </a:rPr>
              <a:t>Knowing how to check an answer</a:t>
            </a:r>
            <a:endParaRPr lang="en-US" sz="1350" dirty="0"/>
          </a:p>
          <a:p>
            <a:pPr marL="203200" indent="-203200">
              <a:lnSpc>
                <a:spcPts val="1800"/>
              </a:lnSpc>
              <a:spcAft>
                <a:spcPts val="900"/>
              </a:spcAft>
              <a:buSzPct val="100000"/>
              <a:buChar char="•"/>
            </a:pPr>
            <a:r>
              <a:rPr lang="en-US" sz="1350" dirty="0">
                <a:solidFill>
                  <a:srgbClr val="3A3A3A"/>
                </a:solidFill>
                <a:latin typeface="Calibri" pitchFamily="34" charset="0"/>
                <a:ea typeface="Calibri" pitchFamily="34" charset="-122"/>
                <a:cs typeface="Calibri" pitchFamily="34" charset="-120"/>
              </a:rPr>
              <a:t>Owning the analysis that carries your name</a:t>
            </a:r>
            <a:endParaRPr lang="en-US" sz="1350" dirty="0"/>
          </a:p>
        </p:txBody>
      </p:sp>
      <p:sp>
        <p:nvSpPr>
          <p:cNvPr id="12" name="Shape 9"/>
          <p:cNvSpPr/>
          <p:nvPr/>
        </p:nvSpPr>
        <p:spPr>
          <a:xfrm>
            <a:off x="6227064" y="1517904"/>
            <a:ext cx="5385816" cy="2907792"/>
          </a:xfrm>
          <a:prstGeom prst="roundRect">
            <a:avLst>
              <a:gd name="adj" fmla="val 2830"/>
            </a:avLst>
          </a:prstGeom>
          <a:solidFill>
            <a:srgbClr val="FFFFFF"/>
          </a:solidFill>
          <a:ln w="12700">
            <a:solidFill>
              <a:srgbClr val="E6E6E6"/>
            </a:solidFill>
            <a:prstDash val="solid"/>
          </a:ln>
        </p:spPr>
        <p:txBody>
          <a:bodyPr/>
          <a:lstStyle/>
          <a:p>
            <a:endParaRPr lang="en-US"/>
          </a:p>
        </p:txBody>
      </p:sp>
      <p:sp>
        <p:nvSpPr>
          <p:cNvPr id="13" name="Shape 10"/>
          <p:cNvSpPr/>
          <p:nvPr/>
        </p:nvSpPr>
        <p:spPr>
          <a:xfrm>
            <a:off x="6483096" y="1737360"/>
            <a:ext cx="310896" cy="310896"/>
          </a:xfrm>
          <a:prstGeom prst="ellipse">
            <a:avLst/>
          </a:prstGeom>
          <a:solidFill>
            <a:srgbClr val="E8E8E8"/>
          </a:solidFill>
          <a:ln w="12700">
            <a:solidFill>
              <a:srgbClr val="E8E8E8"/>
            </a:solidFill>
            <a:prstDash val="solid"/>
          </a:ln>
        </p:spPr>
        <p:txBody>
          <a:bodyPr/>
          <a:lstStyle/>
          <a:p>
            <a:endParaRPr lang="en-US"/>
          </a:p>
        </p:txBody>
      </p:sp>
      <p:sp>
        <p:nvSpPr>
          <p:cNvPr id="14" name="Text 11"/>
          <p:cNvSpPr txBox="1"/>
          <p:nvPr/>
        </p:nvSpPr>
        <p:spPr>
          <a:xfrm>
            <a:off x="6483096" y="1737360"/>
            <a:ext cx="310896" cy="310896"/>
          </a:xfrm>
          <a:prstGeom prst="rect">
            <a:avLst/>
          </a:prstGeom>
          <a:noFill/>
          <a:ln/>
        </p:spPr>
        <p:txBody>
          <a:bodyPr wrap="square" lIns="0" tIns="0" rIns="0" bIns="0" rtlCol="0" anchor="ctr"/>
          <a:lstStyle/>
          <a:p>
            <a:pPr marL="0" indent="0" algn="ctr">
              <a:buNone/>
            </a:pPr>
            <a:r>
              <a:rPr lang="en-US" sz="1200" b="1" dirty="0">
                <a:solidFill>
                  <a:srgbClr val="6B7A88"/>
                </a:solidFill>
                <a:latin typeface="Arial" pitchFamily="34" charset="0"/>
                <a:ea typeface="Arial" pitchFamily="34" charset="-122"/>
                <a:cs typeface="Arial" pitchFamily="34" charset="-120"/>
              </a:rPr>
              <a:t>✕</a:t>
            </a:r>
            <a:endParaRPr lang="en-US" sz="1200" dirty="0"/>
          </a:p>
        </p:txBody>
      </p:sp>
      <p:sp>
        <p:nvSpPr>
          <p:cNvPr id="15" name="Text 12"/>
          <p:cNvSpPr txBox="1"/>
          <p:nvPr/>
        </p:nvSpPr>
        <p:spPr>
          <a:xfrm>
            <a:off x="6903720" y="1737360"/>
            <a:ext cx="4114800" cy="310896"/>
          </a:xfrm>
          <a:prstGeom prst="rect">
            <a:avLst/>
          </a:prstGeom>
          <a:noFill/>
          <a:ln/>
        </p:spPr>
        <p:txBody>
          <a:bodyPr wrap="square" lIns="0" tIns="0" rIns="0" bIns="0" rtlCol="0" anchor="ctr"/>
          <a:lstStyle/>
          <a:p>
            <a:pPr marL="0" indent="0">
              <a:buNone/>
            </a:pPr>
            <a:r>
              <a:rPr lang="en-US" sz="1600" b="1" dirty="0">
                <a:solidFill>
                  <a:srgbClr val="1C1C1C"/>
                </a:solidFill>
                <a:latin typeface="Arial" pitchFamily="34" charset="0"/>
                <a:ea typeface="Arial" pitchFamily="34" charset="-122"/>
                <a:cs typeface="Arial" pitchFamily="34" charset="-120"/>
              </a:rPr>
              <a:t>It isn’t</a:t>
            </a:r>
            <a:endParaRPr lang="en-US" sz="1600" dirty="0"/>
          </a:p>
        </p:txBody>
      </p:sp>
      <p:sp>
        <p:nvSpPr>
          <p:cNvPr id="16" name="Text 13"/>
          <p:cNvSpPr txBox="1"/>
          <p:nvPr/>
        </p:nvSpPr>
        <p:spPr>
          <a:xfrm>
            <a:off x="6501384" y="2231136"/>
            <a:ext cx="4892040" cy="2286000"/>
          </a:xfrm>
          <a:prstGeom prst="rect">
            <a:avLst/>
          </a:prstGeom>
          <a:noFill/>
          <a:ln/>
        </p:spPr>
        <p:txBody>
          <a:bodyPr wrap="square" lIns="0" tIns="0" rIns="0" bIns="0" rtlCol="0" anchor="t"/>
          <a:lstStyle/>
          <a:p>
            <a:pPr marL="203200" indent="-203200">
              <a:lnSpc>
                <a:spcPts val="1800"/>
              </a:lnSpc>
              <a:spcAft>
                <a:spcPts val="900"/>
              </a:spcAft>
              <a:buSzPct val="100000"/>
              <a:buChar char="•"/>
            </a:pPr>
            <a:r>
              <a:rPr lang="en-US" sz="1350" dirty="0">
                <a:solidFill>
                  <a:srgbClr val="7A7A7A"/>
                </a:solidFill>
                <a:latin typeface="Calibri" pitchFamily="34" charset="0"/>
                <a:ea typeface="Calibri" pitchFamily="34" charset="-122"/>
                <a:cs typeface="Calibri" pitchFamily="34" charset="-120"/>
              </a:rPr>
              <a:t>Memorizing function signatures</a:t>
            </a:r>
            <a:endParaRPr lang="en-US" sz="1350" dirty="0"/>
          </a:p>
          <a:p>
            <a:pPr marL="203200" indent="-203200">
              <a:lnSpc>
                <a:spcPts val="1800"/>
              </a:lnSpc>
              <a:spcAft>
                <a:spcPts val="900"/>
              </a:spcAft>
              <a:buSzPct val="100000"/>
              <a:buChar char="•"/>
            </a:pPr>
            <a:r>
              <a:rPr lang="en-US" sz="1350" dirty="0">
                <a:solidFill>
                  <a:srgbClr val="7A7A7A"/>
                </a:solidFill>
                <a:latin typeface="Calibri" pitchFamily="34" charset="0"/>
                <a:ea typeface="Calibri" pitchFamily="34" charset="-122"/>
                <a:cs typeface="Calibri" pitchFamily="34" charset="-120"/>
              </a:rPr>
              <a:t>A ban on AI — use it; we’ll teach you how</a:t>
            </a:r>
            <a:endParaRPr lang="en-US" sz="1350" dirty="0"/>
          </a:p>
          <a:p>
            <a:pPr marL="203200" indent="-203200">
              <a:lnSpc>
                <a:spcPts val="1800"/>
              </a:lnSpc>
              <a:spcAft>
                <a:spcPts val="900"/>
              </a:spcAft>
              <a:buSzPct val="100000"/>
              <a:buChar char="•"/>
            </a:pPr>
            <a:r>
              <a:rPr lang="en-US" sz="1350" dirty="0">
                <a:solidFill>
                  <a:srgbClr val="7A7A7A"/>
                </a:solidFill>
                <a:latin typeface="Calibri" pitchFamily="34" charset="0"/>
                <a:ea typeface="Calibri" pitchFamily="34" charset="-122"/>
                <a:cs typeface="Calibri" pitchFamily="34" charset="-120"/>
              </a:rPr>
              <a:t>A software engineering course</a:t>
            </a:r>
            <a:endParaRPr lang="en-US" sz="1350" dirty="0"/>
          </a:p>
          <a:p>
            <a:pPr marL="203200" indent="-203200">
              <a:lnSpc>
                <a:spcPts val="1800"/>
              </a:lnSpc>
              <a:spcAft>
                <a:spcPts val="900"/>
              </a:spcAft>
              <a:buSzPct val="100000"/>
              <a:buChar char="•"/>
            </a:pPr>
            <a:r>
              <a:rPr lang="en-US" sz="1350" dirty="0">
                <a:solidFill>
                  <a:srgbClr val="7A7A7A"/>
                </a:solidFill>
                <a:latin typeface="Calibri" pitchFamily="34" charset="0"/>
                <a:ea typeface="Calibri" pitchFamily="34" charset="-122"/>
                <a:cs typeface="Calibri" pitchFamily="34" charset="-120"/>
              </a:rPr>
              <a:t>A statistics course (though we cover enough to keep you out of trouble)</a:t>
            </a:r>
            <a:endParaRPr lang="en-US" sz="1350" dirty="0"/>
          </a:p>
          <a:p>
            <a:pPr marL="203200" indent="-203200">
              <a:lnSpc>
                <a:spcPts val="1800"/>
              </a:lnSpc>
              <a:spcAft>
                <a:spcPts val="900"/>
              </a:spcAft>
              <a:buSzPct val="100000"/>
              <a:buChar char="•"/>
            </a:pPr>
            <a:r>
              <a:rPr lang="en-US" sz="1350" dirty="0">
                <a:solidFill>
                  <a:srgbClr val="7A7A7A"/>
                </a:solidFill>
                <a:latin typeface="Calibri" pitchFamily="34" charset="0"/>
                <a:ea typeface="Calibri" pitchFamily="34" charset="-122"/>
                <a:cs typeface="Calibri" pitchFamily="34" charset="-120"/>
              </a:rPr>
              <a:t>A course you can pass by pasting</a:t>
            </a:r>
            <a:endParaRPr lang="en-US" sz="1350" dirty="0"/>
          </a:p>
        </p:txBody>
      </p:sp>
      <p:sp>
        <p:nvSpPr>
          <p:cNvPr id="17" name="Shape 14"/>
          <p:cNvSpPr/>
          <p:nvPr/>
        </p:nvSpPr>
        <p:spPr>
          <a:xfrm>
            <a:off x="566928" y="4718304"/>
            <a:ext cx="11057839" cy="1389888"/>
          </a:xfrm>
          <a:prstGeom prst="roundRect">
            <a:avLst>
              <a:gd name="adj" fmla="val 5921"/>
            </a:avLst>
          </a:prstGeom>
          <a:solidFill>
            <a:srgbClr val="1C1C1C"/>
          </a:solidFill>
          <a:ln w="12700">
            <a:solidFill>
              <a:srgbClr val="1C1C1C"/>
            </a:solidFill>
            <a:prstDash val="solid"/>
          </a:ln>
        </p:spPr>
        <p:txBody>
          <a:bodyPr/>
          <a:lstStyle/>
          <a:p>
            <a:endParaRPr lang="en-US"/>
          </a:p>
        </p:txBody>
      </p:sp>
      <p:sp>
        <p:nvSpPr>
          <p:cNvPr id="18" name="Text 15"/>
          <p:cNvSpPr txBox="1"/>
          <p:nvPr/>
        </p:nvSpPr>
        <p:spPr>
          <a:xfrm>
            <a:off x="886968" y="4901184"/>
            <a:ext cx="5486400" cy="237744"/>
          </a:xfrm>
          <a:prstGeom prst="rect">
            <a:avLst/>
          </a:prstGeom>
          <a:noFill/>
          <a:ln/>
        </p:spPr>
        <p:txBody>
          <a:bodyPr wrap="square" lIns="0" tIns="0" rIns="0" bIns="0" rtlCol="0" anchor="ctr"/>
          <a:lstStyle/>
          <a:p>
            <a:pPr marL="0" indent="0">
              <a:buNone/>
            </a:pPr>
            <a:r>
              <a:rPr lang="en-US" sz="950" b="1" kern="0" spc="160" dirty="0">
                <a:solidFill>
                  <a:srgbClr val="D9A441"/>
                </a:solidFill>
                <a:latin typeface="Arial" pitchFamily="34" charset="0"/>
                <a:ea typeface="Arial" pitchFamily="34" charset="-122"/>
                <a:cs typeface="Arial" pitchFamily="34" charset="-120"/>
              </a:rPr>
              <a:t>THE PART YOU CANNOT DELEGATE</a:t>
            </a:r>
            <a:endParaRPr lang="en-US" sz="950" dirty="0"/>
          </a:p>
        </p:txBody>
      </p:sp>
      <p:sp>
        <p:nvSpPr>
          <p:cNvPr id="19" name="Text 16"/>
          <p:cNvSpPr txBox="1"/>
          <p:nvPr/>
        </p:nvSpPr>
        <p:spPr>
          <a:xfrm>
            <a:off x="886968" y="5175504"/>
            <a:ext cx="10424160" cy="822960"/>
          </a:xfrm>
          <a:prstGeom prst="rect">
            <a:avLst/>
          </a:prstGeom>
          <a:noFill/>
          <a:ln/>
        </p:spPr>
        <p:txBody>
          <a:bodyPr wrap="square" lIns="0" tIns="0" rIns="0" bIns="0" rtlCol="0" anchor="t"/>
          <a:lstStyle/>
          <a:p>
            <a:pPr marL="0" indent="0">
              <a:lnSpc>
                <a:spcPts val="2600"/>
              </a:lnSpc>
              <a:buNone/>
            </a:pPr>
            <a:r>
              <a:rPr lang="en-US" sz="1900" b="1" dirty="0">
                <a:solidFill>
                  <a:srgbClr val="FFFFFF"/>
                </a:solidFill>
                <a:latin typeface="Arial" pitchFamily="34" charset="0"/>
                <a:ea typeface="Arial" pitchFamily="34" charset="-122"/>
                <a:cs typeface="Arial" pitchFamily="34" charset="-120"/>
              </a:rPr>
              <a:t>You are the scientist. The code has your name on it.
</a:t>
            </a:r>
            <a:r>
              <a:rPr lang="en-US" sz="1500" dirty="0">
                <a:solidFill>
                  <a:srgbClr val="C6C6C6"/>
                </a:solidFill>
                <a:latin typeface="Arial" pitchFamily="34" charset="0"/>
                <a:ea typeface="Arial" pitchFamily="34" charset="-122"/>
                <a:cs typeface="Arial" pitchFamily="34" charset="-120"/>
              </a:rPr>
              <a:t>If an AI wrote a bug and the paper is wrong, that is your bug and your paper.</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vu_mark_gold.png"/>
          <p:cNvPicPr>
            <a:picLocks noChangeAspect="1"/>
          </p:cNvPicPr>
          <p:nvPr/>
        </p:nvPicPr>
        <p:blipFill>
          <a:blip r:embed="rId3"/>
          <a:stretch>
            <a:fillRect/>
          </a:stretch>
        </p:blipFill>
        <p:spPr>
          <a:xfrm>
            <a:off x="11356848" y="310896"/>
            <a:ext cx="384048" cy="274320"/>
          </a:xfrm>
          <a:prstGeom prst="rect">
            <a:avLst/>
          </a:prstGeom>
        </p:spPr>
      </p:pic>
      <p:sp>
        <p:nvSpPr>
          <p:cNvPr id="3" name="Shape 0"/>
          <p:cNvSpPr/>
          <p:nvPr/>
        </p:nvSpPr>
        <p:spPr>
          <a:xfrm>
            <a:off x="566928" y="329184"/>
            <a:ext cx="1052474" cy="310896"/>
          </a:xfrm>
          <a:prstGeom prst="roundRect">
            <a:avLst>
              <a:gd name="adj" fmla="val 50000"/>
            </a:avLst>
          </a:prstGeom>
          <a:solidFill>
            <a:srgbClr val="F2C879"/>
          </a:solidFill>
          <a:ln w="12700">
            <a:solidFill>
              <a:srgbClr val="F2C879"/>
            </a:solidFill>
            <a:prstDash val="solid"/>
          </a:ln>
        </p:spPr>
        <p:txBody>
          <a:bodyPr/>
          <a:lstStyle/>
          <a:p>
            <a:endParaRPr lang="en-US"/>
          </a:p>
        </p:txBody>
      </p:sp>
      <p:sp>
        <p:nvSpPr>
          <p:cNvPr id="4" name="Text 1"/>
          <p:cNvSpPr txBox="1"/>
          <p:nvPr/>
        </p:nvSpPr>
        <p:spPr>
          <a:xfrm>
            <a:off x="566928" y="329184"/>
            <a:ext cx="1052474" cy="310896"/>
          </a:xfrm>
          <a:prstGeom prst="rect">
            <a:avLst/>
          </a:prstGeom>
          <a:noFill/>
          <a:ln/>
        </p:spPr>
        <p:txBody>
          <a:bodyPr wrap="square" lIns="0" tIns="0" rIns="0" bIns="0" rtlCol="0" anchor="ctr"/>
          <a:lstStyle/>
          <a:p>
            <a:pPr marL="0" indent="0" algn="ctr">
              <a:buNone/>
            </a:pPr>
            <a:r>
              <a:rPr lang="en-US" sz="1050" b="1" kern="0" spc="110" dirty="0">
                <a:solidFill>
                  <a:srgbClr val="5A4415"/>
                </a:solidFill>
                <a:latin typeface="Arial" pitchFamily="34" charset="0"/>
                <a:ea typeface="Arial" pitchFamily="34" charset="-122"/>
                <a:cs typeface="Arial" pitchFamily="34" charset="-120"/>
              </a:rPr>
              <a:t>ROADMAP</a:t>
            </a:r>
            <a:endParaRPr lang="en-US" sz="1050" dirty="0"/>
          </a:p>
        </p:txBody>
      </p:sp>
      <p:sp>
        <p:nvSpPr>
          <p:cNvPr id="5" name="Text 2"/>
          <p:cNvSpPr txBox="1"/>
          <p:nvPr/>
        </p:nvSpPr>
        <p:spPr>
          <a:xfrm>
            <a:off x="566928" y="749808"/>
            <a:ext cx="10692079" cy="658368"/>
          </a:xfrm>
          <a:prstGeom prst="rect">
            <a:avLst/>
          </a:prstGeom>
          <a:noFill/>
          <a:ln/>
        </p:spPr>
        <p:txBody>
          <a:bodyPr wrap="square" lIns="0" tIns="0" rIns="0" bIns="0" rtlCol="0" anchor="ctr"/>
          <a:lstStyle/>
          <a:p>
            <a:pPr marL="0" indent="0">
              <a:buNone/>
            </a:pPr>
            <a:r>
              <a:rPr lang="en-US" sz="3300" b="1" dirty="0">
                <a:solidFill>
                  <a:srgbClr val="1C1C1C"/>
                </a:solidFill>
                <a:latin typeface="Arial" pitchFamily="34" charset="0"/>
                <a:ea typeface="Arial" pitchFamily="34" charset="-122"/>
                <a:cs typeface="Arial" pitchFamily="34" charset="-120"/>
              </a:rPr>
              <a:t>By the end of today you can…</a:t>
            </a:r>
            <a:endParaRPr lang="en-US" sz="3300" dirty="0"/>
          </a:p>
        </p:txBody>
      </p:sp>
      <p:sp>
        <p:nvSpPr>
          <p:cNvPr id="6" name="Text 3"/>
          <p:cNvSpPr txBox="1"/>
          <p:nvPr/>
        </p:nvSpPr>
        <p:spPr>
          <a:xfrm>
            <a:off x="11430000" y="6419088"/>
            <a:ext cx="320040" cy="228600"/>
          </a:xfrm>
          <a:prstGeom prst="rect">
            <a:avLst/>
          </a:prstGeom>
          <a:noFill/>
          <a:ln/>
        </p:spPr>
        <p:txBody>
          <a:bodyPr wrap="square" lIns="0" tIns="0" rIns="0" bIns="0" rtlCol="0" anchor="ctr"/>
          <a:lstStyle/>
          <a:p>
            <a:pPr marL="0" indent="0" algn="r">
              <a:buNone/>
            </a:pPr>
            <a:r>
              <a:rPr lang="en-US" sz="1000" dirty="0">
                <a:solidFill>
                  <a:srgbClr val="B5B5B5"/>
                </a:solidFill>
                <a:latin typeface="Calibri" pitchFamily="34" charset="0"/>
                <a:ea typeface="Calibri" pitchFamily="34" charset="-122"/>
                <a:cs typeface="Calibri" pitchFamily="34" charset="-120"/>
              </a:rPr>
              <a:t>7</a:t>
            </a:r>
            <a:endParaRPr lang="en-US" sz="1000" dirty="0"/>
          </a:p>
        </p:txBody>
      </p:sp>
      <p:sp>
        <p:nvSpPr>
          <p:cNvPr id="7" name="Shape 4"/>
          <p:cNvSpPr/>
          <p:nvPr/>
        </p:nvSpPr>
        <p:spPr>
          <a:xfrm>
            <a:off x="566928" y="1655064"/>
            <a:ext cx="420624" cy="420624"/>
          </a:xfrm>
          <a:prstGeom prst="ellipse">
            <a:avLst/>
          </a:prstGeom>
          <a:solidFill>
            <a:srgbClr val="F2C879"/>
          </a:solidFill>
          <a:ln w="12700">
            <a:solidFill>
              <a:srgbClr val="F2C879"/>
            </a:solidFill>
            <a:prstDash val="solid"/>
          </a:ln>
        </p:spPr>
        <p:txBody>
          <a:bodyPr/>
          <a:lstStyle/>
          <a:p>
            <a:endParaRPr lang="en-US"/>
          </a:p>
        </p:txBody>
      </p:sp>
      <p:sp>
        <p:nvSpPr>
          <p:cNvPr id="8" name="Text 5"/>
          <p:cNvSpPr txBox="1"/>
          <p:nvPr/>
        </p:nvSpPr>
        <p:spPr>
          <a:xfrm>
            <a:off x="566928" y="1655064"/>
            <a:ext cx="420624" cy="420624"/>
          </a:xfrm>
          <a:prstGeom prst="rect">
            <a:avLst/>
          </a:prstGeom>
          <a:noFill/>
          <a:ln/>
        </p:spPr>
        <p:txBody>
          <a:bodyPr wrap="square" lIns="0" tIns="0" rIns="0" bIns="0" rtlCol="0" anchor="ctr"/>
          <a:lstStyle/>
          <a:p>
            <a:pPr marL="0" indent="0" algn="ctr">
              <a:buNone/>
            </a:pPr>
            <a:r>
              <a:rPr lang="en-US" sz="1500" b="1" dirty="0">
                <a:solidFill>
                  <a:srgbClr val="5A4415"/>
                </a:solidFill>
                <a:latin typeface="Arial" pitchFamily="34" charset="0"/>
                <a:ea typeface="Arial" pitchFamily="34" charset="-122"/>
                <a:cs typeface="Arial" pitchFamily="34" charset="-120"/>
              </a:rPr>
              <a:t>1</a:t>
            </a:r>
            <a:endParaRPr lang="en-US" sz="1500" dirty="0"/>
          </a:p>
        </p:txBody>
      </p:sp>
      <p:sp>
        <p:nvSpPr>
          <p:cNvPr id="9" name="Text 6"/>
          <p:cNvSpPr txBox="1"/>
          <p:nvPr/>
        </p:nvSpPr>
        <p:spPr>
          <a:xfrm>
            <a:off x="1152144" y="1536192"/>
            <a:ext cx="5806440" cy="658368"/>
          </a:xfrm>
          <a:prstGeom prst="rect">
            <a:avLst/>
          </a:prstGeom>
          <a:noFill/>
          <a:ln/>
        </p:spPr>
        <p:txBody>
          <a:bodyPr wrap="square" lIns="0" tIns="0" rIns="0" bIns="0" rtlCol="0" anchor="ctr"/>
          <a:lstStyle/>
          <a:p>
            <a:pPr marL="0" indent="0">
              <a:lnSpc>
                <a:spcPts val="2000"/>
              </a:lnSpc>
              <a:buNone/>
            </a:pPr>
            <a:r>
              <a:rPr lang="en-US" sz="1450" b="1" dirty="0">
                <a:solidFill>
                  <a:srgbClr val="1C1C1C"/>
                </a:solidFill>
                <a:latin typeface="Calibri" pitchFamily="34" charset="0"/>
                <a:ea typeface="Calibri" pitchFamily="34" charset="-122"/>
                <a:cs typeface="Calibri" pitchFamily="34" charset="-120"/>
              </a:rPr>
              <a:t>Get Python, R, VS Code, and RStudio installed and running on your own laptop.</a:t>
            </a:r>
            <a:endParaRPr lang="en-US" sz="1450" dirty="0"/>
          </a:p>
        </p:txBody>
      </p:sp>
      <p:sp>
        <p:nvSpPr>
          <p:cNvPr id="10" name="Shape 7"/>
          <p:cNvSpPr/>
          <p:nvPr/>
        </p:nvSpPr>
        <p:spPr>
          <a:xfrm>
            <a:off x="566928" y="2679192"/>
            <a:ext cx="420624" cy="420624"/>
          </a:xfrm>
          <a:prstGeom prst="ellipse">
            <a:avLst/>
          </a:prstGeom>
          <a:solidFill>
            <a:srgbClr val="F2C879"/>
          </a:solidFill>
          <a:ln w="12700">
            <a:solidFill>
              <a:srgbClr val="F2C879"/>
            </a:solidFill>
            <a:prstDash val="solid"/>
          </a:ln>
        </p:spPr>
        <p:txBody>
          <a:bodyPr/>
          <a:lstStyle/>
          <a:p>
            <a:endParaRPr lang="en-US"/>
          </a:p>
        </p:txBody>
      </p:sp>
      <p:sp>
        <p:nvSpPr>
          <p:cNvPr id="11" name="Text 8"/>
          <p:cNvSpPr txBox="1"/>
          <p:nvPr/>
        </p:nvSpPr>
        <p:spPr>
          <a:xfrm>
            <a:off x="566928" y="2679192"/>
            <a:ext cx="420624" cy="420624"/>
          </a:xfrm>
          <a:prstGeom prst="rect">
            <a:avLst/>
          </a:prstGeom>
          <a:noFill/>
          <a:ln/>
        </p:spPr>
        <p:txBody>
          <a:bodyPr wrap="square" lIns="0" tIns="0" rIns="0" bIns="0" rtlCol="0" anchor="ctr"/>
          <a:lstStyle/>
          <a:p>
            <a:pPr marL="0" indent="0" algn="ctr">
              <a:buNone/>
            </a:pPr>
            <a:r>
              <a:rPr lang="en-US" sz="1500" b="1" dirty="0">
                <a:solidFill>
                  <a:srgbClr val="5A4415"/>
                </a:solidFill>
                <a:latin typeface="Arial" pitchFamily="34" charset="0"/>
                <a:ea typeface="Arial" pitchFamily="34" charset="-122"/>
                <a:cs typeface="Arial" pitchFamily="34" charset="-120"/>
              </a:rPr>
              <a:t>2</a:t>
            </a:r>
            <a:endParaRPr lang="en-US" sz="1500" dirty="0"/>
          </a:p>
        </p:txBody>
      </p:sp>
      <p:sp>
        <p:nvSpPr>
          <p:cNvPr id="12" name="Text 9"/>
          <p:cNvSpPr txBox="1"/>
          <p:nvPr/>
        </p:nvSpPr>
        <p:spPr>
          <a:xfrm>
            <a:off x="1152144" y="2560320"/>
            <a:ext cx="5806440" cy="658368"/>
          </a:xfrm>
          <a:prstGeom prst="rect">
            <a:avLst/>
          </a:prstGeom>
          <a:noFill/>
          <a:ln/>
        </p:spPr>
        <p:txBody>
          <a:bodyPr wrap="square" lIns="0" tIns="0" rIns="0" bIns="0" rtlCol="0" anchor="ctr"/>
          <a:lstStyle/>
          <a:p>
            <a:pPr marL="0" indent="0">
              <a:lnSpc>
                <a:spcPts val="2000"/>
              </a:lnSpc>
              <a:buNone/>
            </a:pPr>
            <a:r>
              <a:rPr lang="en-US" sz="1450" b="1" dirty="0">
                <a:solidFill>
                  <a:srgbClr val="1C1C1C"/>
                </a:solidFill>
                <a:latin typeface="Calibri" pitchFamily="34" charset="0"/>
                <a:ea typeface="Calibri" pitchFamily="34" charset="-122"/>
                <a:cs typeface="Calibri" pitchFamily="34" charset="-120"/>
              </a:rPr>
              <a:t>Say what a program is </a:t>
            </a:r>
            <a:r>
              <a:rPr lang="en-US" sz="1450" dirty="0">
                <a:solidFill>
                  <a:srgbClr val="7A7A7A"/>
                </a:solidFill>
                <a:latin typeface="Calibri" pitchFamily="34" charset="0"/>
                <a:ea typeface="Calibri" pitchFamily="34" charset="-122"/>
                <a:cs typeface="Calibri" pitchFamily="34" charset="-120"/>
              </a:rPr>
              <a:t>in one sentence, in your own words.</a:t>
            </a:r>
            <a:endParaRPr lang="en-US" sz="1450" dirty="0"/>
          </a:p>
        </p:txBody>
      </p:sp>
      <p:sp>
        <p:nvSpPr>
          <p:cNvPr id="13" name="Shape 10"/>
          <p:cNvSpPr/>
          <p:nvPr/>
        </p:nvSpPr>
        <p:spPr>
          <a:xfrm>
            <a:off x="566928" y="3703320"/>
            <a:ext cx="420624" cy="420624"/>
          </a:xfrm>
          <a:prstGeom prst="ellipse">
            <a:avLst/>
          </a:prstGeom>
          <a:solidFill>
            <a:srgbClr val="DCE1E6"/>
          </a:solidFill>
          <a:ln w="12700">
            <a:solidFill>
              <a:srgbClr val="DCE1E6"/>
            </a:solidFill>
            <a:prstDash val="solid"/>
          </a:ln>
        </p:spPr>
        <p:txBody>
          <a:bodyPr/>
          <a:lstStyle/>
          <a:p>
            <a:endParaRPr lang="en-US"/>
          </a:p>
        </p:txBody>
      </p:sp>
      <p:sp>
        <p:nvSpPr>
          <p:cNvPr id="14" name="Text 11"/>
          <p:cNvSpPr txBox="1"/>
          <p:nvPr/>
        </p:nvSpPr>
        <p:spPr>
          <a:xfrm>
            <a:off x="566928" y="3703320"/>
            <a:ext cx="420624" cy="420624"/>
          </a:xfrm>
          <a:prstGeom prst="rect">
            <a:avLst/>
          </a:prstGeom>
          <a:noFill/>
          <a:ln/>
        </p:spPr>
        <p:txBody>
          <a:bodyPr wrap="square" lIns="0" tIns="0" rIns="0" bIns="0" rtlCol="0" anchor="ctr"/>
          <a:lstStyle/>
          <a:p>
            <a:pPr marL="0" indent="0" algn="ctr">
              <a:buNone/>
            </a:pPr>
            <a:r>
              <a:rPr lang="en-US" sz="1500" b="1" dirty="0">
                <a:solidFill>
                  <a:srgbClr val="3E4C58"/>
                </a:solidFill>
                <a:latin typeface="Arial" pitchFamily="34" charset="0"/>
                <a:ea typeface="Arial" pitchFamily="34" charset="-122"/>
                <a:cs typeface="Arial" pitchFamily="34" charset="-120"/>
              </a:rPr>
              <a:t>3</a:t>
            </a:r>
            <a:endParaRPr lang="en-US" sz="1500" dirty="0"/>
          </a:p>
        </p:txBody>
      </p:sp>
      <p:sp>
        <p:nvSpPr>
          <p:cNvPr id="15" name="Text 12"/>
          <p:cNvSpPr txBox="1"/>
          <p:nvPr/>
        </p:nvSpPr>
        <p:spPr>
          <a:xfrm>
            <a:off x="1152144" y="3584448"/>
            <a:ext cx="5806440" cy="658368"/>
          </a:xfrm>
          <a:prstGeom prst="rect">
            <a:avLst/>
          </a:prstGeom>
          <a:noFill/>
          <a:ln/>
        </p:spPr>
        <p:txBody>
          <a:bodyPr wrap="square" lIns="0" tIns="0" rIns="0" bIns="0" rtlCol="0" anchor="ctr"/>
          <a:lstStyle/>
          <a:p>
            <a:pPr marL="0" indent="0">
              <a:lnSpc>
                <a:spcPts val="2000"/>
              </a:lnSpc>
              <a:buNone/>
            </a:pPr>
            <a:r>
              <a:rPr lang="en-US" sz="1450" b="1" dirty="0">
                <a:solidFill>
                  <a:srgbClr val="1C1C1C"/>
                </a:solidFill>
                <a:latin typeface="Calibri" pitchFamily="34" charset="0"/>
                <a:ea typeface="Calibri" pitchFamily="34" charset="-122"/>
                <a:cs typeface="Calibri" pitchFamily="34" charset="-120"/>
              </a:rPr>
              <a:t>Decompose a research question </a:t>
            </a:r>
            <a:r>
              <a:rPr lang="en-US" sz="1450" dirty="0">
                <a:solidFill>
                  <a:srgbClr val="7A7A7A"/>
                </a:solidFill>
                <a:latin typeface="Calibri" pitchFamily="34" charset="0"/>
                <a:ea typeface="Calibri" pitchFamily="34" charset="-122"/>
                <a:cs typeface="Calibri" pitchFamily="34" charset="-120"/>
              </a:rPr>
              <a:t>into numbered steps a computer could actually do.</a:t>
            </a:r>
            <a:endParaRPr lang="en-US" sz="1450" dirty="0"/>
          </a:p>
        </p:txBody>
      </p:sp>
      <p:sp>
        <p:nvSpPr>
          <p:cNvPr id="16" name="Shape 13"/>
          <p:cNvSpPr/>
          <p:nvPr/>
        </p:nvSpPr>
        <p:spPr>
          <a:xfrm>
            <a:off x="566928" y="4727448"/>
            <a:ext cx="420624" cy="420624"/>
          </a:xfrm>
          <a:prstGeom prst="ellipse">
            <a:avLst/>
          </a:prstGeom>
          <a:solidFill>
            <a:srgbClr val="DCE1E6"/>
          </a:solidFill>
          <a:ln w="12700">
            <a:solidFill>
              <a:srgbClr val="DCE1E6"/>
            </a:solidFill>
            <a:prstDash val="solid"/>
          </a:ln>
        </p:spPr>
        <p:txBody>
          <a:bodyPr/>
          <a:lstStyle/>
          <a:p>
            <a:endParaRPr lang="en-US"/>
          </a:p>
        </p:txBody>
      </p:sp>
      <p:sp>
        <p:nvSpPr>
          <p:cNvPr id="17" name="Text 14"/>
          <p:cNvSpPr txBox="1"/>
          <p:nvPr/>
        </p:nvSpPr>
        <p:spPr>
          <a:xfrm>
            <a:off x="566928" y="4727448"/>
            <a:ext cx="420624" cy="420624"/>
          </a:xfrm>
          <a:prstGeom prst="rect">
            <a:avLst/>
          </a:prstGeom>
          <a:noFill/>
          <a:ln/>
        </p:spPr>
        <p:txBody>
          <a:bodyPr wrap="square" lIns="0" tIns="0" rIns="0" bIns="0" rtlCol="0" anchor="ctr"/>
          <a:lstStyle/>
          <a:p>
            <a:pPr marL="0" indent="0" algn="ctr">
              <a:buNone/>
            </a:pPr>
            <a:r>
              <a:rPr lang="en-US" sz="1500" b="1" dirty="0">
                <a:solidFill>
                  <a:srgbClr val="3E4C58"/>
                </a:solidFill>
                <a:latin typeface="Arial" pitchFamily="34" charset="0"/>
                <a:ea typeface="Arial" pitchFamily="34" charset="-122"/>
                <a:cs typeface="Arial" pitchFamily="34" charset="-120"/>
              </a:rPr>
              <a:t>4</a:t>
            </a:r>
            <a:endParaRPr lang="en-US" sz="1500" dirty="0"/>
          </a:p>
        </p:txBody>
      </p:sp>
      <p:sp>
        <p:nvSpPr>
          <p:cNvPr id="18" name="Text 15"/>
          <p:cNvSpPr txBox="1"/>
          <p:nvPr/>
        </p:nvSpPr>
        <p:spPr>
          <a:xfrm>
            <a:off x="1152144" y="4608576"/>
            <a:ext cx="5806440" cy="658368"/>
          </a:xfrm>
          <a:prstGeom prst="rect">
            <a:avLst/>
          </a:prstGeom>
          <a:noFill/>
          <a:ln/>
        </p:spPr>
        <p:txBody>
          <a:bodyPr wrap="square" lIns="0" tIns="0" rIns="0" bIns="0" rtlCol="0" anchor="ctr"/>
          <a:lstStyle/>
          <a:p>
            <a:pPr marL="0" indent="0">
              <a:lnSpc>
                <a:spcPts val="2000"/>
              </a:lnSpc>
              <a:buNone/>
            </a:pPr>
            <a:r>
              <a:rPr lang="en-US" sz="1450" b="1" dirty="0">
                <a:solidFill>
                  <a:srgbClr val="1C1C1C"/>
                </a:solidFill>
                <a:latin typeface="Calibri" pitchFamily="34" charset="0"/>
                <a:ea typeface="Calibri" pitchFamily="34" charset="-122"/>
                <a:cs typeface="Calibri" pitchFamily="34" charset="-120"/>
              </a:rPr>
              <a:t>Name one thing AI is good at </a:t>
            </a:r>
            <a:r>
              <a:rPr lang="en-US" sz="1450" dirty="0">
                <a:solidFill>
                  <a:srgbClr val="7A7A7A"/>
                </a:solidFill>
                <a:latin typeface="Calibri" pitchFamily="34" charset="0"/>
                <a:ea typeface="Calibri" pitchFamily="34" charset="-122"/>
                <a:cs typeface="Calibri" pitchFamily="34" charset="-120"/>
              </a:rPr>
              <a:t>and one thing it is reliably bad at.</a:t>
            </a:r>
            <a:endParaRPr lang="en-US" sz="1450" dirty="0"/>
          </a:p>
        </p:txBody>
      </p:sp>
      <p:sp>
        <p:nvSpPr>
          <p:cNvPr id="19" name="Text 16"/>
          <p:cNvSpPr txBox="1"/>
          <p:nvPr/>
        </p:nvSpPr>
        <p:spPr>
          <a:xfrm>
            <a:off x="566928" y="5760720"/>
            <a:ext cx="6400800" cy="365760"/>
          </a:xfrm>
          <a:prstGeom prst="rect">
            <a:avLst/>
          </a:prstGeom>
          <a:noFill/>
          <a:ln/>
        </p:spPr>
        <p:txBody>
          <a:bodyPr wrap="square" lIns="0" tIns="0" rIns="0" bIns="0" rtlCol="0" anchor="ctr"/>
          <a:lstStyle/>
          <a:p>
            <a:pPr marL="0" indent="0">
              <a:buNone/>
            </a:pPr>
            <a:r>
              <a:rPr lang="en-US" sz="1250" i="1" dirty="0">
                <a:solidFill>
                  <a:srgbClr val="8A6D3B"/>
                </a:solidFill>
                <a:latin typeface="Calibri" pitchFamily="34" charset="0"/>
                <a:ea typeface="Calibri" pitchFamily="34" charset="-122"/>
                <a:cs typeface="Calibri" pitchFamily="34" charset="-120"/>
              </a:rPr>
              <a:t>Objectives 2 and 3 are the ones we actually assess. Objective 1 is plumbing — but it is today’s plumbing.</a:t>
            </a:r>
            <a:endParaRPr lang="en-US" sz="1250" dirty="0"/>
          </a:p>
        </p:txBody>
      </p:sp>
      <p:sp>
        <p:nvSpPr>
          <p:cNvPr id="20" name="Shape 17"/>
          <p:cNvSpPr/>
          <p:nvPr/>
        </p:nvSpPr>
        <p:spPr>
          <a:xfrm>
            <a:off x="7059168" y="1517904"/>
            <a:ext cx="4553712" cy="4480560"/>
          </a:xfrm>
          <a:prstGeom prst="roundRect">
            <a:avLst>
              <a:gd name="adj" fmla="val 1837"/>
            </a:avLst>
          </a:prstGeom>
          <a:solidFill>
            <a:srgbClr val="FBF7EF"/>
          </a:solidFill>
          <a:ln w="12700">
            <a:solidFill>
              <a:srgbClr val="E6E6E6"/>
            </a:solidFill>
            <a:prstDash val="solid"/>
          </a:ln>
        </p:spPr>
        <p:txBody>
          <a:bodyPr/>
          <a:lstStyle/>
          <a:p>
            <a:endParaRPr lang="en-US"/>
          </a:p>
        </p:txBody>
      </p:sp>
      <p:sp>
        <p:nvSpPr>
          <p:cNvPr id="21" name="Text 18"/>
          <p:cNvSpPr txBox="1"/>
          <p:nvPr/>
        </p:nvSpPr>
        <p:spPr>
          <a:xfrm>
            <a:off x="7333488" y="1737360"/>
            <a:ext cx="4023360" cy="256032"/>
          </a:xfrm>
          <a:prstGeom prst="rect">
            <a:avLst/>
          </a:prstGeom>
          <a:noFill/>
          <a:ln/>
        </p:spPr>
        <p:txBody>
          <a:bodyPr wrap="square" lIns="0" tIns="0" rIns="0" bIns="0" rtlCol="0" anchor="ctr"/>
          <a:lstStyle/>
          <a:p>
            <a:pPr marL="0" indent="0">
              <a:buNone/>
            </a:pPr>
            <a:r>
              <a:rPr lang="en-US" sz="1000" b="1" kern="0" spc="160" dirty="0">
                <a:solidFill>
                  <a:srgbClr val="8A6D3B"/>
                </a:solidFill>
                <a:latin typeface="Arial" pitchFamily="34" charset="0"/>
                <a:ea typeface="Arial" pitchFamily="34" charset="-122"/>
                <a:cs typeface="Arial" pitchFamily="34" charset="-120"/>
              </a:rPr>
              <a:t>THE HOUR</a:t>
            </a:r>
            <a:endParaRPr lang="en-US" sz="1000" dirty="0"/>
          </a:p>
        </p:txBody>
      </p:sp>
      <p:sp>
        <p:nvSpPr>
          <p:cNvPr id="22" name="Text 19"/>
          <p:cNvSpPr txBox="1"/>
          <p:nvPr/>
        </p:nvSpPr>
        <p:spPr>
          <a:xfrm>
            <a:off x="7333488" y="2103120"/>
            <a:ext cx="868680" cy="310896"/>
          </a:xfrm>
          <a:prstGeom prst="rect">
            <a:avLst/>
          </a:prstGeom>
          <a:noFill/>
          <a:ln/>
        </p:spPr>
        <p:txBody>
          <a:bodyPr wrap="square" lIns="0" tIns="0" rIns="0" bIns="0" rtlCol="0" anchor="ctr"/>
          <a:lstStyle/>
          <a:p>
            <a:pPr marL="0" indent="0">
              <a:buNone/>
            </a:pPr>
            <a:r>
              <a:rPr lang="en-US" sz="1200" b="1" dirty="0">
                <a:solidFill>
                  <a:srgbClr val="7A7A7A"/>
                </a:solidFill>
                <a:latin typeface="Courier New" pitchFamily="34" charset="0"/>
                <a:ea typeface="Courier New" pitchFamily="34" charset="-122"/>
                <a:cs typeface="Courier New" pitchFamily="34" charset="-120"/>
              </a:rPr>
              <a:t>0–3</a:t>
            </a:r>
            <a:endParaRPr lang="en-US" sz="1200" dirty="0"/>
          </a:p>
        </p:txBody>
      </p:sp>
      <p:sp>
        <p:nvSpPr>
          <p:cNvPr id="23" name="Text 20"/>
          <p:cNvSpPr txBox="1"/>
          <p:nvPr/>
        </p:nvSpPr>
        <p:spPr>
          <a:xfrm>
            <a:off x="8247888" y="2103120"/>
            <a:ext cx="3108960" cy="310896"/>
          </a:xfrm>
          <a:prstGeom prst="rect">
            <a:avLst/>
          </a:prstGeom>
          <a:noFill/>
          <a:ln/>
        </p:spPr>
        <p:txBody>
          <a:bodyPr wrap="square" lIns="0" tIns="0" rIns="0" bIns="0" rtlCol="0" anchor="ctr"/>
          <a:lstStyle/>
          <a:p>
            <a:pPr marL="0" indent="0">
              <a:buNone/>
            </a:pPr>
            <a:r>
              <a:rPr lang="en-US" sz="1250" dirty="0">
                <a:solidFill>
                  <a:srgbClr val="7A7A7A"/>
                </a:solidFill>
                <a:latin typeface="Calibri" pitchFamily="34" charset="0"/>
                <a:ea typeface="Calibri" pitchFamily="34" charset="-122"/>
                <a:cs typeface="Calibri" pitchFamily="34" charset="-120"/>
              </a:rPr>
              <a:t>Pre-test</a:t>
            </a:r>
            <a:endParaRPr lang="en-US" sz="1250" dirty="0"/>
          </a:p>
        </p:txBody>
      </p:sp>
      <p:sp>
        <p:nvSpPr>
          <p:cNvPr id="24" name="Shape 21"/>
          <p:cNvSpPr/>
          <p:nvPr/>
        </p:nvSpPr>
        <p:spPr>
          <a:xfrm>
            <a:off x="7333488" y="2505456"/>
            <a:ext cx="4023360" cy="9144"/>
          </a:xfrm>
          <a:prstGeom prst="rect">
            <a:avLst/>
          </a:prstGeom>
          <a:solidFill>
            <a:srgbClr val="E9E0CE"/>
          </a:solidFill>
          <a:ln w="12700">
            <a:solidFill>
              <a:srgbClr val="E9E0CE"/>
            </a:solidFill>
            <a:prstDash val="solid"/>
          </a:ln>
        </p:spPr>
        <p:txBody>
          <a:bodyPr/>
          <a:lstStyle/>
          <a:p>
            <a:endParaRPr lang="en-US"/>
          </a:p>
        </p:txBody>
      </p:sp>
      <p:sp>
        <p:nvSpPr>
          <p:cNvPr id="25" name="Text 22"/>
          <p:cNvSpPr txBox="1"/>
          <p:nvPr/>
        </p:nvSpPr>
        <p:spPr>
          <a:xfrm>
            <a:off x="7333488" y="2633472"/>
            <a:ext cx="868680" cy="310896"/>
          </a:xfrm>
          <a:prstGeom prst="rect">
            <a:avLst/>
          </a:prstGeom>
          <a:noFill/>
          <a:ln/>
        </p:spPr>
        <p:txBody>
          <a:bodyPr wrap="square" lIns="0" tIns="0" rIns="0" bIns="0" rtlCol="0" anchor="ctr"/>
          <a:lstStyle/>
          <a:p>
            <a:pPr marL="0" indent="0">
              <a:buNone/>
            </a:pPr>
            <a:r>
              <a:rPr lang="en-US" sz="1200" b="1" dirty="0">
                <a:solidFill>
                  <a:srgbClr val="1C1C1C"/>
                </a:solidFill>
                <a:latin typeface="Courier New" pitchFamily="34" charset="0"/>
                <a:ea typeface="Courier New" pitchFamily="34" charset="-122"/>
                <a:cs typeface="Courier New" pitchFamily="34" charset="-120"/>
              </a:rPr>
              <a:t>3–11</a:t>
            </a:r>
            <a:endParaRPr lang="en-US" sz="1200" dirty="0"/>
          </a:p>
        </p:txBody>
      </p:sp>
      <p:sp>
        <p:nvSpPr>
          <p:cNvPr id="26" name="Text 23"/>
          <p:cNvSpPr txBox="1"/>
          <p:nvPr/>
        </p:nvSpPr>
        <p:spPr>
          <a:xfrm>
            <a:off x="8247888" y="2633472"/>
            <a:ext cx="3108960" cy="310896"/>
          </a:xfrm>
          <a:prstGeom prst="rect">
            <a:avLst/>
          </a:prstGeom>
          <a:noFill/>
          <a:ln/>
        </p:spPr>
        <p:txBody>
          <a:bodyPr wrap="square" lIns="0" tIns="0" rIns="0" bIns="0" rtlCol="0" anchor="ctr"/>
          <a:lstStyle/>
          <a:p>
            <a:pPr marL="0" indent="0">
              <a:buNone/>
            </a:pPr>
            <a:r>
              <a:rPr lang="en-US" sz="1250" dirty="0">
                <a:solidFill>
                  <a:srgbClr val="3A3A3A"/>
                </a:solidFill>
                <a:latin typeface="Calibri" pitchFamily="34" charset="0"/>
                <a:ea typeface="Calibri" pitchFamily="34" charset="-122"/>
                <a:cs typeface="Calibri" pitchFamily="34" charset="-120"/>
              </a:rPr>
              <a:t>Why we’re here, and code that was wrong</a:t>
            </a:r>
            <a:endParaRPr lang="en-US" sz="1250" dirty="0"/>
          </a:p>
        </p:txBody>
      </p:sp>
      <p:sp>
        <p:nvSpPr>
          <p:cNvPr id="27" name="Shape 24"/>
          <p:cNvSpPr/>
          <p:nvPr/>
        </p:nvSpPr>
        <p:spPr>
          <a:xfrm>
            <a:off x="7333488" y="3035808"/>
            <a:ext cx="4023360" cy="9144"/>
          </a:xfrm>
          <a:prstGeom prst="rect">
            <a:avLst/>
          </a:prstGeom>
          <a:solidFill>
            <a:srgbClr val="E9E0CE"/>
          </a:solidFill>
          <a:ln w="12700">
            <a:solidFill>
              <a:srgbClr val="E9E0CE"/>
            </a:solidFill>
            <a:prstDash val="solid"/>
          </a:ln>
        </p:spPr>
        <p:txBody>
          <a:bodyPr/>
          <a:lstStyle/>
          <a:p>
            <a:endParaRPr lang="en-US"/>
          </a:p>
        </p:txBody>
      </p:sp>
      <p:sp>
        <p:nvSpPr>
          <p:cNvPr id="28" name="Text 25"/>
          <p:cNvSpPr txBox="1"/>
          <p:nvPr/>
        </p:nvSpPr>
        <p:spPr>
          <a:xfrm>
            <a:off x="7333488" y="3163824"/>
            <a:ext cx="868680" cy="310896"/>
          </a:xfrm>
          <a:prstGeom prst="rect">
            <a:avLst/>
          </a:prstGeom>
          <a:noFill/>
          <a:ln/>
        </p:spPr>
        <p:txBody>
          <a:bodyPr wrap="square" lIns="0" tIns="0" rIns="0" bIns="0" rtlCol="0" anchor="ctr"/>
          <a:lstStyle/>
          <a:p>
            <a:pPr marL="0" indent="0">
              <a:buNone/>
            </a:pPr>
            <a:r>
              <a:rPr lang="en-US" sz="1200" b="1" dirty="0">
                <a:solidFill>
                  <a:srgbClr val="1C1C1C"/>
                </a:solidFill>
                <a:latin typeface="Courier New" pitchFamily="34" charset="0"/>
                <a:ea typeface="Courier New" pitchFamily="34" charset="-122"/>
                <a:cs typeface="Courier New" pitchFamily="34" charset="-120"/>
              </a:rPr>
              <a:t>11–14</a:t>
            </a:r>
            <a:endParaRPr lang="en-US" sz="1200" dirty="0"/>
          </a:p>
        </p:txBody>
      </p:sp>
      <p:sp>
        <p:nvSpPr>
          <p:cNvPr id="29" name="Text 26"/>
          <p:cNvSpPr txBox="1"/>
          <p:nvPr/>
        </p:nvSpPr>
        <p:spPr>
          <a:xfrm>
            <a:off x="8247888" y="3163824"/>
            <a:ext cx="3108960" cy="310896"/>
          </a:xfrm>
          <a:prstGeom prst="rect">
            <a:avLst/>
          </a:prstGeom>
          <a:noFill/>
          <a:ln/>
        </p:spPr>
        <p:txBody>
          <a:bodyPr wrap="square" lIns="0" tIns="0" rIns="0" bIns="0" rtlCol="0" anchor="ctr"/>
          <a:lstStyle/>
          <a:p>
            <a:pPr marL="0" indent="0">
              <a:buNone/>
            </a:pPr>
            <a:r>
              <a:rPr lang="en-US" sz="1250" dirty="0">
                <a:solidFill>
                  <a:srgbClr val="3A3A3A"/>
                </a:solidFill>
                <a:latin typeface="Calibri" pitchFamily="34" charset="0"/>
                <a:ea typeface="Calibri" pitchFamily="34" charset="-122"/>
                <a:cs typeface="Calibri" pitchFamily="34" charset="-120"/>
              </a:rPr>
              <a:t>What this course is</a:t>
            </a:r>
            <a:endParaRPr lang="en-US" sz="1250" dirty="0"/>
          </a:p>
        </p:txBody>
      </p:sp>
      <p:sp>
        <p:nvSpPr>
          <p:cNvPr id="30" name="Shape 27"/>
          <p:cNvSpPr/>
          <p:nvPr/>
        </p:nvSpPr>
        <p:spPr>
          <a:xfrm>
            <a:off x="7333488" y="3566160"/>
            <a:ext cx="4023360" cy="9144"/>
          </a:xfrm>
          <a:prstGeom prst="rect">
            <a:avLst/>
          </a:prstGeom>
          <a:solidFill>
            <a:srgbClr val="E9E0CE"/>
          </a:solidFill>
          <a:ln w="12700">
            <a:solidFill>
              <a:srgbClr val="E9E0CE"/>
            </a:solidFill>
            <a:prstDash val="solid"/>
          </a:ln>
        </p:spPr>
        <p:txBody>
          <a:bodyPr/>
          <a:lstStyle/>
          <a:p>
            <a:endParaRPr lang="en-US"/>
          </a:p>
        </p:txBody>
      </p:sp>
      <p:sp>
        <p:nvSpPr>
          <p:cNvPr id="31" name="Text 28"/>
          <p:cNvSpPr txBox="1"/>
          <p:nvPr/>
        </p:nvSpPr>
        <p:spPr>
          <a:xfrm>
            <a:off x="7333488" y="3694176"/>
            <a:ext cx="868680" cy="310896"/>
          </a:xfrm>
          <a:prstGeom prst="rect">
            <a:avLst/>
          </a:prstGeom>
          <a:noFill/>
          <a:ln/>
        </p:spPr>
        <p:txBody>
          <a:bodyPr wrap="square" lIns="0" tIns="0" rIns="0" bIns="0" rtlCol="0" anchor="ctr"/>
          <a:lstStyle/>
          <a:p>
            <a:pPr marL="0" indent="0">
              <a:buNone/>
            </a:pPr>
            <a:r>
              <a:rPr lang="en-US" sz="1200" b="1" dirty="0">
                <a:solidFill>
                  <a:srgbClr val="1C1C1C"/>
                </a:solidFill>
                <a:latin typeface="Courier New" pitchFamily="34" charset="0"/>
                <a:ea typeface="Courier New" pitchFamily="34" charset="-122"/>
                <a:cs typeface="Courier New" pitchFamily="34" charset="-120"/>
              </a:rPr>
              <a:t>14–19</a:t>
            </a:r>
            <a:endParaRPr lang="en-US" sz="1200" dirty="0"/>
          </a:p>
        </p:txBody>
      </p:sp>
      <p:sp>
        <p:nvSpPr>
          <p:cNvPr id="32" name="Text 29"/>
          <p:cNvSpPr txBox="1"/>
          <p:nvPr/>
        </p:nvSpPr>
        <p:spPr>
          <a:xfrm>
            <a:off x="8247888" y="3694176"/>
            <a:ext cx="3108960" cy="310896"/>
          </a:xfrm>
          <a:prstGeom prst="rect">
            <a:avLst/>
          </a:prstGeom>
          <a:noFill/>
          <a:ln/>
        </p:spPr>
        <p:txBody>
          <a:bodyPr wrap="square" lIns="0" tIns="0" rIns="0" bIns="0" rtlCol="0" anchor="ctr"/>
          <a:lstStyle/>
          <a:p>
            <a:pPr marL="0" indent="0">
              <a:buNone/>
            </a:pPr>
            <a:r>
              <a:rPr lang="en-US" sz="1250" dirty="0">
                <a:solidFill>
                  <a:srgbClr val="3A3A3A"/>
                </a:solidFill>
                <a:latin typeface="Calibri" pitchFamily="34" charset="0"/>
                <a:ea typeface="Calibri" pitchFamily="34" charset="-122"/>
                <a:cs typeface="Calibri" pitchFamily="34" charset="-120"/>
              </a:rPr>
              <a:t>Downloads, and the six tools</a:t>
            </a:r>
            <a:endParaRPr lang="en-US" sz="1250" dirty="0"/>
          </a:p>
        </p:txBody>
      </p:sp>
      <p:sp>
        <p:nvSpPr>
          <p:cNvPr id="33" name="Shape 30"/>
          <p:cNvSpPr/>
          <p:nvPr/>
        </p:nvSpPr>
        <p:spPr>
          <a:xfrm>
            <a:off x="7333488" y="4096512"/>
            <a:ext cx="4023360" cy="9144"/>
          </a:xfrm>
          <a:prstGeom prst="rect">
            <a:avLst/>
          </a:prstGeom>
          <a:solidFill>
            <a:srgbClr val="E9E0CE"/>
          </a:solidFill>
          <a:ln w="12700">
            <a:solidFill>
              <a:srgbClr val="E9E0CE"/>
            </a:solidFill>
            <a:prstDash val="solid"/>
          </a:ln>
        </p:spPr>
        <p:txBody>
          <a:bodyPr/>
          <a:lstStyle/>
          <a:p>
            <a:endParaRPr lang="en-US"/>
          </a:p>
        </p:txBody>
      </p:sp>
      <p:sp>
        <p:nvSpPr>
          <p:cNvPr id="34" name="Text 31"/>
          <p:cNvSpPr txBox="1"/>
          <p:nvPr/>
        </p:nvSpPr>
        <p:spPr>
          <a:xfrm>
            <a:off x="7333488" y="4224528"/>
            <a:ext cx="868680" cy="310896"/>
          </a:xfrm>
          <a:prstGeom prst="rect">
            <a:avLst/>
          </a:prstGeom>
          <a:noFill/>
          <a:ln/>
        </p:spPr>
        <p:txBody>
          <a:bodyPr wrap="square" lIns="0" tIns="0" rIns="0" bIns="0" rtlCol="0" anchor="ctr"/>
          <a:lstStyle/>
          <a:p>
            <a:pPr marL="0" indent="0">
              <a:buNone/>
            </a:pPr>
            <a:r>
              <a:rPr lang="en-US" sz="1200" b="1" dirty="0">
                <a:solidFill>
                  <a:srgbClr val="1C1C1C"/>
                </a:solidFill>
                <a:latin typeface="Courier New" pitchFamily="34" charset="0"/>
                <a:ea typeface="Courier New" pitchFamily="34" charset="-122"/>
                <a:cs typeface="Courier New" pitchFamily="34" charset="-120"/>
              </a:rPr>
              <a:t>19–34</a:t>
            </a:r>
            <a:endParaRPr lang="en-US" sz="1200" dirty="0"/>
          </a:p>
        </p:txBody>
      </p:sp>
      <p:sp>
        <p:nvSpPr>
          <p:cNvPr id="35" name="Text 32"/>
          <p:cNvSpPr txBox="1"/>
          <p:nvPr/>
        </p:nvSpPr>
        <p:spPr>
          <a:xfrm>
            <a:off x="8247888" y="4224528"/>
            <a:ext cx="3108960" cy="310896"/>
          </a:xfrm>
          <a:prstGeom prst="rect">
            <a:avLst/>
          </a:prstGeom>
          <a:noFill/>
          <a:ln/>
        </p:spPr>
        <p:txBody>
          <a:bodyPr wrap="square" lIns="0" tIns="0" rIns="0" bIns="0" rtlCol="0" anchor="ctr"/>
          <a:lstStyle/>
          <a:p>
            <a:pPr marL="0" indent="0">
              <a:buNone/>
            </a:pPr>
            <a:r>
              <a:rPr lang="en-US" sz="1250" dirty="0">
                <a:solidFill>
                  <a:srgbClr val="3A3A3A"/>
                </a:solidFill>
                <a:latin typeface="Calibri" pitchFamily="34" charset="0"/>
                <a:ea typeface="Calibri" pitchFamily="34" charset="-122"/>
                <a:cs typeface="Calibri" pitchFamily="34" charset="-120"/>
              </a:rPr>
              <a:t>Installing all four, together</a:t>
            </a:r>
            <a:endParaRPr lang="en-US" sz="1250" dirty="0"/>
          </a:p>
        </p:txBody>
      </p:sp>
      <p:sp>
        <p:nvSpPr>
          <p:cNvPr id="36" name="Shape 33"/>
          <p:cNvSpPr/>
          <p:nvPr/>
        </p:nvSpPr>
        <p:spPr>
          <a:xfrm>
            <a:off x="7333488" y="4626864"/>
            <a:ext cx="4023360" cy="9144"/>
          </a:xfrm>
          <a:prstGeom prst="rect">
            <a:avLst/>
          </a:prstGeom>
          <a:solidFill>
            <a:srgbClr val="E9E0CE"/>
          </a:solidFill>
          <a:ln w="12700">
            <a:solidFill>
              <a:srgbClr val="E9E0CE"/>
            </a:solidFill>
            <a:prstDash val="solid"/>
          </a:ln>
        </p:spPr>
        <p:txBody>
          <a:bodyPr/>
          <a:lstStyle/>
          <a:p>
            <a:endParaRPr lang="en-US"/>
          </a:p>
        </p:txBody>
      </p:sp>
      <p:sp>
        <p:nvSpPr>
          <p:cNvPr id="37" name="Text 34"/>
          <p:cNvSpPr txBox="1"/>
          <p:nvPr/>
        </p:nvSpPr>
        <p:spPr>
          <a:xfrm>
            <a:off x="7333488" y="4754880"/>
            <a:ext cx="868680" cy="310896"/>
          </a:xfrm>
          <a:prstGeom prst="rect">
            <a:avLst/>
          </a:prstGeom>
          <a:noFill/>
          <a:ln/>
        </p:spPr>
        <p:txBody>
          <a:bodyPr wrap="square" lIns="0" tIns="0" rIns="0" bIns="0" rtlCol="0" anchor="ctr"/>
          <a:lstStyle/>
          <a:p>
            <a:pPr marL="0" indent="0">
              <a:buNone/>
            </a:pPr>
            <a:r>
              <a:rPr lang="en-US" sz="1200" b="1" dirty="0">
                <a:solidFill>
                  <a:srgbClr val="1C1C1C"/>
                </a:solidFill>
                <a:latin typeface="Courier New" pitchFamily="34" charset="0"/>
                <a:ea typeface="Courier New" pitchFamily="34" charset="-122"/>
                <a:cs typeface="Courier New" pitchFamily="34" charset="-120"/>
              </a:rPr>
              <a:t>34–40</a:t>
            </a:r>
            <a:endParaRPr lang="en-US" sz="1200" dirty="0"/>
          </a:p>
        </p:txBody>
      </p:sp>
      <p:sp>
        <p:nvSpPr>
          <p:cNvPr id="38" name="Text 35"/>
          <p:cNvSpPr txBox="1"/>
          <p:nvPr/>
        </p:nvSpPr>
        <p:spPr>
          <a:xfrm>
            <a:off x="8247888" y="4754880"/>
            <a:ext cx="3108960" cy="310896"/>
          </a:xfrm>
          <a:prstGeom prst="rect">
            <a:avLst/>
          </a:prstGeom>
          <a:noFill/>
          <a:ln/>
        </p:spPr>
        <p:txBody>
          <a:bodyPr wrap="square" lIns="0" tIns="0" rIns="0" bIns="0" rtlCol="0" anchor="ctr"/>
          <a:lstStyle/>
          <a:p>
            <a:pPr marL="0" indent="0">
              <a:buNone/>
            </a:pPr>
            <a:r>
              <a:rPr lang="en-US" sz="1250" dirty="0">
                <a:solidFill>
                  <a:srgbClr val="3A3A3A"/>
                </a:solidFill>
                <a:latin typeface="Calibri" pitchFamily="34" charset="0"/>
                <a:ea typeface="Calibri" pitchFamily="34" charset="-122"/>
                <a:cs typeface="Calibri" pitchFamily="34" charset="-120"/>
              </a:rPr>
              <a:t>Hello world, and triage</a:t>
            </a:r>
            <a:endParaRPr lang="en-US" sz="1250" dirty="0"/>
          </a:p>
        </p:txBody>
      </p:sp>
      <p:sp>
        <p:nvSpPr>
          <p:cNvPr id="39" name="Shape 36"/>
          <p:cNvSpPr/>
          <p:nvPr/>
        </p:nvSpPr>
        <p:spPr>
          <a:xfrm>
            <a:off x="7333488" y="5157216"/>
            <a:ext cx="4023360" cy="9144"/>
          </a:xfrm>
          <a:prstGeom prst="rect">
            <a:avLst/>
          </a:prstGeom>
          <a:solidFill>
            <a:srgbClr val="E9E0CE"/>
          </a:solidFill>
          <a:ln w="12700">
            <a:solidFill>
              <a:srgbClr val="E9E0CE"/>
            </a:solidFill>
            <a:prstDash val="solid"/>
          </a:ln>
        </p:spPr>
        <p:txBody>
          <a:bodyPr/>
          <a:lstStyle/>
          <a:p>
            <a:endParaRPr lang="en-US"/>
          </a:p>
        </p:txBody>
      </p:sp>
      <p:sp>
        <p:nvSpPr>
          <p:cNvPr id="40" name="Text 37"/>
          <p:cNvSpPr txBox="1"/>
          <p:nvPr/>
        </p:nvSpPr>
        <p:spPr>
          <a:xfrm>
            <a:off x="7333488" y="5285232"/>
            <a:ext cx="868680" cy="310896"/>
          </a:xfrm>
          <a:prstGeom prst="rect">
            <a:avLst/>
          </a:prstGeom>
          <a:noFill/>
          <a:ln/>
        </p:spPr>
        <p:txBody>
          <a:bodyPr wrap="square" lIns="0" tIns="0" rIns="0" bIns="0" rtlCol="0" anchor="ctr"/>
          <a:lstStyle/>
          <a:p>
            <a:pPr marL="0" indent="0">
              <a:buNone/>
            </a:pPr>
            <a:r>
              <a:rPr lang="en-US" sz="1200" b="1" dirty="0">
                <a:solidFill>
                  <a:srgbClr val="1C1C1C"/>
                </a:solidFill>
                <a:latin typeface="Courier New" pitchFamily="34" charset="0"/>
                <a:ea typeface="Courier New" pitchFamily="34" charset="-122"/>
                <a:cs typeface="Courier New" pitchFamily="34" charset="-120"/>
              </a:rPr>
              <a:t>40–55</a:t>
            </a:r>
            <a:endParaRPr lang="en-US" sz="1200" dirty="0"/>
          </a:p>
        </p:txBody>
      </p:sp>
      <p:sp>
        <p:nvSpPr>
          <p:cNvPr id="41" name="Text 38"/>
          <p:cNvSpPr txBox="1"/>
          <p:nvPr/>
        </p:nvSpPr>
        <p:spPr>
          <a:xfrm>
            <a:off x="8247888" y="5285232"/>
            <a:ext cx="3108960" cy="310896"/>
          </a:xfrm>
          <a:prstGeom prst="rect">
            <a:avLst/>
          </a:prstGeom>
          <a:noFill/>
          <a:ln/>
        </p:spPr>
        <p:txBody>
          <a:bodyPr wrap="square" lIns="0" tIns="0" rIns="0" bIns="0" rtlCol="0" anchor="ctr"/>
          <a:lstStyle/>
          <a:p>
            <a:pPr marL="0" indent="0">
              <a:buNone/>
            </a:pPr>
            <a:r>
              <a:rPr lang="en-US" sz="1250" dirty="0">
                <a:solidFill>
                  <a:srgbClr val="3A3A3A"/>
                </a:solidFill>
                <a:latin typeface="Calibri" pitchFamily="34" charset="0"/>
                <a:ea typeface="Calibri" pitchFamily="34" charset="-122"/>
                <a:cs typeface="Calibri" pitchFamily="34" charset="-120"/>
              </a:rPr>
              <a:t>Decomposition, AI’s limits, verifying</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vu_mark_gold.png"/>
          <p:cNvPicPr>
            <a:picLocks noChangeAspect="1"/>
          </p:cNvPicPr>
          <p:nvPr/>
        </p:nvPicPr>
        <p:blipFill>
          <a:blip r:embed="rId3"/>
          <a:stretch>
            <a:fillRect/>
          </a:stretch>
        </p:blipFill>
        <p:spPr>
          <a:xfrm>
            <a:off x="11356848" y="310896"/>
            <a:ext cx="384048" cy="274320"/>
          </a:xfrm>
          <a:prstGeom prst="rect">
            <a:avLst/>
          </a:prstGeom>
        </p:spPr>
      </p:pic>
      <p:sp>
        <p:nvSpPr>
          <p:cNvPr id="3" name="Shape 0"/>
          <p:cNvSpPr/>
          <p:nvPr/>
        </p:nvSpPr>
        <p:spPr>
          <a:xfrm>
            <a:off x="566928" y="329184"/>
            <a:ext cx="2583177" cy="310896"/>
          </a:xfrm>
          <a:prstGeom prst="roundRect">
            <a:avLst>
              <a:gd name="adj" fmla="val 50000"/>
            </a:avLst>
          </a:prstGeom>
          <a:solidFill>
            <a:srgbClr val="F2C879"/>
          </a:solidFill>
          <a:ln w="12700">
            <a:solidFill>
              <a:srgbClr val="F2C879"/>
            </a:solidFill>
            <a:prstDash val="solid"/>
          </a:ln>
        </p:spPr>
        <p:txBody>
          <a:bodyPr/>
          <a:lstStyle/>
          <a:p>
            <a:endParaRPr lang="en-US"/>
          </a:p>
        </p:txBody>
      </p:sp>
      <p:sp>
        <p:nvSpPr>
          <p:cNvPr id="4" name="Text 1"/>
          <p:cNvSpPr txBox="1"/>
          <p:nvPr/>
        </p:nvSpPr>
        <p:spPr>
          <a:xfrm>
            <a:off x="566928" y="329184"/>
            <a:ext cx="2583177" cy="310896"/>
          </a:xfrm>
          <a:prstGeom prst="rect">
            <a:avLst/>
          </a:prstGeom>
          <a:noFill/>
          <a:ln/>
        </p:spPr>
        <p:txBody>
          <a:bodyPr wrap="square" lIns="0" tIns="0" rIns="0" bIns="0" rtlCol="0" anchor="ctr"/>
          <a:lstStyle/>
          <a:p>
            <a:pPr marL="0" indent="0" algn="ctr">
              <a:buNone/>
            </a:pPr>
            <a:r>
              <a:rPr lang="en-US" sz="1050" b="1" kern="0" spc="110" dirty="0">
                <a:solidFill>
                  <a:srgbClr val="5A4415"/>
                </a:solidFill>
                <a:latin typeface="Arial" pitchFamily="34" charset="0"/>
                <a:ea typeface="Arial" pitchFamily="34" charset="-122"/>
                <a:cs typeface="Arial" pitchFamily="34" charset="-120"/>
              </a:rPr>
              <a:t>14–16 MIN  ·  DO THIS NOW</a:t>
            </a:r>
            <a:endParaRPr lang="en-US" sz="1050" dirty="0"/>
          </a:p>
        </p:txBody>
      </p:sp>
      <p:sp>
        <p:nvSpPr>
          <p:cNvPr id="5" name="Text 2"/>
          <p:cNvSpPr txBox="1"/>
          <p:nvPr/>
        </p:nvSpPr>
        <p:spPr>
          <a:xfrm>
            <a:off x="566928" y="749808"/>
            <a:ext cx="10692079" cy="658368"/>
          </a:xfrm>
          <a:prstGeom prst="rect">
            <a:avLst/>
          </a:prstGeom>
          <a:noFill/>
          <a:ln/>
        </p:spPr>
        <p:txBody>
          <a:bodyPr wrap="square" lIns="0" tIns="0" rIns="0" bIns="0" rtlCol="0" anchor="ctr"/>
          <a:lstStyle/>
          <a:p>
            <a:pPr marL="0" indent="0">
              <a:buNone/>
            </a:pPr>
            <a:r>
              <a:rPr lang="en-US" sz="3300" b="1" dirty="0">
                <a:solidFill>
                  <a:srgbClr val="1C1C1C"/>
                </a:solidFill>
                <a:latin typeface="Arial" pitchFamily="34" charset="0"/>
                <a:ea typeface="Arial" pitchFamily="34" charset="-122"/>
                <a:cs typeface="Arial" pitchFamily="34" charset="-120"/>
              </a:rPr>
              <a:t>Start all four downloads. Right now, before anything else.</a:t>
            </a:r>
            <a:endParaRPr lang="en-US" sz="3300" dirty="0"/>
          </a:p>
        </p:txBody>
      </p:sp>
      <p:sp>
        <p:nvSpPr>
          <p:cNvPr id="6" name="Text 3"/>
          <p:cNvSpPr txBox="1"/>
          <p:nvPr/>
        </p:nvSpPr>
        <p:spPr>
          <a:xfrm>
            <a:off x="11430000" y="6419088"/>
            <a:ext cx="320040" cy="228600"/>
          </a:xfrm>
          <a:prstGeom prst="rect">
            <a:avLst/>
          </a:prstGeom>
          <a:noFill/>
          <a:ln/>
        </p:spPr>
        <p:txBody>
          <a:bodyPr wrap="square" lIns="0" tIns="0" rIns="0" bIns="0" rtlCol="0" anchor="ctr"/>
          <a:lstStyle/>
          <a:p>
            <a:pPr marL="0" indent="0" algn="r">
              <a:buNone/>
            </a:pPr>
            <a:r>
              <a:rPr lang="en-US" sz="1000" dirty="0">
                <a:solidFill>
                  <a:srgbClr val="B5B5B5"/>
                </a:solidFill>
                <a:latin typeface="Calibri" pitchFamily="34" charset="0"/>
                <a:ea typeface="Calibri" pitchFamily="34" charset="-122"/>
                <a:cs typeface="Calibri" pitchFamily="34" charset="-120"/>
              </a:rPr>
              <a:t>8</a:t>
            </a:r>
            <a:endParaRPr lang="en-US" sz="1000" dirty="0"/>
          </a:p>
        </p:txBody>
      </p:sp>
      <p:sp>
        <p:nvSpPr>
          <p:cNvPr id="7" name="Text 4"/>
          <p:cNvSpPr txBox="1"/>
          <p:nvPr/>
        </p:nvSpPr>
        <p:spPr>
          <a:xfrm>
            <a:off x="566928" y="1426464"/>
            <a:ext cx="10692079" cy="310896"/>
          </a:xfrm>
          <a:prstGeom prst="rect">
            <a:avLst/>
          </a:prstGeom>
          <a:noFill/>
          <a:ln/>
        </p:spPr>
        <p:txBody>
          <a:bodyPr wrap="square" lIns="0" tIns="0" rIns="0" bIns="0" rtlCol="0" anchor="ctr"/>
          <a:lstStyle/>
          <a:p>
            <a:pPr marL="0" indent="0">
              <a:buNone/>
            </a:pPr>
            <a:r>
              <a:rPr lang="en-US" sz="1450" i="1" dirty="0">
                <a:solidFill>
                  <a:srgbClr val="7A7A7A"/>
                </a:solidFill>
                <a:latin typeface="Calibri" pitchFamily="34" charset="0"/>
                <a:ea typeface="Calibri" pitchFamily="34" charset="-122"/>
                <a:cs typeface="Calibri" pitchFamily="34" charset="-120"/>
              </a:rPr>
              <a:t>Do not run anything yet — just get the files coming down. We will talk while they download.</a:t>
            </a:r>
            <a:endParaRPr lang="en-US" sz="1450" dirty="0"/>
          </a:p>
        </p:txBody>
      </p:sp>
      <p:sp>
        <p:nvSpPr>
          <p:cNvPr id="8" name="Shape 5"/>
          <p:cNvSpPr/>
          <p:nvPr/>
        </p:nvSpPr>
        <p:spPr>
          <a:xfrm>
            <a:off x="566928" y="2011680"/>
            <a:ext cx="2615184" cy="2267712"/>
          </a:xfrm>
          <a:prstGeom prst="roundRect">
            <a:avLst>
              <a:gd name="adj" fmla="val 3629"/>
            </a:avLst>
          </a:prstGeom>
          <a:solidFill>
            <a:srgbClr val="FBF7EF"/>
          </a:solidFill>
          <a:ln w="12700">
            <a:solidFill>
              <a:srgbClr val="E6E6E6"/>
            </a:solidFill>
            <a:prstDash val="solid"/>
          </a:ln>
        </p:spPr>
        <p:txBody>
          <a:bodyPr/>
          <a:lstStyle/>
          <a:p>
            <a:endParaRPr lang="en-US"/>
          </a:p>
        </p:txBody>
      </p:sp>
      <p:sp>
        <p:nvSpPr>
          <p:cNvPr id="9" name="Shape 6"/>
          <p:cNvSpPr/>
          <p:nvPr/>
        </p:nvSpPr>
        <p:spPr>
          <a:xfrm>
            <a:off x="804672" y="2249424"/>
            <a:ext cx="420624" cy="420624"/>
          </a:xfrm>
          <a:prstGeom prst="ellipse">
            <a:avLst/>
          </a:prstGeom>
          <a:solidFill>
            <a:srgbClr val="F2C879"/>
          </a:solidFill>
          <a:ln w="12700">
            <a:solidFill>
              <a:srgbClr val="F2C879"/>
            </a:solidFill>
            <a:prstDash val="solid"/>
          </a:ln>
        </p:spPr>
        <p:txBody>
          <a:bodyPr/>
          <a:lstStyle/>
          <a:p>
            <a:endParaRPr lang="en-US"/>
          </a:p>
        </p:txBody>
      </p:sp>
      <p:sp>
        <p:nvSpPr>
          <p:cNvPr id="10" name="Text 7"/>
          <p:cNvSpPr txBox="1"/>
          <p:nvPr/>
        </p:nvSpPr>
        <p:spPr>
          <a:xfrm>
            <a:off x="804672" y="2249424"/>
            <a:ext cx="420624" cy="420624"/>
          </a:xfrm>
          <a:prstGeom prst="rect">
            <a:avLst/>
          </a:prstGeom>
          <a:noFill/>
          <a:ln/>
        </p:spPr>
        <p:txBody>
          <a:bodyPr wrap="square" lIns="0" tIns="0" rIns="0" bIns="0" rtlCol="0" anchor="ctr"/>
          <a:lstStyle/>
          <a:p>
            <a:pPr marL="0" indent="0" algn="ctr">
              <a:buNone/>
            </a:pPr>
            <a:r>
              <a:rPr lang="en-US" sz="1500" b="1" dirty="0">
                <a:solidFill>
                  <a:srgbClr val="5A4415"/>
                </a:solidFill>
                <a:latin typeface="Arial" pitchFamily="34" charset="0"/>
                <a:ea typeface="Arial" pitchFamily="34" charset="-122"/>
                <a:cs typeface="Arial" pitchFamily="34" charset="-120"/>
              </a:rPr>
              <a:t>1</a:t>
            </a:r>
            <a:endParaRPr lang="en-US" sz="1500" dirty="0"/>
          </a:p>
        </p:txBody>
      </p:sp>
      <p:sp>
        <p:nvSpPr>
          <p:cNvPr id="11" name="Text 8"/>
          <p:cNvSpPr txBox="1"/>
          <p:nvPr/>
        </p:nvSpPr>
        <p:spPr>
          <a:xfrm>
            <a:off x="804672" y="2798064"/>
            <a:ext cx="2148840" cy="365760"/>
          </a:xfrm>
          <a:prstGeom prst="rect">
            <a:avLst/>
          </a:prstGeom>
          <a:noFill/>
          <a:ln/>
        </p:spPr>
        <p:txBody>
          <a:bodyPr wrap="square" lIns="0" tIns="0" rIns="0" bIns="0" rtlCol="0" anchor="ctr"/>
          <a:lstStyle/>
          <a:p>
            <a:pPr marL="0" indent="0">
              <a:buNone/>
            </a:pPr>
            <a:r>
              <a:rPr lang="en-US" sz="1800" b="1" dirty="0">
                <a:solidFill>
                  <a:srgbClr val="1C1C1C"/>
                </a:solidFill>
                <a:latin typeface="Arial" pitchFamily="34" charset="0"/>
                <a:ea typeface="Arial" pitchFamily="34" charset="-122"/>
                <a:cs typeface="Arial" pitchFamily="34" charset="-120"/>
              </a:rPr>
              <a:t>Python</a:t>
            </a:r>
            <a:endParaRPr lang="en-US" sz="1800" dirty="0"/>
          </a:p>
        </p:txBody>
      </p:sp>
      <p:sp>
        <p:nvSpPr>
          <p:cNvPr id="12" name="Text 9"/>
          <p:cNvSpPr txBox="1"/>
          <p:nvPr/>
        </p:nvSpPr>
        <p:spPr>
          <a:xfrm>
            <a:off x="804672" y="3218688"/>
            <a:ext cx="2148840" cy="1097280"/>
          </a:xfrm>
          <a:prstGeom prst="rect">
            <a:avLst/>
          </a:prstGeom>
          <a:noFill/>
          <a:ln/>
        </p:spPr>
        <p:txBody>
          <a:bodyPr wrap="square" lIns="0" tIns="0" rIns="0" bIns="0" rtlCol="0" anchor="t"/>
          <a:lstStyle/>
          <a:p>
            <a:pPr marL="0" indent="0">
              <a:lnSpc>
                <a:spcPts val="1600"/>
              </a:lnSpc>
              <a:buNone/>
            </a:pPr>
            <a:r>
              <a:rPr lang="en-US" sz="1200" dirty="0">
                <a:solidFill>
                  <a:srgbClr val="7A7A7A"/>
                </a:solidFill>
                <a:latin typeface="Calibri" pitchFamily="34" charset="0"/>
                <a:ea typeface="Calibri" pitchFamily="34" charset="-122"/>
                <a:cs typeface="Calibri" pitchFamily="34" charset="-120"/>
              </a:rPr>
              <a:t>python.org/downloads — the big yellow button. About 30 MB.</a:t>
            </a:r>
            <a:endParaRPr lang="en-US" sz="1200" dirty="0"/>
          </a:p>
        </p:txBody>
      </p:sp>
      <p:sp>
        <p:nvSpPr>
          <p:cNvPr id="13" name="Text 10"/>
          <p:cNvSpPr txBox="1"/>
          <p:nvPr/>
        </p:nvSpPr>
        <p:spPr>
          <a:xfrm>
            <a:off x="3163824" y="2962656"/>
            <a:ext cx="219456" cy="365760"/>
          </a:xfrm>
          <a:prstGeom prst="rect">
            <a:avLst/>
          </a:prstGeom>
          <a:noFill/>
          <a:ln/>
        </p:spPr>
        <p:txBody>
          <a:bodyPr wrap="square" lIns="0" tIns="0" rIns="0" bIns="0" rtlCol="0" anchor="ctr"/>
          <a:lstStyle/>
          <a:p>
            <a:pPr marL="0" indent="0" algn="ctr">
              <a:buNone/>
            </a:pPr>
            <a:r>
              <a:rPr lang="en-US" sz="2200" b="1" dirty="0">
                <a:solidFill>
                  <a:srgbClr val="A9A9A9"/>
                </a:solidFill>
                <a:latin typeface="Arial" pitchFamily="34" charset="0"/>
                <a:ea typeface="Arial" pitchFamily="34" charset="-122"/>
                <a:cs typeface="Arial" pitchFamily="34" charset="-120"/>
              </a:rPr>
              <a:t>+</a:t>
            </a:r>
            <a:endParaRPr lang="en-US" sz="2200" dirty="0"/>
          </a:p>
        </p:txBody>
      </p:sp>
      <p:sp>
        <p:nvSpPr>
          <p:cNvPr id="14" name="Shape 11"/>
          <p:cNvSpPr/>
          <p:nvPr/>
        </p:nvSpPr>
        <p:spPr>
          <a:xfrm>
            <a:off x="3364992" y="2011680"/>
            <a:ext cx="2615184" cy="2267712"/>
          </a:xfrm>
          <a:prstGeom prst="roundRect">
            <a:avLst>
              <a:gd name="adj" fmla="val 3629"/>
            </a:avLst>
          </a:prstGeom>
          <a:solidFill>
            <a:srgbClr val="FFFFFF"/>
          </a:solidFill>
          <a:ln w="12700">
            <a:solidFill>
              <a:srgbClr val="E6E6E6"/>
            </a:solidFill>
            <a:prstDash val="solid"/>
          </a:ln>
        </p:spPr>
        <p:txBody>
          <a:bodyPr/>
          <a:lstStyle/>
          <a:p>
            <a:endParaRPr lang="en-US"/>
          </a:p>
        </p:txBody>
      </p:sp>
      <p:sp>
        <p:nvSpPr>
          <p:cNvPr id="15" name="Shape 12"/>
          <p:cNvSpPr/>
          <p:nvPr/>
        </p:nvSpPr>
        <p:spPr>
          <a:xfrm>
            <a:off x="3602736" y="2249424"/>
            <a:ext cx="420624" cy="420624"/>
          </a:xfrm>
          <a:prstGeom prst="ellipse">
            <a:avLst/>
          </a:prstGeom>
          <a:solidFill>
            <a:srgbClr val="DCE1E6"/>
          </a:solidFill>
          <a:ln w="12700">
            <a:solidFill>
              <a:srgbClr val="DCE1E6"/>
            </a:solidFill>
            <a:prstDash val="solid"/>
          </a:ln>
        </p:spPr>
        <p:txBody>
          <a:bodyPr/>
          <a:lstStyle/>
          <a:p>
            <a:endParaRPr lang="en-US"/>
          </a:p>
        </p:txBody>
      </p:sp>
      <p:sp>
        <p:nvSpPr>
          <p:cNvPr id="16" name="Text 13"/>
          <p:cNvSpPr txBox="1"/>
          <p:nvPr/>
        </p:nvSpPr>
        <p:spPr>
          <a:xfrm>
            <a:off x="3602736" y="2249424"/>
            <a:ext cx="420624" cy="420624"/>
          </a:xfrm>
          <a:prstGeom prst="rect">
            <a:avLst/>
          </a:prstGeom>
          <a:noFill/>
          <a:ln/>
        </p:spPr>
        <p:txBody>
          <a:bodyPr wrap="square" lIns="0" tIns="0" rIns="0" bIns="0" rtlCol="0" anchor="ctr"/>
          <a:lstStyle/>
          <a:p>
            <a:pPr marL="0" indent="0" algn="ctr">
              <a:buNone/>
            </a:pPr>
            <a:r>
              <a:rPr lang="en-US" sz="1500" b="1" dirty="0">
                <a:solidFill>
                  <a:srgbClr val="3E4C58"/>
                </a:solidFill>
                <a:latin typeface="Arial" pitchFamily="34" charset="0"/>
                <a:ea typeface="Arial" pitchFamily="34" charset="-122"/>
                <a:cs typeface="Arial" pitchFamily="34" charset="-120"/>
              </a:rPr>
              <a:t>2</a:t>
            </a:r>
            <a:endParaRPr lang="en-US" sz="1500" dirty="0"/>
          </a:p>
        </p:txBody>
      </p:sp>
      <p:sp>
        <p:nvSpPr>
          <p:cNvPr id="17" name="Text 14"/>
          <p:cNvSpPr txBox="1"/>
          <p:nvPr/>
        </p:nvSpPr>
        <p:spPr>
          <a:xfrm>
            <a:off x="3602736" y="2798064"/>
            <a:ext cx="2148840" cy="365760"/>
          </a:xfrm>
          <a:prstGeom prst="rect">
            <a:avLst/>
          </a:prstGeom>
          <a:noFill/>
          <a:ln/>
        </p:spPr>
        <p:txBody>
          <a:bodyPr wrap="square" lIns="0" tIns="0" rIns="0" bIns="0" rtlCol="0" anchor="ctr"/>
          <a:lstStyle/>
          <a:p>
            <a:pPr marL="0" indent="0">
              <a:buNone/>
            </a:pPr>
            <a:r>
              <a:rPr lang="en-US" sz="1800" b="1" dirty="0">
                <a:solidFill>
                  <a:srgbClr val="1C1C1C"/>
                </a:solidFill>
                <a:latin typeface="Arial" pitchFamily="34" charset="0"/>
                <a:ea typeface="Arial" pitchFamily="34" charset="-122"/>
                <a:cs typeface="Arial" pitchFamily="34" charset="-120"/>
              </a:rPr>
              <a:t>VS Code</a:t>
            </a:r>
            <a:endParaRPr lang="en-US" sz="1800" dirty="0"/>
          </a:p>
        </p:txBody>
      </p:sp>
      <p:sp>
        <p:nvSpPr>
          <p:cNvPr id="18" name="Text 15"/>
          <p:cNvSpPr txBox="1"/>
          <p:nvPr/>
        </p:nvSpPr>
        <p:spPr>
          <a:xfrm>
            <a:off x="3602736" y="3218688"/>
            <a:ext cx="2148840" cy="1097280"/>
          </a:xfrm>
          <a:prstGeom prst="rect">
            <a:avLst/>
          </a:prstGeom>
          <a:noFill/>
          <a:ln/>
        </p:spPr>
        <p:txBody>
          <a:bodyPr wrap="square" lIns="0" tIns="0" rIns="0" bIns="0" rtlCol="0" anchor="t"/>
          <a:lstStyle/>
          <a:p>
            <a:pPr marL="0" indent="0">
              <a:lnSpc>
                <a:spcPts val="1600"/>
              </a:lnSpc>
              <a:buNone/>
            </a:pPr>
            <a:r>
              <a:rPr lang="en-US" sz="1200" dirty="0">
                <a:solidFill>
                  <a:srgbClr val="7A7A7A"/>
                </a:solidFill>
                <a:latin typeface="Calibri" pitchFamily="34" charset="0"/>
                <a:ea typeface="Calibri" pitchFamily="34" charset="-122"/>
                <a:cs typeface="Calibri" pitchFamily="34" charset="-120"/>
              </a:rPr>
              <a:t>code.visualstudio.com — the big blue button. About 100 MB.</a:t>
            </a:r>
            <a:endParaRPr lang="en-US" sz="1200" dirty="0"/>
          </a:p>
        </p:txBody>
      </p:sp>
      <p:sp>
        <p:nvSpPr>
          <p:cNvPr id="19" name="Text 16"/>
          <p:cNvSpPr txBox="1"/>
          <p:nvPr/>
        </p:nvSpPr>
        <p:spPr>
          <a:xfrm>
            <a:off x="5961888" y="2962656"/>
            <a:ext cx="219456" cy="365760"/>
          </a:xfrm>
          <a:prstGeom prst="rect">
            <a:avLst/>
          </a:prstGeom>
          <a:noFill/>
          <a:ln/>
        </p:spPr>
        <p:txBody>
          <a:bodyPr wrap="square" lIns="0" tIns="0" rIns="0" bIns="0" rtlCol="0" anchor="ctr"/>
          <a:lstStyle/>
          <a:p>
            <a:pPr marL="0" indent="0" algn="ctr">
              <a:buNone/>
            </a:pPr>
            <a:r>
              <a:rPr lang="en-US" sz="2200" b="1" dirty="0">
                <a:solidFill>
                  <a:srgbClr val="A9A9A9"/>
                </a:solidFill>
                <a:latin typeface="Arial" pitchFamily="34" charset="0"/>
                <a:ea typeface="Arial" pitchFamily="34" charset="-122"/>
                <a:cs typeface="Arial" pitchFamily="34" charset="-120"/>
              </a:rPr>
              <a:t>+</a:t>
            </a:r>
            <a:endParaRPr lang="en-US" sz="2200" dirty="0"/>
          </a:p>
        </p:txBody>
      </p:sp>
      <p:sp>
        <p:nvSpPr>
          <p:cNvPr id="20" name="Shape 17"/>
          <p:cNvSpPr/>
          <p:nvPr/>
        </p:nvSpPr>
        <p:spPr>
          <a:xfrm>
            <a:off x="6163056" y="2011680"/>
            <a:ext cx="2615184" cy="2267712"/>
          </a:xfrm>
          <a:prstGeom prst="roundRect">
            <a:avLst>
              <a:gd name="adj" fmla="val 3629"/>
            </a:avLst>
          </a:prstGeom>
          <a:solidFill>
            <a:srgbClr val="FFFFFF"/>
          </a:solidFill>
          <a:ln w="12700">
            <a:solidFill>
              <a:srgbClr val="E6E6E6"/>
            </a:solidFill>
            <a:prstDash val="solid"/>
          </a:ln>
        </p:spPr>
        <p:txBody>
          <a:bodyPr/>
          <a:lstStyle/>
          <a:p>
            <a:endParaRPr lang="en-US"/>
          </a:p>
        </p:txBody>
      </p:sp>
      <p:sp>
        <p:nvSpPr>
          <p:cNvPr id="21" name="Shape 18"/>
          <p:cNvSpPr/>
          <p:nvPr/>
        </p:nvSpPr>
        <p:spPr>
          <a:xfrm>
            <a:off x="6400800" y="2249424"/>
            <a:ext cx="420624" cy="420624"/>
          </a:xfrm>
          <a:prstGeom prst="ellipse">
            <a:avLst/>
          </a:prstGeom>
          <a:solidFill>
            <a:srgbClr val="DCE1E6"/>
          </a:solidFill>
          <a:ln w="12700">
            <a:solidFill>
              <a:srgbClr val="DCE1E6"/>
            </a:solidFill>
            <a:prstDash val="solid"/>
          </a:ln>
        </p:spPr>
        <p:txBody>
          <a:bodyPr/>
          <a:lstStyle/>
          <a:p>
            <a:endParaRPr lang="en-US"/>
          </a:p>
        </p:txBody>
      </p:sp>
      <p:sp>
        <p:nvSpPr>
          <p:cNvPr id="22" name="Text 19"/>
          <p:cNvSpPr txBox="1"/>
          <p:nvPr/>
        </p:nvSpPr>
        <p:spPr>
          <a:xfrm>
            <a:off x="6400800" y="2249424"/>
            <a:ext cx="420624" cy="420624"/>
          </a:xfrm>
          <a:prstGeom prst="rect">
            <a:avLst/>
          </a:prstGeom>
          <a:noFill/>
          <a:ln/>
        </p:spPr>
        <p:txBody>
          <a:bodyPr wrap="square" lIns="0" tIns="0" rIns="0" bIns="0" rtlCol="0" anchor="ctr"/>
          <a:lstStyle/>
          <a:p>
            <a:pPr marL="0" indent="0" algn="ctr">
              <a:buNone/>
            </a:pPr>
            <a:r>
              <a:rPr lang="en-US" sz="1500" b="1" dirty="0">
                <a:solidFill>
                  <a:srgbClr val="3E4C58"/>
                </a:solidFill>
                <a:latin typeface="Arial" pitchFamily="34" charset="0"/>
                <a:ea typeface="Arial" pitchFamily="34" charset="-122"/>
                <a:cs typeface="Arial" pitchFamily="34" charset="-120"/>
              </a:rPr>
              <a:t>3</a:t>
            </a:r>
            <a:endParaRPr lang="en-US" sz="1500" dirty="0"/>
          </a:p>
        </p:txBody>
      </p:sp>
      <p:sp>
        <p:nvSpPr>
          <p:cNvPr id="23" name="Text 20"/>
          <p:cNvSpPr txBox="1"/>
          <p:nvPr/>
        </p:nvSpPr>
        <p:spPr>
          <a:xfrm>
            <a:off x="6400800" y="2798064"/>
            <a:ext cx="2148840" cy="365760"/>
          </a:xfrm>
          <a:prstGeom prst="rect">
            <a:avLst/>
          </a:prstGeom>
          <a:noFill/>
          <a:ln/>
        </p:spPr>
        <p:txBody>
          <a:bodyPr wrap="square" lIns="0" tIns="0" rIns="0" bIns="0" rtlCol="0" anchor="ctr"/>
          <a:lstStyle/>
          <a:p>
            <a:pPr marL="0" indent="0">
              <a:buNone/>
            </a:pPr>
            <a:r>
              <a:rPr lang="en-US" sz="1800" b="1" dirty="0">
                <a:solidFill>
                  <a:srgbClr val="1C1C1C"/>
                </a:solidFill>
                <a:latin typeface="Arial" pitchFamily="34" charset="0"/>
                <a:ea typeface="Arial" pitchFamily="34" charset="-122"/>
                <a:cs typeface="Arial" pitchFamily="34" charset="-120"/>
              </a:rPr>
              <a:t>R</a:t>
            </a:r>
            <a:endParaRPr lang="en-US" sz="1800" dirty="0"/>
          </a:p>
        </p:txBody>
      </p:sp>
      <p:sp>
        <p:nvSpPr>
          <p:cNvPr id="24" name="Text 21"/>
          <p:cNvSpPr txBox="1"/>
          <p:nvPr/>
        </p:nvSpPr>
        <p:spPr>
          <a:xfrm>
            <a:off x="6400800" y="3218688"/>
            <a:ext cx="2148840" cy="1097280"/>
          </a:xfrm>
          <a:prstGeom prst="rect">
            <a:avLst/>
          </a:prstGeom>
          <a:noFill/>
          <a:ln/>
        </p:spPr>
        <p:txBody>
          <a:bodyPr wrap="square" lIns="0" tIns="0" rIns="0" bIns="0" rtlCol="0" anchor="t"/>
          <a:lstStyle/>
          <a:p>
            <a:pPr marL="0" indent="0">
              <a:lnSpc>
                <a:spcPts val="1600"/>
              </a:lnSpc>
              <a:buNone/>
            </a:pPr>
            <a:r>
              <a:rPr lang="en-US" sz="1200" dirty="0">
                <a:solidFill>
                  <a:srgbClr val="7A7A7A"/>
                </a:solidFill>
                <a:latin typeface="Calibri" pitchFamily="34" charset="0"/>
                <a:ea typeface="Calibri" pitchFamily="34" charset="-122"/>
                <a:cs typeface="Calibri" pitchFamily="34" charset="-120"/>
              </a:rPr>
              <a:t>cran.r-project.org — choose your operating system first. About 90 MB.</a:t>
            </a:r>
            <a:endParaRPr lang="en-US" sz="1200" dirty="0"/>
          </a:p>
        </p:txBody>
      </p:sp>
      <p:sp>
        <p:nvSpPr>
          <p:cNvPr id="25" name="Text 22"/>
          <p:cNvSpPr txBox="1"/>
          <p:nvPr/>
        </p:nvSpPr>
        <p:spPr>
          <a:xfrm>
            <a:off x="8759952" y="2962656"/>
            <a:ext cx="219456" cy="365760"/>
          </a:xfrm>
          <a:prstGeom prst="rect">
            <a:avLst/>
          </a:prstGeom>
          <a:noFill/>
          <a:ln/>
        </p:spPr>
        <p:txBody>
          <a:bodyPr wrap="square" lIns="0" tIns="0" rIns="0" bIns="0" rtlCol="0" anchor="ctr"/>
          <a:lstStyle/>
          <a:p>
            <a:pPr marL="0" indent="0" algn="ctr">
              <a:buNone/>
            </a:pPr>
            <a:r>
              <a:rPr lang="en-US" sz="2200" b="1" dirty="0">
                <a:solidFill>
                  <a:srgbClr val="A9A9A9"/>
                </a:solidFill>
                <a:latin typeface="Arial" pitchFamily="34" charset="0"/>
                <a:ea typeface="Arial" pitchFamily="34" charset="-122"/>
                <a:cs typeface="Arial" pitchFamily="34" charset="-120"/>
              </a:rPr>
              <a:t>+</a:t>
            </a:r>
            <a:endParaRPr lang="en-US" sz="2200" dirty="0"/>
          </a:p>
        </p:txBody>
      </p:sp>
      <p:sp>
        <p:nvSpPr>
          <p:cNvPr id="26" name="Shape 23"/>
          <p:cNvSpPr/>
          <p:nvPr/>
        </p:nvSpPr>
        <p:spPr>
          <a:xfrm>
            <a:off x="8961120" y="2011680"/>
            <a:ext cx="2615184" cy="2267712"/>
          </a:xfrm>
          <a:prstGeom prst="roundRect">
            <a:avLst>
              <a:gd name="adj" fmla="val 3629"/>
            </a:avLst>
          </a:prstGeom>
          <a:solidFill>
            <a:srgbClr val="FFFFFF"/>
          </a:solidFill>
          <a:ln w="12700">
            <a:solidFill>
              <a:srgbClr val="E6E6E6"/>
            </a:solidFill>
            <a:prstDash val="solid"/>
          </a:ln>
        </p:spPr>
        <p:txBody>
          <a:bodyPr/>
          <a:lstStyle/>
          <a:p>
            <a:endParaRPr lang="en-US"/>
          </a:p>
        </p:txBody>
      </p:sp>
      <p:sp>
        <p:nvSpPr>
          <p:cNvPr id="27" name="Shape 24"/>
          <p:cNvSpPr/>
          <p:nvPr/>
        </p:nvSpPr>
        <p:spPr>
          <a:xfrm>
            <a:off x="9198864" y="2249424"/>
            <a:ext cx="420624" cy="420624"/>
          </a:xfrm>
          <a:prstGeom prst="ellipse">
            <a:avLst/>
          </a:prstGeom>
          <a:solidFill>
            <a:srgbClr val="DCE1E6"/>
          </a:solidFill>
          <a:ln w="12700">
            <a:solidFill>
              <a:srgbClr val="DCE1E6"/>
            </a:solidFill>
            <a:prstDash val="solid"/>
          </a:ln>
        </p:spPr>
        <p:txBody>
          <a:bodyPr/>
          <a:lstStyle/>
          <a:p>
            <a:endParaRPr lang="en-US"/>
          </a:p>
        </p:txBody>
      </p:sp>
      <p:sp>
        <p:nvSpPr>
          <p:cNvPr id="28" name="Text 25"/>
          <p:cNvSpPr txBox="1"/>
          <p:nvPr/>
        </p:nvSpPr>
        <p:spPr>
          <a:xfrm>
            <a:off x="9198864" y="2249424"/>
            <a:ext cx="420624" cy="420624"/>
          </a:xfrm>
          <a:prstGeom prst="rect">
            <a:avLst/>
          </a:prstGeom>
          <a:noFill/>
          <a:ln/>
        </p:spPr>
        <p:txBody>
          <a:bodyPr wrap="square" lIns="0" tIns="0" rIns="0" bIns="0" rtlCol="0" anchor="ctr"/>
          <a:lstStyle/>
          <a:p>
            <a:pPr marL="0" indent="0" algn="ctr">
              <a:buNone/>
            </a:pPr>
            <a:r>
              <a:rPr lang="en-US" sz="1500" b="1" dirty="0">
                <a:solidFill>
                  <a:srgbClr val="3E4C58"/>
                </a:solidFill>
                <a:latin typeface="Arial" pitchFamily="34" charset="0"/>
                <a:ea typeface="Arial" pitchFamily="34" charset="-122"/>
                <a:cs typeface="Arial" pitchFamily="34" charset="-120"/>
              </a:rPr>
              <a:t>4</a:t>
            </a:r>
            <a:endParaRPr lang="en-US" sz="1500" dirty="0"/>
          </a:p>
        </p:txBody>
      </p:sp>
      <p:sp>
        <p:nvSpPr>
          <p:cNvPr id="29" name="Text 26"/>
          <p:cNvSpPr txBox="1"/>
          <p:nvPr/>
        </p:nvSpPr>
        <p:spPr>
          <a:xfrm>
            <a:off x="9198864" y="2798064"/>
            <a:ext cx="2148840" cy="365760"/>
          </a:xfrm>
          <a:prstGeom prst="rect">
            <a:avLst/>
          </a:prstGeom>
          <a:noFill/>
          <a:ln/>
        </p:spPr>
        <p:txBody>
          <a:bodyPr wrap="square" lIns="0" tIns="0" rIns="0" bIns="0" rtlCol="0" anchor="ctr"/>
          <a:lstStyle/>
          <a:p>
            <a:pPr marL="0" indent="0">
              <a:buNone/>
            </a:pPr>
            <a:r>
              <a:rPr lang="en-US" sz="1800" b="1" dirty="0">
                <a:solidFill>
                  <a:srgbClr val="1C1C1C"/>
                </a:solidFill>
                <a:latin typeface="Arial" pitchFamily="34" charset="0"/>
                <a:ea typeface="Arial" pitchFamily="34" charset="-122"/>
                <a:cs typeface="Arial" pitchFamily="34" charset="-120"/>
              </a:rPr>
              <a:t>RStudio</a:t>
            </a:r>
            <a:endParaRPr lang="en-US" sz="1800" dirty="0"/>
          </a:p>
        </p:txBody>
      </p:sp>
      <p:sp>
        <p:nvSpPr>
          <p:cNvPr id="30" name="Text 27"/>
          <p:cNvSpPr txBox="1"/>
          <p:nvPr/>
        </p:nvSpPr>
        <p:spPr>
          <a:xfrm>
            <a:off x="9198864" y="3218688"/>
            <a:ext cx="2148840" cy="1097280"/>
          </a:xfrm>
          <a:prstGeom prst="rect">
            <a:avLst/>
          </a:prstGeom>
          <a:noFill/>
          <a:ln/>
        </p:spPr>
        <p:txBody>
          <a:bodyPr wrap="square" lIns="0" tIns="0" rIns="0" bIns="0" rtlCol="0" anchor="t"/>
          <a:lstStyle/>
          <a:p>
            <a:pPr marL="0" indent="0">
              <a:lnSpc>
                <a:spcPts val="1600"/>
              </a:lnSpc>
              <a:buNone/>
            </a:pPr>
            <a:r>
              <a:rPr lang="en-US" sz="1200" dirty="0">
                <a:solidFill>
                  <a:srgbClr val="7A7A7A"/>
                </a:solidFill>
                <a:latin typeface="Calibri" pitchFamily="34" charset="0"/>
                <a:ea typeface="Calibri" pitchFamily="34" charset="-122"/>
                <a:cs typeface="Calibri" pitchFamily="34" charset="-120"/>
              </a:rPr>
              <a:t>posit.co/download/rstudio-desktop — scroll to the free version. About 250 MB.</a:t>
            </a:r>
            <a:endParaRPr lang="en-US" sz="1200" dirty="0"/>
          </a:p>
        </p:txBody>
      </p:sp>
      <p:sp>
        <p:nvSpPr>
          <p:cNvPr id="31" name="Shape 28"/>
          <p:cNvSpPr/>
          <p:nvPr/>
        </p:nvSpPr>
        <p:spPr>
          <a:xfrm>
            <a:off x="566928" y="4736592"/>
            <a:ext cx="11057839" cy="658368"/>
          </a:xfrm>
          <a:prstGeom prst="roundRect">
            <a:avLst>
              <a:gd name="adj" fmla="val 12500"/>
            </a:avLst>
          </a:prstGeom>
          <a:solidFill>
            <a:srgbClr val="1C1C1C"/>
          </a:solidFill>
          <a:ln w="12700">
            <a:solidFill>
              <a:srgbClr val="1C1C1C"/>
            </a:solidFill>
            <a:prstDash val="solid"/>
          </a:ln>
        </p:spPr>
        <p:txBody>
          <a:bodyPr/>
          <a:lstStyle/>
          <a:p>
            <a:endParaRPr lang="en-US"/>
          </a:p>
        </p:txBody>
      </p:sp>
      <p:sp>
        <p:nvSpPr>
          <p:cNvPr id="32" name="Text 29"/>
          <p:cNvSpPr txBox="1"/>
          <p:nvPr/>
        </p:nvSpPr>
        <p:spPr>
          <a:xfrm>
            <a:off x="841248" y="4736592"/>
            <a:ext cx="10509199" cy="658368"/>
          </a:xfrm>
          <a:prstGeom prst="rect">
            <a:avLst/>
          </a:prstGeom>
          <a:noFill/>
          <a:ln/>
        </p:spPr>
        <p:txBody>
          <a:bodyPr wrap="square" lIns="0" tIns="0" rIns="0" bIns="0" rtlCol="0" anchor="ctr"/>
          <a:lstStyle/>
          <a:p>
            <a:pPr marL="0" indent="0">
              <a:lnSpc>
                <a:spcPts val="1700"/>
              </a:lnSpc>
              <a:buNone/>
            </a:pPr>
            <a:r>
              <a:rPr lang="en-US" sz="1350" b="1" dirty="0">
                <a:solidFill>
                  <a:srgbClr val="F2C879"/>
                </a:solidFill>
                <a:latin typeface="Calibri" pitchFamily="34" charset="0"/>
                <a:ea typeface="Calibri" pitchFamily="34" charset="-122"/>
                <a:cs typeface="Calibri" pitchFamily="34" charset="-120"/>
              </a:rPr>
              <a:t>All four links are on Brightspace:  start from there and nobody mistypes a URL.</a:t>
            </a:r>
            <a:endParaRPr lang="en-US" sz="1350" dirty="0"/>
          </a:p>
        </p:txBody>
      </p:sp>
      <p:sp>
        <p:nvSpPr>
          <p:cNvPr id="33" name="Text 30"/>
          <p:cNvSpPr txBox="1"/>
          <p:nvPr/>
        </p:nvSpPr>
        <p:spPr>
          <a:xfrm>
            <a:off x="566928" y="5596128"/>
            <a:ext cx="11057839" cy="329184"/>
          </a:xfrm>
          <a:prstGeom prst="rect">
            <a:avLst/>
          </a:prstGeom>
          <a:noFill/>
          <a:ln/>
        </p:spPr>
        <p:txBody>
          <a:bodyPr wrap="square" lIns="0" tIns="0" rIns="0" bIns="0" rtlCol="0" anchor="ctr"/>
          <a:lstStyle/>
          <a:p>
            <a:pPr marL="0" indent="0">
              <a:buNone/>
            </a:pPr>
            <a:r>
              <a:rPr lang="en-US" sz="1250" i="1" dirty="0">
                <a:solidFill>
                  <a:srgbClr val="8A6D3B"/>
                </a:solidFill>
                <a:latin typeface="Calibri" pitchFamily="34" charset="0"/>
                <a:ea typeface="Calibri" pitchFamily="34" charset="-122"/>
                <a:cs typeface="Calibri" pitchFamily="34" charset="-120"/>
              </a:rPr>
              <a:t>Downloads first, installers second. On classroom wifi the download is the slow part — not the install.</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vu_mark_gold.png"/>
          <p:cNvPicPr>
            <a:picLocks noChangeAspect="1"/>
          </p:cNvPicPr>
          <p:nvPr/>
        </p:nvPicPr>
        <p:blipFill>
          <a:blip r:embed="rId3"/>
          <a:stretch>
            <a:fillRect/>
          </a:stretch>
        </p:blipFill>
        <p:spPr>
          <a:xfrm>
            <a:off x="11356848" y="310896"/>
            <a:ext cx="384048" cy="274320"/>
          </a:xfrm>
          <a:prstGeom prst="rect">
            <a:avLst/>
          </a:prstGeom>
        </p:spPr>
      </p:pic>
      <p:sp>
        <p:nvSpPr>
          <p:cNvPr id="3" name="Shape 0"/>
          <p:cNvSpPr/>
          <p:nvPr/>
        </p:nvSpPr>
        <p:spPr>
          <a:xfrm>
            <a:off x="566928" y="329184"/>
            <a:ext cx="3178450" cy="310896"/>
          </a:xfrm>
          <a:prstGeom prst="roundRect">
            <a:avLst>
              <a:gd name="adj" fmla="val 50000"/>
            </a:avLst>
          </a:prstGeom>
          <a:solidFill>
            <a:srgbClr val="F2C879"/>
          </a:solidFill>
          <a:ln w="12700">
            <a:solidFill>
              <a:srgbClr val="F2C879"/>
            </a:solidFill>
            <a:prstDash val="solid"/>
          </a:ln>
        </p:spPr>
        <p:txBody>
          <a:bodyPr/>
          <a:lstStyle/>
          <a:p>
            <a:endParaRPr lang="en-US"/>
          </a:p>
        </p:txBody>
      </p:sp>
      <p:sp>
        <p:nvSpPr>
          <p:cNvPr id="4" name="Text 1"/>
          <p:cNvSpPr txBox="1"/>
          <p:nvPr/>
        </p:nvSpPr>
        <p:spPr>
          <a:xfrm>
            <a:off x="566928" y="329184"/>
            <a:ext cx="3178450" cy="310896"/>
          </a:xfrm>
          <a:prstGeom prst="rect">
            <a:avLst/>
          </a:prstGeom>
          <a:noFill/>
          <a:ln/>
        </p:spPr>
        <p:txBody>
          <a:bodyPr wrap="square" lIns="0" tIns="0" rIns="0" bIns="0" rtlCol="0" anchor="ctr"/>
          <a:lstStyle/>
          <a:p>
            <a:pPr marL="0" indent="0" algn="ctr">
              <a:buNone/>
            </a:pPr>
            <a:r>
              <a:rPr lang="en-US" sz="1050" b="1" kern="0" spc="110" dirty="0">
                <a:solidFill>
                  <a:srgbClr val="5A4415"/>
                </a:solidFill>
                <a:latin typeface="Arial" pitchFamily="34" charset="0"/>
                <a:ea typeface="Arial" pitchFamily="34" charset="-122"/>
                <a:cs typeface="Arial" pitchFamily="34" charset="-120"/>
              </a:rPr>
              <a:t>16–19 MIN  ·  WHILE YOU DOWNLOAD</a:t>
            </a:r>
            <a:endParaRPr lang="en-US" sz="1050" dirty="0"/>
          </a:p>
        </p:txBody>
      </p:sp>
      <p:sp>
        <p:nvSpPr>
          <p:cNvPr id="5" name="Text 2"/>
          <p:cNvSpPr txBox="1"/>
          <p:nvPr/>
        </p:nvSpPr>
        <p:spPr>
          <a:xfrm>
            <a:off x="566928" y="749808"/>
            <a:ext cx="10692079" cy="658368"/>
          </a:xfrm>
          <a:prstGeom prst="rect">
            <a:avLst/>
          </a:prstGeom>
          <a:noFill/>
          <a:ln/>
        </p:spPr>
        <p:txBody>
          <a:bodyPr wrap="square" lIns="0" tIns="0" rIns="0" bIns="0" rtlCol="0" anchor="ctr"/>
          <a:lstStyle/>
          <a:p>
            <a:pPr marL="0" indent="0">
              <a:buNone/>
            </a:pPr>
            <a:r>
              <a:rPr lang="en-US" sz="3300" b="1" dirty="0">
                <a:solidFill>
                  <a:srgbClr val="1C1C1C"/>
                </a:solidFill>
                <a:latin typeface="Arial" pitchFamily="34" charset="0"/>
                <a:ea typeface="Arial" pitchFamily="34" charset="-122"/>
                <a:cs typeface="Arial" pitchFamily="34" charset="-120"/>
              </a:rPr>
              <a:t>Six tools, and the problem each one solves</a:t>
            </a:r>
            <a:endParaRPr lang="en-US" sz="3300" dirty="0"/>
          </a:p>
        </p:txBody>
      </p:sp>
      <p:sp>
        <p:nvSpPr>
          <p:cNvPr id="6" name="Text 3"/>
          <p:cNvSpPr txBox="1"/>
          <p:nvPr/>
        </p:nvSpPr>
        <p:spPr>
          <a:xfrm>
            <a:off x="11430000" y="6419088"/>
            <a:ext cx="320040" cy="228600"/>
          </a:xfrm>
          <a:prstGeom prst="rect">
            <a:avLst/>
          </a:prstGeom>
          <a:noFill/>
          <a:ln/>
        </p:spPr>
        <p:txBody>
          <a:bodyPr wrap="square" lIns="0" tIns="0" rIns="0" bIns="0" rtlCol="0" anchor="ctr"/>
          <a:lstStyle/>
          <a:p>
            <a:pPr marL="0" indent="0" algn="r">
              <a:buNone/>
            </a:pPr>
            <a:r>
              <a:rPr lang="en-US" sz="1000" dirty="0">
                <a:solidFill>
                  <a:srgbClr val="B5B5B5"/>
                </a:solidFill>
                <a:latin typeface="Calibri" pitchFamily="34" charset="0"/>
                <a:ea typeface="Calibri" pitchFamily="34" charset="-122"/>
                <a:cs typeface="Calibri" pitchFamily="34" charset="-120"/>
              </a:rPr>
              <a:t>9</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572768"/>
          <a:ext cx="11064240" cy="3072384"/>
        </p:xfrm>
        <a:graphic>
          <a:graphicData uri="http://schemas.openxmlformats.org/drawingml/2006/table">
            <a:tbl>
              <a:tblPr/>
              <a:tblGrid>
                <a:gridCol w="2148840">
                  <a:extLst>
                    <a:ext uri="{9D8B030D-6E8A-4147-A177-3AD203B41FA5}">
                      <a16:colId xmlns:a16="http://schemas.microsoft.com/office/drawing/2014/main" val="20000"/>
                    </a:ext>
                  </a:extLst>
                </a:gridCol>
                <a:gridCol w="489204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38404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Tool</a:t>
                      </a:r>
                      <a:endParaRPr lang="en-US" sz="1200" dirty="0">
                        <a:latin typeface="Calibri" charset="0"/>
                        <a:ea typeface="Calibri" charset="0"/>
                        <a:cs typeface="Calibri" charset="0"/>
                      </a:endParaRPr>
                    </a:p>
                  </a:txBody>
                  <a:tcPr marL="128016" marR="128016" marT="54864" marB="54864"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1C1C1C"/>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actually is</a:t>
                      </a:r>
                      <a:endParaRPr lang="en-US" sz="1200" dirty="0">
                        <a:latin typeface="Calibri" charset="0"/>
                        <a:ea typeface="Calibri" charset="0"/>
                        <a:cs typeface="Calibri" charset="0"/>
                      </a:endParaRPr>
                    </a:p>
                  </a:txBody>
                  <a:tcPr marL="128016" marR="128016" marT="54864" marB="54864"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1C1C1C"/>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When you touch it</a:t>
                      </a:r>
                      <a:endParaRPr lang="en-US" sz="1200" dirty="0">
                        <a:latin typeface="Calibri" charset="0"/>
                        <a:ea typeface="Calibri" charset="0"/>
                        <a:cs typeface="Calibri" charset="0"/>
                      </a:endParaRPr>
                    </a:p>
                  </a:txBody>
                  <a:tcPr marL="128016" marR="128016" marT="54864" marB="54864"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1C1C1C"/>
                    </a:solidFill>
                  </a:tcPr>
                </a:tc>
                <a:extLst>
                  <a:ext uri="{0D108BD9-81ED-4DB2-BD59-A6C34878D82A}">
                    <a16:rowId xmlns:a16="http://schemas.microsoft.com/office/drawing/2014/main" val="10000"/>
                  </a:ext>
                </a:extLst>
              </a:tr>
              <a:tr h="384048">
                <a:tc>
                  <a:txBody>
                    <a:bodyPr/>
                    <a:lstStyle/>
                    <a:p>
                      <a:pPr marL="0" indent="0">
                        <a:buNone/>
                      </a:pPr>
                      <a:r>
                        <a:rPr lang="en-US" sz="1250" b="1" dirty="0">
                          <a:solidFill>
                            <a:srgbClr val="1C1C1C"/>
                          </a:solidFill>
                          <a:latin typeface="Calibri" pitchFamily="34" charset="0"/>
                          <a:ea typeface="Calibri" pitchFamily="34" charset="-122"/>
                          <a:cs typeface="Calibri" pitchFamily="34" charset="-120"/>
                        </a:rPr>
                        <a:t>Python</a:t>
                      </a:r>
                      <a:endParaRPr lang="en-US" sz="1250" dirty="0">
                        <a:latin typeface="Calibri" charset="0"/>
                        <a:ea typeface="Calibri" charset="0"/>
                        <a:cs typeface="Calibri" charset="0"/>
                      </a:endParaRPr>
                    </a:p>
                  </a:txBody>
                  <a:tcPr marL="128016" marR="128016" marT="54864" marB="54864"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50" dirty="0">
                          <a:solidFill>
                            <a:srgbClr val="3A3A3A"/>
                          </a:solidFill>
                          <a:latin typeface="Calibri" pitchFamily="34" charset="0"/>
                          <a:ea typeface="Calibri" pitchFamily="34" charset="-122"/>
                          <a:cs typeface="Calibri" pitchFamily="34" charset="-120"/>
                        </a:rPr>
                        <a:t>An interpreter — the program that runs .py files</a:t>
                      </a:r>
                      <a:endParaRPr lang="en-US" sz="1250" dirty="0">
                        <a:latin typeface="Calibri" charset="0"/>
                        <a:ea typeface="Calibri" charset="0"/>
                        <a:cs typeface="Calibri" charset="0"/>
                      </a:endParaRPr>
                    </a:p>
                  </a:txBody>
                  <a:tcPr marL="128016" marR="128016" marT="54864" marB="54864"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50" dirty="0">
                          <a:solidFill>
                            <a:srgbClr val="3A3A3A"/>
                          </a:solidFill>
                          <a:latin typeface="Calibri" pitchFamily="34" charset="0"/>
                          <a:ea typeface="Calibri" pitchFamily="34" charset="-122"/>
                          <a:cs typeface="Calibri" pitchFamily="34" charset="-120"/>
                        </a:rPr>
                        <a:t>Anywhere you run Python</a:t>
                      </a:r>
                      <a:endParaRPr lang="en-US" sz="1250" dirty="0">
                        <a:latin typeface="Calibri" charset="0"/>
                        <a:ea typeface="Calibri" charset="0"/>
                        <a:cs typeface="Calibri" charset="0"/>
                      </a:endParaRPr>
                    </a:p>
                  </a:txBody>
                  <a:tcPr marL="128016" marR="128016" marT="54864" marB="54864"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250" b="1" dirty="0">
                          <a:solidFill>
                            <a:srgbClr val="1C1C1C"/>
                          </a:solidFill>
                          <a:latin typeface="Calibri" pitchFamily="34" charset="0"/>
                          <a:ea typeface="Calibri" pitchFamily="34" charset="-122"/>
                          <a:cs typeface="Calibri" pitchFamily="34" charset="-120"/>
                        </a:rPr>
                        <a:t>R</a:t>
                      </a:r>
                      <a:endParaRPr lang="en-US" sz="1250" dirty="0">
                        <a:latin typeface="Calibri" charset="0"/>
                        <a:ea typeface="Calibri" charset="0"/>
                        <a:cs typeface="Calibri" charset="0"/>
                      </a:endParaRPr>
                    </a:p>
                  </a:txBody>
                  <a:tcPr marL="128016" marR="128016" marT="54864" marB="54864"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AFAFA"/>
                    </a:solidFill>
                  </a:tcPr>
                </a:tc>
                <a:tc>
                  <a:txBody>
                    <a:bodyPr/>
                    <a:lstStyle/>
                    <a:p>
                      <a:pPr marL="0" indent="0">
                        <a:buNone/>
                      </a:pPr>
                      <a:r>
                        <a:rPr lang="en-US" sz="1250" dirty="0">
                          <a:solidFill>
                            <a:srgbClr val="3A3A3A"/>
                          </a:solidFill>
                          <a:latin typeface="Calibri" pitchFamily="34" charset="0"/>
                          <a:ea typeface="Calibri" pitchFamily="34" charset="-122"/>
                          <a:cs typeface="Calibri" pitchFamily="34" charset="-120"/>
                        </a:rPr>
                        <a:t>An interpreter for R</a:t>
                      </a:r>
                      <a:endParaRPr lang="en-US" sz="1250" dirty="0">
                        <a:latin typeface="Calibri" charset="0"/>
                        <a:ea typeface="Calibri" charset="0"/>
                        <a:cs typeface="Calibri" charset="0"/>
                      </a:endParaRPr>
                    </a:p>
                  </a:txBody>
                  <a:tcPr marL="128016" marR="128016" marT="54864" marB="54864"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AFAFA"/>
                    </a:solidFill>
                  </a:tcPr>
                </a:tc>
                <a:tc>
                  <a:txBody>
                    <a:bodyPr/>
                    <a:lstStyle/>
                    <a:p>
                      <a:pPr marL="0" indent="0">
                        <a:buNone/>
                      </a:pPr>
                      <a:r>
                        <a:rPr lang="en-US" sz="1250" dirty="0">
                          <a:solidFill>
                            <a:srgbClr val="3A3A3A"/>
                          </a:solidFill>
                          <a:latin typeface="Calibri" pitchFamily="34" charset="0"/>
                          <a:ea typeface="Calibri" pitchFamily="34" charset="-122"/>
                          <a:cs typeface="Calibri" pitchFamily="34" charset="-120"/>
                        </a:rPr>
                        <a:t>Anywhere you run R</a:t>
                      </a:r>
                      <a:endParaRPr lang="en-US" sz="1250" dirty="0">
                        <a:latin typeface="Calibri" charset="0"/>
                        <a:ea typeface="Calibri" charset="0"/>
                        <a:cs typeface="Calibri" charset="0"/>
                      </a:endParaRPr>
                    </a:p>
                  </a:txBody>
                  <a:tcPr marL="128016" marR="128016" marT="54864" marB="54864"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val="10002"/>
                  </a:ext>
                </a:extLst>
              </a:tr>
              <a:tr h="384048">
                <a:tc>
                  <a:txBody>
                    <a:bodyPr/>
                    <a:lstStyle/>
                    <a:p>
                      <a:pPr marL="0" indent="0">
                        <a:buNone/>
                      </a:pPr>
                      <a:r>
                        <a:rPr lang="en-US" sz="1250" b="1" dirty="0">
                          <a:solidFill>
                            <a:srgbClr val="1C1C1C"/>
                          </a:solidFill>
                          <a:latin typeface="Calibri" pitchFamily="34" charset="0"/>
                          <a:ea typeface="Calibri" pitchFamily="34" charset="-122"/>
                          <a:cs typeface="Calibri" pitchFamily="34" charset="-120"/>
                        </a:rPr>
                        <a:t>VS Code</a:t>
                      </a:r>
                      <a:endParaRPr lang="en-US" sz="1250" dirty="0">
                        <a:latin typeface="Calibri" charset="0"/>
                        <a:ea typeface="Calibri" charset="0"/>
                        <a:cs typeface="Calibri" charset="0"/>
                      </a:endParaRPr>
                    </a:p>
                  </a:txBody>
                  <a:tcPr marL="128016" marR="128016" marT="54864" marB="54864"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50" dirty="0">
                          <a:solidFill>
                            <a:srgbClr val="3A3A3A"/>
                          </a:solidFill>
                          <a:latin typeface="Calibri" pitchFamily="34" charset="0"/>
                          <a:ea typeface="Calibri" pitchFamily="34" charset="-122"/>
                          <a:cs typeface="Calibri" pitchFamily="34" charset="-120"/>
                        </a:rPr>
                        <a:t>A text editor. That is all it is.</a:t>
                      </a:r>
                      <a:endParaRPr lang="en-US" sz="1250" dirty="0">
                        <a:latin typeface="Calibri" charset="0"/>
                        <a:ea typeface="Calibri" charset="0"/>
                        <a:cs typeface="Calibri" charset="0"/>
                      </a:endParaRPr>
                    </a:p>
                  </a:txBody>
                  <a:tcPr marL="128016" marR="128016" marT="54864" marB="54864"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50" dirty="0">
                          <a:solidFill>
                            <a:srgbClr val="3A3A3A"/>
                          </a:solidFill>
                          <a:latin typeface="Calibri" pitchFamily="34" charset="0"/>
                          <a:ea typeface="Calibri" pitchFamily="34" charset="-122"/>
                          <a:cs typeface="Calibri" pitchFamily="34" charset="-120"/>
                        </a:rPr>
                        <a:t>Python files, notebooks</a:t>
                      </a:r>
                      <a:endParaRPr lang="en-US" sz="1250" dirty="0">
                        <a:latin typeface="Calibri" charset="0"/>
                        <a:ea typeface="Calibri" charset="0"/>
                        <a:cs typeface="Calibri" charset="0"/>
                      </a:endParaRPr>
                    </a:p>
                  </a:txBody>
                  <a:tcPr marL="128016" marR="128016" marT="54864" marB="54864"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250" b="1" dirty="0">
                          <a:solidFill>
                            <a:srgbClr val="1C1C1C"/>
                          </a:solidFill>
                          <a:latin typeface="Calibri" pitchFamily="34" charset="0"/>
                          <a:ea typeface="Calibri" pitchFamily="34" charset="-122"/>
                          <a:cs typeface="Calibri" pitchFamily="34" charset="-120"/>
                        </a:rPr>
                        <a:t>RStudio</a:t>
                      </a:r>
                      <a:endParaRPr lang="en-US" sz="1250" dirty="0">
                        <a:latin typeface="Calibri" charset="0"/>
                        <a:ea typeface="Calibri" charset="0"/>
                        <a:cs typeface="Calibri" charset="0"/>
                      </a:endParaRPr>
                    </a:p>
                  </a:txBody>
                  <a:tcPr marL="128016" marR="128016" marT="54864" marB="54864"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AFAFA"/>
                    </a:solidFill>
                  </a:tcPr>
                </a:tc>
                <a:tc>
                  <a:txBody>
                    <a:bodyPr/>
                    <a:lstStyle/>
                    <a:p>
                      <a:pPr marL="0" indent="0">
                        <a:buNone/>
                      </a:pPr>
                      <a:r>
                        <a:rPr lang="en-US" sz="1250" dirty="0">
                          <a:solidFill>
                            <a:srgbClr val="3A3A3A"/>
                          </a:solidFill>
                          <a:latin typeface="Calibri" pitchFamily="34" charset="0"/>
                          <a:ea typeface="Calibri" pitchFamily="34" charset="-122"/>
                          <a:cs typeface="Calibri" pitchFamily="34" charset="-120"/>
                        </a:rPr>
                        <a:t>Editor + console + plots + packages, built for R</a:t>
                      </a:r>
                      <a:endParaRPr lang="en-US" sz="1250" dirty="0">
                        <a:latin typeface="Calibri" charset="0"/>
                        <a:ea typeface="Calibri" charset="0"/>
                        <a:cs typeface="Calibri" charset="0"/>
                      </a:endParaRPr>
                    </a:p>
                  </a:txBody>
                  <a:tcPr marL="128016" marR="128016" marT="54864" marB="54864"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AFAFA"/>
                    </a:solidFill>
                  </a:tcPr>
                </a:tc>
                <a:tc>
                  <a:txBody>
                    <a:bodyPr/>
                    <a:lstStyle/>
                    <a:p>
                      <a:pPr marL="0" indent="0">
                        <a:buNone/>
                      </a:pPr>
                      <a:r>
                        <a:rPr lang="en-US" sz="1250" dirty="0">
                          <a:solidFill>
                            <a:srgbClr val="3A3A3A"/>
                          </a:solidFill>
                          <a:latin typeface="Calibri" pitchFamily="34" charset="0"/>
                          <a:ea typeface="Calibri" pitchFamily="34" charset="-122"/>
                          <a:cs typeface="Calibri" pitchFamily="34" charset="-120"/>
                        </a:rPr>
                        <a:t>Everything R</a:t>
                      </a:r>
                      <a:endParaRPr lang="en-US" sz="1250" dirty="0">
                        <a:latin typeface="Calibri" charset="0"/>
                        <a:ea typeface="Calibri" charset="0"/>
                        <a:cs typeface="Calibri" charset="0"/>
                      </a:endParaRPr>
                    </a:p>
                  </a:txBody>
                  <a:tcPr marL="128016" marR="128016" marT="54864" marB="54864"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val="10004"/>
                  </a:ext>
                </a:extLst>
              </a:tr>
              <a:tr h="384048">
                <a:tc>
                  <a:txBody>
                    <a:bodyPr/>
                    <a:lstStyle/>
                    <a:p>
                      <a:pPr marL="0" indent="0">
                        <a:buNone/>
                      </a:pPr>
                      <a:r>
                        <a:rPr lang="en-US" sz="1250" b="1" dirty="0">
                          <a:solidFill>
                            <a:srgbClr val="1C1C1C"/>
                          </a:solidFill>
                          <a:latin typeface="Calibri" pitchFamily="34" charset="0"/>
                          <a:ea typeface="Calibri" pitchFamily="34" charset="-122"/>
                          <a:cs typeface="Calibri" pitchFamily="34" charset="-120"/>
                        </a:rPr>
                        <a:t>Jupyter</a:t>
                      </a:r>
                      <a:endParaRPr lang="en-US" sz="1250" dirty="0">
                        <a:latin typeface="Calibri" charset="0"/>
                        <a:ea typeface="Calibri" charset="0"/>
                        <a:cs typeface="Calibri" charset="0"/>
                      </a:endParaRPr>
                    </a:p>
                  </a:txBody>
                  <a:tcPr marL="128016" marR="128016" marT="54864" marB="54864"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50" dirty="0">
                          <a:solidFill>
                            <a:srgbClr val="3A3A3A"/>
                          </a:solidFill>
                          <a:latin typeface="Calibri" pitchFamily="34" charset="0"/>
                          <a:ea typeface="Calibri" pitchFamily="34" charset="-122"/>
                          <a:cs typeface="Calibri" pitchFamily="34" charset="-120"/>
                        </a:rPr>
                        <a:t>A document mixing code, its output, and prose</a:t>
                      </a:r>
                      <a:endParaRPr lang="en-US" sz="1250" dirty="0">
                        <a:latin typeface="Calibri" charset="0"/>
                        <a:ea typeface="Calibri" charset="0"/>
                        <a:cs typeface="Calibri" charset="0"/>
                      </a:endParaRPr>
                    </a:p>
                  </a:txBody>
                  <a:tcPr marL="128016" marR="128016" marT="54864" marB="54864"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50" dirty="0">
                          <a:solidFill>
                            <a:srgbClr val="3A3A3A"/>
                          </a:solidFill>
                          <a:latin typeface="Calibri" pitchFamily="34" charset="0"/>
                          <a:ea typeface="Calibri" pitchFamily="34" charset="-122"/>
                          <a:cs typeface="Calibri" pitchFamily="34" charset="-120"/>
                        </a:rPr>
                        <a:t>Exploring; sharing analyses</a:t>
                      </a:r>
                      <a:endParaRPr lang="en-US" sz="1250" dirty="0">
                        <a:latin typeface="Calibri" charset="0"/>
                        <a:ea typeface="Calibri" charset="0"/>
                        <a:cs typeface="Calibri" charset="0"/>
                      </a:endParaRPr>
                    </a:p>
                  </a:txBody>
                  <a:tcPr marL="128016" marR="128016" marT="54864" marB="54864"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1250" b="1" dirty="0">
                          <a:solidFill>
                            <a:srgbClr val="1C1C1C"/>
                          </a:solidFill>
                          <a:latin typeface="Calibri" pitchFamily="34" charset="0"/>
                          <a:ea typeface="Calibri" pitchFamily="34" charset="-122"/>
                          <a:cs typeface="Calibri" pitchFamily="34" charset="-120"/>
                        </a:rPr>
                        <a:t>Copilot</a:t>
                      </a:r>
                      <a:endParaRPr lang="en-US" sz="1250" dirty="0">
                        <a:latin typeface="Calibri" charset="0"/>
                        <a:ea typeface="Calibri" charset="0"/>
                        <a:cs typeface="Calibri" charset="0"/>
                      </a:endParaRPr>
                    </a:p>
                  </a:txBody>
                  <a:tcPr marL="128016" marR="128016" marT="54864" marB="54864"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AFAFA"/>
                    </a:solidFill>
                  </a:tcPr>
                </a:tc>
                <a:tc>
                  <a:txBody>
                    <a:bodyPr/>
                    <a:lstStyle/>
                    <a:p>
                      <a:pPr marL="0" indent="0">
                        <a:buNone/>
                      </a:pPr>
                      <a:r>
                        <a:rPr lang="en-US" sz="1250" dirty="0">
                          <a:solidFill>
                            <a:srgbClr val="3A3A3A"/>
                          </a:solidFill>
                          <a:latin typeface="Calibri" pitchFamily="34" charset="0"/>
                          <a:ea typeface="Calibri" pitchFamily="34" charset="-122"/>
                          <a:cs typeface="Calibri" pitchFamily="34" charset="-120"/>
                        </a:rPr>
                        <a:t>An AI that autocompletes while you type</a:t>
                      </a:r>
                      <a:endParaRPr lang="en-US" sz="1250" dirty="0">
                        <a:latin typeface="Calibri" charset="0"/>
                        <a:ea typeface="Calibri" charset="0"/>
                        <a:cs typeface="Calibri" charset="0"/>
                      </a:endParaRPr>
                    </a:p>
                  </a:txBody>
                  <a:tcPr marL="128016" marR="128016" marT="54864" marB="54864"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AFAFA"/>
                    </a:solidFill>
                  </a:tcPr>
                </a:tc>
                <a:tc>
                  <a:txBody>
                    <a:bodyPr/>
                    <a:lstStyle/>
                    <a:p>
                      <a:pPr marL="0" indent="0">
                        <a:buNone/>
                      </a:pPr>
                      <a:r>
                        <a:rPr lang="en-US" sz="1250" dirty="0">
                          <a:solidFill>
                            <a:srgbClr val="3A3A3A"/>
                          </a:solidFill>
                          <a:latin typeface="Calibri" pitchFamily="34" charset="0"/>
                          <a:ea typeface="Calibri" pitchFamily="34" charset="-122"/>
                          <a:cs typeface="Calibri" pitchFamily="34" charset="-120"/>
                        </a:rPr>
                        <a:t>Inside either editor</a:t>
                      </a:r>
                      <a:endParaRPr lang="en-US" sz="1250" dirty="0">
                        <a:latin typeface="Calibri" charset="0"/>
                        <a:ea typeface="Calibri" charset="0"/>
                        <a:cs typeface="Calibri" charset="0"/>
                      </a:endParaRPr>
                    </a:p>
                  </a:txBody>
                  <a:tcPr marL="128016" marR="128016" marT="54864" marB="54864"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val="10006"/>
                  </a:ext>
                </a:extLst>
              </a:tr>
              <a:tr h="384048">
                <a:tc>
                  <a:txBody>
                    <a:bodyPr/>
                    <a:lstStyle/>
                    <a:p>
                      <a:pPr marL="0" indent="0">
                        <a:buNone/>
                      </a:pPr>
                      <a:r>
                        <a:rPr lang="en-US" sz="1250" b="1" dirty="0">
                          <a:solidFill>
                            <a:srgbClr val="1C1C1C"/>
                          </a:solidFill>
                          <a:latin typeface="Calibri" pitchFamily="34" charset="0"/>
                          <a:ea typeface="Calibri" pitchFamily="34" charset="-122"/>
                          <a:cs typeface="Calibri" pitchFamily="34" charset="-120"/>
                        </a:rPr>
                        <a:t>ChatGPT / Claude</a:t>
                      </a:r>
                      <a:endParaRPr lang="en-US" sz="1250" dirty="0">
                        <a:latin typeface="Calibri" charset="0"/>
                        <a:ea typeface="Calibri" charset="0"/>
                        <a:cs typeface="Calibri" charset="0"/>
                      </a:endParaRPr>
                    </a:p>
                  </a:txBody>
                  <a:tcPr marL="128016" marR="128016" marT="54864" marB="54864"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50" dirty="0">
                          <a:solidFill>
                            <a:srgbClr val="3A3A3A"/>
                          </a:solidFill>
                          <a:latin typeface="Calibri" pitchFamily="34" charset="0"/>
                          <a:ea typeface="Calibri" pitchFamily="34" charset="-122"/>
                          <a:cs typeface="Calibri" pitchFamily="34" charset="-120"/>
                        </a:rPr>
                        <a:t>An AI you have a conversation with</a:t>
                      </a:r>
                      <a:endParaRPr lang="en-US" sz="1250" dirty="0">
                        <a:latin typeface="Calibri" charset="0"/>
                        <a:ea typeface="Calibri" charset="0"/>
                        <a:cs typeface="Calibri" charset="0"/>
                      </a:endParaRPr>
                    </a:p>
                  </a:txBody>
                  <a:tcPr marL="128016" marR="128016" marT="54864" marB="54864"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250" dirty="0">
                          <a:solidFill>
                            <a:srgbClr val="3A3A3A"/>
                          </a:solidFill>
                          <a:latin typeface="Calibri" pitchFamily="34" charset="0"/>
                          <a:ea typeface="Calibri" pitchFamily="34" charset="-122"/>
                          <a:cs typeface="Calibri" pitchFamily="34" charset="-120"/>
                        </a:rPr>
                        <a:t>“How do I…” / “Why is this broken?”</a:t>
                      </a:r>
                      <a:endParaRPr lang="en-US" sz="1250" dirty="0">
                        <a:latin typeface="Calibri" charset="0"/>
                        <a:ea typeface="Calibri" charset="0"/>
                        <a:cs typeface="Calibri" charset="0"/>
                      </a:endParaRPr>
                    </a:p>
                  </a:txBody>
                  <a:tcPr marL="128016" marR="128016" marT="54864" marB="54864"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Shape 4"/>
          <p:cNvSpPr/>
          <p:nvPr/>
        </p:nvSpPr>
        <p:spPr>
          <a:xfrm>
            <a:off x="566928" y="5074920"/>
            <a:ext cx="11057839" cy="932688"/>
          </a:xfrm>
          <a:prstGeom prst="roundRect">
            <a:avLst>
              <a:gd name="adj" fmla="val 8824"/>
            </a:avLst>
          </a:prstGeom>
          <a:solidFill>
            <a:srgbClr val="1C1C1C"/>
          </a:solidFill>
          <a:ln w="12700">
            <a:solidFill>
              <a:srgbClr val="1C1C1C"/>
            </a:solidFill>
            <a:prstDash val="solid"/>
          </a:ln>
        </p:spPr>
        <p:txBody>
          <a:bodyPr/>
          <a:lstStyle/>
          <a:p>
            <a:endParaRPr lang="en-US"/>
          </a:p>
        </p:txBody>
      </p:sp>
      <p:sp>
        <p:nvSpPr>
          <p:cNvPr id="9" name="Text 5"/>
          <p:cNvSpPr txBox="1"/>
          <p:nvPr/>
        </p:nvSpPr>
        <p:spPr>
          <a:xfrm>
            <a:off x="841248" y="5074920"/>
            <a:ext cx="10509199" cy="932688"/>
          </a:xfrm>
          <a:prstGeom prst="rect">
            <a:avLst/>
          </a:prstGeom>
          <a:noFill/>
          <a:ln/>
        </p:spPr>
        <p:txBody>
          <a:bodyPr wrap="square" lIns="0" tIns="0" rIns="0" bIns="0" rtlCol="0" anchor="ctr"/>
          <a:lstStyle/>
          <a:p>
            <a:pPr marL="0" indent="0">
              <a:lnSpc>
                <a:spcPts val="1700"/>
              </a:lnSpc>
              <a:buNone/>
            </a:pPr>
            <a:r>
              <a:rPr lang="en-US" sz="1350" b="1" dirty="0">
                <a:solidFill>
                  <a:srgbClr val="F2C879"/>
                </a:solidFill>
                <a:latin typeface="Calibri" pitchFamily="34" charset="0"/>
                <a:ea typeface="Calibri" pitchFamily="34" charset="-122"/>
                <a:cs typeface="Calibri" pitchFamily="34" charset="-120"/>
              </a:rPr>
              <a:t>Week-1 confusions:  Python is not VS Code — the interpreter is the engine, the editor is the dashboard, and you can put any dashboard in front of the engine. And Copilot is not ChatGPT — one is autocomplete, the other is a conversation. Different tools, different failure modes.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vu_mark_gold.png"/>
          <p:cNvPicPr>
            <a:picLocks noChangeAspect="1"/>
          </p:cNvPicPr>
          <p:nvPr/>
        </p:nvPicPr>
        <p:blipFill>
          <a:blip r:embed="rId3"/>
          <a:stretch>
            <a:fillRect/>
          </a:stretch>
        </p:blipFill>
        <p:spPr>
          <a:xfrm>
            <a:off x="11356848" y="310896"/>
            <a:ext cx="384048" cy="274320"/>
          </a:xfrm>
          <a:prstGeom prst="rect">
            <a:avLst/>
          </a:prstGeom>
        </p:spPr>
      </p:pic>
      <p:sp>
        <p:nvSpPr>
          <p:cNvPr id="3" name="Shape 0"/>
          <p:cNvSpPr/>
          <p:nvPr/>
        </p:nvSpPr>
        <p:spPr>
          <a:xfrm>
            <a:off x="566928" y="329184"/>
            <a:ext cx="2838294" cy="310896"/>
          </a:xfrm>
          <a:prstGeom prst="roundRect">
            <a:avLst>
              <a:gd name="adj" fmla="val 50000"/>
            </a:avLst>
          </a:prstGeom>
          <a:solidFill>
            <a:srgbClr val="F2C879"/>
          </a:solidFill>
          <a:ln w="12700">
            <a:solidFill>
              <a:srgbClr val="F2C879"/>
            </a:solidFill>
            <a:prstDash val="solid"/>
          </a:ln>
        </p:spPr>
        <p:txBody>
          <a:bodyPr/>
          <a:lstStyle/>
          <a:p>
            <a:endParaRPr lang="en-US"/>
          </a:p>
        </p:txBody>
      </p:sp>
      <p:sp>
        <p:nvSpPr>
          <p:cNvPr id="4" name="Text 1"/>
          <p:cNvSpPr txBox="1"/>
          <p:nvPr/>
        </p:nvSpPr>
        <p:spPr>
          <a:xfrm>
            <a:off x="566928" y="329184"/>
            <a:ext cx="2838294" cy="310896"/>
          </a:xfrm>
          <a:prstGeom prst="rect">
            <a:avLst/>
          </a:prstGeom>
          <a:noFill/>
          <a:ln/>
        </p:spPr>
        <p:txBody>
          <a:bodyPr wrap="square" lIns="0" tIns="0" rIns="0" bIns="0" rtlCol="0" anchor="ctr"/>
          <a:lstStyle/>
          <a:p>
            <a:pPr marL="0" indent="0" algn="ctr">
              <a:buNone/>
            </a:pPr>
            <a:r>
              <a:rPr lang="en-US" sz="1050" b="1" kern="0" spc="110" dirty="0">
                <a:solidFill>
                  <a:srgbClr val="5A4415"/>
                </a:solidFill>
                <a:latin typeface="Arial" pitchFamily="34" charset="0"/>
                <a:ea typeface="Arial" pitchFamily="34" charset="-122"/>
                <a:cs typeface="Arial" pitchFamily="34" charset="-120"/>
              </a:rPr>
              <a:t>19–24 MIN  ·  INSTALL 1 OF 4</a:t>
            </a:r>
            <a:endParaRPr lang="en-US" sz="1050" dirty="0"/>
          </a:p>
        </p:txBody>
      </p:sp>
      <p:sp>
        <p:nvSpPr>
          <p:cNvPr id="5" name="Text 2"/>
          <p:cNvSpPr txBox="1"/>
          <p:nvPr/>
        </p:nvSpPr>
        <p:spPr>
          <a:xfrm>
            <a:off x="566928" y="749808"/>
            <a:ext cx="10692079" cy="658368"/>
          </a:xfrm>
          <a:prstGeom prst="rect">
            <a:avLst/>
          </a:prstGeom>
          <a:noFill/>
          <a:ln/>
        </p:spPr>
        <p:txBody>
          <a:bodyPr wrap="square" lIns="0" tIns="0" rIns="0" bIns="0" rtlCol="0" anchor="ctr"/>
          <a:lstStyle/>
          <a:p>
            <a:pPr marL="0" indent="0">
              <a:buNone/>
            </a:pPr>
            <a:r>
              <a:rPr lang="en-US" sz="3300" b="1" dirty="0">
                <a:solidFill>
                  <a:srgbClr val="1C1C1C"/>
                </a:solidFill>
                <a:latin typeface="Arial" pitchFamily="34" charset="0"/>
                <a:ea typeface="Arial" pitchFamily="34" charset="-122"/>
                <a:cs typeface="Arial" pitchFamily="34" charset="-120"/>
              </a:rPr>
              <a:t>Python — the engine</a:t>
            </a:r>
            <a:endParaRPr lang="en-US" sz="3300" dirty="0"/>
          </a:p>
        </p:txBody>
      </p:sp>
      <p:sp>
        <p:nvSpPr>
          <p:cNvPr id="6" name="Text 3"/>
          <p:cNvSpPr txBox="1"/>
          <p:nvPr/>
        </p:nvSpPr>
        <p:spPr>
          <a:xfrm>
            <a:off x="11430000" y="6419088"/>
            <a:ext cx="320040" cy="228600"/>
          </a:xfrm>
          <a:prstGeom prst="rect">
            <a:avLst/>
          </a:prstGeom>
          <a:noFill/>
          <a:ln/>
        </p:spPr>
        <p:txBody>
          <a:bodyPr wrap="square" lIns="0" tIns="0" rIns="0" bIns="0" rtlCol="0" anchor="ctr"/>
          <a:lstStyle/>
          <a:p>
            <a:pPr marL="0" indent="0" algn="r">
              <a:buNone/>
            </a:pPr>
            <a:r>
              <a:rPr lang="en-US" sz="1000" dirty="0">
                <a:solidFill>
                  <a:srgbClr val="B5B5B5"/>
                </a:solidFill>
                <a:latin typeface="Calibri" pitchFamily="34" charset="0"/>
                <a:ea typeface="Calibri" pitchFamily="34" charset="-122"/>
                <a:cs typeface="Calibri" pitchFamily="34" charset="-120"/>
              </a:rPr>
              <a:t>10</a:t>
            </a:r>
            <a:endParaRPr lang="en-US" sz="1000" dirty="0"/>
          </a:p>
        </p:txBody>
      </p:sp>
      <p:sp>
        <p:nvSpPr>
          <p:cNvPr id="7" name="Shape 4"/>
          <p:cNvSpPr/>
          <p:nvPr/>
        </p:nvSpPr>
        <p:spPr>
          <a:xfrm>
            <a:off x="566928" y="1517904"/>
            <a:ext cx="5760720" cy="2633472"/>
          </a:xfrm>
          <a:prstGeom prst="roundRect">
            <a:avLst>
              <a:gd name="adj" fmla="val 3125"/>
            </a:avLst>
          </a:prstGeom>
          <a:solidFill>
            <a:srgbClr val="FBF7EF"/>
          </a:solidFill>
          <a:ln w="12700">
            <a:solidFill>
              <a:srgbClr val="E6E6E6"/>
            </a:solidFill>
            <a:prstDash val="solid"/>
          </a:ln>
        </p:spPr>
        <p:txBody>
          <a:bodyPr/>
          <a:lstStyle/>
          <a:p>
            <a:endParaRPr lang="en-US"/>
          </a:p>
        </p:txBody>
      </p:sp>
      <p:sp>
        <p:nvSpPr>
          <p:cNvPr id="8" name="Text 5"/>
          <p:cNvSpPr txBox="1"/>
          <p:nvPr/>
        </p:nvSpPr>
        <p:spPr>
          <a:xfrm>
            <a:off x="822960" y="1719072"/>
            <a:ext cx="5120640" cy="237744"/>
          </a:xfrm>
          <a:prstGeom prst="rect">
            <a:avLst/>
          </a:prstGeom>
          <a:noFill/>
          <a:ln/>
        </p:spPr>
        <p:txBody>
          <a:bodyPr wrap="square" lIns="0" tIns="0" rIns="0" bIns="0" rtlCol="0" anchor="ctr"/>
          <a:lstStyle/>
          <a:p>
            <a:pPr marL="0" indent="0">
              <a:buNone/>
            </a:pPr>
            <a:r>
              <a:rPr lang="en-US" sz="1000" b="1" kern="0" spc="150" dirty="0">
                <a:solidFill>
                  <a:srgbClr val="8A6D3B"/>
                </a:solidFill>
                <a:latin typeface="Arial" pitchFamily="34" charset="0"/>
                <a:ea typeface="Arial" pitchFamily="34" charset="-122"/>
                <a:cs typeface="Arial" pitchFamily="34" charset="-120"/>
              </a:rPr>
              <a:t>WINDOWS</a:t>
            </a:r>
            <a:endParaRPr lang="en-US" sz="1000" dirty="0"/>
          </a:p>
        </p:txBody>
      </p:sp>
      <p:sp>
        <p:nvSpPr>
          <p:cNvPr id="9" name="Text 6"/>
          <p:cNvSpPr txBox="1"/>
          <p:nvPr/>
        </p:nvSpPr>
        <p:spPr>
          <a:xfrm>
            <a:off x="841248" y="2029968"/>
            <a:ext cx="5257800" cy="2103120"/>
          </a:xfrm>
          <a:prstGeom prst="rect">
            <a:avLst/>
          </a:prstGeom>
          <a:noFill/>
          <a:ln/>
        </p:spPr>
        <p:txBody>
          <a:bodyPr wrap="square" lIns="0" tIns="0" rIns="0" bIns="0" rtlCol="0" anchor="t"/>
          <a:lstStyle/>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Run the installer you downloaded.</a:t>
            </a:r>
            <a:endParaRPr lang="en-US" sz="1250" dirty="0"/>
          </a:p>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STOP on the first screen. Tick “Add python.exe to PATH” at the bottom.</a:t>
            </a:r>
            <a:endParaRPr lang="en-US" sz="1250" dirty="0"/>
          </a:p>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That one checkbox is the most common reason Session 2 does not work.</a:t>
            </a:r>
            <a:endParaRPr lang="en-US" sz="1250" dirty="0"/>
          </a:p>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Then “Install Now.” Accept everything else.</a:t>
            </a:r>
            <a:endParaRPr lang="en-US" sz="1250" dirty="0"/>
          </a:p>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Check it: Command Prompt, type  python --version  — any 3.11 or newer is fine.</a:t>
            </a:r>
            <a:endParaRPr lang="en-US" sz="1250" dirty="0"/>
          </a:p>
        </p:txBody>
      </p:sp>
      <p:sp>
        <p:nvSpPr>
          <p:cNvPr id="10" name="Shape 7"/>
          <p:cNvSpPr/>
          <p:nvPr/>
        </p:nvSpPr>
        <p:spPr>
          <a:xfrm>
            <a:off x="6583680" y="1517904"/>
            <a:ext cx="5029200" cy="2633472"/>
          </a:xfrm>
          <a:prstGeom prst="roundRect">
            <a:avLst>
              <a:gd name="adj" fmla="val 3125"/>
            </a:avLst>
          </a:prstGeom>
          <a:solidFill>
            <a:srgbClr val="FFFFFF"/>
          </a:solidFill>
          <a:ln w="12700">
            <a:solidFill>
              <a:srgbClr val="E6E6E6"/>
            </a:solidFill>
            <a:prstDash val="solid"/>
          </a:ln>
        </p:spPr>
        <p:txBody>
          <a:bodyPr/>
          <a:lstStyle/>
          <a:p>
            <a:endParaRPr lang="en-US"/>
          </a:p>
        </p:txBody>
      </p:sp>
      <p:sp>
        <p:nvSpPr>
          <p:cNvPr id="11" name="Text 8"/>
          <p:cNvSpPr txBox="1"/>
          <p:nvPr/>
        </p:nvSpPr>
        <p:spPr>
          <a:xfrm>
            <a:off x="6839712" y="1719072"/>
            <a:ext cx="4480560" cy="237744"/>
          </a:xfrm>
          <a:prstGeom prst="rect">
            <a:avLst/>
          </a:prstGeom>
          <a:noFill/>
          <a:ln/>
        </p:spPr>
        <p:txBody>
          <a:bodyPr wrap="square" lIns="0" tIns="0" rIns="0" bIns="0" rtlCol="0" anchor="ctr"/>
          <a:lstStyle/>
          <a:p>
            <a:pPr marL="0" indent="0">
              <a:buNone/>
            </a:pPr>
            <a:r>
              <a:rPr lang="en-US" sz="1000" b="1" kern="0" spc="150" dirty="0">
                <a:solidFill>
                  <a:srgbClr val="8A6D3B"/>
                </a:solidFill>
                <a:latin typeface="Arial" pitchFamily="34" charset="0"/>
                <a:ea typeface="Arial" pitchFamily="34" charset="-122"/>
                <a:cs typeface="Arial" pitchFamily="34" charset="-120"/>
              </a:rPr>
              <a:t>MACOS</a:t>
            </a:r>
            <a:endParaRPr lang="en-US" sz="1000" dirty="0"/>
          </a:p>
        </p:txBody>
      </p:sp>
      <p:sp>
        <p:nvSpPr>
          <p:cNvPr id="12" name="Text 9"/>
          <p:cNvSpPr txBox="1"/>
          <p:nvPr/>
        </p:nvSpPr>
        <p:spPr>
          <a:xfrm>
            <a:off x="6858000" y="2029968"/>
            <a:ext cx="4526280" cy="2103120"/>
          </a:xfrm>
          <a:prstGeom prst="rect">
            <a:avLst/>
          </a:prstGeom>
          <a:noFill/>
          <a:ln/>
        </p:spPr>
        <p:txBody>
          <a:bodyPr wrap="square" lIns="0" tIns="0" rIns="0" bIns="0" rtlCol="0" anchor="t"/>
          <a:lstStyle/>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Open the .pkg you downloaded.</a:t>
            </a:r>
            <a:endParaRPr lang="en-US" sz="1250" dirty="0"/>
          </a:p>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Continue, Agree, Install. There are no choices to make.</a:t>
            </a:r>
            <a:endParaRPr lang="en-US" sz="1250" dirty="0"/>
          </a:p>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Enter your Mac password when it asks.</a:t>
            </a:r>
            <a:endParaRPr lang="en-US" sz="1250" dirty="0"/>
          </a:p>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Check it: open Terminal and type  python3 --version</a:t>
            </a:r>
            <a:endParaRPr lang="en-US" sz="1250" dirty="0"/>
          </a:p>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On a Mac it is python3, not python. Both are normal.</a:t>
            </a:r>
            <a:endParaRPr lang="en-US" sz="1250" dirty="0"/>
          </a:p>
        </p:txBody>
      </p:sp>
      <p:sp>
        <p:nvSpPr>
          <p:cNvPr id="13" name="Text 10"/>
          <p:cNvSpPr txBox="1"/>
          <p:nvPr/>
        </p:nvSpPr>
        <p:spPr>
          <a:xfrm>
            <a:off x="566928" y="4443984"/>
            <a:ext cx="7315200" cy="256032"/>
          </a:xfrm>
          <a:prstGeom prst="rect">
            <a:avLst/>
          </a:prstGeom>
          <a:noFill/>
          <a:ln/>
        </p:spPr>
        <p:txBody>
          <a:bodyPr wrap="square" lIns="0" tIns="0" rIns="0" bIns="0" rtlCol="0" anchor="ctr"/>
          <a:lstStyle/>
          <a:p>
            <a:pPr marL="0" indent="0">
              <a:buNone/>
            </a:pPr>
            <a:r>
              <a:rPr lang="en-US" sz="1000" b="1" kern="0" spc="150" dirty="0">
                <a:solidFill>
                  <a:srgbClr val="A83A2C"/>
                </a:solidFill>
                <a:latin typeface="Arial" pitchFamily="34" charset="0"/>
                <a:ea typeface="Arial" pitchFamily="34" charset="-122"/>
                <a:cs typeface="Arial" pitchFamily="34" charset="-120"/>
              </a:rPr>
              <a:t>WHEN IT GOES WRONG — AND WHAT IT MEANS</a:t>
            </a:r>
            <a:endParaRPr lang="en-US" sz="1000" dirty="0"/>
          </a:p>
        </p:txBody>
      </p:sp>
      <p:sp>
        <p:nvSpPr>
          <p:cNvPr id="14" name="Text 11"/>
          <p:cNvSpPr txBox="1"/>
          <p:nvPr/>
        </p:nvSpPr>
        <p:spPr>
          <a:xfrm>
            <a:off x="566928" y="4754880"/>
            <a:ext cx="219456" cy="310896"/>
          </a:xfrm>
          <a:prstGeom prst="rect">
            <a:avLst/>
          </a:prstGeom>
          <a:noFill/>
          <a:ln/>
        </p:spPr>
        <p:txBody>
          <a:bodyPr wrap="square" lIns="0" tIns="0" rIns="0" bIns="0" rtlCol="0" anchor="ctr"/>
          <a:lstStyle/>
          <a:p>
            <a:pPr marL="0" indent="0">
              <a:buNone/>
            </a:pPr>
            <a:r>
              <a:rPr lang="en-US" sz="1100" b="1" dirty="0">
                <a:solidFill>
                  <a:srgbClr val="A83A2C"/>
                </a:solidFill>
                <a:latin typeface="Arial" pitchFamily="34" charset="0"/>
                <a:ea typeface="Arial" pitchFamily="34" charset="-122"/>
                <a:cs typeface="Arial" pitchFamily="34" charset="-120"/>
              </a:rPr>
              <a:t>✕</a:t>
            </a:r>
            <a:endParaRPr lang="en-US" sz="1100" dirty="0"/>
          </a:p>
        </p:txBody>
      </p:sp>
      <p:sp>
        <p:nvSpPr>
          <p:cNvPr id="15" name="Text 12"/>
          <p:cNvSpPr txBox="1"/>
          <p:nvPr/>
        </p:nvSpPr>
        <p:spPr>
          <a:xfrm>
            <a:off x="804672" y="4754880"/>
            <a:ext cx="5120640" cy="310896"/>
          </a:xfrm>
          <a:prstGeom prst="rect">
            <a:avLst/>
          </a:prstGeom>
          <a:noFill/>
          <a:ln/>
        </p:spPr>
        <p:txBody>
          <a:bodyPr wrap="square" lIns="0" tIns="0" rIns="0" bIns="0" rtlCol="0" anchor="ctr"/>
          <a:lstStyle/>
          <a:p>
            <a:pPr marL="0" indent="0">
              <a:buNone/>
            </a:pPr>
            <a:r>
              <a:rPr lang="en-US" sz="1250" dirty="0">
                <a:solidFill>
                  <a:srgbClr val="3A3A3A"/>
                </a:solidFill>
                <a:latin typeface="Calibri" pitchFamily="34" charset="0"/>
                <a:ea typeface="Calibri" pitchFamily="34" charset="-122"/>
                <a:cs typeface="Calibri" pitchFamily="34" charset="-120"/>
              </a:rPr>
              <a:t>“python is not recognized” — the PATH box was missed. Re-run the installer and tick it.</a:t>
            </a:r>
            <a:endParaRPr lang="en-US" sz="1250" dirty="0"/>
          </a:p>
        </p:txBody>
      </p:sp>
      <p:sp>
        <p:nvSpPr>
          <p:cNvPr id="16" name="Text 13"/>
          <p:cNvSpPr txBox="1"/>
          <p:nvPr/>
        </p:nvSpPr>
        <p:spPr>
          <a:xfrm>
            <a:off x="6108192" y="4754880"/>
            <a:ext cx="219456" cy="310896"/>
          </a:xfrm>
          <a:prstGeom prst="rect">
            <a:avLst/>
          </a:prstGeom>
          <a:noFill/>
          <a:ln/>
        </p:spPr>
        <p:txBody>
          <a:bodyPr wrap="square" lIns="0" tIns="0" rIns="0" bIns="0" rtlCol="0" anchor="ctr"/>
          <a:lstStyle/>
          <a:p>
            <a:pPr marL="0" indent="0">
              <a:buNone/>
            </a:pPr>
            <a:r>
              <a:rPr lang="en-US" sz="1100" b="1" dirty="0">
                <a:solidFill>
                  <a:srgbClr val="A83A2C"/>
                </a:solidFill>
                <a:latin typeface="Arial" pitchFamily="34" charset="0"/>
                <a:ea typeface="Arial" pitchFamily="34" charset="-122"/>
                <a:cs typeface="Arial" pitchFamily="34" charset="-120"/>
              </a:rPr>
              <a:t>✕</a:t>
            </a:r>
            <a:endParaRPr lang="en-US" sz="1100" dirty="0"/>
          </a:p>
        </p:txBody>
      </p:sp>
      <p:sp>
        <p:nvSpPr>
          <p:cNvPr id="17" name="Text 14"/>
          <p:cNvSpPr txBox="1"/>
          <p:nvPr/>
        </p:nvSpPr>
        <p:spPr>
          <a:xfrm>
            <a:off x="6345936" y="4754880"/>
            <a:ext cx="5120640" cy="310896"/>
          </a:xfrm>
          <a:prstGeom prst="rect">
            <a:avLst/>
          </a:prstGeom>
          <a:noFill/>
          <a:ln/>
        </p:spPr>
        <p:txBody>
          <a:bodyPr wrap="square" lIns="0" tIns="0" rIns="0" bIns="0" rtlCol="0" anchor="ctr"/>
          <a:lstStyle/>
          <a:p>
            <a:pPr marL="0" indent="0">
              <a:buNone/>
            </a:pPr>
            <a:r>
              <a:rPr lang="en-US" sz="1250" dirty="0">
                <a:solidFill>
                  <a:srgbClr val="3A3A3A"/>
                </a:solidFill>
                <a:latin typeface="Calibri" pitchFamily="34" charset="0"/>
                <a:ea typeface="Calibri" pitchFamily="34" charset="-122"/>
                <a:cs typeface="Calibri" pitchFamily="34" charset="-120"/>
              </a:rPr>
              <a:t>The Microsoft Store opens instead — same cause, same fix.</a:t>
            </a:r>
            <a:endParaRPr lang="en-US" sz="1250" dirty="0"/>
          </a:p>
        </p:txBody>
      </p:sp>
      <p:sp>
        <p:nvSpPr>
          <p:cNvPr id="18" name="Text 15"/>
          <p:cNvSpPr txBox="1"/>
          <p:nvPr/>
        </p:nvSpPr>
        <p:spPr>
          <a:xfrm>
            <a:off x="566928" y="5175504"/>
            <a:ext cx="219456" cy="310896"/>
          </a:xfrm>
          <a:prstGeom prst="rect">
            <a:avLst/>
          </a:prstGeom>
          <a:noFill/>
          <a:ln/>
        </p:spPr>
        <p:txBody>
          <a:bodyPr wrap="square" lIns="0" tIns="0" rIns="0" bIns="0" rtlCol="0" anchor="ctr"/>
          <a:lstStyle/>
          <a:p>
            <a:pPr marL="0" indent="0">
              <a:buNone/>
            </a:pPr>
            <a:r>
              <a:rPr lang="en-US" sz="1100" b="1" dirty="0">
                <a:solidFill>
                  <a:srgbClr val="A83A2C"/>
                </a:solidFill>
                <a:latin typeface="Arial" pitchFamily="34" charset="0"/>
                <a:ea typeface="Arial" pitchFamily="34" charset="-122"/>
                <a:cs typeface="Arial" pitchFamily="34" charset="-120"/>
              </a:rPr>
              <a:t>✕</a:t>
            </a:r>
            <a:endParaRPr lang="en-US" sz="1100" dirty="0"/>
          </a:p>
        </p:txBody>
      </p:sp>
      <p:sp>
        <p:nvSpPr>
          <p:cNvPr id="19" name="Text 16"/>
          <p:cNvSpPr txBox="1"/>
          <p:nvPr/>
        </p:nvSpPr>
        <p:spPr>
          <a:xfrm>
            <a:off x="804672" y="5175504"/>
            <a:ext cx="5120640" cy="310896"/>
          </a:xfrm>
          <a:prstGeom prst="rect">
            <a:avLst/>
          </a:prstGeom>
          <a:noFill/>
          <a:ln/>
        </p:spPr>
        <p:txBody>
          <a:bodyPr wrap="square" lIns="0" tIns="0" rIns="0" bIns="0" rtlCol="0" anchor="ctr"/>
          <a:lstStyle/>
          <a:p>
            <a:pPr marL="0" indent="0">
              <a:buNone/>
            </a:pPr>
            <a:r>
              <a:rPr lang="en-US" sz="1250" dirty="0">
                <a:solidFill>
                  <a:srgbClr val="3A3A3A"/>
                </a:solidFill>
                <a:latin typeface="Calibri" pitchFamily="34" charset="0"/>
                <a:ea typeface="Calibri" pitchFamily="34" charset="-122"/>
                <a:cs typeface="Calibri" pitchFamily="34" charset="-120"/>
              </a:rPr>
              <a:t>“command not found” on a Mac — you typed python. Try python3.</a:t>
            </a:r>
            <a:endParaRPr lang="en-US" sz="1250" dirty="0"/>
          </a:p>
        </p:txBody>
      </p:sp>
      <p:sp>
        <p:nvSpPr>
          <p:cNvPr id="20" name="Text 17"/>
          <p:cNvSpPr txBox="1"/>
          <p:nvPr/>
        </p:nvSpPr>
        <p:spPr>
          <a:xfrm>
            <a:off x="6108192" y="5175504"/>
            <a:ext cx="219456" cy="310896"/>
          </a:xfrm>
          <a:prstGeom prst="rect">
            <a:avLst/>
          </a:prstGeom>
          <a:noFill/>
          <a:ln/>
        </p:spPr>
        <p:txBody>
          <a:bodyPr wrap="square" lIns="0" tIns="0" rIns="0" bIns="0" rtlCol="0" anchor="ctr"/>
          <a:lstStyle/>
          <a:p>
            <a:pPr marL="0" indent="0">
              <a:buNone/>
            </a:pPr>
            <a:r>
              <a:rPr lang="en-US" sz="1100" b="1" dirty="0">
                <a:solidFill>
                  <a:srgbClr val="A83A2C"/>
                </a:solidFill>
                <a:latin typeface="Arial" pitchFamily="34" charset="0"/>
                <a:ea typeface="Arial" pitchFamily="34" charset="-122"/>
                <a:cs typeface="Arial" pitchFamily="34" charset="-120"/>
              </a:rPr>
              <a:t>✕</a:t>
            </a:r>
            <a:endParaRPr lang="en-US" sz="1100" dirty="0"/>
          </a:p>
        </p:txBody>
      </p:sp>
      <p:sp>
        <p:nvSpPr>
          <p:cNvPr id="21" name="Text 18"/>
          <p:cNvSpPr txBox="1"/>
          <p:nvPr/>
        </p:nvSpPr>
        <p:spPr>
          <a:xfrm>
            <a:off x="6345936" y="5175504"/>
            <a:ext cx="5120640" cy="310896"/>
          </a:xfrm>
          <a:prstGeom prst="rect">
            <a:avLst/>
          </a:prstGeom>
          <a:noFill/>
          <a:ln/>
        </p:spPr>
        <p:txBody>
          <a:bodyPr wrap="square" lIns="0" tIns="0" rIns="0" bIns="0" rtlCol="0" anchor="ctr"/>
          <a:lstStyle/>
          <a:p>
            <a:pPr marL="0" indent="0">
              <a:buNone/>
            </a:pPr>
            <a:r>
              <a:rPr lang="en-US" sz="1250" dirty="0">
                <a:solidFill>
                  <a:srgbClr val="3A3A3A"/>
                </a:solidFill>
                <a:latin typeface="Calibri" pitchFamily="34" charset="0"/>
                <a:ea typeface="Calibri" pitchFamily="34" charset="-122"/>
                <a:cs typeface="Calibri" pitchFamily="34" charset="-120"/>
              </a:rPr>
              <a:t>Python 2.7 prints on an older Mac — that is the built-in one, not yours. Use python3.</a:t>
            </a:r>
            <a:endParaRPr lang="en-US" sz="1250" dirty="0"/>
          </a:p>
        </p:txBody>
      </p:sp>
      <p:sp>
        <p:nvSpPr>
          <p:cNvPr id="22" name="Text 19"/>
          <p:cNvSpPr txBox="1"/>
          <p:nvPr/>
        </p:nvSpPr>
        <p:spPr>
          <a:xfrm>
            <a:off x="566928" y="5815584"/>
            <a:ext cx="11057839" cy="329184"/>
          </a:xfrm>
          <a:prstGeom prst="rect">
            <a:avLst/>
          </a:prstGeom>
          <a:noFill/>
          <a:ln/>
        </p:spPr>
        <p:txBody>
          <a:bodyPr wrap="square" lIns="0" tIns="0" rIns="0" bIns="0" rtlCol="0" anchor="ctr"/>
          <a:lstStyle/>
          <a:p>
            <a:pPr marL="0" indent="0">
              <a:buNone/>
            </a:pPr>
            <a:r>
              <a:rPr lang="en-US" sz="1250" i="1" dirty="0">
                <a:solidFill>
                  <a:srgbClr val="7A7A7A"/>
                </a:solidFill>
                <a:latin typeface="Calibri" pitchFamily="34" charset="0"/>
                <a:ea typeface="Calibri" pitchFamily="34" charset="-122"/>
                <a:cs typeface="Calibri" pitchFamily="34" charset="-120"/>
              </a:rPr>
              <a:t>Hand up the moment your screen differs from this. Do not go quiet and fall behind — that is how people leave today without a working laptop.</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vu_mark_gold.png"/>
          <p:cNvPicPr>
            <a:picLocks noChangeAspect="1"/>
          </p:cNvPicPr>
          <p:nvPr/>
        </p:nvPicPr>
        <p:blipFill>
          <a:blip r:embed="rId3"/>
          <a:stretch>
            <a:fillRect/>
          </a:stretch>
        </p:blipFill>
        <p:spPr>
          <a:xfrm>
            <a:off x="11356848" y="310896"/>
            <a:ext cx="384048" cy="274320"/>
          </a:xfrm>
          <a:prstGeom prst="rect">
            <a:avLst/>
          </a:prstGeom>
        </p:spPr>
      </p:pic>
      <p:sp>
        <p:nvSpPr>
          <p:cNvPr id="3" name="Shape 0"/>
          <p:cNvSpPr/>
          <p:nvPr/>
        </p:nvSpPr>
        <p:spPr>
          <a:xfrm>
            <a:off x="566928" y="329184"/>
            <a:ext cx="2838294" cy="310896"/>
          </a:xfrm>
          <a:prstGeom prst="roundRect">
            <a:avLst>
              <a:gd name="adj" fmla="val 50000"/>
            </a:avLst>
          </a:prstGeom>
          <a:solidFill>
            <a:srgbClr val="F2C879"/>
          </a:solidFill>
          <a:ln w="12700">
            <a:solidFill>
              <a:srgbClr val="F2C879"/>
            </a:solidFill>
            <a:prstDash val="solid"/>
          </a:ln>
        </p:spPr>
        <p:txBody>
          <a:bodyPr/>
          <a:lstStyle/>
          <a:p>
            <a:endParaRPr lang="en-US"/>
          </a:p>
        </p:txBody>
      </p:sp>
      <p:sp>
        <p:nvSpPr>
          <p:cNvPr id="4" name="Text 1"/>
          <p:cNvSpPr txBox="1"/>
          <p:nvPr/>
        </p:nvSpPr>
        <p:spPr>
          <a:xfrm>
            <a:off x="566928" y="329184"/>
            <a:ext cx="2838294" cy="310896"/>
          </a:xfrm>
          <a:prstGeom prst="rect">
            <a:avLst/>
          </a:prstGeom>
          <a:noFill/>
          <a:ln/>
        </p:spPr>
        <p:txBody>
          <a:bodyPr wrap="square" lIns="0" tIns="0" rIns="0" bIns="0" rtlCol="0" anchor="ctr"/>
          <a:lstStyle/>
          <a:p>
            <a:pPr marL="0" indent="0" algn="ctr">
              <a:buNone/>
            </a:pPr>
            <a:r>
              <a:rPr lang="en-US" sz="1050" b="1" kern="0" spc="110" dirty="0">
                <a:solidFill>
                  <a:srgbClr val="5A4415"/>
                </a:solidFill>
                <a:latin typeface="Arial" pitchFamily="34" charset="0"/>
                <a:ea typeface="Arial" pitchFamily="34" charset="-122"/>
                <a:cs typeface="Arial" pitchFamily="34" charset="-120"/>
              </a:rPr>
              <a:t>24–28 MIN  ·  INSTALL 2 OF 4</a:t>
            </a:r>
            <a:endParaRPr lang="en-US" sz="1050" dirty="0"/>
          </a:p>
        </p:txBody>
      </p:sp>
      <p:sp>
        <p:nvSpPr>
          <p:cNvPr id="5" name="Text 2"/>
          <p:cNvSpPr txBox="1"/>
          <p:nvPr/>
        </p:nvSpPr>
        <p:spPr>
          <a:xfrm>
            <a:off x="566928" y="749808"/>
            <a:ext cx="10692079" cy="658368"/>
          </a:xfrm>
          <a:prstGeom prst="rect">
            <a:avLst/>
          </a:prstGeom>
          <a:noFill/>
          <a:ln/>
        </p:spPr>
        <p:txBody>
          <a:bodyPr wrap="square" lIns="0" tIns="0" rIns="0" bIns="0" rtlCol="0" anchor="ctr"/>
          <a:lstStyle/>
          <a:p>
            <a:pPr marL="0" indent="0">
              <a:buNone/>
            </a:pPr>
            <a:r>
              <a:rPr lang="en-US" sz="3300" b="1" dirty="0">
                <a:solidFill>
                  <a:srgbClr val="1C1C1C"/>
                </a:solidFill>
                <a:latin typeface="Arial" pitchFamily="34" charset="0"/>
                <a:ea typeface="Arial" pitchFamily="34" charset="-122"/>
                <a:cs typeface="Arial" pitchFamily="34" charset="-120"/>
              </a:rPr>
              <a:t>VS Code — where you type</a:t>
            </a:r>
            <a:endParaRPr lang="en-US" sz="3300" dirty="0"/>
          </a:p>
        </p:txBody>
      </p:sp>
      <p:sp>
        <p:nvSpPr>
          <p:cNvPr id="6" name="Text 3"/>
          <p:cNvSpPr txBox="1"/>
          <p:nvPr/>
        </p:nvSpPr>
        <p:spPr>
          <a:xfrm>
            <a:off x="11430000" y="6419088"/>
            <a:ext cx="320040" cy="228600"/>
          </a:xfrm>
          <a:prstGeom prst="rect">
            <a:avLst/>
          </a:prstGeom>
          <a:noFill/>
          <a:ln/>
        </p:spPr>
        <p:txBody>
          <a:bodyPr wrap="square" lIns="0" tIns="0" rIns="0" bIns="0" rtlCol="0" anchor="ctr"/>
          <a:lstStyle/>
          <a:p>
            <a:pPr marL="0" indent="0" algn="r">
              <a:buNone/>
            </a:pPr>
            <a:r>
              <a:rPr lang="en-US" sz="1000" dirty="0">
                <a:solidFill>
                  <a:srgbClr val="B5B5B5"/>
                </a:solidFill>
                <a:latin typeface="Calibri" pitchFamily="34" charset="0"/>
                <a:ea typeface="Calibri" pitchFamily="34" charset="-122"/>
                <a:cs typeface="Calibri" pitchFamily="34" charset="-120"/>
              </a:rPr>
              <a:t>11</a:t>
            </a:r>
            <a:endParaRPr lang="en-US" sz="1000" dirty="0"/>
          </a:p>
        </p:txBody>
      </p:sp>
      <p:sp>
        <p:nvSpPr>
          <p:cNvPr id="7" name="Shape 4"/>
          <p:cNvSpPr/>
          <p:nvPr/>
        </p:nvSpPr>
        <p:spPr>
          <a:xfrm>
            <a:off x="566928" y="1517904"/>
            <a:ext cx="5760720" cy="2633472"/>
          </a:xfrm>
          <a:prstGeom prst="roundRect">
            <a:avLst>
              <a:gd name="adj" fmla="val 3125"/>
            </a:avLst>
          </a:prstGeom>
          <a:solidFill>
            <a:srgbClr val="FBF7EF"/>
          </a:solidFill>
          <a:ln w="12700">
            <a:solidFill>
              <a:srgbClr val="E6E6E6"/>
            </a:solidFill>
            <a:prstDash val="solid"/>
          </a:ln>
        </p:spPr>
        <p:txBody>
          <a:bodyPr/>
          <a:lstStyle/>
          <a:p>
            <a:endParaRPr lang="en-US"/>
          </a:p>
        </p:txBody>
      </p:sp>
      <p:sp>
        <p:nvSpPr>
          <p:cNvPr id="8" name="Text 5"/>
          <p:cNvSpPr txBox="1"/>
          <p:nvPr/>
        </p:nvSpPr>
        <p:spPr>
          <a:xfrm>
            <a:off x="822960" y="1719072"/>
            <a:ext cx="5120640" cy="237744"/>
          </a:xfrm>
          <a:prstGeom prst="rect">
            <a:avLst/>
          </a:prstGeom>
          <a:noFill/>
          <a:ln/>
        </p:spPr>
        <p:txBody>
          <a:bodyPr wrap="square" lIns="0" tIns="0" rIns="0" bIns="0" rtlCol="0" anchor="ctr"/>
          <a:lstStyle/>
          <a:p>
            <a:pPr marL="0" indent="0">
              <a:buNone/>
            </a:pPr>
            <a:r>
              <a:rPr lang="en-US" sz="1000" b="1" kern="0" spc="150" dirty="0">
                <a:solidFill>
                  <a:srgbClr val="8A6D3B"/>
                </a:solidFill>
                <a:latin typeface="Arial" pitchFamily="34" charset="0"/>
                <a:ea typeface="Arial" pitchFamily="34" charset="-122"/>
                <a:cs typeface="Arial" pitchFamily="34" charset="-120"/>
              </a:rPr>
              <a:t>INSTALL IT</a:t>
            </a:r>
            <a:endParaRPr lang="en-US" sz="1000" dirty="0"/>
          </a:p>
        </p:txBody>
      </p:sp>
      <p:sp>
        <p:nvSpPr>
          <p:cNvPr id="9" name="Text 6"/>
          <p:cNvSpPr txBox="1"/>
          <p:nvPr/>
        </p:nvSpPr>
        <p:spPr>
          <a:xfrm>
            <a:off x="841248" y="2029968"/>
            <a:ext cx="5257800" cy="2103120"/>
          </a:xfrm>
          <a:prstGeom prst="rect">
            <a:avLst/>
          </a:prstGeom>
          <a:noFill/>
          <a:ln/>
        </p:spPr>
        <p:txBody>
          <a:bodyPr wrap="square" lIns="0" tIns="0" rIns="0" bIns="0" rtlCol="0" anchor="t"/>
          <a:lstStyle/>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Run the installer and accept the defaults.</a:t>
            </a:r>
            <a:endParaRPr lang="en-US" sz="1250" dirty="0"/>
          </a:p>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On Windows leave every checkbox ticked, especially “Add to PATH.”</a:t>
            </a:r>
            <a:endParaRPr lang="en-US" sz="1250" dirty="0"/>
          </a:p>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Open it. You will get a Welcome tab. Ignore it.</a:t>
            </a:r>
            <a:endParaRPr lang="en-US" sz="1250" dirty="0"/>
          </a:p>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It is a text editor. Installing it does not install Python.</a:t>
            </a:r>
            <a:endParaRPr lang="en-US" sz="1250" dirty="0"/>
          </a:p>
        </p:txBody>
      </p:sp>
      <p:sp>
        <p:nvSpPr>
          <p:cNvPr id="10" name="Shape 7"/>
          <p:cNvSpPr/>
          <p:nvPr/>
        </p:nvSpPr>
        <p:spPr>
          <a:xfrm>
            <a:off x="6583680" y="1517904"/>
            <a:ext cx="5029200" cy="2633472"/>
          </a:xfrm>
          <a:prstGeom prst="roundRect">
            <a:avLst>
              <a:gd name="adj" fmla="val 3125"/>
            </a:avLst>
          </a:prstGeom>
          <a:solidFill>
            <a:srgbClr val="FFFFFF"/>
          </a:solidFill>
          <a:ln w="12700">
            <a:solidFill>
              <a:srgbClr val="E6E6E6"/>
            </a:solidFill>
            <a:prstDash val="solid"/>
          </a:ln>
        </p:spPr>
        <p:txBody>
          <a:bodyPr/>
          <a:lstStyle/>
          <a:p>
            <a:endParaRPr lang="en-US"/>
          </a:p>
        </p:txBody>
      </p:sp>
      <p:sp>
        <p:nvSpPr>
          <p:cNvPr id="11" name="Text 8"/>
          <p:cNvSpPr txBox="1"/>
          <p:nvPr/>
        </p:nvSpPr>
        <p:spPr>
          <a:xfrm>
            <a:off x="6839712" y="1719072"/>
            <a:ext cx="4480560" cy="237744"/>
          </a:xfrm>
          <a:prstGeom prst="rect">
            <a:avLst/>
          </a:prstGeom>
          <a:noFill/>
          <a:ln/>
        </p:spPr>
        <p:txBody>
          <a:bodyPr wrap="square" lIns="0" tIns="0" rIns="0" bIns="0" rtlCol="0" anchor="ctr"/>
          <a:lstStyle/>
          <a:p>
            <a:pPr marL="0" indent="0">
              <a:buNone/>
            </a:pPr>
            <a:r>
              <a:rPr lang="en-US" sz="1000" b="1" kern="0" spc="150" dirty="0">
                <a:solidFill>
                  <a:srgbClr val="8A6D3B"/>
                </a:solidFill>
                <a:latin typeface="Arial" pitchFamily="34" charset="0"/>
                <a:ea typeface="Arial" pitchFamily="34" charset="-122"/>
                <a:cs typeface="Arial" pitchFamily="34" charset="-120"/>
              </a:rPr>
              <a:t>THEN ADD TWO EXTENSIONS</a:t>
            </a:r>
            <a:endParaRPr lang="en-US" sz="1000" dirty="0"/>
          </a:p>
        </p:txBody>
      </p:sp>
      <p:sp>
        <p:nvSpPr>
          <p:cNvPr id="12" name="Text 9"/>
          <p:cNvSpPr txBox="1"/>
          <p:nvPr/>
        </p:nvSpPr>
        <p:spPr>
          <a:xfrm>
            <a:off x="6858000" y="2029968"/>
            <a:ext cx="4526280" cy="2103120"/>
          </a:xfrm>
          <a:prstGeom prst="rect">
            <a:avLst/>
          </a:prstGeom>
          <a:noFill/>
          <a:ln/>
        </p:spPr>
        <p:txBody>
          <a:bodyPr wrap="square" lIns="0" tIns="0" rIns="0" bIns="0" rtlCol="0" anchor="t"/>
          <a:lstStyle/>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Click the Extensions icon in the left bar — the four squares.</a:t>
            </a:r>
            <a:endParaRPr lang="en-US" sz="1250" dirty="0"/>
          </a:p>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Search Python. Install the one published by Microsoft.</a:t>
            </a:r>
            <a:endParaRPr lang="en-US" sz="1250" dirty="0"/>
          </a:p>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Search Jupyter. Install that one too, also by Microsoft.</a:t>
            </a:r>
            <a:endParaRPr lang="en-US" sz="1250" dirty="0"/>
          </a:p>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Nothing else today. Extensions are a rabbit hole.</a:t>
            </a:r>
            <a:endParaRPr lang="en-US" sz="1250" dirty="0"/>
          </a:p>
        </p:txBody>
      </p:sp>
      <p:sp>
        <p:nvSpPr>
          <p:cNvPr id="13" name="Text 10"/>
          <p:cNvSpPr txBox="1"/>
          <p:nvPr/>
        </p:nvSpPr>
        <p:spPr>
          <a:xfrm>
            <a:off x="566928" y="4443984"/>
            <a:ext cx="7315200" cy="256032"/>
          </a:xfrm>
          <a:prstGeom prst="rect">
            <a:avLst/>
          </a:prstGeom>
          <a:noFill/>
          <a:ln/>
        </p:spPr>
        <p:txBody>
          <a:bodyPr wrap="square" lIns="0" tIns="0" rIns="0" bIns="0" rtlCol="0" anchor="ctr"/>
          <a:lstStyle/>
          <a:p>
            <a:pPr marL="0" indent="0">
              <a:buNone/>
            </a:pPr>
            <a:r>
              <a:rPr lang="en-US" sz="1000" b="1" kern="0" spc="150" dirty="0">
                <a:solidFill>
                  <a:srgbClr val="A83A2C"/>
                </a:solidFill>
                <a:latin typeface="Arial" pitchFamily="34" charset="0"/>
                <a:ea typeface="Arial" pitchFamily="34" charset="-122"/>
                <a:cs typeface="Arial" pitchFamily="34" charset="-120"/>
              </a:rPr>
              <a:t>WATCH OUT FOR</a:t>
            </a:r>
            <a:endParaRPr lang="en-US" sz="1000" dirty="0"/>
          </a:p>
        </p:txBody>
      </p:sp>
      <p:sp>
        <p:nvSpPr>
          <p:cNvPr id="14" name="Text 11"/>
          <p:cNvSpPr txBox="1"/>
          <p:nvPr/>
        </p:nvSpPr>
        <p:spPr>
          <a:xfrm>
            <a:off x="566928" y="4754880"/>
            <a:ext cx="219456" cy="310896"/>
          </a:xfrm>
          <a:prstGeom prst="rect">
            <a:avLst/>
          </a:prstGeom>
          <a:noFill/>
          <a:ln/>
        </p:spPr>
        <p:txBody>
          <a:bodyPr wrap="square" lIns="0" tIns="0" rIns="0" bIns="0" rtlCol="0" anchor="ctr"/>
          <a:lstStyle/>
          <a:p>
            <a:pPr marL="0" indent="0">
              <a:buNone/>
            </a:pPr>
            <a:r>
              <a:rPr lang="en-US" sz="1100" b="1" dirty="0">
                <a:solidFill>
                  <a:srgbClr val="A83A2C"/>
                </a:solidFill>
                <a:latin typeface="Arial" pitchFamily="34" charset="0"/>
                <a:ea typeface="Arial" pitchFamily="34" charset="-122"/>
                <a:cs typeface="Arial" pitchFamily="34" charset="-120"/>
              </a:rPr>
              <a:t>✕</a:t>
            </a:r>
            <a:endParaRPr lang="en-US" sz="1100" dirty="0"/>
          </a:p>
        </p:txBody>
      </p:sp>
      <p:sp>
        <p:nvSpPr>
          <p:cNvPr id="15" name="Text 12"/>
          <p:cNvSpPr txBox="1"/>
          <p:nvPr/>
        </p:nvSpPr>
        <p:spPr>
          <a:xfrm>
            <a:off x="804672" y="4754880"/>
            <a:ext cx="5120640" cy="310896"/>
          </a:xfrm>
          <a:prstGeom prst="rect">
            <a:avLst/>
          </a:prstGeom>
          <a:noFill/>
          <a:ln/>
        </p:spPr>
        <p:txBody>
          <a:bodyPr wrap="square" lIns="0" tIns="0" rIns="0" bIns="0" rtlCol="0" anchor="ctr"/>
          <a:lstStyle/>
          <a:p>
            <a:pPr marL="0" indent="0">
              <a:buNone/>
            </a:pPr>
            <a:r>
              <a:rPr lang="en-US" sz="1250" dirty="0">
                <a:solidFill>
                  <a:srgbClr val="3A3A3A"/>
                </a:solidFill>
                <a:latin typeface="Calibri" pitchFamily="34" charset="0"/>
                <a:ea typeface="Calibri" pitchFamily="34" charset="-122"/>
                <a:cs typeface="Calibri" pitchFamily="34" charset="-120"/>
              </a:rPr>
              <a:t>A Python extension that is not Microsoft’s — check the publisher line.</a:t>
            </a:r>
            <a:endParaRPr lang="en-US" sz="1250" dirty="0"/>
          </a:p>
        </p:txBody>
      </p:sp>
      <p:sp>
        <p:nvSpPr>
          <p:cNvPr id="16" name="Text 13"/>
          <p:cNvSpPr txBox="1"/>
          <p:nvPr/>
        </p:nvSpPr>
        <p:spPr>
          <a:xfrm>
            <a:off x="6108192" y="4754880"/>
            <a:ext cx="219456" cy="310896"/>
          </a:xfrm>
          <a:prstGeom prst="rect">
            <a:avLst/>
          </a:prstGeom>
          <a:noFill/>
          <a:ln/>
        </p:spPr>
        <p:txBody>
          <a:bodyPr wrap="square" lIns="0" tIns="0" rIns="0" bIns="0" rtlCol="0" anchor="ctr"/>
          <a:lstStyle/>
          <a:p>
            <a:pPr marL="0" indent="0">
              <a:buNone/>
            </a:pPr>
            <a:r>
              <a:rPr lang="en-US" sz="1100" b="1" dirty="0">
                <a:solidFill>
                  <a:srgbClr val="A83A2C"/>
                </a:solidFill>
                <a:latin typeface="Arial" pitchFamily="34" charset="0"/>
                <a:ea typeface="Arial" pitchFamily="34" charset="-122"/>
                <a:cs typeface="Arial" pitchFamily="34" charset="-120"/>
              </a:rPr>
              <a:t>✕</a:t>
            </a:r>
            <a:endParaRPr lang="en-US" sz="1100" dirty="0"/>
          </a:p>
        </p:txBody>
      </p:sp>
      <p:sp>
        <p:nvSpPr>
          <p:cNvPr id="17" name="Text 14"/>
          <p:cNvSpPr txBox="1"/>
          <p:nvPr/>
        </p:nvSpPr>
        <p:spPr>
          <a:xfrm>
            <a:off x="6345936" y="4754880"/>
            <a:ext cx="5120640" cy="310896"/>
          </a:xfrm>
          <a:prstGeom prst="rect">
            <a:avLst/>
          </a:prstGeom>
          <a:noFill/>
          <a:ln/>
        </p:spPr>
        <p:txBody>
          <a:bodyPr wrap="square" lIns="0" tIns="0" rIns="0" bIns="0" rtlCol="0" anchor="ctr"/>
          <a:lstStyle/>
          <a:p>
            <a:pPr marL="0" indent="0">
              <a:buNone/>
            </a:pPr>
            <a:r>
              <a:rPr lang="en-US" sz="1250" dirty="0">
                <a:solidFill>
                  <a:srgbClr val="3A3A3A"/>
                </a:solidFill>
                <a:latin typeface="Calibri" pitchFamily="34" charset="0"/>
                <a:ea typeface="Calibri" pitchFamily="34" charset="-122"/>
                <a:cs typeface="Calibri" pitchFamily="34" charset="-120"/>
              </a:rPr>
              <a:t>A “Select Interpreter” prompt — pick the 3.1x you just installed.</a:t>
            </a:r>
            <a:endParaRPr lang="en-US" sz="1250" dirty="0"/>
          </a:p>
        </p:txBody>
      </p:sp>
      <p:sp>
        <p:nvSpPr>
          <p:cNvPr id="18" name="Text 15"/>
          <p:cNvSpPr txBox="1"/>
          <p:nvPr/>
        </p:nvSpPr>
        <p:spPr>
          <a:xfrm>
            <a:off x="566928" y="5175504"/>
            <a:ext cx="219456" cy="310896"/>
          </a:xfrm>
          <a:prstGeom prst="rect">
            <a:avLst/>
          </a:prstGeom>
          <a:noFill/>
          <a:ln/>
        </p:spPr>
        <p:txBody>
          <a:bodyPr wrap="square" lIns="0" tIns="0" rIns="0" bIns="0" rtlCol="0" anchor="ctr"/>
          <a:lstStyle/>
          <a:p>
            <a:pPr marL="0" indent="0">
              <a:buNone/>
            </a:pPr>
            <a:r>
              <a:rPr lang="en-US" sz="1100" b="1" dirty="0">
                <a:solidFill>
                  <a:srgbClr val="A83A2C"/>
                </a:solidFill>
                <a:latin typeface="Arial" pitchFamily="34" charset="0"/>
                <a:ea typeface="Arial" pitchFamily="34" charset="-122"/>
                <a:cs typeface="Arial" pitchFamily="34" charset="-120"/>
              </a:rPr>
              <a:t>✕</a:t>
            </a:r>
            <a:endParaRPr lang="en-US" sz="1100" dirty="0"/>
          </a:p>
        </p:txBody>
      </p:sp>
      <p:sp>
        <p:nvSpPr>
          <p:cNvPr id="19" name="Text 16"/>
          <p:cNvSpPr txBox="1"/>
          <p:nvPr/>
        </p:nvSpPr>
        <p:spPr>
          <a:xfrm>
            <a:off x="804672" y="5175504"/>
            <a:ext cx="5120640" cy="310896"/>
          </a:xfrm>
          <a:prstGeom prst="rect">
            <a:avLst/>
          </a:prstGeom>
          <a:noFill/>
          <a:ln/>
        </p:spPr>
        <p:txBody>
          <a:bodyPr wrap="square" lIns="0" tIns="0" rIns="0" bIns="0" rtlCol="0" anchor="ctr"/>
          <a:lstStyle/>
          <a:p>
            <a:pPr marL="0" indent="0">
              <a:buNone/>
            </a:pPr>
            <a:r>
              <a:rPr lang="en-US" sz="1250" dirty="0">
                <a:solidFill>
                  <a:srgbClr val="3A3A3A"/>
                </a:solidFill>
                <a:latin typeface="Calibri" pitchFamily="34" charset="0"/>
                <a:ea typeface="Calibri" pitchFamily="34" charset="-122"/>
                <a:cs typeface="Calibri" pitchFamily="34" charset="-120"/>
              </a:rPr>
              <a:t>Do not install Copilot yet. It needs a GitHub account — that is homework.</a:t>
            </a:r>
            <a:endParaRPr lang="en-US" sz="1250" dirty="0"/>
          </a:p>
        </p:txBody>
      </p:sp>
      <p:sp>
        <p:nvSpPr>
          <p:cNvPr id="20" name="Text 17"/>
          <p:cNvSpPr txBox="1"/>
          <p:nvPr/>
        </p:nvSpPr>
        <p:spPr>
          <a:xfrm>
            <a:off x="6108192" y="5175504"/>
            <a:ext cx="219456" cy="310896"/>
          </a:xfrm>
          <a:prstGeom prst="rect">
            <a:avLst/>
          </a:prstGeom>
          <a:noFill/>
          <a:ln/>
        </p:spPr>
        <p:txBody>
          <a:bodyPr wrap="square" lIns="0" tIns="0" rIns="0" bIns="0" rtlCol="0" anchor="ctr"/>
          <a:lstStyle/>
          <a:p>
            <a:pPr marL="0" indent="0">
              <a:buNone/>
            </a:pPr>
            <a:r>
              <a:rPr lang="en-US" sz="1100" b="1" dirty="0">
                <a:solidFill>
                  <a:srgbClr val="A83A2C"/>
                </a:solidFill>
                <a:latin typeface="Arial" pitchFamily="34" charset="0"/>
                <a:ea typeface="Arial" pitchFamily="34" charset="-122"/>
                <a:cs typeface="Arial" pitchFamily="34" charset="-120"/>
              </a:rPr>
              <a:t>✕</a:t>
            </a:r>
            <a:endParaRPr lang="en-US" sz="1100" dirty="0"/>
          </a:p>
        </p:txBody>
      </p:sp>
      <p:sp>
        <p:nvSpPr>
          <p:cNvPr id="21" name="Text 18"/>
          <p:cNvSpPr txBox="1"/>
          <p:nvPr/>
        </p:nvSpPr>
        <p:spPr>
          <a:xfrm>
            <a:off x="6345936" y="5175504"/>
            <a:ext cx="5120640" cy="310896"/>
          </a:xfrm>
          <a:prstGeom prst="rect">
            <a:avLst/>
          </a:prstGeom>
          <a:noFill/>
          <a:ln/>
        </p:spPr>
        <p:txBody>
          <a:bodyPr wrap="square" lIns="0" tIns="0" rIns="0" bIns="0" rtlCol="0" anchor="ctr"/>
          <a:lstStyle/>
          <a:p>
            <a:pPr marL="0" indent="0">
              <a:buNone/>
            </a:pPr>
            <a:r>
              <a:rPr lang="en-US" sz="1250" dirty="0">
                <a:solidFill>
                  <a:srgbClr val="3A3A3A"/>
                </a:solidFill>
                <a:latin typeface="Calibri" pitchFamily="34" charset="0"/>
                <a:ea typeface="Calibri" pitchFamily="34" charset="-122"/>
                <a:cs typeface="Calibri" pitchFamily="34" charset="-120"/>
              </a:rPr>
              <a:t>Installing the wrong search result — Microsoft’s has millions of downloads.</a:t>
            </a:r>
            <a:endParaRPr lang="en-US" sz="1250" dirty="0"/>
          </a:p>
        </p:txBody>
      </p:sp>
      <p:sp>
        <p:nvSpPr>
          <p:cNvPr id="22" name="Text 19"/>
          <p:cNvSpPr txBox="1"/>
          <p:nvPr/>
        </p:nvSpPr>
        <p:spPr>
          <a:xfrm>
            <a:off x="566928" y="5815584"/>
            <a:ext cx="11057839" cy="329184"/>
          </a:xfrm>
          <a:prstGeom prst="rect">
            <a:avLst/>
          </a:prstGeom>
          <a:noFill/>
          <a:ln/>
        </p:spPr>
        <p:txBody>
          <a:bodyPr wrap="square" lIns="0" tIns="0" rIns="0" bIns="0" rtlCol="0" anchor="ctr"/>
          <a:lstStyle/>
          <a:p>
            <a:pPr marL="0" indent="0">
              <a:buNone/>
            </a:pPr>
            <a:r>
              <a:rPr lang="en-US" sz="1250" i="1" dirty="0">
                <a:solidFill>
                  <a:srgbClr val="7A7A7A"/>
                </a:solidFill>
                <a:latin typeface="Calibri" pitchFamily="34" charset="0"/>
                <a:ea typeface="Calibri" pitchFamily="34" charset="-122"/>
                <a:cs typeface="Calibri" pitchFamily="34" charset="-120"/>
              </a:rPr>
              <a:t>VS Code is the smallest of the four. If yours is done early, help the person next to you — genuinely, that is the fastest way through this.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vu_mark_gold.png"/>
          <p:cNvPicPr>
            <a:picLocks noChangeAspect="1"/>
          </p:cNvPicPr>
          <p:nvPr/>
        </p:nvPicPr>
        <p:blipFill>
          <a:blip r:embed="rId3"/>
          <a:stretch>
            <a:fillRect/>
          </a:stretch>
        </p:blipFill>
        <p:spPr>
          <a:xfrm>
            <a:off x="11356848" y="310896"/>
            <a:ext cx="384048" cy="274320"/>
          </a:xfrm>
          <a:prstGeom prst="rect">
            <a:avLst/>
          </a:prstGeom>
        </p:spPr>
      </p:pic>
      <p:sp>
        <p:nvSpPr>
          <p:cNvPr id="3" name="Shape 0"/>
          <p:cNvSpPr/>
          <p:nvPr/>
        </p:nvSpPr>
        <p:spPr>
          <a:xfrm>
            <a:off x="566928" y="329184"/>
            <a:ext cx="3008372" cy="310896"/>
          </a:xfrm>
          <a:prstGeom prst="roundRect">
            <a:avLst>
              <a:gd name="adj" fmla="val 50000"/>
            </a:avLst>
          </a:prstGeom>
          <a:solidFill>
            <a:srgbClr val="F2C879"/>
          </a:solidFill>
          <a:ln w="12700">
            <a:solidFill>
              <a:srgbClr val="F2C879"/>
            </a:solidFill>
            <a:prstDash val="solid"/>
          </a:ln>
        </p:spPr>
        <p:txBody>
          <a:bodyPr/>
          <a:lstStyle/>
          <a:p>
            <a:endParaRPr lang="en-US"/>
          </a:p>
        </p:txBody>
      </p:sp>
      <p:sp>
        <p:nvSpPr>
          <p:cNvPr id="4" name="Text 1"/>
          <p:cNvSpPr txBox="1"/>
          <p:nvPr/>
        </p:nvSpPr>
        <p:spPr>
          <a:xfrm>
            <a:off x="566928" y="329184"/>
            <a:ext cx="3008372" cy="310896"/>
          </a:xfrm>
          <a:prstGeom prst="rect">
            <a:avLst/>
          </a:prstGeom>
          <a:noFill/>
          <a:ln/>
        </p:spPr>
        <p:txBody>
          <a:bodyPr wrap="square" lIns="0" tIns="0" rIns="0" bIns="0" rtlCol="0" anchor="ctr"/>
          <a:lstStyle/>
          <a:p>
            <a:pPr marL="0" indent="0" algn="ctr">
              <a:buNone/>
            </a:pPr>
            <a:r>
              <a:rPr lang="en-US" sz="1050" b="1" kern="0" spc="110" dirty="0">
                <a:solidFill>
                  <a:srgbClr val="5A4415"/>
                </a:solidFill>
                <a:latin typeface="Arial" pitchFamily="34" charset="0"/>
                <a:ea typeface="Arial" pitchFamily="34" charset="-122"/>
                <a:cs typeface="Arial" pitchFamily="34" charset="-120"/>
              </a:rPr>
              <a:t>28–34 MIN  ·  INSTALLS 3 AND 4</a:t>
            </a:r>
            <a:endParaRPr lang="en-US" sz="1050" dirty="0"/>
          </a:p>
        </p:txBody>
      </p:sp>
      <p:sp>
        <p:nvSpPr>
          <p:cNvPr id="5" name="Text 2"/>
          <p:cNvSpPr txBox="1"/>
          <p:nvPr/>
        </p:nvSpPr>
        <p:spPr>
          <a:xfrm>
            <a:off x="566928" y="749808"/>
            <a:ext cx="10692079" cy="658368"/>
          </a:xfrm>
          <a:prstGeom prst="rect">
            <a:avLst/>
          </a:prstGeom>
          <a:noFill/>
          <a:ln/>
        </p:spPr>
        <p:txBody>
          <a:bodyPr wrap="square" lIns="0" tIns="0" rIns="0" bIns="0" rtlCol="0" anchor="ctr"/>
          <a:lstStyle/>
          <a:p>
            <a:pPr marL="0" indent="0">
              <a:buNone/>
            </a:pPr>
            <a:r>
              <a:rPr lang="en-US" sz="3300" b="1" dirty="0">
                <a:solidFill>
                  <a:srgbClr val="1C1C1C"/>
                </a:solidFill>
                <a:latin typeface="Arial" pitchFamily="34" charset="0"/>
                <a:ea typeface="Arial" pitchFamily="34" charset="-122"/>
                <a:cs typeface="Arial" pitchFamily="34" charset="-120"/>
              </a:rPr>
              <a:t>R, then RStudio — in that order</a:t>
            </a:r>
            <a:endParaRPr lang="en-US" sz="3300" dirty="0"/>
          </a:p>
        </p:txBody>
      </p:sp>
      <p:sp>
        <p:nvSpPr>
          <p:cNvPr id="6" name="Text 3"/>
          <p:cNvSpPr txBox="1"/>
          <p:nvPr/>
        </p:nvSpPr>
        <p:spPr>
          <a:xfrm>
            <a:off x="11430000" y="6419088"/>
            <a:ext cx="320040" cy="228600"/>
          </a:xfrm>
          <a:prstGeom prst="rect">
            <a:avLst/>
          </a:prstGeom>
          <a:noFill/>
          <a:ln/>
        </p:spPr>
        <p:txBody>
          <a:bodyPr wrap="square" lIns="0" tIns="0" rIns="0" bIns="0" rtlCol="0" anchor="ctr"/>
          <a:lstStyle/>
          <a:p>
            <a:pPr marL="0" indent="0" algn="r">
              <a:buNone/>
            </a:pPr>
            <a:r>
              <a:rPr lang="en-US" sz="1000" dirty="0">
                <a:solidFill>
                  <a:srgbClr val="B5B5B5"/>
                </a:solidFill>
                <a:latin typeface="Calibri" pitchFamily="34" charset="0"/>
                <a:ea typeface="Calibri" pitchFamily="34" charset="-122"/>
                <a:cs typeface="Calibri" pitchFamily="34" charset="-120"/>
              </a:rPr>
              <a:t>12</a:t>
            </a:r>
            <a:endParaRPr lang="en-US" sz="1000" dirty="0"/>
          </a:p>
        </p:txBody>
      </p:sp>
      <p:sp>
        <p:nvSpPr>
          <p:cNvPr id="7" name="Shape 4"/>
          <p:cNvSpPr/>
          <p:nvPr/>
        </p:nvSpPr>
        <p:spPr>
          <a:xfrm>
            <a:off x="566928" y="1517904"/>
            <a:ext cx="5760720" cy="2633472"/>
          </a:xfrm>
          <a:prstGeom prst="roundRect">
            <a:avLst>
              <a:gd name="adj" fmla="val 3125"/>
            </a:avLst>
          </a:prstGeom>
          <a:solidFill>
            <a:srgbClr val="FBF7EF"/>
          </a:solidFill>
          <a:ln w="12700">
            <a:solidFill>
              <a:srgbClr val="E6E6E6"/>
            </a:solidFill>
            <a:prstDash val="solid"/>
          </a:ln>
        </p:spPr>
        <p:txBody>
          <a:bodyPr/>
          <a:lstStyle/>
          <a:p>
            <a:endParaRPr lang="en-US"/>
          </a:p>
        </p:txBody>
      </p:sp>
      <p:sp>
        <p:nvSpPr>
          <p:cNvPr id="8" name="Text 5"/>
          <p:cNvSpPr txBox="1"/>
          <p:nvPr/>
        </p:nvSpPr>
        <p:spPr>
          <a:xfrm>
            <a:off x="822960" y="1719072"/>
            <a:ext cx="5120640" cy="237744"/>
          </a:xfrm>
          <a:prstGeom prst="rect">
            <a:avLst/>
          </a:prstGeom>
          <a:noFill/>
          <a:ln/>
        </p:spPr>
        <p:txBody>
          <a:bodyPr wrap="square" lIns="0" tIns="0" rIns="0" bIns="0" rtlCol="0" anchor="ctr"/>
          <a:lstStyle/>
          <a:p>
            <a:pPr marL="0" indent="0">
              <a:buNone/>
            </a:pPr>
            <a:r>
              <a:rPr lang="en-US" sz="1000" b="1" kern="0" spc="150" dirty="0">
                <a:solidFill>
                  <a:srgbClr val="8A6D3B"/>
                </a:solidFill>
                <a:latin typeface="Arial" pitchFamily="34" charset="0"/>
                <a:ea typeface="Arial" pitchFamily="34" charset="-122"/>
                <a:cs typeface="Arial" pitchFamily="34" charset="-120"/>
              </a:rPr>
              <a:t>FIRST: R</a:t>
            </a:r>
            <a:endParaRPr lang="en-US" sz="1000" dirty="0"/>
          </a:p>
        </p:txBody>
      </p:sp>
      <p:sp>
        <p:nvSpPr>
          <p:cNvPr id="9" name="Text 6"/>
          <p:cNvSpPr txBox="1"/>
          <p:nvPr/>
        </p:nvSpPr>
        <p:spPr>
          <a:xfrm>
            <a:off x="841248" y="2029968"/>
            <a:ext cx="5257800" cy="2103120"/>
          </a:xfrm>
          <a:prstGeom prst="rect">
            <a:avLst/>
          </a:prstGeom>
          <a:noFill/>
          <a:ln/>
        </p:spPr>
        <p:txBody>
          <a:bodyPr wrap="square" lIns="0" tIns="0" rIns="0" bIns="0" rtlCol="0" anchor="t"/>
          <a:lstStyle/>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Windows: run the .exe and accept every default.</a:t>
            </a:r>
            <a:endParaRPr lang="en-US" sz="1250" dirty="0"/>
          </a:p>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macOS: open the .pkg and click through.</a:t>
            </a:r>
            <a:endParaRPr lang="en-US" sz="1250" dirty="0"/>
          </a:p>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R is the engine. Its own window is plain and ugly. That is correct.</a:t>
            </a:r>
            <a:endParaRPr lang="en-US" sz="1250" dirty="0"/>
          </a:p>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Nothing to configure. Do not bother opening it.</a:t>
            </a:r>
            <a:endParaRPr lang="en-US" sz="1250" dirty="0"/>
          </a:p>
        </p:txBody>
      </p:sp>
      <p:sp>
        <p:nvSpPr>
          <p:cNvPr id="10" name="Shape 7"/>
          <p:cNvSpPr/>
          <p:nvPr/>
        </p:nvSpPr>
        <p:spPr>
          <a:xfrm>
            <a:off x="6583680" y="1517904"/>
            <a:ext cx="5029200" cy="2633472"/>
          </a:xfrm>
          <a:prstGeom prst="roundRect">
            <a:avLst>
              <a:gd name="adj" fmla="val 3125"/>
            </a:avLst>
          </a:prstGeom>
          <a:solidFill>
            <a:srgbClr val="FFFFFF"/>
          </a:solidFill>
          <a:ln w="12700">
            <a:solidFill>
              <a:srgbClr val="E6E6E6"/>
            </a:solidFill>
            <a:prstDash val="solid"/>
          </a:ln>
        </p:spPr>
        <p:txBody>
          <a:bodyPr/>
          <a:lstStyle/>
          <a:p>
            <a:endParaRPr lang="en-US"/>
          </a:p>
        </p:txBody>
      </p:sp>
      <p:sp>
        <p:nvSpPr>
          <p:cNvPr id="11" name="Text 8"/>
          <p:cNvSpPr txBox="1"/>
          <p:nvPr/>
        </p:nvSpPr>
        <p:spPr>
          <a:xfrm>
            <a:off x="6839712" y="1719072"/>
            <a:ext cx="4480560" cy="237744"/>
          </a:xfrm>
          <a:prstGeom prst="rect">
            <a:avLst/>
          </a:prstGeom>
          <a:noFill/>
          <a:ln/>
        </p:spPr>
        <p:txBody>
          <a:bodyPr wrap="square" lIns="0" tIns="0" rIns="0" bIns="0" rtlCol="0" anchor="ctr"/>
          <a:lstStyle/>
          <a:p>
            <a:pPr marL="0" indent="0">
              <a:buNone/>
            </a:pPr>
            <a:r>
              <a:rPr lang="en-US" sz="1000" b="1" kern="0" spc="150" dirty="0">
                <a:solidFill>
                  <a:srgbClr val="8A6D3B"/>
                </a:solidFill>
                <a:latin typeface="Arial" pitchFamily="34" charset="0"/>
                <a:ea typeface="Arial" pitchFamily="34" charset="-122"/>
                <a:cs typeface="Arial" pitchFamily="34" charset="-120"/>
              </a:rPr>
              <a:t>SECOND: RSTUDIO</a:t>
            </a:r>
            <a:endParaRPr lang="en-US" sz="1000" dirty="0"/>
          </a:p>
        </p:txBody>
      </p:sp>
      <p:sp>
        <p:nvSpPr>
          <p:cNvPr id="12" name="Text 9"/>
          <p:cNvSpPr txBox="1"/>
          <p:nvPr/>
        </p:nvSpPr>
        <p:spPr>
          <a:xfrm>
            <a:off x="6858000" y="2029968"/>
            <a:ext cx="4526280" cy="2103120"/>
          </a:xfrm>
          <a:prstGeom prst="rect">
            <a:avLst/>
          </a:prstGeom>
          <a:noFill/>
          <a:ln/>
        </p:spPr>
        <p:txBody>
          <a:bodyPr wrap="square" lIns="0" tIns="0" rIns="0" bIns="0" rtlCol="0" anchor="t"/>
          <a:lstStyle/>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Only once R has finished installing.</a:t>
            </a:r>
            <a:endParaRPr lang="en-US" sz="1250" dirty="0"/>
          </a:p>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Run the installer, accept the defaults, then open RStudio.</a:t>
            </a:r>
            <a:endParaRPr lang="en-US" sz="1250" dirty="0"/>
          </a:p>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It finds R by itself. You will see four panes.</a:t>
            </a:r>
            <a:endParaRPr lang="en-US" sz="1250" dirty="0"/>
          </a:p>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Bottom-left pane is the console. That is where code runs.</a:t>
            </a:r>
            <a:endParaRPr lang="en-US" sz="1250" dirty="0"/>
          </a:p>
        </p:txBody>
      </p:sp>
      <p:sp>
        <p:nvSpPr>
          <p:cNvPr id="13" name="Text 10"/>
          <p:cNvSpPr txBox="1"/>
          <p:nvPr/>
        </p:nvSpPr>
        <p:spPr>
          <a:xfrm>
            <a:off x="566928" y="4443984"/>
            <a:ext cx="7315200" cy="256032"/>
          </a:xfrm>
          <a:prstGeom prst="rect">
            <a:avLst/>
          </a:prstGeom>
          <a:noFill/>
          <a:ln/>
        </p:spPr>
        <p:txBody>
          <a:bodyPr wrap="square" lIns="0" tIns="0" rIns="0" bIns="0" rtlCol="0" anchor="ctr"/>
          <a:lstStyle/>
          <a:p>
            <a:pPr marL="0" indent="0">
              <a:buNone/>
            </a:pPr>
            <a:r>
              <a:rPr lang="en-US" sz="1000" b="1" kern="0" spc="150" dirty="0">
                <a:solidFill>
                  <a:srgbClr val="A83A2C"/>
                </a:solidFill>
                <a:latin typeface="Arial" pitchFamily="34" charset="0"/>
                <a:ea typeface="Arial" pitchFamily="34" charset="-122"/>
                <a:cs typeface="Arial" pitchFamily="34" charset="-120"/>
              </a:rPr>
              <a:t>THE ORDER MATTERS</a:t>
            </a:r>
            <a:endParaRPr lang="en-US" sz="1000" dirty="0"/>
          </a:p>
        </p:txBody>
      </p:sp>
      <p:sp>
        <p:nvSpPr>
          <p:cNvPr id="14" name="Text 11"/>
          <p:cNvSpPr txBox="1"/>
          <p:nvPr/>
        </p:nvSpPr>
        <p:spPr>
          <a:xfrm>
            <a:off x="566928" y="4754880"/>
            <a:ext cx="219456" cy="310896"/>
          </a:xfrm>
          <a:prstGeom prst="rect">
            <a:avLst/>
          </a:prstGeom>
          <a:noFill/>
          <a:ln/>
        </p:spPr>
        <p:txBody>
          <a:bodyPr wrap="square" lIns="0" tIns="0" rIns="0" bIns="0" rtlCol="0" anchor="ctr"/>
          <a:lstStyle/>
          <a:p>
            <a:pPr marL="0" indent="0">
              <a:buNone/>
            </a:pPr>
            <a:r>
              <a:rPr lang="en-US" sz="1100" b="1" dirty="0">
                <a:solidFill>
                  <a:srgbClr val="A83A2C"/>
                </a:solidFill>
                <a:latin typeface="Arial" pitchFamily="34" charset="0"/>
                <a:ea typeface="Arial" pitchFamily="34" charset="-122"/>
                <a:cs typeface="Arial" pitchFamily="34" charset="-120"/>
              </a:rPr>
              <a:t>✕</a:t>
            </a:r>
            <a:endParaRPr lang="en-US" sz="1100" dirty="0"/>
          </a:p>
        </p:txBody>
      </p:sp>
      <p:sp>
        <p:nvSpPr>
          <p:cNvPr id="15" name="Text 12"/>
          <p:cNvSpPr txBox="1"/>
          <p:nvPr/>
        </p:nvSpPr>
        <p:spPr>
          <a:xfrm>
            <a:off x="804672" y="4754880"/>
            <a:ext cx="5120640" cy="310896"/>
          </a:xfrm>
          <a:prstGeom prst="rect">
            <a:avLst/>
          </a:prstGeom>
          <a:noFill/>
          <a:ln/>
        </p:spPr>
        <p:txBody>
          <a:bodyPr wrap="square" lIns="0" tIns="0" rIns="0" bIns="0" rtlCol="0" anchor="ctr"/>
          <a:lstStyle/>
          <a:p>
            <a:pPr marL="0" indent="0">
              <a:buNone/>
            </a:pPr>
            <a:r>
              <a:rPr lang="en-US" sz="1250" dirty="0">
                <a:solidFill>
                  <a:srgbClr val="3A3A3A"/>
                </a:solidFill>
                <a:latin typeface="Calibri" pitchFamily="34" charset="0"/>
                <a:ea typeface="Calibri" pitchFamily="34" charset="-122"/>
                <a:cs typeface="Calibri" pitchFamily="34" charset="-120"/>
              </a:rPr>
              <a:t>RStudio opens and reports it cannot find R — you installed it first. Install R, then restart.</a:t>
            </a:r>
            <a:endParaRPr lang="en-US" sz="1250" dirty="0"/>
          </a:p>
        </p:txBody>
      </p:sp>
      <p:sp>
        <p:nvSpPr>
          <p:cNvPr id="16" name="Text 13"/>
          <p:cNvSpPr txBox="1"/>
          <p:nvPr/>
        </p:nvSpPr>
        <p:spPr>
          <a:xfrm>
            <a:off x="6108192" y="4754880"/>
            <a:ext cx="219456" cy="310896"/>
          </a:xfrm>
          <a:prstGeom prst="rect">
            <a:avLst/>
          </a:prstGeom>
          <a:noFill/>
          <a:ln/>
        </p:spPr>
        <p:txBody>
          <a:bodyPr wrap="square" lIns="0" tIns="0" rIns="0" bIns="0" rtlCol="0" anchor="ctr"/>
          <a:lstStyle/>
          <a:p>
            <a:pPr marL="0" indent="0">
              <a:buNone/>
            </a:pPr>
            <a:r>
              <a:rPr lang="en-US" sz="1100" b="1" dirty="0">
                <a:solidFill>
                  <a:srgbClr val="A83A2C"/>
                </a:solidFill>
                <a:latin typeface="Arial" pitchFamily="34" charset="0"/>
                <a:ea typeface="Arial" pitchFamily="34" charset="-122"/>
                <a:cs typeface="Arial" pitchFamily="34" charset="-120"/>
              </a:rPr>
              <a:t>✕</a:t>
            </a:r>
            <a:endParaRPr lang="en-US" sz="1100" dirty="0"/>
          </a:p>
        </p:txBody>
      </p:sp>
      <p:sp>
        <p:nvSpPr>
          <p:cNvPr id="17" name="Text 14"/>
          <p:cNvSpPr txBox="1"/>
          <p:nvPr/>
        </p:nvSpPr>
        <p:spPr>
          <a:xfrm>
            <a:off x="6345936" y="4754880"/>
            <a:ext cx="5120640" cy="310896"/>
          </a:xfrm>
          <a:prstGeom prst="rect">
            <a:avLst/>
          </a:prstGeom>
          <a:noFill/>
          <a:ln/>
        </p:spPr>
        <p:txBody>
          <a:bodyPr wrap="square" lIns="0" tIns="0" rIns="0" bIns="0" rtlCol="0" anchor="ctr"/>
          <a:lstStyle/>
          <a:p>
            <a:pPr marL="0" indent="0">
              <a:buNone/>
            </a:pPr>
            <a:r>
              <a:rPr lang="en-US" sz="1250" dirty="0">
                <a:solidFill>
                  <a:srgbClr val="3A3A3A"/>
                </a:solidFill>
                <a:latin typeface="Calibri" pitchFamily="34" charset="0"/>
                <a:ea typeface="Calibri" pitchFamily="34" charset="-122"/>
                <a:cs typeface="Calibri" pitchFamily="34" charset="-120"/>
              </a:rPr>
              <a:t>R installed while RStudio is already open — restart RStudio or it will not see it.</a:t>
            </a:r>
            <a:endParaRPr lang="en-US" sz="1250" dirty="0"/>
          </a:p>
        </p:txBody>
      </p:sp>
      <p:sp>
        <p:nvSpPr>
          <p:cNvPr id="18" name="Text 15"/>
          <p:cNvSpPr txBox="1"/>
          <p:nvPr/>
        </p:nvSpPr>
        <p:spPr>
          <a:xfrm>
            <a:off x="566928" y="5175504"/>
            <a:ext cx="219456" cy="310896"/>
          </a:xfrm>
          <a:prstGeom prst="rect">
            <a:avLst/>
          </a:prstGeom>
          <a:noFill/>
          <a:ln/>
        </p:spPr>
        <p:txBody>
          <a:bodyPr wrap="square" lIns="0" tIns="0" rIns="0" bIns="0" rtlCol="0" anchor="ctr"/>
          <a:lstStyle/>
          <a:p>
            <a:pPr marL="0" indent="0">
              <a:buNone/>
            </a:pPr>
            <a:r>
              <a:rPr lang="en-US" sz="1100" b="1" dirty="0">
                <a:solidFill>
                  <a:srgbClr val="A83A2C"/>
                </a:solidFill>
                <a:latin typeface="Arial" pitchFamily="34" charset="0"/>
                <a:ea typeface="Arial" pitchFamily="34" charset="-122"/>
                <a:cs typeface="Arial" pitchFamily="34" charset="-120"/>
              </a:rPr>
              <a:t>✕</a:t>
            </a:r>
            <a:endParaRPr lang="en-US" sz="1100" dirty="0"/>
          </a:p>
        </p:txBody>
      </p:sp>
      <p:sp>
        <p:nvSpPr>
          <p:cNvPr id="19" name="Text 16"/>
          <p:cNvSpPr txBox="1"/>
          <p:nvPr/>
        </p:nvSpPr>
        <p:spPr>
          <a:xfrm>
            <a:off x="804672" y="5175504"/>
            <a:ext cx="5120640" cy="310896"/>
          </a:xfrm>
          <a:prstGeom prst="rect">
            <a:avLst/>
          </a:prstGeom>
          <a:noFill/>
          <a:ln/>
        </p:spPr>
        <p:txBody>
          <a:bodyPr wrap="square" lIns="0" tIns="0" rIns="0" bIns="0" rtlCol="0" anchor="ctr"/>
          <a:lstStyle/>
          <a:p>
            <a:pPr marL="0" indent="0">
              <a:buNone/>
            </a:pPr>
            <a:r>
              <a:rPr lang="en-US" sz="1250" dirty="0">
                <a:solidFill>
                  <a:srgbClr val="3A3A3A"/>
                </a:solidFill>
                <a:latin typeface="Calibri" pitchFamily="34" charset="0"/>
                <a:ea typeface="Calibri" pitchFamily="34" charset="-122"/>
                <a:cs typeface="Calibri" pitchFamily="34" charset="-120"/>
              </a:rPr>
              <a:t>RStudio is not R — it is a dashboard bolted onto the R engine.</a:t>
            </a:r>
            <a:endParaRPr lang="en-US" sz="1250" dirty="0"/>
          </a:p>
        </p:txBody>
      </p:sp>
      <p:sp>
        <p:nvSpPr>
          <p:cNvPr id="20" name="Text 17"/>
          <p:cNvSpPr txBox="1"/>
          <p:nvPr/>
        </p:nvSpPr>
        <p:spPr>
          <a:xfrm>
            <a:off x="6108192" y="5175504"/>
            <a:ext cx="219456" cy="310896"/>
          </a:xfrm>
          <a:prstGeom prst="rect">
            <a:avLst/>
          </a:prstGeom>
          <a:noFill/>
          <a:ln/>
        </p:spPr>
        <p:txBody>
          <a:bodyPr wrap="square" lIns="0" tIns="0" rIns="0" bIns="0" rtlCol="0" anchor="ctr"/>
          <a:lstStyle/>
          <a:p>
            <a:pPr marL="0" indent="0">
              <a:buNone/>
            </a:pPr>
            <a:r>
              <a:rPr lang="en-US" sz="1100" b="1" dirty="0">
                <a:solidFill>
                  <a:srgbClr val="A83A2C"/>
                </a:solidFill>
                <a:latin typeface="Arial" pitchFamily="34" charset="0"/>
                <a:ea typeface="Arial" pitchFamily="34" charset="-122"/>
                <a:cs typeface="Arial" pitchFamily="34" charset="-120"/>
              </a:rPr>
              <a:t>✕</a:t>
            </a:r>
            <a:endParaRPr lang="en-US" sz="1100" dirty="0"/>
          </a:p>
        </p:txBody>
      </p:sp>
      <p:sp>
        <p:nvSpPr>
          <p:cNvPr id="21" name="Text 18"/>
          <p:cNvSpPr txBox="1"/>
          <p:nvPr/>
        </p:nvSpPr>
        <p:spPr>
          <a:xfrm>
            <a:off x="6345936" y="5175504"/>
            <a:ext cx="5120640" cy="310896"/>
          </a:xfrm>
          <a:prstGeom prst="rect">
            <a:avLst/>
          </a:prstGeom>
          <a:noFill/>
          <a:ln/>
        </p:spPr>
        <p:txBody>
          <a:bodyPr wrap="square" lIns="0" tIns="0" rIns="0" bIns="0" rtlCol="0" anchor="ctr"/>
          <a:lstStyle/>
          <a:p>
            <a:pPr marL="0" indent="0">
              <a:buNone/>
            </a:pPr>
            <a:r>
              <a:rPr lang="en-US" sz="1250" dirty="0">
                <a:solidFill>
                  <a:srgbClr val="3A3A3A"/>
                </a:solidFill>
                <a:latin typeface="Calibri" pitchFamily="34" charset="0"/>
                <a:ea typeface="Calibri" pitchFamily="34" charset="-122"/>
                <a:cs typeface="Calibri" pitchFamily="34" charset="-120"/>
              </a:rPr>
              <a:t>Still waiting on the 250 MB download at minute 34 — leave it running, finish tonight.</a:t>
            </a:r>
            <a:endParaRPr lang="en-US" sz="1250" dirty="0"/>
          </a:p>
        </p:txBody>
      </p:sp>
      <p:sp>
        <p:nvSpPr>
          <p:cNvPr id="22" name="Text 19"/>
          <p:cNvSpPr txBox="1"/>
          <p:nvPr/>
        </p:nvSpPr>
        <p:spPr>
          <a:xfrm>
            <a:off x="566928" y="5815584"/>
            <a:ext cx="11057839" cy="329184"/>
          </a:xfrm>
          <a:prstGeom prst="rect">
            <a:avLst/>
          </a:prstGeom>
          <a:noFill/>
          <a:ln/>
        </p:spPr>
        <p:txBody>
          <a:bodyPr wrap="square" lIns="0" tIns="0" rIns="0" bIns="0" rtlCol="0" anchor="ctr"/>
          <a:lstStyle/>
          <a:p>
            <a:pPr marL="0" indent="0">
              <a:buNone/>
            </a:pPr>
            <a:r>
              <a:rPr lang="en-US" sz="1250" i="1" dirty="0">
                <a:solidFill>
                  <a:srgbClr val="7A7A7A"/>
                </a:solidFill>
                <a:latin typeface="Calibri" pitchFamily="34" charset="0"/>
                <a:ea typeface="Calibri" pitchFamily="34" charset="-122"/>
                <a:cs typeface="Calibri" pitchFamily="34" charset="-120"/>
              </a:rPr>
              <a:t>The slowest step, and the one most likely to run past the clock. If yours is still going at minute 34, leave it running and come with us — finish it tonight.</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vu_mark_gold.png"/>
          <p:cNvPicPr>
            <a:picLocks noChangeAspect="1"/>
          </p:cNvPicPr>
          <p:nvPr/>
        </p:nvPicPr>
        <p:blipFill>
          <a:blip r:embed="rId3"/>
          <a:stretch>
            <a:fillRect/>
          </a:stretch>
        </p:blipFill>
        <p:spPr>
          <a:xfrm>
            <a:off x="11356848" y="310896"/>
            <a:ext cx="384048" cy="274320"/>
          </a:xfrm>
          <a:prstGeom prst="rect">
            <a:avLst/>
          </a:prstGeom>
        </p:spPr>
      </p:pic>
      <p:sp>
        <p:nvSpPr>
          <p:cNvPr id="3" name="Shape 0"/>
          <p:cNvSpPr/>
          <p:nvPr/>
        </p:nvSpPr>
        <p:spPr>
          <a:xfrm>
            <a:off x="566928" y="329184"/>
            <a:ext cx="2498138" cy="310896"/>
          </a:xfrm>
          <a:prstGeom prst="roundRect">
            <a:avLst>
              <a:gd name="adj" fmla="val 50000"/>
            </a:avLst>
          </a:prstGeom>
          <a:solidFill>
            <a:srgbClr val="F2C879"/>
          </a:solidFill>
          <a:ln w="12700">
            <a:solidFill>
              <a:srgbClr val="F2C879"/>
            </a:solidFill>
            <a:prstDash val="solid"/>
          </a:ln>
        </p:spPr>
        <p:txBody>
          <a:bodyPr/>
          <a:lstStyle/>
          <a:p>
            <a:endParaRPr lang="en-US"/>
          </a:p>
        </p:txBody>
      </p:sp>
      <p:sp>
        <p:nvSpPr>
          <p:cNvPr id="4" name="Text 1"/>
          <p:cNvSpPr txBox="1"/>
          <p:nvPr/>
        </p:nvSpPr>
        <p:spPr>
          <a:xfrm>
            <a:off x="566928" y="329184"/>
            <a:ext cx="2498138" cy="310896"/>
          </a:xfrm>
          <a:prstGeom prst="rect">
            <a:avLst/>
          </a:prstGeom>
          <a:noFill/>
          <a:ln/>
        </p:spPr>
        <p:txBody>
          <a:bodyPr wrap="square" lIns="0" tIns="0" rIns="0" bIns="0" rtlCol="0" anchor="ctr"/>
          <a:lstStyle/>
          <a:p>
            <a:pPr marL="0" indent="0" algn="ctr">
              <a:buNone/>
            </a:pPr>
            <a:r>
              <a:rPr lang="en-US" sz="1050" b="1" kern="0" spc="110" dirty="0">
                <a:solidFill>
                  <a:srgbClr val="5A4415"/>
                </a:solidFill>
                <a:latin typeface="Arial" pitchFamily="34" charset="0"/>
                <a:ea typeface="Arial" pitchFamily="34" charset="-122"/>
                <a:cs typeface="Arial" pitchFamily="34" charset="-120"/>
              </a:rPr>
              <a:t>34–38 MIN  ·  CHECKPOINT</a:t>
            </a:r>
            <a:endParaRPr lang="en-US" sz="1050" dirty="0"/>
          </a:p>
        </p:txBody>
      </p:sp>
      <p:sp>
        <p:nvSpPr>
          <p:cNvPr id="5" name="Text 2"/>
          <p:cNvSpPr txBox="1"/>
          <p:nvPr/>
        </p:nvSpPr>
        <p:spPr>
          <a:xfrm>
            <a:off x="566928" y="749808"/>
            <a:ext cx="10692079" cy="658368"/>
          </a:xfrm>
          <a:prstGeom prst="rect">
            <a:avLst/>
          </a:prstGeom>
          <a:noFill/>
          <a:ln/>
        </p:spPr>
        <p:txBody>
          <a:bodyPr wrap="square" lIns="0" tIns="0" rIns="0" bIns="0" rtlCol="0" anchor="ctr"/>
          <a:lstStyle/>
          <a:p>
            <a:pPr marL="0" indent="0">
              <a:buNone/>
            </a:pPr>
            <a:r>
              <a:rPr lang="en-US" sz="3300" b="1" dirty="0">
                <a:solidFill>
                  <a:srgbClr val="1C1C1C"/>
                </a:solidFill>
                <a:latin typeface="Arial" pitchFamily="34" charset="0"/>
                <a:ea typeface="Arial" pitchFamily="34" charset="-122"/>
                <a:cs typeface="Arial" pitchFamily="34" charset="-120"/>
              </a:rPr>
              <a:t>Hello, research — does your install actually work?</a:t>
            </a:r>
            <a:endParaRPr lang="en-US" sz="3300" dirty="0"/>
          </a:p>
        </p:txBody>
      </p:sp>
      <p:sp>
        <p:nvSpPr>
          <p:cNvPr id="6" name="Text 3"/>
          <p:cNvSpPr txBox="1"/>
          <p:nvPr/>
        </p:nvSpPr>
        <p:spPr>
          <a:xfrm>
            <a:off x="11430000" y="6419088"/>
            <a:ext cx="320040" cy="228600"/>
          </a:xfrm>
          <a:prstGeom prst="rect">
            <a:avLst/>
          </a:prstGeom>
          <a:noFill/>
          <a:ln/>
        </p:spPr>
        <p:txBody>
          <a:bodyPr wrap="square" lIns="0" tIns="0" rIns="0" bIns="0" rtlCol="0" anchor="ctr"/>
          <a:lstStyle/>
          <a:p>
            <a:pPr marL="0" indent="0" algn="r">
              <a:buNone/>
            </a:pPr>
            <a:r>
              <a:rPr lang="en-US" sz="1000" dirty="0">
                <a:solidFill>
                  <a:srgbClr val="B5B5B5"/>
                </a:solidFill>
                <a:latin typeface="Calibri" pitchFamily="34" charset="0"/>
                <a:ea typeface="Calibri" pitchFamily="34" charset="-122"/>
                <a:cs typeface="Calibri" pitchFamily="34" charset="-120"/>
              </a:rPr>
              <a:t>13</a:t>
            </a:r>
            <a:endParaRPr lang="en-US" sz="1000" dirty="0"/>
          </a:p>
        </p:txBody>
      </p:sp>
      <p:sp>
        <p:nvSpPr>
          <p:cNvPr id="7" name="Shape 4"/>
          <p:cNvSpPr/>
          <p:nvPr/>
        </p:nvSpPr>
        <p:spPr>
          <a:xfrm>
            <a:off x="566928" y="1517904"/>
            <a:ext cx="5376672" cy="2011680"/>
          </a:xfrm>
          <a:prstGeom prst="roundRect">
            <a:avLst>
              <a:gd name="adj" fmla="val 4091"/>
            </a:avLst>
          </a:prstGeom>
          <a:solidFill>
            <a:srgbClr val="2E2E2E"/>
          </a:solidFill>
          <a:ln w="12700">
            <a:solidFill>
              <a:srgbClr val="3D3D3D"/>
            </a:solidFill>
            <a:prstDash val="solid"/>
          </a:ln>
        </p:spPr>
        <p:txBody>
          <a:bodyPr/>
          <a:lstStyle/>
          <a:p>
            <a:endParaRPr lang="en-US"/>
          </a:p>
        </p:txBody>
      </p:sp>
      <p:sp>
        <p:nvSpPr>
          <p:cNvPr id="8" name="Shape 5"/>
          <p:cNvSpPr/>
          <p:nvPr/>
        </p:nvSpPr>
        <p:spPr>
          <a:xfrm>
            <a:off x="786384" y="1705356"/>
            <a:ext cx="100584" cy="100584"/>
          </a:xfrm>
          <a:prstGeom prst="ellipse">
            <a:avLst/>
          </a:prstGeom>
          <a:solidFill>
            <a:srgbClr val="E06C60"/>
          </a:solidFill>
          <a:ln w="12700">
            <a:solidFill>
              <a:srgbClr val="E06C60"/>
            </a:solidFill>
            <a:prstDash val="solid"/>
          </a:ln>
        </p:spPr>
        <p:txBody>
          <a:bodyPr/>
          <a:lstStyle/>
          <a:p>
            <a:endParaRPr lang="en-US"/>
          </a:p>
        </p:txBody>
      </p:sp>
      <p:sp>
        <p:nvSpPr>
          <p:cNvPr id="9" name="Shape 6"/>
          <p:cNvSpPr/>
          <p:nvPr/>
        </p:nvSpPr>
        <p:spPr>
          <a:xfrm>
            <a:off x="969264" y="1705356"/>
            <a:ext cx="100584" cy="100584"/>
          </a:xfrm>
          <a:prstGeom prst="ellipse">
            <a:avLst/>
          </a:prstGeom>
          <a:solidFill>
            <a:srgbClr val="E5B84B"/>
          </a:solidFill>
          <a:ln w="12700">
            <a:solidFill>
              <a:srgbClr val="E5B84B"/>
            </a:solidFill>
            <a:prstDash val="solid"/>
          </a:ln>
        </p:spPr>
        <p:txBody>
          <a:bodyPr/>
          <a:lstStyle/>
          <a:p>
            <a:endParaRPr lang="en-US"/>
          </a:p>
        </p:txBody>
      </p:sp>
      <p:sp>
        <p:nvSpPr>
          <p:cNvPr id="10" name="Shape 7"/>
          <p:cNvSpPr/>
          <p:nvPr/>
        </p:nvSpPr>
        <p:spPr>
          <a:xfrm>
            <a:off x="1152144" y="1705356"/>
            <a:ext cx="100584" cy="100584"/>
          </a:xfrm>
          <a:prstGeom prst="ellipse">
            <a:avLst/>
          </a:prstGeom>
          <a:solidFill>
            <a:srgbClr val="9AA0A6"/>
          </a:solidFill>
          <a:ln w="12700">
            <a:solidFill>
              <a:srgbClr val="9AA0A6"/>
            </a:solidFill>
            <a:prstDash val="solid"/>
          </a:ln>
        </p:spPr>
        <p:txBody>
          <a:bodyPr/>
          <a:lstStyle/>
          <a:p>
            <a:endParaRPr lang="en-US"/>
          </a:p>
        </p:txBody>
      </p:sp>
      <p:sp>
        <p:nvSpPr>
          <p:cNvPr id="11" name="Text 8"/>
          <p:cNvSpPr txBox="1"/>
          <p:nvPr/>
        </p:nvSpPr>
        <p:spPr>
          <a:xfrm>
            <a:off x="1344168" y="1636776"/>
            <a:ext cx="4462272" cy="237744"/>
          </a:xfrm>
          <a:prstGeom prst="rect">
            <a:avLst/>
          </a:prstGeom>
          <a:noFill/>
          <a:ln/>
        </p:spPr>
        <p:txBody>
          <a:bodyPr wrap="square" lIns="0" tIns="0" rIns="0" bIns="0" rtlCol="0" anchor="ctr"/>
          <a:lstStyle/>
          <a:p>
            <a:pPr marL="0" indent="0">
              <a:buNone/>
            </a:pPr>
            <a:r>
              <a:rPr lang="en-US" sz="1050" dirty="0">
                <a:solidFill>
                  <a:srgbClr val="A9A9A9"/>
                </a:solidFill>
                <a:latin typeface="Courier New" pitchFamily="34" charset="0"/>
                <a:ea typeface="Courier New" pitchFamily="34" charset="-122"/>
                <a:cs typeface="Courier New" pitchFamily="34" charset="-120"/>
              </a:rPr>
              <a:t>hello.py</a:t>
            </a:r>
            <a:endParaRPr lang="en-US" sz="1050" dirty="0"/>
          </a:p>
        </p:txBody>
      </p:sp>
      <p:sp>
        <p:nvSpPr>
          <p:cNvPr id="12" name="Shape 9"/>
          <p:cNvSpPr/>
          <p:nvPr/>
        </p:nvSpPr>
        <p:spPr>
          <a:xfrm>
            <a:off x="576072" y="1993392"/>
            <a:ext cx="5358384" cy="9144"/>
          </a:xfrm>
          <a:prstGeom prst="rect">
            <a:avLst/>
          </a:prstGeom>
          <a:solidFill>
            <a:srgbClr val="3D3D3D"/>
          </a:solidFill>
          <a:ln w="12700">
            <a:solidFill>
              <a:srgbClr val="3D3D3D"/>
            </a:solidFill>
            <a:prstDash val="solid"/>
          </a:ln>
        </p:spPr>
        <p:txBody>
          <a:bodyPr/>
          <a:lstStyle/>
          <a:p>
            <a:endParaRPr lang="en-US"/>
          </a:p>
        </p:txBody>
      </p:sp>
      <p:sp>
        <p:nvSpPr>
          <p:cNvPr id="13" name="Text 10"/>
          <p:cNvSpPr txBox="1"/>
          <p:nvPr/>
        </p:nvSpPr>
        <p:spPr>
          <a:xfrm>
            <a:off x="786384" y="2103120"/>
            <a:ext cx="4937760" cy="1261872"/>
          </a:xfrm>
          <a:prstGeom prst="rect">
            <a:avLst/>
          </a:prstGeom>
          <a:noFill/>
          <a:ln/>
        </p:spPr>
        <p:txBody>
          <a:bodyPr wrap="square" lIns="0" tIns="0" rIns="0" bIns="0" rtlCol="0" anchor="t"/>
          <a:lstStyle/>
          <a:p>
            <a:pPr marL="0" indent="0">
              <a:lnSpc>
                <a:spcPts val="1900"/>
              </a:lnSpc>
              <a:buNone/>
            </a:pPr>
            <a:r>
              <a:rPr lang="en-US" sz="1250" dirty="0">
                <a:solidFill>
                  <a:srgbClr val="F2C879"/>
                </a:solidFill>
                <a:latin typeface="Courier New" pitchFamily="34" charset="0"/>
                <a:ea typeface="Courier New" pitchFamily="34" charset="-122"/>
                <a:cs typeface="Courier New" pitchFamily="34" charset="-120"/>
              </a:rPr>
              <a:t>print("hello, research")
</a:t>
            </a:r>
            <a:r>
              <a:rPr lang="en-US" sz="1250" dirty="0">
                <a:solidFill>
                  <a:srgbClr val="9BD2A0"/>
                </a:solidFill>
                <a:latin typeface="Courier New" pitchFamily="34" charset="0"/>
                <a:ea typeface="Courier New" pitchFamily="34" charset="-122"/>
                <a:cs typeface="Courier New" pitchFamily="34" charset="-120"/>
              </a:rPr>
              <a:t>hello, research</a:t>
            </a:r>
            <a:endParaRPr lang="en-US" sz="1250" dirty="0"/>
          </a:p>
        </p:txBody>
      </p:sp>
      <p:sp>
        <p:nvSpPr>
          <p:cNvPr id="14" name="Text 11"/>
          <p:cNvSpPr txBox="1"/>
          <p:nvPr/>
        </p:nvSpPr>
        <p:spPr>
          <a:xfrm>
            <a:off x="566928" y="3602736"/>
            <a:ext cx="5376672" cy="256032"/>
          </a:xfrm>
          <a:prstGeom prst="rect">
            <a:avLst/>
          </a:prstGeom>
          <a:noFill/>
          <a:ln/>
        </p:spPr>
        <p:txBody>
          <a:bodyPr wrap="square" lIns="0" tIns="0" rIns="0" bIns="0" rtlCol="0" anchor="ctr"/>
          <a:lstStyle/>
          <a:p>
            <a:pPr marL="0" indent="0" algn="ctr">
              <a:buNone/>
            </a:pPr>
            <a:r>
              <a:rPr lang="en-US" sz="1050" b="1" kern="0" spc="180" dirty="0">
                <a:solidFill>
                  <a:srgbClr val="8A6D3B"/>
                </a:solidFill>
                <a:latin typeface="Arial" pitchFamily="34" charset="0"/>
                <a:ea typeface="Arial" pitchFamily="34" charset="-122"/>
                <a:cs typeface="Arial" pitchFamily="34" charset="-120"/>
              </a:rPr>
              <a:t>PYTHON</a:t>
            </a:r>
            <a:endParaRPr lang="en-US" sz="1050" dirty="0"/>
          </a:p>
        </p:txBody>
      </p:sp>
      <p:sp>
        <p:nvSpPr>
          <p:cNvPr id="15" name="Shape 12"/>
          <p:cNvSpPr/>
          <p:nvPr/>
        </p:nvSpPr>
        <p:spPr>
          <a:xfrm>
            <a:off x="6227064" y="1517904"/>
            <a:ext cx="5385816" cy="2011680"/>
          </a:xfrm>
          <a:prstGeom prst="roundRect">
            <a:avLst>
              <a:gd name="adj" fmla="val 4091"/>
            </a:avLst>
          </a:prstGeom>
          <a:solidFill>
            <a:srgbClr val="2E2E2E"/>
          </a:solidFill>
          <a:ln w="12700">
            <a:solidFill>
              <a:srgbClr val="3D3D3D"/>
            </a:solidFill>
            <a:prstDash val="solid"/>
          </a:ln>
        </p:spPr>
        <p:txBody>
          <a:bodyPr/>
          <a:lstStyle/>
          <a:p>
            <a:endParaRPr lang="en-US"/>
          </a:p>
        </p:txBody>
      </p:sp>
      <p:sp>
        <p:nvSpPr>
          <p:cNvPr id="16" name="Shape 13"/>
          <p:cNvSpPr/>
          <p:nvPr/>
        </p:nvSpPr>
        <p:spPr>
          <a:xfrm>
            <a:off x="6446520" y="1705356"/>
            <a:ext cx="100584" cy="100584"/>
          </a:xfrm>
          <a:prstGeom prst="ellipse">
            <a:avLst/>
          </a:prstGeom>
          <a:solidFill>
            <a:srgbClr val="E06C60"/>
          </a:solidFill>
          <a:ln w="12700">
            <a:solidFill>
              <a:srgbClr val="E06C60"/>
            </a:solidFill>
            <a:prstDash val="solid"/>
          </a:ln>
        </p:spPr>
        <p:txBody>
          <a:bodyPr/>
          <a:lstStyle/>
          <a:p>
            <a:endParaRPr lang="en-US"/>
          </a:p>
        </p:txBody>
      </p:sp>
      <p:sp>
        <p:nvSpPr>
          <p:cNvPr id="17" name="Shape 14"/>
          <p:cNvSpPr/>
          <p:nvPr/>
        </p:nvSpPr>
        <p:spPr>
          <a:xfrm>
            <a:off x="6629400" y="1705356"/>
            <a:ext cx="100584" cy="100584"/>
          </a:xfrm>
          <a:prstGeom prst="ellipse">
            <a:avLst/>
          </a:prstGeom>
          <a:solidFill>
            <a:srgbClr val="E5B84B"/>
          </a:solidFill>
          <a:ln w="12700">
            <a:solidFill>
              <a:srgbClr val="E5B84B"/>
            </a:solidFill>
            <a:prstDash val="solid"/>
          </a:ln>
        </p:spPr>
        <p:txBody>
          <a:bodyPr/>
          <a:lstStyle/>
          <a:p>
            <a:endParaRPr lang="en-US"/>
          </a:p>
        </p:txBody>
      </p:sp>
      <p:sp>
        <p:nvSpPr>
          <p:cNvPr id="18" name="Shape 15"/>
          <p:cNvSpPr/>
          <p:nvPr/>
        </p:nvSpPr>
        <p:spPr>
          <a:xfrm>
            <a:off x="6812280" y="1705356"/>
            <a:ext cx="100584" cy="100584"/>
          </a:xfrm>
          <a:prstGeom prst="ellipse">
            <a:avLst/>
          </a:prstGeom>
          <a:solidFill>
            <a:srgbClr val="9AA0A6"/>
          </a:solidFill>
          <a:ln w="12700">
            <a:solidFill>
              <a:srgbClr val="9AA0A6"/>
            </a:solidFill>
            <a:prstDash val="solid"/>
          </a:ln>
        </p:spPr>
        <p:txBody>
          <a:bodyPr/>
          <a:lstStyle/>
          <a:p>
            <a:endParaRPr lang="en-US"/>
          </a:p>
        </p:txBody>
      </p:sp>
      <p:sp>
        <p:nvSpPr>
          <p:cNvPr id="19" name="Text 16"/>
          <p:cNvSpPr txBox="1"/>
          <p:nvPr/>
        </p:nvSpPr>
        <p:spPr>
          <a:xfrm>
            <a:off x="7004304" y="1636776"/>
            <a:ext cx="4471416" cy="237744"/>
          </a:xfrm>
          <a:prstGeom prst="rect">
            <a:avLst/>
          </a:prstGeom>
          <a:noFill/>
          <a:ln/>
        </p:spPr>
        <p:txBody>
          <a:bodyPr wrap="square" lIns="0" tIns="0" rIns="0" bIns="0" rtlCol="0" anchor="ctr"/>
          <a:lstStyle/>
          <a:p>
            <a:pPr marL="0" indent="0">
              <a:buNone/>
            </a:pPr>
            <a:r>
              <a:rPr lang="en-US" sz="1050" dirty="0">
                <a:solidFill>
                  <a:srgbClr val="A9A9A9"/>
                </a:solidFill>
                <a:latin typeface="Courier New" pitchFamily="34" charset="0"/>
                <a:ea typeface="Courier New" pitchFamily="34" charset="-122"/>
                <a:cs typeface="Courier New" pitchFamily="34" charset="-120"/>
              </a:rPr>
              <a:t>hello.R</a:t>
            </a:r>
            <a:endParaRPr lang="en-US" sz="1050" dirty="0"/>
          </a:p>
        </p:txBody>
      </p:sp>
      <p:sp>
        <p:nvSpPr>
          <p:cNvPr id="20" name="Shape 17"/>
          <p:cNvSpPr/>
          <p:nvPr/>
        </p:nvSpPr>
        <p:spPr>
          <a:xfrm>
            <a:off x="6236208" y="1993392"/>
            <a:ext cx="5367528" cy="9144"/>
          </a:xfrm>
          <a:prstGeom prst="rect">
            <a:avLst/>
          </a:prstGeom>
          <a:solidFill>
            <a:srgbClr val="3D3D3D"/>
          </a:solidFill>
          <a:ln w="12700">
            <a:solidFill>
              <a:srgbClr val="3D3D3D"/>
            </a:solidFill>
            <a:prstDash val="solid"/>
          </a:ln>
        </p:spPr>
        <p:txBody>
          <a:bodyPr/>
          <a:lstStyle/>
          <a:p>
            <a:endParaRPr lang="en-US"/>
          </a:p>
        </p:txBody>
      </p:sp>
      <p:sp>
        <p:nvSpPr>
          <p:cNvPr id="21" name="Text 18"/>
          <p:cNvSpPr txBox="1"/>
          <p:nvPr/>
        </p:nvSpPr>
        <p:spPr>
          <a:xfrm>
            <a:off x="6446520" y="2103120"/>
            <a:ext cx="4946904" cy="1261872"/>
          </a:xfrm>
          <a:prstGeom prst="rect">
            <a:avLst/>
          </a:prstGeom>
          <a:noFill/>
          <a:ln/>
        </p:spPr>
        <p:txBody>
          <a:bodyPr wrap="square" lIns="0" tIns="0" rIns="0" bIns="0" rtlCol="0" anchor="t"/>
          <a:lstStyle/>
          <a:p>
            <a:pPr marL="0" indent="0">
              <a:lnSpc>
                <a:spcPts val="1900"/>
              </a:lnSpc>
              <a:buNone/>
            </a:pPr>
            <a:r>
              <a:rPr lang="en-US" sz="1250" dirty="0">
                <a:solidFill>
                  <a:srgbClr val="F2C879"/>
                </a:solidFill>
                <a:latin typeface="Courier New" pitchFamily="34" charset="0"/>
                <a:ea typeface="Courier New" pitchFamily="34" charset="-122"/>
                <a:cs typeface="Courier New" pitchFamily="34" charset="-120"/>
              </a:rPr>
              <a:t>print("hello, research")
</a:t>
            </a:r>
            <a:r>
              <a:rPr lang="en-US" sz="1250" dirty="0">
                <a:solidFill>
                  <a:srgbClr val="9BD2A0"/>
                </a:solidFill>
                <a:latin typeface="Courier New" pitchFamily="34" charset="0"/>
                <a:ea typeface="Courier New" pitchFamily="34" charset="-122"/>
                <a:cs typeface="Courier New" pitchFamily="34" charset="-120"/>
              </a:rPr>
              <a:t>[1] hello, research</a:t>
            </a:r>
            <a:endParaRPr lang="en-US" sz="1250" dirty="0"/>
          </a:p>
        </p:txBody>
      </p:sp>
      <p:sp>
        <p:nvSpPr>
          <p:cNvPr id="22" name="Text 19"/>
          <p:cNvSpPr txBox="1"/>
          <p:nvPr/>
        </p:nvSpPr>
        <p:spPr>
          <a:xfrm>
            <a:off x="6227064" y="3602736"/>
            <a:ext cx="5385816" cy="256032"/>
          </a:xfrm>
          <a:prstGeom prst="rect">
            <a:avLst/>
          </a:prstGeom>
          <a:noFill/>
          <a:ln/>
        </p:spPr>
        <p:txBody>
          <a:bodyPr wrap="square" lIns="0" tIns="0" rIns="0" bIns="0" rtlCol="0" anchor="ctr"/>
          <a:lstStyle/>
          <a:p>
            <a:pPr marL="0" indent="0" algn="ctr">
              <a:buNone/>
            </a:pPr>
            <a:r>
              <a:rPr lang="en-US" sz="1050" b="1" kern="0" spc="180" dirty="0">
                <a:solidFill>
                  <a:srgbClr val="8A6D3B"/>
                </a:solidFill>
                <a:latin typeface="Arial" pitchFamily="34" charset="0"/>
                <a:ea typeface="Arial" pitchFamily="34" charset="-122"/>
                <a:cs typeface="Arial" pitchFamily="34" charset="-120"/>
              </a:rPr>
              <a:t>R</a:t>
            </a:r>
            <a:endParaRPr lang="en-US" sz="1050" dirty="0"/>
          </a:p>
        </p:txBody>
      </p:sp>
      <p:sp>
        <p:nvSpPr>
          <p:cNvPr id="23" name="Text 20"/>
          <p:cNvSpPr txBox="1"/>
          <p:nvPr/>
        </p:nvSpPr>
        <p:spPr>
          <a:xfrm>
            <a:off x="566928" y="4005072"/>
            <a:ext cx="11057839" cy="621792"/>
          </a:xfrm>
          <a:prstGeom prst="rect">
            <a:avLst/>
          </a:prstGeom>
          <a:noFill/>
          <a:ln/>
        </p:spPr>
        <p:txBody>
          <a:bodyPr wrap="square" lIns="0" tIns="0" rIns="0" bIns="0" rtlCol="0" anchor="ctr"/>
          <a:lstStyle/>
          <a:p>
            <a:pPr marL="0" indent="0">
              <a:lnSpc>
                <a:spcPts val="1900"/>
              </a:lnSpc>
              <a:buNone/>
            </a:pPr>
            <a:r>
              <a:rPr lang="en-US" sz="1350" b="1" dirty="0">
                <a:solidFill>
                  <a:srgbClr val="1C1C1C"/>
                </a:solidFill>
                <a:latin typeface="Calibri" pitchFamily="34" charset="0"/>
                <a:ea typeface="Calibri" pitchFamily="34" charset="-122"/>
                <a:cs typeface="Calibri" pitchFamily="34" charset="-120"/>
              </a:rPr>
              <a:t>Notice.  </a:t>
            </a:r>
            <a:r>
              <a:rPr lang="en-US" sz="1350" dirty="0">
                <a:solidFill>
                  <a:srgbClr val="3A3A3A"/>
                </a:solidFill>
                <a:latin typeface="Calibri" pitchFamily="34" charset="0"/>
                <a:ea typeface="Calibri" pitchFamily="34" charset="-122"/>
                <a:cs typeface="Calibri" pitchFamily="34" charset="-120"/>
              </a:rPr>
              <a:t>The code is identical. Both say: run the </a:t>
            </a:r>
            <a:r>
              <a:rPr lang="en-US" sz="1350" dirty="0">
                <a:solidFill>
                  <a:srgbClr val="1C1C1C"/>
                </a:solidFill>
                <a:latin typeface="Courier New" pitchFamily="34" charset="0"/>
                <a:ea typeface="Courier New" pitchFamily="34" charset="-122"/>
                <a:cs typeface="Courier New" pitchFamily="34" charset="-120"/>
              </a:rPr>
              <a:t>print</a:t>
            </a:r>
            <a:r>
              <a:rPr lang="en-US" sz="1350" dirty="0">
                <a:solidFill>
                  <a:srgbClr val="3A3A3A"/>
                </a:solidFill>
                <a:latin typeface="Calibri" pitchFamily="34" charset="0"/>
                <a:ea typeface="Calibri" pitchFamily="34" charset="-122"/>
                <a:cs typeface="Calibri" pitchFamily="34" charset="-120"/>
              </a:rPr>
              <a:t> function on the text </a:t>
            </a:r>
            <a:r>
              <a:rPr lang="en-US" sz="1350" dirty="0">
                <a:solidFill>
                  <a:srgbClr val="1C1C1C"/>
                </a:solidFill>
                <a:latin typeface="Courier New" pitchFamily="34" charset="0"/>
                <a:ea typeface="Courier New" pitchFamily="34" charset="-122"/>
                <a:cs typeface="Courier New" pitchFamily="34" charset="-120"/>
              </a:rPr>
              <a:t>hello, research</a:t>
            </a:r>
            <a:r>
              <a:rPr lang="en-US" sz="1350" dirty="0">
                <a:solidFill>
                  <a:srgbClr val="3A3A3A"/>
                </a:solidFill>
                <a:latin typeface="Calibri" pitchFamily="34" charset="0"/>
                <a:ea typeface="Calibri" pitchFamily="34" charset="-122"/>
                <a:cs typeface="Calibri" pitchFamily="34" charset="-120"/>
              </a:rPr>
              <a:t>. The differences between Python and R are mostly cosmetic — what you learn in one transfers to the other.</a:t>
            </a:r>
            <a:endParaRPr lang="en-US" sz="1350" dirty="0"/>
          </a:p>
        </p:txBody>
      </p:sp>
      <p:sp>
        <p:nvSpPr>
          <p:cNvPr id="24" name="Shape 21"/>
          <p:cNvSpPr/>
          <p:nvPr/>
        </p:nvSpPr>
        <p:spPr>
          <a:xfrm>
            <a:off x="566928" y="4828032"/>
            <a:ext cx="11057839" cy="1298448"/>
          </a:xfrm>
          <a:prstGeom prst="roundRect">
            <a:avLst>
              <a:gd name="adj" fmla="val 6338"/>
            </a:avLst>
          </a:prstGeom>
          <a:solidFill>
            <a:srgbClr val="FBF7EF"/>
          </a:solidFill>
          <a:ln w="12700">
            <a:solidFill>
              <a:srgbClr val="F2C879"/>
            </a:solidFill>
            <a:prstDash val="solid"/>
          </a:ln>
        </p:spPr>
        <p:txBody>
          <a:bodyPr/>
          <a:lstStyle/>
          <a:p>
            <a:endParaRPr lang="en-US"/>
          </a:p>
        </p:txBody>
      </p:sp>
      <p:sp>
        <p:nvSpPr>
          <p:cNvPr id="25" name="Text 22"/>
          <p:cNvSpPr txBox="1"/>
          <p:nvPr/>
        </p:nvSpPr>
        <p:spPr>
          <a:xfrm>
            <a:off x="886968" y="5010912"/>
            <a:ext cx="5486400" cy="237744"/>
          </a:xfrm>
          <a:prstGeom prst="rect">
            <a:avLst/>
          </a:prstGeom>
          <a:noFill/>
          <a:ln/>
        </p:spPr>
        <p:txBody>
          <a:bodyPr wrap="square" lIns="0" tIns="0" rIns="0" bIns="0" rtlCol="0" anchor="ctr"/>
          <a:lstStyle/>
          <a:p>
            <a:pPr marL="0" indent="0">
              <a:buNone/>
            </a:pPr>
            <a:r>
              <a:rPr lang="en-US" sz="950" b="1" kern="0" spc="160" dirty="0">
                <a:solidFill>
                  <a:srgbClr val="8A6D3B"/>
                </a:solidFill>
                <a:latin typeface="Arial" pitchFamily="34" charset="0"/>
                <a:ea typeface="Arial" pitchFamily="34" charset="-122"/>
                <a:cs typeface="Arial" pitchFamily="34" charset="-120"/>
              </a:rPr>
              <a:t>CHECKPOINT  ·  60 SECONDS</a:t>
            </a:r>
            <a:endParaRPr lang="en-US" sz="950" dirty="0"/>
          </a:p>
        </p:txBody>
      </p:sp>
      <p:sp>
        <p:nvSpPr>
          <p:cNvPr id="26" name="Text 23"/>
          <p:cNvSpPr txBox="1"/>
          <p:nvPr/>
        </p:nvSpPr>
        <p:spPr>
          <a:xfrm>
            <a:off x="886968" y="5285232"/>
            <a:ext cx="10424160" cy="731520"/>
          </a:xfrm>
          <a:prstGeom prst="rect">
            <a:avLst/>
          </a:prstGeom>
          <a:noFill/>
          <a:ln/>
        </p:spPr>
        <p:txBody>
          <a:bodyPr wrap="square" lIns="0" tIns="0" rIns="0" bIns="0" rtlCol="0" anchor="t"/>
          <a:lstStyle/>
          <a:p>
            <a:pPr marL="0" indent="0">
              <a:lnSpc>
                <a:spcPts val="2300"/>
              </a:lnSpc>
              <a:buNone/>
            </a:pPr>
            <a:r>
              <a:rPr lang="en-US" sz="1700" b="1" dirty="0">
                <a:solidFill>
                  <a:srgbClr val="1C1C1C"/>
                </a:solidFill>
                <a:latin typeface="Calibri" pitchFamily="34" charset="0"/>
                <a:ea typeface="Calibri" pitchFamily="34" charset="-122"/>
                <a:cs typeface="Calibri" pitchFamily="34" charset="-120"/>
              </a:rPr>
              <a:t>In one sentence, in your own words: what is a program?
</a:t>
            </a:r>
            <a:r>
              <a:rPr lang="en-US" sz="1350" dirty="0">
                <a:solidFill>
                  <a:srgbClr val="7A7A7A"/>
                </a:solidFill>
                <a:latin typeface="Calibri" pitchFamily="34" charset="0"/>
                <a:ea typeface="Calibri" pitchFamily="34" charset="-122"/>
                <a:cs typeface="Calibri" pitchFamily="34" charset="-120"/>
              </a:rPr>
              <a:t>Turn to the person next to you. Say it out loud before you write it down.</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vu_mark_gold.png"/>
          <p:cNvPicPr>
            <a:picLocks noChangeAspect="1"/>
          </p:cNvPicPr>
          <p:nvPr/>
        </p:nvPicPr>
        <p:blipFill>
          <a:blip r:embed="rId3"/>
          <a:stretch>
            <a:fillRect/>
          </a:stretch>
        </p:blipFill>
        <p:spPr>
          <a:xfrm>
            <a:off x="11356848" y="310896"/>
            <a:ext cx="384048" cy="274320"/>
          </a:xfrm>
          <a:prstGeom prst="rect">
            <a:avLst/>
          </a:prstGeom>
        </p:spPr>
      </p:pic>
      <p:sp>
        <p:nvSpPr>
          <p:cNvPr id="3" name="Shape 0"/>
          <p:cNvSpPr/>
          <p:nvPr/>
        </p:nvSpPr>
        <p:spPr>
          <a:xfrm>
            <a:off x="566928" y="329184"/>
            <a:ext cx="2157982" cy="310896"/>
          </a:xfrm>
          <a:prstGeom prst="roundRect">
            <a:avLst>
              <a:gd name="adj" fmla="val 50000"/>
            </a:avLst>
          </a:prstGeom>
          <a:solidFill>
            <a:srgbClr val="F2C879"/>
          </a:solidFill>
          <a:ln w="12700">
            <a:solidFill>
              <a:srgbClr val="F2C879"/>
            </a:solidFill>
            <a:prstDash val="solid"/>
          </a:ln>
        </p:spPr>
        <p:txBody>
          <a:bodyPr/>
          <a:lstStyle/>
          <a:p>
            <a:endParaRPr lang="en-US"/>
          </a:p>
        </p:txBody>
      </p:sp>
      <p:sp>
        <p:nvSpPr>
          <p:cNvPr id="4" name="Text 1"/>
          <p:cNvSpPr txBox="1"/>
          <p:nvPr/>
        </p:nvSpPr>
        <p:spPr>
          <a:xfrm>
            <a:off x="566928" y="329184"/>
            <a:ext cx="2157982" cy="310896"/>
          </a:xfrm>
          <a:prstGeom prst="rect">
            <a:avLst/>
          </a:prstGeom>
          <a:noFill/>
          <a:ln/>
        </p:spPr>
        <p:txBody>
          <a:bodyPr wrap="square" lIns="0" tIns="0" rIns="0" bIns="0" rtlCol="0" anchor="ctr"/>
          <a:lstStyle/>
          <a:p>
            <a:pPr marL="0" indent="0" algn="ctr">
              <a:buNone/>
            </a:pPr>
            <a:r>
              <a:rPr lang="en-US" sz="1050" b="1" kern="0" spc="110" dirty="0">
                <a:solidFill>
                  <a:srgbClr val="5A4415"/>
                </a:solidFill>
                <a:latin typeface="Arial" pitchFamily="34" charset="0"/>
                <a:ea typeface="Arial" pitchFamily="34" charset="-122"/>
                <a:cs typeface="Arial" pitchFamily="34" charset="-120"/>
              </a:rPr>
              <a:t>38–40 MIN  ·  TRIAGE</a:t>
            </a:r>
            <a:endParaRPr lang="en-US" sz="1050" dirty="0"/>
          </a:p>
        </p:txBody>
      </p:sp>
      <p:sp>
        <p:nvSpPr>
          <p:cNvPr id="5" name="Text 2"/>
          <p:cNvSpPr txBox="1"/>
          <p:nvPr/>
        </p:nvSpPr>
        <p:spPr>
          <a:xfrm>
            <a:off x="566928" y="749808"/>
            <a:ext cx="10692079" cy="658368"/>
          </a:xfrm>
          <a:prstGeom prst="rect">
            <a:avLst/>
          </a:prstGeom>
          <a:noFill/>
          <a:ln/>
        </p:spPr>
        <p:txBody>
          <a:bodyPr wrap="square" lIns="0" tIns="0" rIns="0" bIns="0" rtlCol="0" anchor="ctr"/>
          <a:lstStyle/>
          <a:p>
            <a:pPr marL="0" indent="0">
              <a:buNone/>
            </a:pPr>
            <a:r>
              <a:rPr lang="en-US" sz="3300" b="1" dirty="0">
                <a:solidFill>
                  <a:srgbClr val="1C1C1C"/>
                </a:solidFill>
                <a:latin typeface="Arial" pitchFamily="34" charset="0"/>
                <a:ea typeface="Arial" pitchFamily="34" charset="-122"/>
                <a:cs typeface="Arial" pitchFamily="34" charset="-120"/>
              </a:rPr>
              <a:t>Not working? Here is what happens now.</a:t>
            </a:r>
            <a:endParaRPr lang="en-US" sz="3300" dirty="0"/>
          </a:p>
        </p:txBody>
      </p:sp>
      <p:sp>
        <p:nvSpPr>
          <p:cNvPr id="6" name="Text 3"/>
          <p:cNvSpPr txBox="1"/>
          <p:nvPr/>
        </p:nvSpPr>
        <p:spPr>
          <a:xfrm>
            <a:off x="11430000" y="6419088"/>
            <a:ext cx="320040" cy="228600"/>
          </a:xfrm>
          <a:prstGeom prst="rect">
            <a:avLst/>
          </a:prstGeom>
          <a:noFill/>
          <a:ln/>
        </p:spPr>
        <p:txBody>
          <a:bodyPr wrap="square" lIns="0" tIns="0" rIns="0" bIns="0" rtlCol="0" anchor="ctr"/>
          <a:lstStyle/>
          <a:p>
            <a:pPr marL="0" indent="0" algn="r">
              <a:buNone/>
            </a:pPr>
            <a:r>
              <a:rPr lang="en-US" sz="1000" dirty="0">
                <a:solidFill>
                  <a:srgbClr val="B5B5B5"/>
                </a:solidFill>
                <a:latin typeface="Calibri" pitchFamily="34" charset="0"/>
                <a:ea typeface="Calibri" pitchFamily="34" charset="-122"/>
                <a:cs typeface="Calibri" pitchFamily="34" charset="-120"/>
              </a:rPr>
              <a:t>14</a:t>
            </a:r>
            <a:endParaRPr lang="en-US" sz="1000" dirty="0"/>
          </a:p>
        </p:txBody>
      </p:sp>
      <p:sp>
        <p:nvSpPr>
          <p:cNvPr id="7" name="Shape 4"/>
          <p:cNvSpPr/>
          <p:nvPr/>
        </p:nvSpPr>
        <p:spPr>
          <a:xfrm>
            <a:off x="566928" y="1572768"/>
            <a:ext cx="5532120" cy="2834640"/>
          </a:xfrm>
          <a:prstGeom prst="roundRect">
            <a:avLst>
              <a:gd name="adj" fmla="val 2903"/>
            </a:avLst>
          </a:prstGeom>
          <a:solidFill>
            <a:srgbClr val="FBF7EF"/>
          </a:solidFill>
          <a:ln w="12700">
            <a:solidFill>
              <a:srgbClr val="E6E6E6"/>
            </a:solidFill>
            <a:prstDash val="solid"/>
          </a:ln>
        </p:spPr>
        <p:txBody>
          <a:bodyPr/>
          <a:lstStyle/>
          <a:p>
            <a:endParaRPr lang="en-US"/>
          </a:p>
        </p:txBody>
      </p:sp>
      <p:sp>
        <p:nvSpPr>
          <p:cNvPr id="8" name="Text 5"/>
          <p:cNvSpPr txBox="1"/>
          <p:nvPr/>
        </p:nvSpPr>
        <p:spPr>
          <a:xfrm>
            <a:off x="822960" y="1773936"/>
            <a:ext cx="4937760" cy="237744"/>
          </a:xfrm>
          <a:prstGeom prst="rect">
            <a:avLst/>
          </a:prstGeom>
          <a:noFill/>
          <a:ln/>
        </p:spPr>
        <p:txBody>
          <a:bodyPr wrap="square" lIns="0" tIns="0" rIns="0" bIns="0" rtlCol="0" anchor="ctr"/>
          <a:lstStyle/>
          <a:p>
            <a:pPr marL="0" indent="0">
              <a:buNone/>
            </a:pPr>
            <a:r>
              <a:rPr lang="en-US" sz="1000" b="1" kern="0" spc="150" dirty="0">
                <a:solidFill>
                  <a:srgbClr val="8A6D3B"/>
                </a:solidFill>
                <a:latin typeface="Arial" pitchFamily="34" charset="0"/>
                <a:ea typeface="Arial" pitchFamily="34" charset="-122"/>
                <a:cs typeface="Arial" pitchFamily="34" charset="-120"/>
              </a:rPr>
              <a:t>IF YOU ARE STUCK</a:t>
            </a:r>
            <a:endParaRPr lang="en-US" sz="1000" dirty="0"/>
          </a:p>
        </p:txBody>
      </p:sp>
      <p:sp>
        <p:nvSpPr>
          <p:cNvPr id="9" name="Text 6"/>
          <p:cNvSpPr txBox="1"/>
          <p:nvPr/>
        </p:nvSpPr>
        <p:spPr>
          <a:xfrm>
            <a:off x="841248" y="2103120"/>
            <a:ext cx="5029200" cy="2377440"/>
          </a:xfrm>
          <a:prstGeom prst="rect">
            <a:avLst/>
          </a:prstGeom>
          <a:noFill/>
          <a:ln/>
        </p:spPr>
        <p:txBody>
          <a:bodyPr wrap="square" lIns="0" tIns="0" rIns="0" bIns="0" rtlCol="0" anchor="t"/>
          <a:lstStyle/>
          <a:p>
            <a:pPr marL="203200" indent="-203200">
              <a:lnSpc>
                <a:spcPts val="1800"/>
              </a:lnSpc>
              <a:spcAft>
                <a:spcPts val="1300"/>
              </a:spcAft>
              <a:buSzPct val="100000"/>
              <a:buChar char="•"/>
            </a:pPr>
            <a:r>
              <a:rPr lang="en-US" sz="1400" dirty="0">
                <a:solidFill>
                  <a:srgbClr val="3A3A3A"/>
                </a:solidFill>
                <a:latin typeface="Calibri" pitchFamily="34" charset="0"/>
                <a:ea typeface="Calibri" pitchFamily="34" charset="-122"/>
                <a:cs typeface="Calibri" pitchFamily="34" charset="-120"/>
              </a:rPr>
              <a:t>Raise your hand. The TA is here for exactly this.</a:t>
            </a:r>
            <a:endParaRPr lang="en-US" sz="1400" dirty="0"/>
          </a:p>
          <a:p>
            <a:pPr marL="203200" indent="-203200">
              <a:lnSpc>
                <a:spcPts val="1800"/>
              </a:lnSpc>
              <a:spcAft>
                <a:spcPts val="1300"/>
              </a:spcAft>
              <a:buSzPct val="100000"/>
              <a:buChar char="•"/>
            </a:pPr>
            <a:r>
              <a:rPr lang="en-US" sz="1400" dirty="0">
                <a:solidFill>
                  <a:srgbClr val="3A3A3A"/>
                </a:solidFill>
                <a:latin typeface="Calibri" pitchFamily="34" charset="0"/>
                <a:ea typeface="Calibri" pitchFamily="34" charset="-122"/>
                <a:cs typeface="Calibri" pitchFamily="34" charset="-120"/>
              </a:rPr>
              <a:t>We will not debug installs from the front of the room — it costs everyone else the hour.</a:t>
            </a:r>
            <a:endParaRPr lang="en-US" sz="1400" dirty="0"/>
          </a:p>
          <a:p>
            <a:pPr marL="203200" indent="-203200">
              <a:lnSpc>
                <a:spcPts val="1800"/>
              </a:lnSpc>
              <a:spcAft>
                <a:spcPts val="1300"/>
              </a:spcAft>
              <a:buSzPct val="100000"/>
              <a:buChar char="•"/>
            </a:pPr>
            <a:r>
              <a:rPr lang="en-US" sz="1400" dirty="0">
                <a:solidFill>
                  <a:srgbClr val="3A3A3A"/>
                </a:solidFill>
                <a:latin typeface="Calibri" pitchFamily="34" charset="0"/>
                <a:ea typeface="Calibri" pitchFamily="34" charset="-122"/>
                <a:cs typeface="Calibri" pitchFamily="34" charset="-120"/>
              </a:rPr>
              <a:t>Write down where you got to, so you can pick it up tonight.</a:t>
            </a:r>
            <a:endParaRPr lang="en-US" sz="1400" dirty="0"/>
          </a:p>
          <a:p>
            <a:pPr marL="203200" indent="-203200">
              <a:lnSpc>
                <a:spcPts val="1800"/>
              </a:lnSpc>
              <a:spcAft>
                <a:spcPts val="1300"/>
              </a:spcAft>
              <a:buSzPct val="100000"/>
              <a:buChar char="•"/>
            </a:pPr>
            <a:r>
              <a:rPr lang="en-US" sz="1400" dirty="0">
                <a:solidFill>
                  <a:srgbClr val="3A3A3A"/>
                </a:solidFill>
                <a:latin typeface="Calibri" pitchFamily="34" charset="0"/>
                <a:ea typeface="Calibri" pitchFamily="34" charset="-122"/>
                <a:cs typeface="Calibri" pitchFamily="34" charset="-120"/>
              </a:rPr>
              <a:t>The written install guide on Brightspace has every step you just saw.</a:t>
            </a:r>
            <a:endParaRPr lang="en-US" sz="1400" dirty="0"/>
          </a:p>
        </p:txBody>
      </p:sp>
      <p:sp>
        <p:nvSpPr>
          <p:cNvPr id="10" name="Shape 7"/>
          <p:cNvSpPr/>
          <p:nvPr/>
        </p:nvSpPr>
        <p:spPr>
          <a:xfrm>
            <a:off x="6382512" y="1572768"/>
            <a:ext cx="5230368" cy="2834640"/>
          </a:xfrm>
          <a:prstGeom prst="roundRect">
            <a:avLst>
              <a:gd name="adj" fmla="val 2903"/>
            </a:avLst>
          </a:prstGeom>
          <a:solidFill>
            <a:srgbClr val="FFFFFF"/>
          </a:solidFill>
          <a:ln w="12700">
            <a:solidFill>
              <a:srgbClr val="E6E6E6"/>
            </a:solidFill>
            <a:prstDash val="solid"/>
          </a:ln>
        </p:spPr>
        <p:txBody>
          <a:bodyPr/>
          <a:lstStyle/>
          <a:p>
            <a:endParaRPr lang="en-US"/>
          </a:p>
        </p:txBody>
      </p:sp>
      <p:sp>
        <p:nvSpPr>
          <p:cNvPr id="11" name="Text 8"/>
          <p:cNvSpPr txBox="1"/>
          <p:nvPr/>
        </p:nvSpPr>
        <p:spPr>
          <a:xfrm>
            <a:off x="6638544" y="1773936"/>
            <a:ext cx="4754880" cy="237744"/>
          </a:xfrm>
          <a:prstGeom prst="rect">
            <a:avLst/>
          </a:prstGeom>
          <a:noFill/>
          <a:ln/>
        </p:spPr>
        <p:txBody>
          <a:bodyPr wrap="square" lIns="0" tIns="0" rIns="0" bIns="0" rtlCol="0" anchor="ctr"/>
          <a:lstStyle/>
          <a:p>
            <a:pPr marL="0" indent="0">
              <a:buNone/>
            </a:pPr>
            <a:r>
              <a:rPr lang="en-US" sz="1000" b="1" kern="0" spc="150" dirty="0">
                <a:solidFill>
                  <a:srgbClr val="6B7A88"/>
                </a:solidFill>
                <a:latin typeface="Arial" pitchFamily="34" charset="0"/>
                <a:ea typeface="Arial" pitchFamily="34" charset="-122"/>
                <a:cs typeface="Arial" pitchFamily="34" charset="-120"/>
              </a:rPr>
              <a:t>NOTHING ELSE TODAY NEEDS A LAPTOP</a:t>
            </a:r>
            <a:endParaRPr lang="en-US" sz="1000" dirty="0"/>
          </a:p>
        </p:txBody>
      </p:sp>
      <p:sp>
        <p:nvSpPr>
          <p:cNvPr id="12" name="Text 9"/>
          <p:cNvSpPr txBox="1"/>
          <p:nvPr/>
        </p:nvSpPr>
        <p:spPr>
          <a:xfrm>
            <a:off x="6656832" y="2103120"/>
            <a:ext cx="4754880" cy="2377440"/>
          </a:xfrm>
          <a:prstGeom prst="rect">
            <a:avLst/>
          </a:prstGeom>
          <a:noFill/>
          <a:ln/>
        </p:spPr>
        <p:txBody>
          <a:bodyPr wrap="square" lIns="0" tIns="0" rIns="0" bIns="0" rtlCol="0" anchor="t"/>
          <a:lstStyle/>
          <a:p>
            <a:pPr marL="203200" indent="-203200">
              <a:lnSpc>
                <a:spcPts val="1800"/>
              </a:lnSpc>
              <a:spcAft>
                <a:spcPts val="1300"/>
              </a:spcAft>
              <a:buSzPct val="100000"/>
              <a:buChar char="•"/>
            </a:pPr>
            <a:r>
              <a:rPr lang="en-US" sz="1400" dirty="0">
                <a:solidFill>
                  <a:srgbClr val="3A3A3A"/>
                </a:solidFill>
                <a:latin typeface="Calibri" pitchFamily="34" charset="0"/>
                <a:ea typeface="Calibri" pitchFamily="34" charset="-122"/>
                <a:cs typeface="Calibri" pitchFamily="34" charset="-120"/>
              </a:rPr>
              <a:t>The rest of this session is a whiteboard and a conversation.</a:t>
            </a:r>
            <a:endParaRPr lang="en-US" sz="1400" dirty="0"/>
          </a:p>
          <a:p>
            <a:pPr marL="203200" indent="-203200">
              <a:lnSpc>
                <a:spcPts val="1800"/>
              </a:lnSpc>
              <a:spcAft>
                <a:spcPts val="1300"/>
              </a:spcAft>
              <a:buSzPct val="100000"/>
              <a:buChar char="•"/>
            </a:pPr>
            <a:r>
              <a:rPr lang="en-US" sz="1400" dirty="0">
                <a:solidFill>
                  <a:srgbClr val="3A3A3A"/>
                </a:solidFill>
                <a:latin typeface="Calibri" pitchFamily="34" charset="0"/>
                <a:ea typeface="Calibri" pitchFamily="34" charset="-122"/>
                <a:cs typeface="Calibri" pitchFamily="34" charset="-120"/>
              </a:rPr>
              <a:t>You are not behind. Close the laptop and join in.</a:t>
            </a:r>
            <a:endParaRPr lang="en-US" sz="1400" dirty="0"/>
          </a:p>
          <a:p>
            <a:pPr marL="203200" indent="-203200">
              <a:lnSpc>
                <a:spcPts val="1800"/>
              </a:lnSpc>
              <a:spcAft>
                <a:spcPts val="1300"/>
              </a:spcAft>
              <a:buSzPct val="100000"/>
              <a:buChar char="•"/>
            </a:pPr>
            <a:r>
              <a:rPr lang="en-US" sz="1400" dirty="0">
                <a:solidFill>
                  <a:srgbClr val="3A3A3A"/>
                </a:solidFill>
                <a:latin typeface="Calibri" pitchFamily="34" charset="0"/>
                <a:ea typeface="Calibri" pitchFamily="34" charset="-122"/>
                <a:cs typeface="Calibri" pitchFamily="34" charset="-120"/>
              </a:rPr>
              <a:t>Study hall is Monday 10:00–11:00, Light Hall 439 — bring the broken laptop.</a:t>
            </a:r>
            <a:endParaRPr lang="en-US" sz="1400" dirty="0"/>
          </a:p>
        </p:txBody>
      </p:sp>
      <p:sp>
        <p:nvSpPr>
          <p:cNvPr id="13" name="Shape 10"/>
          <p:cNvSpPr/>
          <p:nvPr/>
        </p:nvSpPr>
        <p:spPr>
          <a:xfrm>
            <a:off x="566928" y="4754880"/>
            <a:ext cx="11057839" cy="1207008"/>
          </a:xfrm>
          <a:prstGeom prst="roundRect">
            <a:avLst>
              <a:gd name="adj" fmla="val 6818"/>
            </a:avLst>
          </a:prstGeom>
          <a:solidFill>
            <a:srgbClr val="1C1C1C"/>
          </a:solidFill>
          <a:ln w="12700">
            <a:solidFill>
              <a:srgbClr val="1C1C1C"/>
            </a:solidFill>
            <a:prstDash val="solid"/>
          </a:ln>
        </p:spPr>
        <p:txBody>
          <a:bodyPr/>
          <a:lstStyle/>
          <a:p>
            <a:endParaRPr lang="en-US"/>
          </a:p>
        </p:txBody>
      </p:sp>
      <p:sp>
        <p:nvSpPr>
          <p:cNvPr id="14" name="Text 11"/>
          <p:cNvSpPr txBox="1"/>
          <p:nvPr/>
        </p:nvSpPr>
        <p:spPr>
          <a:xfrm>
            <a:off x="886968" y="4956048"/>
            <a:ext cx="5486400" cy="237744"/>
          </a:xfrm>
          <a:prstGeom prst="rect">
            <a:avLst/>
          </a:prstGeom>
          <a:noFill/>
          <a:ln/>
        </p:spPr>
        <p:txBody>
          <a:bodyPr wrap="square" lIns="0" tIns="0" rIns="0" bIns="0" rtlCol="0" anchor="ctr"/>
          <a:lstStyle/>
          <a:p>
            <a:pPr marL="0" indent="0">
              <a:buNone/>
            </a:pPr>
            <a:r>
              <a:rPr lang="en-US" sz="950" b="1" kern="0" spc="160" dirty="0">
                <a:solidFill>
                  <a:srgbClr val="D9A441"/>
                </a:solidFill>
                <a:latin typeface="Arial" pitchFamily="34" charset="0"/>
                <a:ea typeface="Arial" pitchFamily="34" charset="-122"/>
                <a:cs typeface="Arial" pitchFamily="34" charset="-120"/>
              </a:rPr>
              <a:t>IF YOU FIX ONLY ONE THING TONIGHT</a:t>
            </a:r>
            <a:endParaRPr lang="en-US" sz="950" dirty="0"/>
          </a:p>
        </p:txBody>
      </p:sp>
      <p:sp>
        <p:nvSpPr>
          <p:cNvPr id="15" name="Text 12"/>
          <p:cNvSpPr txBox="1"/>
          <p:nvPr/>
        </p:nvSpPr>
        <p:spPr>
          <a:xfrm>
            <a:off x="886968" y="5230368"/>
            <a:ext cx="10424160" cy="713232"/>
          </a:xfrm>
          <a:prstGeom prst="rect">
            <a:avLst/>
          </a:prstGeom>
          <a:noFill/>
          <a:ln/>
        </p:spPr>
        <p:txBody>
          <a:bodyPr wrap="square" lIns="0" tIns="0" rIns="0" bIns="0" rtlCol="0" anchor="t"/>
          <a:lstStyle/>
          <a:p>
            <a:pPr marL="0" indent="0">
              <a:lnSpc>
                <a:spcPts val="2400"/>
              </a:lnSpc>
              <a:buNone/>
            </a:pPr>
            <a:r>
              <a:rPr lang="en-US" sz="1800" b="1" dirty="0">
                <a:solidFill>
                  <a:srgbClr val="FFFFFF"/>
                </a:solidFill>
                <a:latin typeface="Arial" pitchFamily="34" charset="0"/>
                <a:ea typeface="Arial" pitchFamily="34" charset="-122"/>
                <a:cs typeface="Arial" pitchFamily="34" charset="-120"/>
              </a:rPr>
              <a:t>Make Python run. Session 2 is Python — R can wait a week if it has to.</a:t>
            </a:r>
            <a:endParaRPr lang="en-US" sz="1800" dirty="0"/>
          </a:p>
          <a:p>
            <a:pPr marL="0" indent="0">
              <a:lnSpc>
                <a:spcPts val="2400"/>
              </a:lnSpc>
              <a:buNone/>
            </a:pPr>
            <a:r>
              <a:rPr lang="en-US" sz="1800" b="1" dirty="0">
                <a:solidFill>
                  <a:srgbClr val="FFFFFF"/>
                </a:solidFill>
                <a:latin typeface="Arial" pitchFamily="34" charset="0"/>
                <a:ea typeface="Arial" pitchFamily="34" charset="-122"/>
                <a:cs typeface="Arial" pitchFamily="34" charset="-120"/>
              </a:rPr>
              <a:t>Then run the setup check script from Brightspace. It names exactly what is still missing.</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bg>
      <p:bgPr>
        <a:solidFill>
          <a:srgbClr val="1C1C1C"/>
        </a:solidFill>
        <a:effectLst/>
      </p:bgPr>
    </p:bg>
    <p:spTree>
      <p:nvGrpSpPr>
        <p:cNvPr id="1" name=""/>
        <p:cNvGrpSpPr/>
        <p:nvPr/>
      </p:nvGrpSpPr>
      <p:grpSpPr>
        <a:xfrm>
          <a:off x="0" y="0"/>
          <a:ext cx="0" cy="0"/>
          <a:chOff x="0" y="0"/>
          <a:chExt cx="0" cy="0"/>
        </a:xfrm>
      </p:grpSpPr>
      <p:pic>
        <p:nvPicPr>
          <p:cNvPr id="2" name="Image 0" descr="vu_mark_gold.png"/>
          <p:cNvPicPr>
            <a:picLocks noChangeAspect="1"/>
          </p:cNvPicPr>
          <p:nvPr/>
        </p:nvPicPr>
        <p:blipFill>
          <a:blip r:embed="rId3"/>
          <a:stretch>
            <a:fillRect/>
          </a:stretch>
        </p:blipFill>
        <p:spPr>
          <a:xfrm>
            <a:off x="10927080" y="658368"/>
            <a:ext cx="502920" cy="365760"/>
          </a:xfrm>
          <a:prstGeom prst="rect">
            <a:avLst/>
          </a:prstGeom>
        </p:spPr>
      </p:pic>
      <p:sp>
        <p:nvSpPr>
          <p:cNvPr id="3" name="Text 0"/>
          <p:cNvSpPr txBox="1"/>
          <p:nvPr/>
        </p:nvSpPr>
        <p:spPr>
          <a:xfrm>
            <a:off x="566928" y="777240"/>
            <a:ext cx="9144000" cy="292608"/>
          </a:xfrm>
          <a:prstGeom prst="rect">
            <a:avLst/>
          </a:prstGeom>
          <a:noFill/>
          <a:ln/>
        </p:spPr>
        <p:txBody>
          <a:bodyPr wrap="square" lIns="0" tIns="0" rIns="0" bIns="0" rtlCol="0" anchor="ctr"/>
          <a:lstStyle/>
          <a:p>
            <a:pPr marL="0" indent="0">
              <a:buNone/>
            </a:pPr>
            <a:r>
              <a:rPr lang="en-US" sz="1200" b="1" kern="0" spc="200" dirty="0">
                <a:solidFill>
                  <a:srgbClr val="D9A441"/>
                </a:solidFill>
                <a:latin typeface="Arial" pitchFamily="34" charset="0"/>
                <a:ea typeface="Arial" pitchFamily="34" charset="-122"/>
                <a:cs typeface="Arial" pitchFamily="34" charset="-120"/>
              </a:rPr>
              <a:t>40–48 MIN  ·  SEGMENT 3 — THE LOAD-BEARING EIGHT MINUTES</a:t>
            </a:r>
            <a:endParaRPr lang="en-US" sz="1200" dirty="0"/>
          </a:p>
        </p:txBody>
      </p:sp>
      <p:sp>
        <p:nvSpPr>
          <p:cNvPr id="4" name="Text 1"/>
          <p:cNvSpPr txBox="1"/>
          <p:nvPr/>
        </p:nvSpPr>
        <p:spPr>
          <a:xfrm>
            <a:off x="566928" y="1417320"/>
            <a:ext cx="10607040" cy="1737360"/>
          </a:xfrm>
          <a:prstGeom prst="rect">
            <a:avLst/>
          </a:prstGeom>
          <a:noFill/>
          <a:ln/>
        </p:spPr>
        <p:txBody>
          <a:bodyPr wrap="square" lIns="0" tIns="0" rIns="0" bIns="0" rtlCol="0" anchor="ctr"/>
          <a:lstStyle/>
          <a:p>
            <a:pPr marL="0" indent="0">
              <a:lnSpc>
                <a:spcPts val="4400"/>
              </a:lnSpc>
              <a:buNone/>
            </a:pPr>
            <a:r>
              <a:rPr lang="en-US" sz="3100" b="1" dirty="0">
                <a:solidFill>
                  <a:srgbClr val="9A9A9A"/>
                </a:solidFill>
                <a:latin typeface="Arial" pitchFamily="34" charset="0"/>
                <a:ea typeface="Arial" pitchFamily="34" charset="-122"/>
                <a:cs typeface="Arial" pitchFamily="34" charset="-120"/>
              </a:rPr>
              <a:t>The hard part of programming is not the code.
</a:t>
            </a:r>
            <a:r>
              <a:rPr lang="en-US" sz="3100" b="1" dirty="0">
                <a:solidFill>
                  <a:srgbClr val="FFFFFF"/>
                </a:solidFill>
                <a:latin typeface="Arial" pitchFamily="34" charset="0"/>
                <a:ea typeface="Arial" pitchFamily="34" charset="-122"/>
                <a:cs typeface="Arial" pitchFamily="34" charset="-120"/>
              </a:rPr>
              <a:t>The hard part is turning a research question into a sequence of unambiguous steps.</a:t>
            </a:r>
            <a:endParaRPr lang="en-US" sz="3100" dirty="0"/>
          </a:p>
        </p:txBody>
      </p:sp>
      <p:sp>
        <p:nvSpPr>
          <p:cNvPr id="5" name="Shape 2"/>
          <p:cNvSpPr/>
          <p:nvPr/>
        </p:nvSpPr>
        <p:spPr>
          <a:xfrm>
            <a:off x="566928" y="3520440"/>
            <a:ext cx="11057839" cy="1207008"/>
          </a:xfrm>
          <a:prstGeom prst="roundRect">
            <a:avLst>
              <a:gd name="adj" fmla="val 6818"/>
            </a:avLst>
          </a:prstGeom>
          <a:solidFill>
            <a:srgbClr val="262626"/>
          </a:solidFill>
          <a:ln w="12700">
            <a:solidFill>
              <a:srgbClr val="8A6D3B"/>
            </a:solidFill>
            <a:prstDash val="solid"/>
          </a:ln>
        </p:spPr>
        <p:txBody>
          <a:bodyPr/>
          <a:lstStyle/>
          <a:p>
            <a:endParaRPr lang="en-US"/>
          </a:p>
        </p:txBody>
      </p:sp>
      <p:sp>
        <p:nvSpPr>
          <p:cNvPr id="6" name="Text 3"/>
          <p:cNvSpPr txBox="1"/>
          <p:nvPr/>
        </p:nvSpPr>
        <p:spPr>
          <a:xfrm>
            <a:off x="886968" y="3694176"/>
            <a:ext cx="5486400" cy="237744"/>
          </a:xfrm>
          <a:prstGeom prst="rect">
            <a:avLst/>
          </a:prstGeom>
          <a:noFill/>
          <a:ln/>
        </p:spPr>
        <p:txBody>
          <a:bodyPr wrap="square" lIns="0" tIns="0" rIns="0" bIns="0" rtlCol="0" anchor="ctr"/>
          <a:lstStyle/>
          <a:p>
            <a:pPr marL="0" indent="0">
              <a:buNone/>
            </a:pPr>
            <a:r>
              <a:rPr lang="en-US" sz="950" b="1" kern="0" spc="160" dirty="0">
                <a:solidFill>
                  <a:srgbClr val="D9A441"/>
                </a:solidFill>
                <a:latin typeface="Arial" pitchFamily="34" charset="0"/>
                <a:ea typeface="Arial" pitchFamily="34" charset="-122"/>
                <a:cs typeface="Arial" pitchFamily="34" charset="-120"/>
              </a:rPr>
              <a:t>RESEARCH QUESTION</a:t>
            </a:r>
            <a:endParaRPr lang="en-US" sz="950" dirty="0"/>
          </a:p>
        </p:txBody>
      </p:sp>
      <p:sp>
        <p:nvSpPr>
          <p:cNvPr id="7" name="Text 4"/>
          <p:cNvSpPr txBox="1"/>
          <p:nvPr/>
        </p:nvSpPr>
        <p:spPr>
          <a:xfrm>
            <a:off x="886968" y="3968496"/>
            <a:ext cx="10332720" cy="548640"/>
          </a:xfrm>
          <a:prstGeom prst="rect">
            <a:avLst/>
          </a:prstGeom>
          <a:noFill/>
          <a:ln/>
        </p:spPr>
        <p:txBody>
          <a:bodyPr wrap="square" lIns="0" tIns="0" rIns="0" bIns="0" rtlCol="0" anchor="ctr"/>
          <a:lstStyle/>
          <a:p>
            <a:pPr marL="0" indent="0">
              <a:buNone/>
            </a:pPr>
            <a:r>
              <a:rPr lang="en-US" sz="2000" i="1" dirty="0">
                <a:solidFill>
                  <a:srgbClr val="FFFFFF"/>
                </a:solidFill>
                <a:latin typeface="Calibri" pitchFamily="34" charset="0"/>
                <a:ea typeface="Calibri" pitchFamily="34" charset="-122"/>
                <a:cs typeface="Calibri" pitchFamily="34" charset="-120"/>
              </a:rPr>
              <a:t>“Is average blood pressure different between patients on drug A versus drug B?”</a:t>
            </a:r>
            <a:endParaRPr lang="en-US" sz="2000" dirty="0"/>
          </a:p>
        </p:txBody>
      </p:sp>
      <p:sp>
        <p:nvSpPr>
          <p:cNvPr id="8" name="Text 5"/>
          <p:cNvSpPr txBox="1"/>
          <p:nvPr/>
        </p:nvSpPr>
        <p:spPr>
          <a:xfrm>
            <a:off x="566928" y="5010912"/>
            <a:ext cx="10424160" cy="457200"/>
          </a:xfrm>
          <a:prstGeom prst="rect">
            <a:avLst/>
          </a:prstGeom>
          <a:noFill/>
          <a:ln/>
        </p:spPr>
        <p:txBody>
          <a:bodyPr wrap="square" lIns="0" tIns="0" rIns="0" bIns="0" rtlCol="0" anchor="ctr"/>
          <a:lstStyle/>
          <a:p>
            <a:pPr marL="0" indent="0">
              <a:buNone/>
            </a:pPr>
            <a:r>
              <a:rPr lang="en-US" sz="2000" b="1" dirty="0">
                <a:solidFill>
                  <a:srgbClr val="F2C879"/>
                </a:solidFill>
                <a:latin typeface="Arial" pitchFamily="34" charset="0"/>
                <a:ea typeface="Arial" pitchFamily="34" charset="-122"/>
                <a:cs typeface="Arial" pitchFamily="34" charset="-120"/>
              </a:rPr>
              <a:t>What would a computer have to do — in order?</a:t>
            </a:r>
            <a:endParaRPr lang="en-US" sz="2000" dirty="0"/>
          </a:p>
        </p:txBody>
      </p:sp>
      <p:sp>
        <p:nvSpPr>
          <p:cNvPr id="9" name="Text 6"/>
          <p:cNvSpPr txBox="1"/>
          <p:nvPr/>
        </p:nvSpPr>
        <p:spPr>
          <a:xfrm>
            <a:off x="566928" y="5468112"/>
            <a:ext cx="10424160" cy="365760"/>
          </a:xfrm>
          <a:prstGeom prst="rect">
            <a:avLst/>
          </a:prstGeom>
          <a:noFill/>
          <a:ln/>
        </p:spPr>
        <p:txBody>
          <a:bodyPr wrap="square" lIns="0" tIns="0" rIns="0" bIns="0" rtlCol="0" anchor="ctr"/>
          <a:lstStyle/>
          <a:p>
            <a:pPr marL="0" indent="0">
              <a:buNone/>
            </a:pPr>
            <a:r>
              <a:rPr lang="en-US" sz="1400" dirty="0">
                <a:solidFill>
                  <a:srgbClr val="9A9A9A"/>
                </a:solidFill>
                <a:latin typeface="Calibri" pitchFamily="34" charset="0"/>
                <a:ea typeface="Calibri" pitchFamily="34" charset="-122"/>
                <a:cs typeface="Calibri" pitchFamily="34" charset="-120"/>
              </a:rPr>
              <a:t>Whiteboard. You call them out; I write them down.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vu_mark_gold.png"/>
          <p:cNvPicPr>
            <a:picLocks noChangeAspect="1"/>
          </p:cNvPicPr>
          <p:nvPr/>
        </p:nvPicPr>
        <p:blipFill>
          <a:blip r:embed="rId3"/>
          <a:stretch>
            <a:fillRect/>
          </a:stretch>
        </p:blipFill>
        <p:spPr>
          <a:xfrm>
            <a:off x="11356848" y="310896"/>
            <a:ext cx="384048" cy="274320"/>
          </a:xfrm>
          <a:prstGeom prst="rect">
            <a:avLst/>
          </a:prstGeom>
        </p:spPr>
      </p:pic>
      <p:sp>
        <p:nvSpPr>
          <p:cNvPr id="3" name="Shape 0"/>
          <p:cNvSpPr/>
          <p:nvPr/>
        </p:nvSpPr>
        <p:spPr>
          <a:xfrm>
            <a:off x="566928" y="329184"/>
            <a:ext cx="1902866" cy="310896"/>
          </a:xfrm>
          <a:prstGeom prst="roundRect">
            <a:avLst>
              <a:gd name="adj" fmla="val 50000"/>
            </a:avLst>
          </a:prstGeom>
          <a:solidFill>
            <a:srgbClr val="F2C879"/>
          </a:solidFill>
          <a:ln w="12700">
            <a:solidFill>
              <a:srgbClr val="F2C879"/>
            </a:solidFill>
            <a:prstDash val="solid"/>
          </a:ln>
        </p:spPr>
        <p:txBody>
          <a:bodyPr/>
          <a:lstStyle/>
          <a:p>
            <a:endParaRPr lang="en-US"/>
          </a:p>
        </p:txBody>
      </p:sp>
      <p:sp>
        <p:nvSpPr>
          <p:cNvPr id="4" name="Text 1"/>
          <p:cNvSpPr txBox="1"/>
          <p:nvPr/>
        </p:nvSpPr>
        <p:spPr>
          <a:xfrm>
            <a:off x="566928" y="329184"/>
            <a:ext cx="1902866" cy="310896"/>
          </a:xfrm>
          <a:prstGeom prst="rect">
            <a:avLst/>
          </a:prstGeom>
          <a:noFill/>
          <a:ln/>
        </p:spPr>
        <p:txBody>
          <a:bodyPr wrap="square" lIns="0" tIns="0" rIns="0" bIns="0" rtlCol="0" anchor="ctr"/>
          <a:lstStyle/>
          <a:p>
            <a:pPr marL="0" indent="0" algn="ctr">
              <a:buNone/>
            </a:pPr>
            <a:r>
              <a:rPr lang="en-US" sz="1050" b="1" kern="0" spc="110" dirty="0">
                <a:solidFill>
                  <a:srgbClr val="5A4415"/>
                </a:solidFill>
                <a:latin typeface="Arial" pitchFamily="34" charset="0"/>
                <a:ea typeface="Arial" pitchFamily="34" charset="-122"/>
                <a:cs typeface="Arial" pitchFamily="34" charset="-120"/>
              </a:rPr>
              <a:t>THE DECOMPOSITION</a:t>
            </a:r>
            <a:endParaRPr lang="en-US" sz="1050" dirty="0"/>
          </a:p>
        </p:txBody>
      </p:sp>
      <p:sp>
        <p:nvSpPr>
          <p:cNvPr id="5" name="Text 2"/>
          <p:cNvSpPr txBox="1"/>
          <p:nvPr/>
        </p:nvSpPr>
        <p:spPr>
          <a:xfrm>
            <a:off x="566928" y="749808"/>
            <a:ext cx="10692079" cy="658368"/>
          </a:xfrm>
          <a:prstGeom prst="rect">
            <a:avLst/>
          </a:prstGeom>
          <a:noFill/>
          <a:ln/>
        </p:spPr>
        <p:txBody>
          <a:bodyPr wrap="square" lIns="0" tIns="0" rIns="0" bIns="0" rtlCol="0" anchor="ctr"/>
          <a:lstStyle/>
          <a:p>
            <a:pPr marL="0" indent="0">
              <a:buNone/>
            </a:pPr>
            <a:r>
              <a:rPr lang="en-US" sz="3300" b="1" dirty="0">
                <a:solidFill>
                  <a:srgbClr val="1C1C1C"/>
                </a:solidFill>
                <a:latin typeface="Arial" pitchFamily="34" charset="0"/>
                <a:ea typeface="Arial" pitchFamily="34" charset="-122"/>
                <a:cs typeface="Arial" pitchFamily="34" charset="-120"/>
              </a:rPr>
              <a:t>Six steps — six weeks of this course</a:t>
            </a:r>
            <a:endParaRPr lang="en-US" sz="3300" dirty="0"/>
          </a:p>
        </p:txBody>
      </p:sp>
      <p:sp>
        <p:nvSpPr>
          <p:cNvPr id="6" name="Text 3"/>
          <p:cNvSpPr txBox="1"/>
          <p:nvPr/>
        </p:nvSpPr>
        <p:spPr>
          <a:xfrm>
            <a:off x="11430000" y="6419088"/>
            <a:ext cx="320040" cy="228600"/>
          </a:xfrm>
          <a:prstGeom prst="rect">
            <a:avLst/>
          </a:prstGeom>
          <a:noFill/>
          <a:ln/>
        </p:spPr>
        <p:txBody>
          <a:bodyPr wrap="square" lIns="0" tIns="0" rIns="0" bIns="0" rtlCol="0" anchor="ctr"/>
          <a:lstStyle/>
          <a:p>
            <a:pPr marL="0" indent="0" algn="r">
              <a:buNone/>
            </a:pPr>
            <a:r>
              <a:rPr lang="en-US" sz="1000" dirty="0">
                <a:solidFill>
                  <a:srgbClr val="B5B5B5"/>
                </a:solidFill>
                <a:latin typeface="Calibri" pitchFamily="34" charset="0"/>
                <a:ea typeface="Calibri" pitchFamily="34" charset="-122"/>
                <a:cs typeface="Calibri" pitchFamily="34" charset="-120"/>
              </a:rPr>
              <a:t>16</a:t>
            </a:r>
            <a:endParaRPr lang="en-US" sz="1000" dirty="0"/>
          </a:p>
        </p:txBody>
      </p:sp>
      <p:sp>
        <p:nvSpPr>
          <p:cNvPr id="7" name="Shape 4"/>
          <p:cNvSpPr/>
          <p:nvPr/>
        </p:nvSpPr>
        <p:spPr>
          <a:xfrm>
            <a:off x="566928" y="1572768"/>
            <a:ext cx="3547872" cy="1609344"/>
          </a:xfrm>
          <a:prstGeom prst="roundRect">
            <a:avLst>
              <a:gd name="adj" fmla="val 5114"/>
            </a:avLst>
          </a:prstGeom>
          <a:solidFill>
            <a:srgbClr val="FFFFFF"/>
          </a:solidFill>
          <a:ln w="12700">
            <a:solidFill>
              <a:srgbClr val="E6E6E6"/>
            </a:solidFill>
            <a:prstDash val="solid"/>
          </a:ln>
        </p:spPr>
        <p:txBody>
          <a:bodyPr/>
          <a:lstStyle/>
          <a:p>
            <a:endParaRPr lang="en-US"/>
          </a:p>
        </p:txBody>
      </p:sp>
      <p:sp>
        <p:nvSpPr>
          <p:cNvPr id="8" name="Shape 5"/>
          <p:cNvSpPr/>
          <p:nvPr/>
        </p:nvSpPr>
        <p:spPr>
          <a:xfrm>
            <a:off x="804672" y="1792224"/>
            <a:ext cx="402336" cy="402336"/>
          </a:xfrm>
          <a:prstGeom prst="ellipse">
            <a:avLst/>
          </a:prstGeom>
          <a:solidFill>
            <a:srgbClr val="F2C879"/>
          </a:solidFill>
          <a:ln w="12700">
            <a:solidFill>
              <a:srgbClr val="F2C879"/>
            </a:solidFill>
            <a:prstDash val="solid"/>
          </a:ln>
        </p:spPr>
        <p:txBody>
          <a:bodyPr/>
          <a:lstStyle/>
          <a:p>
            <a:endParaRPr lang="en-US"/>
          </a:p>
        </p:txBody>
      </p:sp>
      <p:sp>
        <p:nvSpPr>
          <p:cNvPr id="9" name="Text 6"/>
          <p:cNvSpPr txBox="1"/>
          <p:nvPr/>
        </p:nvSpPr>
        <p:spPr>
          <a:xfrm>
            <a:off x="804672" y="1792224"/>
            <a:ext cx="402336" cy="402336"/>
          </a:xfrm>
          <a:prstGeom prst="rect">
            <a:avLst/>
          </a:prstGeom>
          <a:noFill/>
          <a:ln/>
        </p:spPr>
        <p:txBody>
          <a:bodyPr wrap="square" lIns="0" tIns="0" rIns="0" bIns="0" rtlCol="0" anchor="ctr"/>
          <a:lstStyle/>
          <a:p>
            <a:pPr marL="0" indent="0" algn="ctr">
              <a:buNone/>
            </a:pPr>
            <a:r>
              <a:rPr lang="en-US" sz="1500" b="1" dirty="0">
                <a:solidFill>
                  <a:srgbClr val="5A4415"/>
                </a:solidFill>
                <a:latin typeface="Arial" pitchFamily="34" charset="0"/>
                <a:ea typeface="Arial" pitchFamily="34" charset="-122"/>
                <a:cs typeface="Arial" pitchFamily="34" charset="-120"/>
              </a:rPr>
              <a:t>1</a:t>
            </a:r>
            <a:endParaRPr lang="en-US" sz="1500" dirty="0"/>
          </a:p>
        </p:txBody>
      </p:sp>
      <p:sp>
        <p:nvSpPr>
          <p:cNvPr id="10" name="Text 7"/>
          <p:cNvSpPr txBox="1"/>
          <p:nvPr/>
        </p:nvSpPr>
        <p:spPr>
          <a:xfrm>
            <a:off x="1316736" y="1792224"/>
            <a:ext cx="2606040" cy="402336"/>
          </a:xfrm>
          <a:prstGeom prst="rect">
            <a:avLst/>
          </a:prstGeom>
          <a:noFill/>
          <a:ln/>
        </p:spPr>
        <p:txBody>
          <a:bodyPr wrap="square" lIns="0" tIns="0" rIns="0" bIns="0" rtlCol="0" anchor="ctr"/>
          <a:lstStyle/>
          <a:p>
            <a:pPr marL="0" indent="0">
              <a:buNone/>
            </a:pPr>
            <a:r>
              <a:rPr lang="en-US" sz="1450" b="1" dirty="0">
                <a:solidFill>
                  <a:srgbClr val="1C1C1C"/>
                </a:solidFill>
                <a:latin typeface="Arial" pitchFamily="34" charset="0"/>
                <a:ea typeface="Arial" pitchFamily="34" charset="-122"/>
                <a:cs typeface="Arial" pitchFamily="34" charset="-120"/>
              </a:rPr>
              <a:t>Get the data</a:t>
            </a:r>
            <a:endParaRPr lang="en-US" sz="1450" dirty="0"/>
          </a:p>
        </p:txBody>
      </p:sp>
      <p:sp>
        <p:nvSpPr>
          <p:cNvPr id="11" name="Text 8"/>
          <p:cNvSpPr txBox="1"/>
          <p:nvPr/>
        </p:nvSpPr>
        <p:spPr>
          <a:xfrm>
            <a:off x="822960" y="2267712"/>
            <a:ext cx="3054096" cy="566928"/>
          </a:xfrm>
          <a:prstGeom prst="rect">
            <a:avLst/>
          </a:prstGeom>
          <a:noFill/>
          <a:ln/>
        </p:spPr>
        <p:txBody>
          <a:bodyPr wrap="square" lIns="0" tIns="0" rIns="0" bIns="0" rtlCol="0" anchor="t"/>
          <a:lstStyle/>
          <a:p>
            <a:pPr marL="0" indent="0">
              <a:lnSpc>
                <a:spcPts val="1500"/>
              </a:lnSpc>
              <a:buNone/>
            </a:pPr>
            <a:r>
              <a:rPr lang="en-US" sz="1200" dirty="0">
                <a:solidFill>
                  <a:srgbClr val="7A7A7A"/>
                </a:solidFill>
                <a:latin typeface="Calibri" pitchFamily="34" charset="0"/>
                <a:ea typeface="Calibri" pitchFamily="34" charset="-122"/>
                <a:cs typeface="Calibri" pitchFamily="34" charset="-120"/>
              </a:rPr>
              <a:t>From a file, a database, wherever.</a:t>
            </a:r>
            <a:endParaRPr lang="en-US" sz="1200" dirty="0"/>
          </a:p>
        </p:txBody>
      </p:sp>
      <p:sp>
        <p:nvSpPr>
          <p:cNvPr id="12" name="Shape 9"/>
          <p:cNvSpPr/>
          <p:nvPr/>
        </p:nvSpPr>
        <p:spPr>
          <a:xfrm>
            <a:off x="822960" y="2743200"/>
            <a:ext cx="1298448" cy="274320"/>
          </a:xfrm>
          <a:prstGeom prst="roundRect">
            <a:avLst>
              <a:gd name="adj" fmla="val 50000"/>
            </a:avLst>
          </a:prstGeom>
          <a:solidFill>
            <a:srgbClr val="F1F1F1"/>
          </a:solidFill>
          <a:ln w="12700">
            <a:solidFill>
              <a:srgbClr val="F1F1F1"/>
            </a:solidFill>
            <a:prstDash val="solid"/>
          </a:ln>
        </p:spPr>
        <p:txBody>
          <a:bodyPr/>
          <a:lstStyle/>
          <a:p>
            <a:endParaRPr lang="en-US"/>
          </a:p>
        </p:txBody>
      </p:sp>
      <p:sp>
        <p:nvSpPr>
          <p:cNvPr id="13" name="Text 10"/>
          <p:cNvSpPr txBox="1"/>
          <p:nvPr/>
        </p:nvSpPr>
        <p:spPr>
          <a:xfrm>
            <a:off x="822960" y="2743200"/>
            <a:ext cx="1298448" cy="274320"/>
          </a:xfrm>
          <a:prstGeom prst="rect">
            <a:avLst/>
          </a:prstGeom>
          <a:noFill/>
          <a:ln/>
        </p:spPr>
        <p:txBody>
          <a:bodyPr wrap="square" lIns="0" tIns="0" rIns="0" bIns="0" rtlCol="0" anchor="ctr"/>
          <a:lstStyle/>
          <a:p>
            <a:pPr marL="0" indent="0" algn="ctr">
              <a:buNone/>
            </a:pPr>
            <a:r>
              <a:rPr lang="en-US" sz="1000" b="1" dirty="0">
                <a:solidFill>
                  <a:srgbClr val="4C4C4C"/>
                </a:solidFill>
                <a:latin typeface="Calibri" pitchFamily="34" charset="0"/>
                <a:ea typeface="Calibri" pitchFamily="34" charset="-122"/>
                <a:cs typeface="Calibri" pitchFamily="34" charset="-120"/>
              </a:rPr>
              <a:t>Sessions 6–7</a:t>
            </a:r>
            <a:endParaRPr lang="en-US" sz="1000" dirty="0"/>
          </a:p>
        </p:txBody>
      </p:sp>
      <p:sp>
        <p:nvSpPr>
          <p:cNvPr id="14" name="Shape 11"/>
          <p:cNvSpPr/>
          <p:nvPr/>
        </p:nvSpPr>
        <p:spPr>
          <a:xfrm>
            <a:off x="4297680" y="1572768"/>
            <a:ext cx="3547872" cy="1609344"/>
          </a:xfrm>
          <a:prstGeom prst="roundRect">
            <a:avLst>
              <a:gd name="adj" fmla="val 5114"/>
            </a:avLst>
          </a:prstGeom>
          <a:solidFill>
            <a:srgbClr val="FFFFFF"/>
          </a:solidFill>
          <a:ln w="12700">
            <a:solidFill>
              <a:srgbClr val="E6E6E6"/>
            </a:solidFill>
            <a:prstDash val="solid"/>
          </a:ln>
        </p:spPr>
        <p:txBody>
          <a:bodyPr/>
          <a:lstStyle/>
          <a:p>
            <a:endParaRPr lang="en-US"/>
          </a:p>
        </p:txBody>
      </p:sp>
      <p:sp>
        <p:nvSpPr>
          <p:cNvPr id="15" name="Shape 12"/>
          <p:cNvSpPr/>
          <p:nvPr/>
        </p:nvSpPr>
        <p:spPr>
          <a:xfrm>
            <a:off x="4535424" y="1792224"/>
            <a:ext cx="402336" cy="402336"/>
          </a:xfrm>
          <a:prstGeom prst="ellipse">
            <a:avLst/>
          </a:prstGeom>
          <a:solidFill>
            <a:srgbClr val="F2C879"/>
          </a:solidFill>
          <a:ln w="12700">
            <a:solidFill>
              <a:srgbClr val="F2C879"/>
            </a:solidFill>
            <a:prstDash val="solid"/>
          </a:ln>
        </p:spPr>
        <p:txBody>
          <a:bodyPr/>
          <a:lstStyle/>
          <a:p>
            <a:endParaRPr lang="en-US"/>
          </a:p>
        </p:txBody>
      </p:sp>
      <p:sp>
        <p:nvSpPr>
          <p:cNvPr id="16" name="Text 13"/>
          <p:cNvSpPr txBox="1"/>
          <p:nvPr/>
        </p:nvSpPr>
        <p:spPr>
          <a:xfrm>
            <a:off x="4535424" y="1792224"/>
            <a:ext cx="402336" cy="402336"/>
          </a:xfrm>
          <a:prstGeom prst="rect">
            <a:avLst/>
          </a:prstGeom>
          <a:noFill/>
          <a:ln/>
        </p:spPr>
        <p:txBody>
          <a:bodyPr wrap="square" lIns="0" tIns="0" rIns="0" bIns="0" rtlCol="0" anchor="ctr"/>
          <a:lstStyle/>
          <a:p>
            <a:pPr marL="0" indent="0" algn="ctr">
              <a:buNone/>
            </a:pPr>
            <a:r>
              <a:rPr lang="en-US" sz="1500" b="1" dirty="0">
                <a:solidFill>
                  <a:srgbClr val="5A4415"/>
                </a:solidFill>
                <a:latin typeface="Arial" pitchFamily="34" charset="0"/>
                <a:ea typeface="Arial" pitchFamily="34" charset="-122"/>
                <a:cs typeface="Arial" pitchFamily="34" charset="-120"/>
              </a:rPr>
              <a:t>2</a:t>
            </a:r>
            <a:endParaRPr lang="en-US" sz="1500" dirty="0"/>
          </a:p>
        </p:txBody>
      </p:sp>
      <p:sp>
        <p:nvSpPr>
          <p:cNvPr id="17" name="Text 14"/>
          <p:cNvSpPr txBox="1"/>
          <p:nvPr/>
        </p:nvSpPr>
        <p:spPr>
          <a:xfrm>
            <a:off x="5047488" y="1792224"/>
            <a:ext cx="2606040" cy="402336"/>
          </a:xfrm>
          <a:prstGeom prst="rect">
            <a:avLst/>
          </a:prstGeom>
          <a:noFill/>
          <a:ln/>
        </p:spPr>
        <p:txBody>
          <a:bodyPr wrap="square" lIns="0" tIns="0" rIns="0" bIns="0" rtlCol="0" anchor="ctr"/>
          <a:lstStyle/>
          <a:p>
            <a:pPr marL="0" indent="0">
              <a:buNone/>
            </a:pPr>
            <a:r>
              <a:rPr lang="en-US" sz="1450" b="1" dirty="0">
                <a:solidFill>
                  <a:srgbClr val="1C1C1C"/>
                </a:solidFill>
                <a:latin typeface="Arial" pitchFamily="34" charset="0"/>
                <a:ea typeface="Arial" pitchFamily="34" charset="-122"/>
                <a:cs typeface="Arial" pitchFamily="34" charset="-120"/>
              </a:rPr>
              <a:t>Look at the data</a:t>
            </a:r>
            <a:endParaRPr lang="en-US" sz="1450" dirty="0"/>
          </a:p>
        </p:txBody>
      </p:sp>
      <p:sp>
        <p:nvSpPr>
          <p:cNvPr id="18" name="Text 15"/>
          <p:cNvSpPr txBox="1"/>
          <p:nvPr/>
        </p:nvSpPr>
        <p:spPr>
          <a:xfrm>
            <a:off x="4553712" y="2267712"/>
            <a:ext cx="3054096" cy="566928"/>
          </a:xfrm>
          <a:prstGeom prst="rect">
            <a:avLst/>
          </a:prstGeom>
          <a:noFill/>
          <a:ln/>
        </p:spPr>
        <p:txBody>
          <a:bodyPr wrap="square" lIns="0" tIns="0" rIns="0" bIns="0" rtlCol="0" anchor="t"/>
          <a:lstStyle/>
          <a:p>
            <a:pPr marL="0" indent="0">
              <a:lnSpc>
                <a:spcPts val="1500"/>
              </a:lnSpc>
              <a:buNone/>
            </a:pPr>
            <a:r>
              <a:rPr lang="en-US" sz="1200" dirty="0">
                <a:solidFill>
                  <a:srgbClr val="7A7A7A"/>
                </a:solidFill>
                <a:latin typeface="Calibri" pitchFamily="34" charset="0"/>
                <a:ea typeface="Calibri" pitchFamily="34" charset="-122"/>
                <a:cs typeface="Calibri" pitchFamily="34" charset="-120"/>
              </a:rPr>
              <a:t>How many patients? Which columns? Any missing values?</a:t>
            </a:r>
            <a:endParaRPr lang="en-US" sz="1200" dirty="0"/>
          </a:p>
        </p:txBody>
      </p:sp>
      <p:sp>
        <p:nvSpPr>
          <p:cNvPr id="19" name="Shape 16"/>
          <p:cNvSpPr/>
          <p:nvPr/>
        </p:nvSpPr>
        <p:spPr>
          <a:xfrm>
            <a:off x="4553712" y="2743200"/>
            <a:ext cx="1298448" cy="274320"/>
          </a:xfrm>
          <a:prstGeom prst="roundRect">
            <a:avLst>
              <a:gd name="adj" fmla="val 50000"/>
            </a:avLst>
          </a:prstGeom>
          <a:solidFill>
            <a:srgbClr val="F1F1F1"/>
          </a:solidFill>
          <a:ln w="12700">
            <a:solidFill>
              <a:srgbClr val="F1F1F1"/>
            </a:solidFill>
            <a:prstDash val="solid"/>
          </a:ln>
        </p:spPr>
        <p:txBody>
          <a:bodyPr/>
          <a:lstStyle/>
          <a:p>
            <a:endParaRPr lang="en-US"/>
          </a:p>
        </p:txBody>
      </p:sp>
      <p:sp>
        <p:nvSpPr>
          <p:cNvPr id="20" name="Text 17"/>
          <p:cNvSpPr txBox="1"/>
          <p:nvPr/>
        </p:nvSpPr>
        <p:spPr>
          <a:xfrm>
            <a:off x="4553712" y="2743200"/>
            <a:ext cx="1298448" cy="274320"/>
          </a:xfrm>
          <a:prstGeom prst="rect">
            <a:avLst/>
          </a:prstGeom>
          <a:noFill/>
          <a:ln/>
        </p:spPr>
        <p:txBody>
          <a:bodyPr wrap="square" lIns="0" tIns="0" rIns="0" bIns="0" rtlCol="0" anchor="ctr"/>
          <a:lstStyle/>
          <a:p>
            <a:pPr marL="0" indent="0" algn="ctr">
              <a:buNone/>
            </a:pPr>
            <a:r>
              <a:rPr lang="en-US" sz="1000" b="1" dirty="0">
                <a:solidFill>
                  <a:srgbClr val="4C4C4C"/>
                </a:solidFill>
                <a:latin typeface="Calibri" pitchFamily="34" charset="0"/>
                <a:ea typeface="Calibri" pitchFamily="34" charset="-122"/>
                <a:cs typeface="Calibri" pitchFamily="34" charset="-120"/>
              </a:rPr>
              <a:t>Session 9</a:t>
            </a:r>
            <a:endParaRPr lang="en-US" sz="1000" dirty="0"/>
          </a:p>
        </p:txBody>
      </p:sp>
      <p:sp>
        <p:nvSpPr>
          <p:cNvPr id="21" name="Shape 18"/>
          <p:cNvSpPr/>
          <p:nvPr/>
        </p:nvSpPr>
        <p:spPr>
          <a:xfrm>
            <a:off x="8028432" y="1572768"/>
            <a:ext cx="3547872" cy="1609344"/>
          </a:xfrm>
          <a:prstGeom prst="roundRect">
            <a:avLst>
              <a:gd name="adj" fmla="val 5114"/>
            </a:avLst>
          </a:prstGeom>
          <a:solidFill>
            <a:srgbClr val="FFFFFF"/>
          </a:solidFill>
          <a:ln w="12700">
            <a:solidFill>
              <a:srgbClr val="E6E6E6"/>
            </a:solidFill>
            <a:prstDash val="solid"/>
          </a:ln>
        </p:spPr>
        <p:txBody>
          <a:bodyPr/>
          <a:lstStyle/>
          <a:p>
            <a:endParaRPr lang="en-US"/>
          </a:p>
        </p:txBody>
      </p:sp>
      <p:sp>
        <p:nvSpPr>
          <p:cNvPr id="22" name="Shape 19"/>
          <p:cNvSpPr/>
          <p:nvPr/>
        </p:nvSpPr>
        <p:spPr>
          <a:xfrm>
            <a:off x="8266176" y="1792224"/>
            <a:ext cx="402336" cy="402336"/>
          </a:xfrm>
          <a:prstGeom prst="ellipse">
            <a:avLst/>
          </a:prstGeom>
          <a:solidFill>
            <a:srgbClr val="F2C879"/>
          </a:solidFill>
          <a:ln w="12700">
            <a:solidFill>
              <a:srgbClr val="F2C879"/>
            </a:solidFill>
            <a:prstDash val="solid"/>
          </a:ln>
        </p:spPr>
        <p:txBody>
          <a:bodyPr/>
          <a:lstStyle/>
          <a:p>
            <a:endParaRPr lang="en-US"/>
          </a:p>
        </p:txBody>
      </p:sp>
      <p:sp>
        <p:nvSpPr>
          <p:cNvPr id="23" name="Text 20"/>
          <p:cNvSpPr txBox="1"/>
          <p:nvPr/>
        </p:nvSpPr>
        <p:spPr>
          <a:xfrm>
            <a:off x="8266176" y="1792224"/>
            <a:ext cx="402336" cy="402336"/>
          </a:xfrm>
          <a:prstGeom prst="rect">
            <a:avLst/>
          </a:prstGeom>
          <a:noFill/>
          <a:ln/>
        </p:spPr>
        <p:txBody>
          <a:bodyPr wrap="square" lIns="0" tIns="0" rIns="0" bIns="0" rtlCol="0" anchor="ctr"/>
          <a:lstStyle/>
          <a:p>
            <a:pPr marL="0" indent="0" algn="ctr">
              <a:buNone/>
            </a:pPr>
            <a:r>
              <a:rPr lang="en-US" sz="1500" b="1" dirty="0">
                <a:solidFill>
                  <a:srgbClr val="5A4415"/>
                </a:solidFill>
                <a:latin typeface="Arial" pitchFamily="34" charset="0"/>
                <a:ea typeface="Arial" pitchFamily="34" charset="-122"/>
                <a:cs typeface="Arial" pitchFamily="34" charset="-120"/>
              </a:rPr>
              <a:t>3</a:t>
            </a:r>
            <a:endParaRPr lang="en-US" sz="1500" dirty="0"/>
          </a:p>
        </p:txBody>
      </p:sp>
      <p:sp>
        <p:nvSpPr>
          <p:cNvPr id="24" name="Text 21"/>
          <p:cNvSpPr txBox="1"/>
          <p:nvPr/>
        </p:nvSpPr>
        <p:spPr>
          <a:xfrm>
            <a:off x="8778240" y="1792224"/>
            <a:ext cx="2606040" cy="402336"/>
          </a:xfrm>
          <a:prstGeom prst="rect">
            <a:avLst/>
          </a:prstGeom>
          <a:noFill/>
          <a:ln/>
        </p:spPr>
        <p:txBody>
          <a:bodyPr wrap="square" lIns="0" tIns="0" rIns="0" bIns="0" rtlCol="0" anchor="ctr"/>
          <a:lstStyle/>
          <a:p>
            <a:pPr marL="0" indent="0">
              <a:buNone/>
            </a:pPr>
            <a:r>
              <a:rPr lang="en-US" sz="1450" b="1" dirty="0">
                <a:solidFill>
                  <a:srgbClr val="1C1C1C"/>
                </a:solidFill>
                <a:latin typeface="Arial" pitchFamily="34" charset="0"/>
                <a:ea typeface="Arial" pitchFamily="34" charset="-122"/>
                <a:cs typeface="Arial" pitchFamily="34" charset="-120"/>
              </a:rPr>
              <a:t>Split into groups</a:t>
            </a:r>
            <a:endParaRPr lang="en-US" sz="1450" dirty="0"/>
          </a:p>
        </p:txBody>
      </p:sp>
      <p:sp>
        <p:nvSpPr>
          <p:cNvPr id="25" name="Text 22"/>
          <p:cNvSpPr txBox="1"/>
          <p:nvPr/>
        </p:nvSpPr>
        <p:spPr>
          <a:xfrm>
            <a:off x="8284464" y="2267712"/>
            <a:ext cx="3054096" cy="566928"/>
          </a:xfrm>
          <a:prstGeom prst="rect">
            <a:avLst/>
          </a:prstGeom>
          <a:noFill/>
          <a:ln/>
        </p:spPr>
        <p:txBody>
          <a:bodyPr wrap="square" lIns="0" tIns="0" rIns="0" bIns="0" rtlCol="0" anchor="t"/>
          <a:lstStyle/>
          <a:p>
            <a:pPr marL="0" indent="0">
              <a:lnSpc>
                <a:spcPts val="1500"/>
              </a:lnSpc>
              <a:buNone/>
            </a:pPr>
            <a:r>
              <a:rPr lang="en-US" sz="1200" dirty="0">
                <a:solidFill>
                  <a:srgbClr val="7A7A7A"/>
                </a:solidFill>
                <a:latin typeface="Calibri" pitchFamily="34" charset="0"/>
                <a:ea typeface="Calibri" pitchFamily="34" charset="-122"/>
                <a:cs typeface="Calibri" pitchFamily="34" charset="-120"/>
              </a:rPr>
              <a:t>Drug A group versus drug B group.</a:t>
            </a:r>
            <a:endParaRPr lang="en-US" sz="1200" dirty="0"/>
          </a:p>
        </p:txBody>
      </p:sp>
      <p:sp>
        <p:nvSpPr>
          <p:cNvPr id="26" name="Shape 23"/>
          <p:cNvSpPr/>
          <p:nvPr/>
        </p:nvSpPr>
        <p:spPr>
          <a:xfrm>
            <a:off x="8284464" y="2743200"/>
            <a:ext cx="1298448" cy="274320"/>
          </a:xfrm>
          <a:prstGeom prst="roundRect">
            <a:avLst>
              <a:gd name="adj" fmla="val 50000"/>
            </a:avLst>
          </a:prstGeom>
          <a:solidFill>
            <a:srgbClr val="F1F1F1"/>
          </a:solidFill>
          <a:ln w="12700">
            <a:solidFill>
              <a:srgbClr val="F1F1F1"/>
            </a:solidFill>
            <a:prstDash val="solid"/>
          </a:ln>
        </p:spPr>
        <p:txBody>
          <a:bodyPr/>
          <a:lstStyle/>
          <a:p>
            <a:endParaRPr lang="en-US"/>
          </a:p>
        </p:txBody>
      </p:sp>
      <p:sp>
        <p:nvSpPr>
          <p:cNvPr id="27" name="Text 24"/>
          <p:cNvSpPr txBox="1"/>
          <p:nvPr/>
        </p:nvSpPr>
        <p:spPr>
          <a:xfrm>
            <a:off x="8284464" y="2743200"/>
            <a:ext cx="1298448" cy="274320"/>
          </a:xfrm>
          <a:prstGeom prst="rect">
            <a:avLst/>
          </a:prstGeom>
          <a:noFill/>
          <a:ln/>
        </p:spPr>
        <p:txBody>
          <a:bodyPr wrap="square" lIns="0" tIns="0" rIns="0" bIns="0" rtlCol="0" anchor="ctr"/>
          <a:lstStyle/>
          <a:p>
            <a:pPr marL="0" indent="0" algn="ctr">
              <a:buNone/>
            </a:pPr>
            <a:r>
              <a:rPr lang="en-US" sz="1000" b="1" dirty="0">
                <a:solidFill>
                  <a:srgbClr val="4C4C4C"/>
                </a:solidFill>
                <a:latin typeface="Calibri" pitchFamily="34" charset="0"/>
                <a:ea typeface="Calibri" pitchFamily="34" charset="-122"/>
                <a:cs typeface="Calibri" pitchFamily="34" charset="-120"/>
              </a:rPr>
              <a:t>Session 8</a:t>
            </a:r>
            <a:endParaRPr lang="en-US" sz="1000" dirty="0"/>
          </a:p>
        </p:txBody>
      </p:sp>
      <p:sp>
        <p:nvSpPr>
          <p:cNvPr id="28" name="Shape 25"/>
          <p:cNvSpPr/>
          <p:nvPr/>
        </p:nvSpPr>
        <p:spPr>
          <a:xfrm>
            <a:off x="566928" y="3364992"/>
            <a:ext cx="3547872" cy="1609344"/>
          </a:xfrm>
          <a:prstGeom prst="roundRect">
            <a:avLst>
              <a:gd name="adj" fmla="val 5114"/>
            </a:avLst>
          </a:prstGeom>
          <a:solidFill>
            <a:srgbClr val="FFFFFF"/>
          </a:solidFill>
          <a:ln w="12700">
            <a:solidFill>
              <a:srgbClr val="E6E6E6"/>
            </a:solidFill>
            <a:prstDash val="solid"/>
          </a:ln>
        </p:spPr>
        <p:txBody>
          <a:bodyPr/>
          <a:lstStyle/>
          <a:p>
            <a:endParaRPr lang="en-US"/>
          </a:p>
        </p:txBody>
      </p:sp>
      <p:sp>
        <p:nvSpPr>
          <p:cNvPr id="29" name="Shape 26"/>
          <p:cNvSpPr/>
          <p:nvPr/>
        </p:nvSpPr>
        <p:spPr>
          <a:xfrm>
            <a:off x="804672" y="3584448"/>
            <a:ext cx="402336" cy="402336"/>
          </a:xfrm>
          <a:prstGeom prst="ellipse">
            <a:avLst/>
          </a:prstGeom>
          <a:solidFill>
            <a:srgbClr val="DCE1E6"/>
          </a:solidFill>
          <a:ln w="12700">
            <a:solidFill>
              <a:srgbClr val="DCE1E6"/>
            </a:solidFill>
            <a:prstDash val="solid"/>
          </a:ln>
        </p:spPr>
        <p:txBody>
          <a:bodyPr/>
          <a:lstStyle/>
          <a:p>
            <a:endParaRPr lang="en-US"/>
          </a:p>
        </p:txBody>
      </p:sp>
      <p:sp>
        <p:nvSpPr>
          <p:cNvPr id="30" name="Text 27"/>
          <p:cNvSpPr txBox="1"/>
          <p:nvPr/>
        </p:nvSpPr>
        <p:spPr>
          <a:xfrm>
            <a:off x="804672" y="3584448"/>
            <a:ext cx="402336" cy="402336"/>
          </a:xfrm>
          <a:prstGeom prst="rect">
            <a:avLst/>
          </a:prstGeom>
          <a:noFill/>
          <a:ln/>
        </p:spPr>
        <p:txBody>
          <a:bodyPr wrap="square" lIns="0" tIns="0" rIns="0" bIns="0" rtlCol="0" anchor="ctr"/>
          <a:lstStyle/>
          <a:p>
            <a:pPr marL="0" indent="0" algn="ctr">
              <a:buNone/>
            </a:pPr>
            <a:r>
              <a:rPr lang="en-US" sz="1500" b="1" dirty="0">
                <a:solidFill>
                  <a:srgbClr val="3E4C58"/>
                </a:solidFill>
                <a:latin typeface="Arial" pitchFamily="34" charset="0"/>
                <a:ea typeface="Arial" pitchFamily="34" charset="-122"/>
                <a:cs typeface="Arial" pitchFamily="34" charset="-120"/>
              </a:rPr>
              <a:t>4</a:t>
            </a:r>
            <a:endParaRPr lang="en-US" sz="1500" dirty="0"/>
          </a:p>
        </p:txBody>
      </p:sp>
      <p:sp>
        <p:nvSpPr>
          <p:cNvPr id="31" name="Text 28"/>
          <p:cNvSpPr txBox="1"/>
          <p:nvPr/>
        </p:nvSpPr>
        <p:spPr>
          <a:xfrm>
            <a:off x="1316736" y="3584448"/>
            <a:ext cx="2606040" cy="402336"/>
          </a:xfrm>
          <a:prstGeom prst="rect">
            <a:avLst/>
          </a:prstGeom>
          <a:noFill/>
          <a:ln/>
        </p:spPr>
        <p:txBody>
          <a:bodyPr wrap="square" lIns="0" tIns="0" rIns="0" bIns="0" rtlCol="0" anchor="ctr"/>
          <a:lstStyle/>
          <a:p>
            <a:pPr marL="0" indent="0">
              <a:buNone/>
            </a:pPr>
            <a:r>
              <a:rPr lang="en-US" sz="1450" b="1" dirty="0">
                <a:solidFill>
                  <a:srgbClr val="1C1C1C"/>
                </a:solidFill>
                <a:latin typeface="Arial" pitchFamily="34" charset="0"/>
                <a:ea typeface="Arial" pitchFamily="34" charset="-122"/>
                <a:cs typeface="Arial" pitchFamily="34" charset="-120"/>
              </a:rPr>
              <a:t>Compute the means</a:t>
            </a:r>
            <a:endParaRPr lang="en-US" sz="1450" dirty="0"/>
          </a:p>
        </p:txBody>
      </p:sp>
      <p:sp>
        <p:nvSpPr>
          <p:cNvPr id="32" name="Text 29"/>
          <p:cNvSpPr txBox="1"/>
          <p:nvPr/>
        </p:nvSpPr>
        <p:spPr>
          <a:xfrm>
            <a:off x="822960" y="4059936"/>
            <a:ext cx="3054096" cy="566928"/>
          </a:xfrm>
          <a:prstGeom prst="rect">
            <a:avLst/>
          </a:prstGeom>
          <a:noFill/>
          <a:ln/>
        </p:spPr>
        <p:txBody>
          <a:bodyPr wrap="square" lIns="0" tIns="0" rIns="0" bIns="0" rtlCol="0" anchor="t"/>
          <a:lstStyle/>
          <a:p>
            <a:pPr marL="0" indent="0">
              <a:lnSpc>
                <a:spcPts val="1500"/>
              </a:lnSpc>
              <a:buNone/>
            </a:pPr>
            <a:r>
              <a:rPr lang="en-US" sz="1200" dirty="0">
                <a:solidFill>
                  <a:srgbClr val="7A7A7A"/>
                </a:solidFill>
                <a:latin typeface="Calibri" pitchFamily="34" charset="0"/>
                <a:ea typeface="Calibri" pitchFamily="34" charset="-122"/>
                <a:cs typeface="Calibri" pitchFamily="34" charset="-120"/>
              </a:rPr>
              <a:t>Mean blood pressure within each group.</a:t>
            </a:r>
            <a:endParaRPr lang="en-US" sz="1200" dirty="0"/>
          </a:p>
        </p:txBody>
      </p:sp>
      <p:sp>
        <p:nvSpPr>
          <p:cNvPr id="33" name="Shape 30"/>
          <p:cNvSpPr/>
          <p:nvPr/>
        </p:nvSpPr>
        <p:spPr>
          <a:xfrm>
            <a:off x="822960" y="4535424"/>
            <a:ext cx="1298448" cy="274320"/>
          </a:xfrm>
          <a:prstGeom prst="roundRect">
            <a:avLst>
              <a:gd name="adj" fmla="val 50000"/>
            </a:avLst>
          </a:prstGeom>
          <a:solidFill>
            <a:srgbClr val="F1F1F1"/>
          </a:solidFill>
          <a:ln w="12700">
            <a:solidFill>
              <a:srgbClr val="F1F1F1"/>
            </a:solidFill>
            <a:prstDash val="solid"/>
          </a:ln>
        </p:spPr>
        <p:txBody>
          <a:bodyPr/>
          <a:lstStyle/>
          <a:p>
            <a:endParaRPr lang="en-US"/>
          </a:p>
        </p:txBody>
      </p:sp>
      <p:sp>
        <p:nvSpPr>
          <p:cNvPr id="34" name="Text 31"/>
          <p:cNvSpPr txBox="1"/>
          <p:nvPr/>
        </p:nvSpPr>
        <p:spPr>
          <a:xfrm>
            <a:off x="822960" y="4535424"/>
            <a:ext cx="1298448" cy="274320"/>
          </a:xfrm>
          <a:prstGeom prst="rect">
            <a:avLst/>
          </a:prstGeom>
          <a:noFill/>
          <a:ln/>
        </p:spPr>
        <p:txBody>
          <a:bodyPr wrap="square" lIns="0" tIns="0" rIns="0" bIns="0" rtlCol="0" anchor="ctr"/>
          <a:lstStyle/>
          <a:p>
            <a:pPr marL="0" indent="0" algn="ctr">
              <a:buNone/>
            </a:pPr>
            <a:r>
              <a:rPr lang="en-US" sz="1000" b="1" dirty="0">
                <a:solidFill>
                  <a:srgbClr val="4C4C4C"/>
                </a:solidFill>
                <a:latin typeface="Calibri" pitchFamily="34" charset="0"/>
                <a:ea typeface="Calibri" pitchFamily="34" charset="-122"/>
                <a:cs typeface="Calibri" pitchFamily="34" charset="-120"/>
              </a:rPr>
              <a:t>Session 7</a:t>
            </a:r>
            <a:endParaRPr lang="en-US" sz="1000" dirty="0"/>
          </a:p>
        </p:txBody>
      </p:sp>
      <p:sp>
        <p:nvSpPr>
          <p:cNvPr id="35" name="Shape 32"/>
          <p:cNvSpPr/>
          <p:nvPr/>
        </p:nvSpPr>
        <p:spPr>
          <a:xfrm>
            <a:off x="4297680" y="3364992"/>
            <a:ext cx="3547872" cy="1609344"/>
          </a:xfrm>
          <a:prstGeom prst="roundRect">
            <a:avLst>
              <a:gd name="adj" fmla="val 5114"/>
            </a:avLst>
          </a:prstGeom>
          <a:solidFill>
            <a:srgbClr val="FFFFFF"/>
          </a:solidFill>
          <a:ln w="12700">
            <a:solidFill>
              <a:srgbClr val="E6E6E6"/>
            </a:solidFill>
            <a:prstDash val="solid"/>
          </a:ln>
        </p:spPr>
        <p:txBody>
          <a:bodyPr/>
          <a:lstStyle/>
          <a:p>
            <a:endParaRPr lang="en-US"/>
          </a:p>
        </p:txBody>
      </p:sp>
      <p:sp>
        <p:nvSpPr>
          <p:cNvPr id="36" name="Shape 33"/>
          <p:cNvSpPr/>
          <p:nvPr/>
        </p:nvSpPr>
        <p:spPr>
          <a:xfrm>
            <a:off x="4535424" y="3584448"/>
            <a:ext cx="402336" cy="402336"/>
          </a:xfrm>
          <a:prstGeom prst="ellipse">
            <a:avLst/>
          </a:prstGeom>
          <a:solidFill>
            <a:srgbClr val="DCE1E6"/>
          </a:solidFill>
          <a:ln w="12700">
            <a:solidFill>
              <a:srgbClr val="DCE1E6"/>
            </a:solidFill>
            <a:prstDash val="solid"/>
          </a:ln>
        </p:spPr>
        <p:txBody>
          <a:bodyPr/>
          <a:lstStyle/>
          <a:p>
            <a:endParaRPr lang="en-US"/>
          </a:p>
        </p:txBody>
      </p:sp>
      <p:sp>
        <p:nvSpPr>
          <p:cNvPr id="37" name="Text 34"/>
          <p:cNvSpPr txBox="1"/>
          <p:nvPr/>
        </p:nvSpPr>
        <p:spPr>
          <a:xfrm>
            <a:off x="4535424" y="3584448"/>
            <a:ext cx="402336" cy="402336"/>
          </a:xfrm>
          <a:prstGeom prst="rect">
            <a:avLst/>
          </a:prstGeom>
          <a:noFill/>
          <a:ln/>
        </p:spPr>
        <p:txBody>
          <a:bodyPr wrap="square" lIns="0" tIns="0" rIns="0" bIns="0" rtlCol="0" anchor="ctr"/>
          <a:lstStyle/>
          <a:p>
            <a:pPr marL="0" indent="0" algn="ctr">
              <a:buNone/>
            </a:pPr>
            <a:r>
              <a:rPr lang="en-US" sz="1500" b="1" dirty="0">
                <a:solidFill>
                  <a:srgbClr val="3E4C58"/>
                </a:solidFill>
                <a:latin typeface="Arial" pitchFamily="34" charset="0"/>
                <a:ea typeface="Arial" pitchFamily="34" charset="-122"/>
                <a:cs typeface="Arial" pitchFamily="34" charset="-120"/>
              </a:rPr>
              <a:t>5</a:t>
            </a:r>
            <a:endParaRPr lang="en-US" sz="1500" dirty="0"/>
          </a:p>
        </p:txBody>
      </p:sp>
      <p:sp>
        <p:nvSpPr>
          <p:cNvPr id="38" name="Text 35"/>
          <p:cNvSpPr txBox="1"/>
          <p:nvPr/>
        </p:nvSpPr>
        <p:spPr>
          <a:xfrm>
            <a:off x="5047488" y="3584448"/>
            <a:ext cx="2606040" cy="402336"/>
          </a:xfrm>
          <a:prstGeom prst="rect">
            <a:avLst/>
          </a:prstGeom>
          <a:noFill/>
          <a:ln/>
        </p:spPr>
        <p:txBody>
          <a:bodyPr wrap="square" lIns="0" tIns="0" rIns="0" bIns="0" rtlCol="0" anchor="ctr"/>
          <a:lstStyle/>
          <a:p>
            <a:pPr marL="0" indent="0">
              <a:buNone/>
            </a:pPr>
            <a:r>
              <a:rPr lang="en-US" sz="1450" b="1" dirty="0">
                <a:solidFill>
                  <a:srgbClr val="1C1C1C"/>
                </a:solidFill>
                <a:latin typeface="Arial" pitchFamily="34" charset="0"/>
                <a:ea typeface="Arial" pitchFamily="34" charset="-122"/>
                <a:cs typeface="Arial" pitchFamily="34" charset="-120"/>
              </a:rPr>
              <a:t>Test the difference</a:t>
            </a:r>
            <a:endParaRPr lang="en-US" sz="1450" dirty="0"/>
          </a:p>
        </p:txBody>
      </p:sp>
      <p:sp>
        <p:nvSpPr>
          <p:cNvPr id="39" name="Text 36"/>
          <p:cNvSpPr txBox="1"/>
          <p:nvPr/>
        </p:nvSpPr>
        <p:spPr>
          <a:xfrm>
            <a:off x="4553712" y="4059936"/>
            <a:ext cx="3054096" cy="566928"/>
          </a:xfrm>
          <a:prstGeom prst="rect">
            <a:avLst/>
          </a:prstGeom>
          <a:noFill/>
          <a:ln/>
        </p:spPr>
        <p:txBody>
          <a:bodyPr wrap="square" lIns="0" tIns="0" rIns="0" bIns="0" rtlCol="0" anchor="t"/>
          <a:lstStyle/>
          <a:p>
            <a:pPr marL="0" indent="0">
              <a:lnSpc>
                <a:spcPts val="1500"/>
              </a:lnSpc>
              <a:buNone/>
            </a:pPr>
            <a:r>
              <a:rPr lang="en-US" sz="1200" dirty="0">
                <a:solidFill>
                  <a:srgbClr val="7A7A7A"/>
                </a:solidFill>
                <a:latin typeface="Calibri" pitchFamily="34" charset="0"/>
                <a:ea typeface="Calibri" pitchFamily="34" charset="-122"/>
                <a:cs typeface="Calibri" pitchFamily="34" charset="-120"/>
              </a:rPr>
              <a:t>Is it bigger than chance would give us?</a:t>
            </a:r>
            <a:endParaRPr lang="en-US" sz="1200" dirty="0"/>
          </a:p>
        </p:txBody>
      </p:sp>
      <p:sp>
        <p:nvSpPr>
          <p:cNvPr id="40" name="Shape 37"/>
          <p:cNvSpPr/>
          <p:nvPr/>
        </p:nvSpPr>
        <p:spPr>
          <a:xfrm>
            <a:off x="4553712" y="4535424"/>
            <a:ext cx="1298448" cy="274320"/>
          </a:xfrm>
          <a:prstGeom prst="roundRect">
            <a:avLst>
              <a:gd name="adj" fmla="val 50000"/>
            </a:avLst>
          </a:prstGeom>
          <a:solidFill>
            <a:srgbClr val="F1F1F1"/>
          </a:solidFill>
          <a:ln w="12700">
            <a:solidFill>
              <a:srgbClr val="F1F1F1"/>
            </a:solidFill>
            <a:prstDash val="solid"/>
          </a:ln>
        </p:spPr>
        <p:txBody>
          <a:bodyPr/>
          <a:lstStyle/>
          <a:p>
            <a:endParaRPr lang="en-US"/>
          </a:p>
        </p:txBody>
      </p:sp>
      <p:sp>
        <p:nvSpPr>
          <p:cNvPr id="41" name="Text 38"/>
          <p:cNvSpPr txBox="1"/>
          <p:nvPr/>
        </p:nvSpPr>
        <p:spPr>
          <a:xfrm>
            <a:off x="4553712" y="4535424"/>
            <a:ext cx="1298448" cy="274320"/>
          </a:xfrm>
          <a:prstGeom prst="rect">
            <a:avLst/>
          </a:prstGeom>
          <a:noFill/>
          <a:ln/>
        </p:spPr>
        <p:txBody>
          <a:bodyPr wrap="square" lIns="0" tIns="0" rIns="0" bIns="0" rtlCol="0" anchor="ctr"/>
          <a:lstStyle/>
          <a:p>
            <a:pPr marL="0" indent="0" algn="ctr">
              <a:buNone/>
            </a:pPr>
            <a:r>
              <a:rPr lang="en-US" sz="1000" b="1" dirty="0">
                <a:solidFill>
                  <a:srgbClr val="4C4C4C"/>
                </a:solidFill>
                <a:latin typeface="Calibri" pitchFamily="34" charset="0"/>
                <a:ea typeface="Calibri" pitchFamily="34" charset="-122"/>
                <a:cs typeface="Calibri" pitchFamily="34" charset="-120"/>
              </a:rPr>
              <a:t>Session 11</a:t>
            </a:r>
            <a:endParaRPr lang="en-US" sz="1000" dirty="0"/>
          </a:p>
        </p:txBody>
      </p:sp>
      <p:sp>
        <p:nvSpPr>
          <p:cNvPr id="42" name="Shape 39"/>
          <p:cNvSpPr/>
          <p:nvPr/>
        </p:nvSpPr>
        <p:spPr>
          <a:xfrm>
            <a:off x="8028432" y="3364992"/>
            <a:ext cx="3547872" cy="1609344"/>
          </a:xfrm>
          <a:prstGeom prst="roundRect">
            <a:avLst>
              <a:gd name="adj" fmla="val 5114"/>
            </a:avLst>
          </a:prstGeom>
          <a:solidFill>
            <a:srgbClr val="FFFFFF"/>
          </a:solidFill>
          <a:ln w="12700">
            <a:solidFill>
              <a:srgbClr val="E6E6E6"/>
            </a:solidFill>
            <a:prstDash val="solid"/>
          </a:ln>
        </p:spPr>
        <p:txBody>
          <a:bodyPr/>
          <a:lstStyle/>
          <a:p>
            <a:endParaRPr lang="en-US"/>
          </a:p>
        </p:txBody>
      </p:sp>
      <p:sp>
        <p:nvSpPr>
          <p:cNvPr id="43" name="Shape 40"/>
          <p:cNvSpPr/>
          <p:nvPr/>
        </p:nvSpPr>
        <p:spPr>
          <a:xfrm>
            <a:off x="8266176" y="3584448"/>
            <a:ext cx="402336" cy="402336"/>
          </a:xfrm>
          <a:prstGeom prst="ellipse">
            <a:avLst/>
          </a:prstGeom>
          <a:solidFill>
            <a:srgbClr val="DCE1E6"/>
          </a:solidFill>
          <a:ln w="12700">
            <a:solidFill>
              <a:srgbClr val="DCE1E6"/>
            </a:solidFill>
            <a:prstDash val="solid"/>
          </a:ln>
        </p:spPr>
        <p:txBody>
          <a:bodyPr/>
          <a:lstStyle/>
          <a:p>
            <a:endParaRPr lang="en-US"/>
          </a:p>
        </p:txBody>
      </p:sp>
      <p:sp>
        <p:nvSpPr>
          <p:cNvPr id="44" name="Text 41"/>
          <p:cNvSpPr txBox="1"/>
          <p:nvPr/>
        </p:nvSpPr>
        <p:spPr>
          <a:xfrm>
            <a:off x="8266176" y="3584448"/>
            <a:ext cx="402336" cy="402336"/>
          </a:xfrm>
          <a:prstGeom prst="rect">
            <a:avLst/>
          </a:prstGeom>
          <a:noFill/>
          <a:ln/>
        </p:spPr>
        <p:txBody>
          <a:bodyPr wrap="square" lIns="0" tIns="0" rIns="0" bIns="0" rtlCol="0" anchor="ctr"/>
          <a:lstStyle/>
          <a:p>
            <a:pPr marL="0" indent="0" algn="ctr">
              <a:buNone/>
            </a:pPr>
            <a:r>
              <a:rPr lang="en-US" sz="1500" b="1" dirty="0">
                <a:solidFill>
                  <a:srgbClr val="3E4C58"/>
                </a:solidFill>
                <a:latin typeface="Arial" pitchFamily="34" charset="0"/>
                <a:ea typeface="Arial" pitchFamily="34" charset="-122"/>
                <a:cs typeface="Arial" pitchFamily="34" charset="-120"/>
              </a:rPr>
              <a:t>6</a:t>
            </a:r>
            <a:endParaRPr lang="en-US" sz="1500" dirty="0"/>
          </a:p>
        </p:txBody>
      </p:sp>
      <p:sp>
        <p:nvSpPr>
          <p:cNvPr id="45" name="Text 42"/>
          <p:cNvSpPr txBox="1"/>
          <p:nvPr/>
        </p:nvSpPr>
        <p:spPr>
          <a:xfrm>
            <a:off x="8778240" y="3584448"/>
            <a:ext cx="2606040" cy="402336"/>
          </a:xfrm>
          <a:prstGeom prst="rect">
            <a:avLst/>
          </a:prstGeom>
          <a:noFill/>
          <a:ln/>
        </p:spPr>
        <p:txBody>
          <a:bodyPr wrap="square" lIns="0" tIns="0" rIns="0" bIns="0" rtlCol="0" anchor="ctr"/>
          <a:lstStyle/>
          <a:p>
            <a:pPr marL="0" indent="0">
              <a:buNone/>
            </a:pPr>
            <a:r>
              <a:rPr lang="en-US" sz="1450" b="1" dirty="0">
                <a:solidFill>
                  <a:srgbClr val="1C1C1C"/>
                </a:solidFill>
                <a:latin typeface="Arial" pitchFamily="34" charset="0"/>
                <a:ea typeface="Arial" pitchFamily="34" charset="-122"/>
                <a:cs typeface="Arial" pitchFamily="34" charset="-120"/>
              </a:rPr>
              <a:t>Report the result</a:t>
            </a:r>
            <a:endParaRPr lang="en-US" sz="1450" dirty="0"/>
          </a:p>
        </p:txBody>
      </p:sp>
      <p:sp>
        <p:nvSpPr>
          <p:cNvPr id="46" name="Text 43"/>
          <p:cNvSpPr txBox="1"/>
          <p:nvPr/>
        </p:nvSpPr>
        <p:spPr>
          <a:xfrm>
            <a:off x="8284464" y="4059936"/>
            <a:ext cx="3054096" cy="566928"/>
          </a:xfrm>
          <a:prstGeom prst="rect">
            <a:avLst/>
          </a:prstGeom>
          <a:noFill/>
          <a:ln/>
        </p:spPr>
        <p:txBody>
          <a:bodyPr wrap="square" lIns="0" tIns="0" rIns="0" bIns="0" rtlCol="0" anchor="t"/>
          <a:lstStyle/>
          <a:p>
            <a:pPr marL="0" indent="0">
              <a:lnSpc>
                <a:spcPts val="1500"/>
              </a:lnSpc>
              <a:buNone/>
            </a:pPr>
            <a:r>
              <a:rPr lang="en-US" sz="1200" dirty="0">
                <a:solidFill>
                  <a:srgbClr val="7A7A7A"/>
                </a:solidFill>
                <a:latin typeface="Calibri" pitchFamily="34" charset="0"/>
                <a:ea typeface="Calibri" pitchFamily="34" charset="-122"/>
                <a:cs typeface="Calibri" pitchFamily="34" charset="-120"/>
              </a:rPr>
              <a:t>A number and a picture.</a:t>
            </a:r>
            <a:endParaRPr lang="en-US" sz="1200" dirty="0"/>
          </a:p>
        </p:txBody>
      </p:sp>
      <p:sp>
        <p:nvSpPr>
          <p:cNvPr id="47" name="Shape 44"/>
          <p:cNvSpPr/>
          <p:nvPr/>
        </p:nvSpPr>
        <p:spPr>
          <a:xfrm>
            <a:off x="8284464" y="4535424"/>
            <a:ext cx="1298448" cy="274320"/>
          </a:xfrm>
          <a:prstGeom prst="roundRect">
            <a:avLst>
              <a:gd name="adj" fmla="val 50000"/>
            </a:avLst>
          </a:prstGeom>
          <a:solidFill>
            <a:srgbClr val="F1F1F1"/>
          </a:solidFill>
          <a:ln w="12700">
            <a:solidFill>
              <a:srgbClr val="F1F1F1"/>
            </a:solidFill>
            <a:prstDash val="solid"/>
          </a:ln>
        </p:spPr>
        <p:txBody>
          <a:bodyPr/>
          <a:lstStyle/>
          <a:p>
            <a:endParaRPr lang="en-US"/>
          </a:p>
        </p:txBody>
      </p:sp>
      <p:sp>
        <p:nvSpPr>
          <p:cNvPr id="48" name="Text 45"/>
          <p:cNvSpPr txBox="1"/>
          <p:nvPr/>
        </p:nvSpPr>
        <p:spPr>
          <a:xfrm>
            <a:off x="8284464" y="4535424"/>
            <a:ext cx="1298448" cy="274320"/>
          </a:xfrm>
          <a:prstGeom prst="rect">
            <a:avLst/>
          </a:prstGeom>
          <a:noFill/>
          <a:ln/>
        </p:spPr>
        <p:txBody>
          <a:bodyPr wrap="square" lIns="0" tIns="0" rIns="0" bIns="0" rtlCol="0" anchor="ctr"/>
          <a:lstStyle/>
          <a:p>
            <a:pPr marL="0" indent="0" algn="ctr">
              <a:buNone/>
            </a:pPr>
            <a:r>
              <a:rPr lang="en-US" sz="1000" b="1" dirty="0">
                <a:solidFill>
                  <a:srgbClr val="4C4C4C"/>
                </a:solidFill>
                <a:latin typeface="Calibri" pitchFamily="34" charset="0"/>
                <a:ea typeface="Calibri" pitchFamily="34" charset="-122"/>
                <a:cs typeface="Calibri" pitchFamily="34" charset="-120"/>
              </a:rPr>
              <a:t>Sessions 10 &amp; 13</a:t>
            </a:r>
            <a:endParaRPr lang="en-US" sz="1000" dirty="0"/>
          </a:p>
        </p:txBody>
      </p:sp>
      <p:sp>
        <p:nvSpPr>
          <p:cNvPr id="49" name="Shape 46"/>
          <p:cNvSpPr/>
          <p:nvPr/>
        </p:nvSpPr>
        <p:spPr>
          <a:xfrm>
            <a:off x="566928" y="5321808"/>
            <a:ext cx="11057839" cy="621792"/>
          </a:xfrm>
          <a:prstGeom prst="roundRect">
            <a:avLst>
              <a:gd name="adj" fmla="val 13235"/>
            </a:avLst>
          </a:prstGeom>
          <a:solidFill>
            <a:srgbClr val="1C1C1C"/>
          </a:solidFill>
          <a:ln w="12700">
            <a:solidFill>
              <a:srgbClr val="1C1C1C"/>
            </a:solidFill>
            <a:prstDash val="solid"/>
          </a:ln>
        </p:spPr>
        <p:txBody>
          <a:bodyPr/>
          <a:lstStyle/>
          <a:p>
            <a:endParaRPr lang="en-US"/>
          </a:p>
        </p:txBody>
      </p:sp>
      <p:sp>
        <p:nvSpPr>
          <p:cNvPr id="50" name="Text 47"/>
          <p:cNvSpPr txBox="1"/>
          <p:nvPr/>
        </p:nvSpPr>
        <p:spPr>
          <a:xfrm>
            <a:off x="841248" y="5321808"/>
            <a:ext cx="10509199" cy="621792"/>
          </a:xfrm>
          <a:prstGeom prst="rect">
            <a:avLst/>
          </a:prstGeom>
          <a:noFill/>
          <a:ln/>
        </p:spPr>
        <p:txBody>
          <a:bodyPr wrap="square" lIns="0" tIns="0" rIns="0" bIns="0" rtlCol="0" anchor="ctr"/>
          <a:lstStyle/>
          <a:p>
            <a:pPr marL="0" indent="0">
              <a:lnSpc>
                <a:spcPts val="1700"/>
              </a:lnSpc>
              <a:buNone/>
            </a:pPr>
            <a:r>
              <a:rPr lang="en-US" sz="1350" b="1" dirty="0">
                <a:solidFill>
                  <a:srgbClr val="F2C879"/>
                </a:solidFill>
                <a:latin typeface="Calibri" pitchFamily="34" charset="0"/>
                <a:ea typeface="Calibri" pitchFamily="34" charset="-122"/>
                <a:cs typeface="Calibri" pitchFamily="34" charset="-120"/>
              </a:rPr>
              <a:t>Now read the grey tags:  </a:t>
            </a:r>
            <a:r>
              <a:rPr lang="en-US" sz="1350" dirty="0">
                <a:solidFill>
                  <a:srgbClr val="EDEDED"/>
                </a:solidFill>
                <a:latin typeface="Calibri" pitchFamily="34" charset="0"/>
                <a:ea typeface="Calibri" pitchFamily="34" charset="-122"/>
                <a:cs typeface="Calibri" pitchFamily="34" charset="-120"/>
              </a:rPr>
              <a:t>that list is the syllabus. Sessions 2–5 are the grammar you need to write any of them.</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vu_mark_gold.png"/>
          <p:cNvPicPr>
            <a:picLocks noChangeAspect="1"/>
          </p:cNvPicPr>
          <p:nvPr/>
        </p:nvPicPr>
        <p:blipFill>
          <a:blip r:embed="rId3"/>
          <a:stretch>
            <a:fillRect/>
          </a:stretch>
        </p:blipFill>
        <p:spPr>
          <a:xfrm>
            <a:off x="11356848" y="310896"/>
            <a:ext cx="384048" cy="274320"/>
          </a:xfrm>
          <a:prstGeom prst="rect">
            <a:avLst/>
          </a:prstGeom>
        </p:spPr>
      </p:pic>
      <p:sp>
        <p:nvSpPr>
          <p:cNvPr id="3" name="Shape 0"/>
          <p:cNvSpPr/>
          <p:nvPr/>
        </p:nvSpPr>
        <p:spPr>
          <a:xfrm>
            <a:off x="566928" y="329184"/>
            <a:ext cx="2413099" cy="310896"/>
          </a:xfrm>
          <a:prstGeom prst="roundRect">
            <a:avLst>
              <a:gd name="adj" fmla="val 50000"/>
            </a:avLst>
          </a:prstGeom>
          <a:solidFill>
            <a:srgbClr val="F2C879"/>
          </a:solidFill>
          <a:ln w="12700">
            <a:solidFill>
              <a:srgbClr val="F2C879"/>
            </a:solidFill>
            <a:prstDash val="solid"/>
          </a:ln>
        </p:spPr>
        <p:txBody>
          <a:bodyPr/>
          <a:lstStyle/>
          <a:p>
            <a:endParaRPr lang="en-US"/>
          </a:p>
        </p:txBody>
      </p:sp>
      <p:sp>
        <p:nvSpPr>
          <p:cNvPr id="4" name="Text 1"/>
          <p:cNvSpPr txBox="1"/>
          <p:nvPr/>
        </p:nvSpPr>
        <p:spPr>
          <a:xfrm>
            <a:off x="566928" y="329184"/>
            <a:ext cx="2413099" cy="310896"/>
          </a:xfrm>
          <a:prstGeom prst="rect">
            <a:avLst/>
          </a:prstGeom>
          <a:noFill/>
          <a:ln/>
        </p:spPr>
        <p:txBody>
          <a:bodyPr wrap="square" lIns="0" tIns="0" rIns="0" bIns="0" rtlCol="0" anchor="ctr"/>
          <a:lstStyle/>
          <a:p>
            <a:pPr marL="0" indent="0" algn="ctr">
              <a:buNone/>
            </a:pPr>
            <a:r>
              <a:rPr lang="en-US" sz="1050" b="1" kern="0" spc="110" dirty="0">
                <a:solidFill>
                  <a:srgbClr val="5A4415"/>
                </a:solidFill>
                <a:latin typeface="Arial" pitchFamily="34" charset="0"/>
                <a:ea typeface="Arial" pitchFamily="34" charset="-122"/>
                <a:cs typeface="Arial" pitchFamily="34" charset="-120"/>
              </a:rPr>
              <a:t>48–51 MIN  ·  SEGMENT 4</a:t>
            </a:r>
            <a:endParaRPr lang="en-US" sz="1050" dirty="0"/>
          </a:p>
        </p:txBody>
      </p:sp>
      <p:sp>
        <p:nvSpPr>
          <p:cNvPr id="5" name="Text 2"/>
          <p:cNvSpPr txBox="1"/>
          <p:nvPr/>
        </p:nvSpPr>
        <p:spPr>
          <a:xfrm>
            <a:off x="566928" y="749808"/>
            <a:ext cx="10692079" cy="658368"/>
          </a:xfrm>
          <a:prstGeom prst="rect">
            <a:avLst/>
          </a:prstGeom>
          <a:noFill/>
          <a:ln/>
        </p:spPr>
        <p:txBody>
          <a:bodyPr wrap="square" lIns="0" tIns="0" rIns="0" bIns="0" rtlCol="0" anchor="ctr"/>
          <a:lstStyle/>
          <a:p>
            <a:pPr marL="0" indent="0">
              <a:buNone/>
            </a:pPr>
            <a:r>
              <a:rPr lang="en-US" sz="3300" b="1" dirty="0">
                <a:solidFill>
                  <a:srgbClr val="1C1C1C"/>
                </a:solidFill>
                <a:latin typeface="Arial" pitchFamily="34" charset="0"/>
                <a:ea typeface="Arial" pitchFamily="34" charset="-122"/>
                <a:cs typeface="Arial" pitchFamily="34" charset="-120"/>
              </a:rPr>
              <a:t>What AI is actually good at</a:t>
            </a:r>
            <a:endParaRPr lang="en-US" sz="3300" dirty="0"/>
          </a:p>
        </p:txBody>
      </p:sp>
      <p:sp>
        <p:nvSpPr>
          <p:cNvPr id="6" name="Text 3"/>
          <p:cNvSpPr txBox="1"/>
          <p:nvPr/>
        </p:nvSpPr>
        <p:spPr>
          <a:xfrm>
            <a:off x="11430000" y="6419088"/>
            <a:ext cx="320040" cy="228600"/>
          </a:xfrm>
          <a:prstGeom prst="rect">
            <a:avLst/>
          </a:prstGeom>
          <a:noFill/>
          <a:ln/>
        </p:spPr>
        <p:txBody>
          <a:bodyPr wrap="square" lIns="0" tIns="0" rIns="0" bIns="0" rtlCol="0" anchor="ctr"/>
          <a:lstStyle/>
          <a:p>
            <a:pPr marL="0" indent="0" algn="r">
              <a:buNone/>
            </a:pPr>
            <a:r>
              <a:rPr lang="en-US" sz="1000" dirty="0">
                <a:solidFill>
                  <a:srgbClr val="B5B5B5"/>
                </a:solidFill>
                <a:latin typeface="Calibri" pitchFamily="34" charset="0"/>
                <a:ea typeface="Calibri" pitchFamily="34" charset="-122"/>
                <a:cs typeface="Calibri" pitchFamily="34" charset="-120"/>
              </a:rPr>
              <a:t>17</a:t>
            </a:r>
            <a:endParaRPr lang="en-US" sz="1000" dirty="0"/>
          </a:p>
        </p:txBody>
      </p:sp>
      <p:sp>
        <p:nvSpPr>
          <p:cNvPr id="7" name="Shape 4"/>
          <p:cNvSpPr/>
          <p:nvPr/>
        </p:nvSpPr>
        <p:spPr>
          <a:xfrm>
            <a:off x="566928" y="1517904"/>
            <a:ext cx="5376672" cy="3401568"/>
          </a:xfrm>
          <a:prstGeom prst="roundRect">
            <a:avLst>
              <a:gd name="adj" fmla="val 2419"/>
            </a:avLst>
          </a:prstGeom>
          <a:solidFill>
            <a:srgbClr val="FBF7EF"/>
          </a:solidFill>
          <a:ln w="12700">
            <a:solidFill>
              <a:srgbClr val="E6E6E6"/>
            </a:solidFill>
            <a:prstDash val="solid"/>
          </a:ln>
        </p:spPr>
        <p:txBody>
          <a:bodyPr/>
          <a:lstStyle/>
          <a:p>
            <a:endParaRPr lang="en-US"/>
          </a:p>
        </p:txBody>
      </p:sp>
      <p:sp>
        <p:nvSpPr>
          <p:cNvPr id="8" name="Shape 5"/>
          <p:cNvSpPr/>
          <p:nvPr/>
        </p:nvSpPr>
        <p:spPr>
          <a:xfrm>
            <a:off x="822960" y="1755648"/>
            <a:ext cx="329184" cy="329184"/>
          </a:xfrm>
          <a:prstGeom prst="ellipse">
            <a:avLst/>
          </a:prstGeom>
          <a:solidFill>
            <a:srgbClr val="F2C879"/>
          </a:solidFill>
          <a:ln w="12700">
            <a:solidFill>
              <a:srgbClr val="F2C879"/>
            </a:solidFill>
            <a:prstDash val="solid"/>
          </a:ln>
        </p:spPr>
        <p:txBody>
          <a:bodyPr/>
          <a:lstStyle/>
          <a:p>
            <a:endParaRPr lang="en-US"/>
          </a:p>
        </p:txBody>
      </p:sp>
      <p:sp>
        <p:nvSpPr>
          <p:cNvPr id="9" name="Text 6"/>
          <p:cNvSpPr txBox="1"/>
          <p:nvPr/>
        </p:nvSpPr>
        <p:spPr>
          <a:xfrm>
            <a:off x="822960" y="1755648"/>
            <a:ext cx="329184" cy="329184"/>
          </a:xfrm>
          <a:prstGeom prst="rect">
            <a:avLst/>
          </a:prstGeom>
          <a:noFill/>
          <a:ln/>
        </p:spPr>
        <p:txBody>
          <a:bodyPr wrap="square" lIns="0" tIns="0" rIns="0" bIns="0" rtlCol="0" anchor="ctr"/>
          <a:lstStyle/>
          <a:p>
            <a:pPr marL="0" indent="0" algn="ctr">
              <a:buNone/>
            </a:pPr>
            <a:r>
              <a:rPr lang="en-US" sz="1400" b="1" dirty="0">
                <a:solidFill>
                  <a:srgbClr val="5A4415"/>
                </a:solidFill>
                <a:latin typeface="Arial" pitchFamily="34" charset="0"/>
                <a:ea typeface="Arial" pitchFamily="34" charset="-122"/>
                <a:cs typeface="Arial" pitchFamily="34" charset="-120"/>
              </a:rPr>
              <a:t>✓</a:t>
            </a:r>
            <a:endParaRPr lang="en-US" sz="1400" dirty="0"/>
          </a:p>
        </p:txBody>
      </p:sp>
      <p:sp>
        <p:nvSpPr>
          <p:cNvPr id="10" name="Text 7"/>
          <p:cNvSpPr txBox="1"/>
          <p:nvPr/>
        </p:nvSpPr>
        <p:spPr>
          <a:xfrm>
            <a:off x="1261872" y="1755648"/>
            <a:ext cx="4206240" cy="329184"/>
          </a:xfrm>
          <a:prstGeom prst="rect">
            <a:avLst/>
          </a:prstGeom>
          <a:noFill/>
          <a:ln/>
        </p:spPr>
        <p:txBody>
          <a:bodyPr wrap="square" lIns="0" tIns="0" rIns="0" bIns="0" rtlCol="0" anchor="ctr"/>
          <a:lstStyle/>
          <a:p>
            <a:pPr marL="0" indent="0">
              <a:buNone/>
            </a:pPr>
            <a:r>
              <a:rPr lang="en-US" sz="1600" b="1" dirty="0">
                <a:solidFill>
                  <a:srgbClr val="1C1C1C"/>
                </a:solidFill>
                <a:latin typeface="Arial" pitchFamily="34" charset="0"/>
                <a:ea typeface="Arial" pitchFamily="34" charset="-122"/>
                <a:cs typeface="Arial" pitchFamily="34" charset="-120"/>
              </a:rPr>
              <a:t>Reliably good</a:t>
            </a:r>
            <a:endParaRPr lang="en-US" sz="1600" dirty="0"/>
          </a:p>
        </p:txBody>
      </p:sp>
      <p:sp>
        <p:nvSpPr>
          <p:cNvPr id="11" name="Text 8"/>
          <p:cNvSpPr txBox="1"/>
          <p:nvPr/>
        </p:nvSpPr>
        <p:spPr>
          <a:xfrm>
            <a:off x="841248" y="2267712"/>
            <a:ext cx="4892040" cy="2743200"/>
          </a:xfrm>
          <a:prstGeom prst="rect">
            <a:avLst/>
          </a:prstGeom>
          <a:noFill/>
          <a:ln/>
        </p:spPr>
        <p:txBody>
          <a:bodyPr wrap="square" lIns="0" tIns="0" rIns="0" bIns="0" rtlCol="0" anchor="t"/>
          <a:lstStyle/>
          <a:p>
            <a:pPr marL="203200" indent="-203200">
              <a:lnSpc>
                <a:spcPts val="1800"/>
              </a:lnSpc>
              <a:spcAft>
                <a:spcPts val="900"/>
              </a:spcAft>
              <a:buSzPct val="100000"/>
              <a:buChar char="•"/>
            </a:pPr>
            <a:r>
              <a:rPr lang="en-US" sz="1300" dirty="0">
                <a:solidFill>
                  <a:srgbClr val="3A3A3A"/>
                </a:solidFill>
                <a:latin typeface="Calibri" pitchFamily="34" charset="0"/>
                <a:ea typeface="Calibri" pitchFamily="34" charset="-122"/>
                <a:cs typeface="Calibri" pitchFamily="34" charset="-120"/>
              </a:rPr>
              <a:t>Boilerplate — imports, plot styling, file reading</a:t>
            </a:r>
            <a:endParaRPr lang="en-US" sz="1300" dirty="0"/>
          </a:p>
          <a:p>
            <a:pPr marL="203200" indent="-203200">
              <a:lnSpc>
                <a:spcPts val="1800"/>
              </a:lnSpc>
              <a:spcAft>
                <a:spcPts val="900"/>
              </a:spcAft>
              <a:buSzPct val="100000"/>
              <a:buChar char="•"/>
            </a:pPr>
            <a:r>
              <a:rPr lang="en-US" sz="1300" dirty="0">
                <a:solidFill>
                  <a:srgbClr val="3A3A3A"/>
                </a:solidFill>
                <a:latin typeface="Calibri" pitchFamily="34" charset="0"/>
                <a:ea typeface="Calibri" pitchFamily="34" charset="-122"/>
                <a:cs typeface="Calibri" pitchFamily="34" charset="-120"/>
              </a:rPr>
              <a:t>Syntax you forgot — “how do I open a CSV in pandas?”</a:t>
            </a:r>
            <a:endParaRPr lang="en-US" sz="1300" dirty="0"/>
          </a:p>
          <a:p>
            <a:pPr marL="203200" indent="-203200">
              <a:lnSpc>
                <a:spcPts val="1800"/>
              </a:lnSpc>
              <a:spcAft>
                <a:spcPts val="900"/>
              </a:spcAft>
              <a:buSzPct val="100000"/>
              <a:buChar char="•"/>
            </a:pPr>
            <a:r>
              <a:rPr lang="en-US" sz="1300" dirty="0">
                <a:solidFill>
                  <a:srgbClr val="3A3A3A"/>
                </a:solidFill>
                <a:latin typeface="Calibri" pitchFamily="34" charset="0"/>
                <a:ea typeface="Calibri" pitchFamily="34" charset="-122"/>
                <a:cs typeface="Calibri" pitchFamily="34" charset="-120"/>
              </a:rPr>
              <a:t>Explaining unfamiliar code line by line</a:t>
            </a:r>
            <a:endParaRPr lang="en-US" sz="1300" dirty="0"/>
          </a:p>
          <a:p>
            <a:pPr marL="203200" indent="-203200">
              <a:lnSpc>
                <a:spcPts val="1800"/>
              </a:lnSpc>
              <a:spcAft>
                <a:spcPts val="900"/>
              </a:spcAft>
              <a:buSzPct val="100000"/>
              <a:buChar char="•"/>
            </a:pPr>
            <a:r>
              <a:rPr lang="en-US" sz="1300" dirty="0">
                <a:solidFill>
                  <a:srgbClr val="3A3A3A"/>
                </a:solidFill>
                <a:latin typeface="Calibri" pitchFamily="34" charset="0"/>
                <a:ea typeface="Calibri" pitchFamily="34" charset="-122"/>
                <a:cs typeface="Calibri" pitchFamily="34" charset="-120"/>
              </a:rPr>
              <a:t>Suggesting libraries for a task</a:t>
            </a:r>
            <a:endParaRPr lang="en-US" sz="1300" dirty="0"/>
          </a:p>
          <a:p>
            <a:pPr marL="203200" indent="-203200">
              <a:lnSpc>
                <a:spcPts val="1800"/>
              </a:lnSpc>
              <a:spcAft>
                <a:spcPts val="900"/>
              </a:spcAft>
              <a:buSzPct val="100000"/>
              <a:buChar char="•"/>
            </a:pPr>
            <a:r>
              <a:rPr lang="en-US" sz="1300" dirty="0">
                <a:solidFill>
                  <a:srgbClr val="3A3A3A"/>
                </a:solidFill>
                <a:latin typeface="Calibri" pitchFamily="34" charset="0"/>
                <a:ea typeface="Calibri" pitchFamily="34" charset="-122"/>
                <a:cs typeface="Calibri" pitchFamily="34" charset="-120"/>
              </a:rPr>
              <a:t>Refactoring code you already understand</a:t>
            </a:r>
            <a:endParaRPr lang="en-US" sz="1300" dirty="0"/>
          </a:p>
          <a:p>
            <a:pPr marL="203200" indent="-203200">
              <a:lnSpc>
                <a:spcPts val="1800"/>
              </a:lnSpc>
              <a:spcAft>
                <a:spcPts val="900"/>
              </a:spcAft>
              <a:buSzPct val="100000"/>
              <a:buChar char="•"/>
            </a:pPr>
            <a:r>
              <a:rPr lang="en-US" sz="1300" dirty="0">
                <a:solidFill>
                  <a:srgbClr val="3A3A3A"/>
                </a:solidFill>
                <a:latin typeface="Calibri" pitchFamily="34" charset="0"/>
                <a:ea typeface="Calibri" pitchFamily="34" charset="-122"/>
                <a:cs typeface="Calibri" pitchFamily="34" charset="-120"/>
              </a:rPr>
              <a:t>Translating Python ↔ R</a:t>
            </a:r>
            <a:endParaRPr lang="en-US" sz="1300" dirty="0"/>
          </a:p>
        </p:txBody>
      </p:sp>
      <p:sp>
        <p:nvSpPr>
          <p:cNvPr id="12" name="Shape 9"/>
          <p:cNvSpPr/>
          <p:nvPr/>
        </p:nvSpPr>
        <p:spPr>
          <a:xfrm>
            <a:off x="6227064" y="1517904"/>
            <a:ext cx="5385816" cy="3401568"/>
          </a:xfrm>
          <a:prstGeom prst="roundRect">
            <a:avLst>
              <a:gd name="adj" fmla="val 2419"/>
            </a:avLst>
          </a:prstGeom>
          <a:solidFill>
            <a:srgbClr val="FFFFFF"/>
          </a:solidFill>
          <a:ln w="12700">
            <a:solidFill>
              <a:srgbClr val="E6E6E6"/>
            </a:solidFill>
            <a:prstDash val="solid"/>
          </a:ln>
        </p:spPr>
        <p:txBody>
          <a:bodyPr/>
          <a:lstStyle/>
          <a:p>
            <a:endParaRPr lang="en-US"/>
          </a:p>
        </p:txBody>
      </p:sp>
      <p:sp>
        <p:nvSpPr>
          <p:cNvPr id="13" name="Shape 10"/>
          <p:cNvSpPr/>
          <p:nvPr/>
        </p:nvSpPr>
        <p:spPr>
          <a:xfrm>
            <a:off x="6483096" y="1755648"/>
            <a:ext cx="329184" cy="329184"/>
          </a:xfrm>
          <a:prstGeom prst="ellipse">
            <a:avLst/>
          </a:prstGeom>
          <a:solidFill>
            <a:srgbClr val="F0DCD8"/>
          </a:solidFill>
          <a:ln w="12700">
            <a:solidFill>
              <a:srgbClr val="F0DCD8"/>
            </a:solidFill>
            <a:prstDash val="solid"/>
          </a:ln>
        </p:spPr>
        <p:txBody>
          <a:bodyPr/>
          <a:lstStyle/>
          <a:p>
            <a:endParaRPr lang="en-US"/>
          </a:p>
        </p:txBody>
      </p:sp>
      <p:sp>
        <p:nvSpPr>
          <p:cNvPr id="14" name="Text 11"/>
          <p:cNvSpPr txBox="1"/>
          <p:nvPr/>
        </p:nvSpPr>
        <p:spPr>
          <a:xfrm>
            <a:off x="6483096" y="1755648"/>
            <a:ext cx="329184" cy="329184"/>
          </a:xfrm>
          <a:prstGeom prst="rect">
            <a:avLst/>
          </a:prstGeom>
          <a:noFill/>
          <a:ln/>
        </p:spPr>
        <p:txBody>
          <a:bodyPr wrap="square" lIns="0" tIns="0" rIns="0" bIns="0" rtlCol="0" anchor="ctr"/>
          <a:lstStyle/>
          <a:p>
            <a:pPr marL="0" indent="0" algn="ctr">
              <a:buNone/>
            </a:pPr>
            <a:r>
              <a:rPr lang="en-US" sz="1400" b="1" dirty="0">
                <a:solidFill>
                  <a:srgbClr val="A83A2C"/>
                </a:solidFill>
                <a:latin typeface="Arial" pitchFamily="34" charset="0"/>
                <a:ea typeface="Arial" pitchFamily="34" charset="-122"/>
                <a:cs typeface="Arial" pitchFamily="34" charset="-120"/>
              </a:rPr>
              <a:t>!</a:t>
            </a:r>
            <a:endParaRPr lang="en-US" sz="1400" dirty="0"/>
          </a:p>
        </p:txBody>
      </p:sp>
      <p:sp>
        <p:nvSpPr>
          <p:cNvPr id="15" name="Text 12"/>
          <p:cNvSpPr txBox="1"/>
          <p:nvPr/>
        </p:nvSpPr>
        <p:spPr>
          <a:xfrm>
            <a:off x="6922008" y="1755648"/>
            <a:ext cx="4206240" cy="329184"/>
          </a:xfrm>
          <a:prstGeom prst="rect">
            <a:avLst/>
          </a:prstGeom>
          <a:noFill/>
          <a:ln/>
        </p:spPr>
        <p:txBody>
          <a:bodyPr wrap="square" lIns="0" tIns="0" rIns="0" bIns="0" rtlCol="0" anchor="ctr"/>
          <a:lstStyle/>
          <a:p>
            <a:pPr marL="0" indent="0">
              <a:buNone/>
            </a:pPr>
            <a:r>
              <a:rPr lang="en-US" sz="1600" b="1" dirty="0">
                <a:solidFill>
                  <a:srgbClr val="1C1C1C"/>
                </a:solidFill>
                <a:latin typeface="Arial" pitchFamily="34" charset="0"/>
                <a:ea typeface="Arial" pitchFamily="34" charset="-122"/>
                <a:cs typeface="Arial" pitchFamily="34" charset="-120"/>
              </a:rPr>
              <a:t>Reliably unreliable</a:t>
            </a:r>
            <a:endParaRPr lang="en-US" sz="1600" dirty="0"/>
          </a:p>
        </p:txBody>
      </p:sp>
      <p:sp>
        <p:nvSpPr>
          <p:cNvPr id="16" name="Text 13"/>
          <p:cNvSpPr txBox="1"/>
          <p:nvPr/>
        </p:nvSpPr>
        <p:spPr>
          <a:xfrm>
            <a:off x="6501384" y="2267712"/>
            <a:ext cx="4892040" cy="2743200"/>
          </a:xfrm>
          <a:prstGeom prst="rect">
            <a:avLst/>
          </a:prstGeom>
          <a:noFill/>
          <a:ln/>
        </p:spPr>
        <p:txBody>
          <a:bodyPr wrap="square" lIns="0" tIns="0" rIns="0" bIns="0" rtlCol="0" anchor="t"/>
          <a:lstStyle/>
          <a:p>
            <a:pPr marL="203200" indent="-203200">
              <a:lnSpc>
                <a:spcPts val="1800"/>
              </a:lnSpc>
              <a:spcAft>
                <a:spcPts val="900"/>
              </a:spcAft>
              <a:buSzPct val="100000"/>
              <a:buChar char="•"/>
            </a:pPr>
            <a:r>
              <a:rPr lang="en-US" sz="1300" dirty="0">
                <a:solidFill>
                  <a:srgbClr val="3A3A3A"/>
                </a:solidFill>
                <a:latin typeface="Calibri" pitchFamily="34" charset="0"/>
                <a:ea typeface="Calibri" pitchFamily="34" charset="-122"/>
                <a:cs typeface="Calibri" pitchFamily="34" charset="-120"/>
              </a:rPr>
              <a:t>Anything requiring knowledge of your data</a:t>
            </a:r>
            <a:endParaRPr lang="en-US" sz="1300" dirty="0"/>
          </a:p>
          <a:p>
            <a:pPr marL="203200" indent="-203200">
              <a:lnSpc>
                <a:spcPts val="1800"/>
              </a:lnSpc>
              <a:spcAft>
                <a:spcPts val="900"/>
              </a:spcAft>
              <a:buSzPct val="100000"/>
              <a:buChar char="•"/>
            </a:pPr>
            <a:r>
              <a:rPr lang="en-US" sz="1300" dirty="0">
                <a:solidFill>
                  <a:srgbClr val="3A3A3A"/>
                </a:solidFill>
                <a:latin typeface="Calibri" pitchFamily="34" charset="0"/>
                <a:ea typeface="Calibri" pitchFamily="34" charset="-122"/>
                <a:cs typeface="Calibri" pitchFamily="34" charset="-120"/>
              </a:rPr>
              <a:t>Choosing the right statistical test</a:t>
            </a:r>
            <a:endParaRPr lang="en-US" sz="1300" dirty="0"/>
          </a:p>
          <a:p>
            <a:pPr marL="203200" indent="-203200">
              <a:lnSpc>
                <a:spcPts val="1800"/>
              </a:lnSpc>
              <a:spcAft>
                <a:spcPts val="900"/>
              </a:spcAft>
              <a:buSzPct val="100000"/>
              <a:buChar char="•"/>
            </a:pPr>
            <a:r>
              <a:rPr lang="en-US" sz="1300" dirty="0">
                <a:solidFill>
                  <a:srgbClr val="3A3A3A"/>
                </a:solidFill>
                <a:latin typeface="Calibri" pitchFamily="34" charset="0"/>
                <a:ea typeface="Calibri" pitchFamily="34" charset="-122"/>
                <a:cs typeface="Calibri" pitchFamily="34" charset="-120"/>
              </a:rPr>
              <a:t>Noticing a column is text when it should be a number</a:t>
            </a:r>
            <a:endParaRPr lang="en-US" sz="1300" dirty="0"/>
          </a:p>
          <a:p>
            <a:pPr marL="203200" indent="-203200">
              <a:lnSpc>
                <a:spcPts val="1800"/>
              </a:lnSpc>
              <a:spcAft>
                <a:spcPts val="900"/>
              </a:spcAft>
              <a:buSzPct val="100000"/>
              <a:buChar char="•"/>
            </a:pPr>
            <a:r>
              <a:rPr lang="en-US" sz="1300" dirty="0">
                <a:solidFill>
                  <a:srgbClr val="3A3A3A"/>
                </a:solidFill>
                <a:latin typeface="Calibri" pitchFamily="34" charset="0"/>
                <a:ea typeface="Calibri" pitchFamily="34" charset="-122"/>
                <a:cs typeface="Calibri" pitchFamily="34" charset="-120"/>
              </a:rPr>
              <a:t>Knowing whether a p-value means anything for your design</a:t>
            </a:r>
            <a:endParaRPr lang="en-US" sz="1300" dirty="0"/>
          </a:p>
          <a:p>
            <a:pPr marL="203200" indent="-203200">
              <a:lnSpc>
                <a:spcPts val="1800"/>
              </a:lnSpc>
              <a:spcAft>
                <a:spcPts val="900"/>
              </a:spcAft>
              <a:buSzPct val="100000"/>
              <a:buChar char="•"/>
            </a:pPr>
            <a:r>
              <a:rPr lang="en-US" sz="1300" dirty="0">
                <a:solidFill>
                  <a:srgbClr val="3A3A3A"/>
                </a:solidFill>
                <a:latin typeface="Calibri" pitchFamily="34" charset="0"/>
                <a:ea typeface="Calibri" pitchFamily="34" charset="-122"/>
                <a:cs typeface="Calibri" pitchFamily="34" charset="-120"/>
              </a:rPr>
              <a:t>Small numerical slips — off-by-one, log vs. log10</a:t>
            </a:r>
            <a:endParaRPr lang="en-US" sz="1300" dirty="0"/>
          </a:p>
          <a:p>
            <a:pPr marL="203200" indent="-203200">
              <a:lnSpc>
                <a:spcPts val="1800"/>
              </a:lnSpc>
              <a:spcAft>
                <a:spcPts val="900"/>
              </a:spcAft>
              <a:buSzPct val="100000"/>
              <a:buChar char="•"/>
            </a:pPr>
            <a:r>
              <a:rPr lang="en-US" sz="1300" dirty="0">
                <a:solidFill>
                  <a:srgbClr val="3A3A3A"/>
                </a:solidFill>
                <a:latin typeface="Calibri" pitchFamily="34" charset="0"/>
                <a:ea typeface="Calibri" pitchFamily="34" charset="-122"/>
                <a:cs typeface="Calibri" pitchFamily="34" charset="-120"/>
              </a:rPr>
              <a:t>Hallucinating functions and packages that do not exist</a:t>
            </a:r>
            <a:endParaRPr lang="en-US" sz="1300" dirty="0"/>
          </a:p>
        </p:txBody>
      </p:sp>
      <p:sp>
        <p:nvSpPr>
          <p:cNvPr id="17" name="Shape 14"/>
          <p:cNvSpPr/>
          <p:nvPr/>
        </p:nvSpPr>
        <p:spPr>
          <a:xfrm>
            <a:off x="566928" y="5138928"/>
            <a:ext cx="11057839" cy="713232"/>
          </a:xfrm>
          <a:prstGeom prst="roundRect">
            <a:avLst>
              <a:gd name="adj" fmla="val 11538"/>
            </a:avLst>
          </a:prstGeom>
          <a:solidFill>
            <a:srgbClr val="1C1C1C"/>
          </a:solidFill>
          <a:ln w="12700">
            <a:solidFill>
              <a:srgbClr val="1C1C1C"/>
            </a:solidFill>
            <a:prstDash val="solid"/>
          </a:ln>
        </p:spPr>
        <p:txBody>
          <a:bodyPr/>
          <a:lstStyle/>
          <a:p>
            <a:endParaRPr lang="en-US"/>
          </a:p>
        </p:txBody>
      </p:sp>
      <p:sp>
        <p:nvSpPr>
          <p:cNvPr id="18" name="Text 15"/>
          <p:cNvSpPr txBox="1"/>
          <p:nvPr/>
        </p:nvSpPr>
        <p:spPr>
          <a:xfrm>
            <a:off x="841248" y="5138928"/>
            <a:ext cx="10509199" cy="713232"/>
          </a:xfrm>
          <a:prstGeom prst="rect">
            <a:avLst/>
          </a:prstGeom>
          <a:noFill/>
          <a:ln/>
        </p:spPr>
        <p:txBody>
          <a:bodyPr wrap="square" lIns="0" tIns="0" rIns="0" bIns="0" rtlCol="0" anchor="ctr"/>
          <a:lstStyle/>
          <a:p>
            <a:pPr marL="0" indent="0">
              <a:lnSpc>
                <a:spcPts val="1700"/>
              </a:lnSpc>
              <a:buNone/>
            </a:pPr>
            <a:r>
              <a:rPr lang="en-US" sz="1350" b="1" dirty="0">
                <a:solidFill>
                  <a:srgbClr val="F2C879"/>
                </a:solidFill>
                <a:latin typeface="Calibri" pitchFamily="34" charset="0"/>
                <a:ea typeface="Calibri" pitchFamily="34" charset="-122"/>
                <a:cs typeface="Calibri" pitchFamily="34" charset="-120"/>
              </a:rPr>
              <a:t>Notice the pattern:  </a:t>
            </a:r>
            <a:r>
              <a:rPr lang="en-US" sz="1350" dirty="0">
                <a:solidFill>
                  <a:srgbClr val="EDEDED"/>
                </a:solidFill>
                <a:latin typeface="Calibri" pitchFamily="34" charset="0"/>
                <a:ea typeface="Calibri" pitchFamily="34" charset="-122"/>
                <a:cs typeface="Calibri" pitchFamily="34" charset="-120"/>
              </a:rPr>
              <a:t>everything on the left is about the form of the code. Everything on the right is about the meaning of your data. AI has read every line of code ever written. It has never seen your spreadsheet.</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vu_mark_gold.png"/>
          <p:cNvPicPr>
            <a:picLocks noChangeAspect="1"/>
          </p:cNvPicPr>
          <p:nvPr/>
        </p:nvPicPr>
        <p:blipFill>
          <a:blip r:embed="rId3"/>
          <a:stretch>
            <a:fillRect/>
          </a:stretch>
        </p:blipFill>
        <p:spPr>
          <a:xfrm>
            <a:off x="11356848" y="310896"/>
            <a:ext cx="384048" cy="274320"/>
          </a:xfrm>
          <a:prstGeom prst="rect">
            <a:avLst/>
          </a:prstGeom>
        </p:spPr>
      </p:pic>
      <p:sp>
        <p:nvSpPr>
          <p:cNvPr id="3" name="Shape 0"/>
          <p:cNvSpPr/>
          <p:nvPr/>
        </p:nvSpPr>
        <p:spPr>
          <a:xfrm>
            <a:off x="566928" y="329184"/>
            <a:ext cx="1222553" cy="310896"/>
          </a:xfrm>
          <a:prstGeom prst="roundRect">
            <a:avLst>
              <a:gd name="adj" fmla="val 50000"/>
            </a:avLst>
          </a:prstGeom>
          <a:solidFill>
            <a:srgbClr val="F2C879"/>
          </a:solidFill>
          <a:ln w="12700">
            <a:solidFill>
              <a:srgbClr val="F2C879"/>
            </a:solidFill>
            <a:prstDash val="solid"/>
          </a:ln>
        </p:spPr>
        <p:txBody>
          <a:bodyPr/>
          <a:lstStyle/>
          <a:p>
            <a:endParaRPr lang="en-US"/>
          </a:p>
        </p:txBody>
      </p:sp>
      <p:sp>
        <p:nvSpPr>
          <p:cNvPr id="4" name="Text 1"/>
          <p:cNvSpPr txBox="1"/>
          <p:nvPr/>
        </p:nvSpPr>
        <p:spPr>
          <a:xfrm>
            <a:off x="566928" y="329184"/>
            <a:ext cx="1222553" cy="310896"/>
          </a:xfrm>
          <a:prstGeom prst="rect">
            <a:avLst/>
          </a:prstGeom>
          <a:noFill/>
          <a:ln/>
        </p:spPr>
        <p:txBody>
          <a:bodyPr wrap="square" lIns="0" tIns="0" rIns="0" bIns="0" rtlCol="0" anchor="ctr"/>
          <a:lstStyle/>
          <a:p>
            <a:pPr marL="0" indent="0" algn="ctr">
              <a:buNone/>
            </a:pPr>
            <a:r>
              <a:rPr lang="en-US" sz="1050" b="1" kern="0" spc="110" dirty="0">
                <a:solidFill>
                  <a:srgbClr val="5A4415"/>
                </a:solidFill>
                <a:latin typeface="Arial" pitchFamily="34" charset="0"/>
                <a:ea typeface="Arial" pitchFamily="34" charset="-122"/>
                <a:cs typeface="Arial" pitchFamily="34" charset="-120"/>
              </a:rPr>
              <a:t>51–53 MIN</a:t>
            </a:r>
            <a:endParaRPr lang="en-US" sz="1050" dirty="0"/>
          </a:p>
        </p:txBody>
      </p:sp>
      <p:sp>
        <p:nvSpPr>
          <p:cNvPr id="5" name="Text 2"/>
          <p:cNvSpPr txBox="1"/>
          <p:nvPr/>
        </p:nvSpPr>
        <p:spPr>
          <a:xfrm>
            <a:off x="566928" y="749808"/>
            <a:ext cx="10692079" cy="658368"/>
          </a:xfrm>
          <a:prstGeom prst="rect">
            <a:avLst/>
          </a:prstGeom>
          <a:noFill/>
          <a:ln/>
        </p:spPr>
        <p:txBody>
          <a:bodyPr wrap="square" lIns="0" tIns="0" rIns="0" bIns="0" rtlCol="0" anchor="ctr"/>
          <a:lstStyle/>
          <a:p>
            <a:pPr marL="0" indent="0">
              <a:buNone/>
            </a:pPr>
            <a:r>
              <a:rPr lang="en-US" sz="3300" b="1" dirty="0">
                <a:solidFill>
                  <a:srgbClr val="1C1C1C"/>
                </a:solidFill>
                <a:latin typeface="Arial" pitchFamily="34" charset="0"/>
                <a:ea typeface="Arial" pitchFamily="34" charset="-122"/>
                <a:cs typeface="Arial" pitchFamily="34" charset="-120"/>
              </a:rPr>
              <a:t>So: always verify. Concretely.</a:t>
            </a:r>
            <a:endParaRPr lang="en-US" sz="3300" dirty="0"/>
          </a:p>
        </p:txBody>
      </p:sp>
      <p:sp>
        <p:nvSpPr>
          <p:cNvPr id="6" name="Text 3"/>
          <p:cNvSpPr txBox="1"/>
          <p:nvPr/>
        </p:nvSpPr>
        <p:spPr>
          <a:xfrm>
            <a:off x="11430000" y="6419088"/>
            <a:ext cx="320040" cy="228600"/>
          </a:xfrm>
          <a:prstGeom prst="rect">
            <a:avLst/>
          </a:prstGeom>
          <a:noFill/>
          <a:ln/>
        </p:spPr>
        <p:txBody>
          <a:bodyPr wrap="square" lIns="0" tIns="0" rIns="0" bIns="0" rtlCol="0" anchor="ctr"/>
          <a:lstStyle/>
          <a:p>
            <a:pPr marL="0" indent="0" algn="r">
              <a:buNone/>
            </a:pPr>
            <a:r>
              <a:rPr lang="en-US" sz="1000" dirty="0">
                <a:solidFill>
                  <a:srgbClr val="B5B5B5"/>
                </a:solidFill>
                <a:latin typeface="Calibri" pitchFamily="34" charset="0"/>
                <a:ea typeface="Calibri" pitchFamily="34" charset="-122"/>
                <a:cs typeface="Calibri" pitchFamily="34" charset="-120"/>
              </a:rPr>
              <a:t>18</a:t>
            </a:r>
            <a:endParaRPr lang="en-US" sz="1000" dirty="0"/>
          </a:p>
        </p:txBody>
      </p:sp>
      <p:sp>
        <p:nvSpPr>
          <p:cNvPr id="7" name="Text 4"/>
          <p:cNvSpPr txBox="1"/>
          <p:nvPr/>
        </p:nvSpPr>
        <p:spPr>
          <a:xfrm>
            <a:off x="566928" y="1426464"/>
            <a:ext cx="10692079" cy="310896"/>
          </a:xfrm>
          <a:prstGeom prst="rect">
            <a:avLst/>
          </a:prstGeom>
          <a:noFill/>
          <a:ln/>
        </p:spPr>
        <p:txBody>
          <a:bodyPr wrap="square" lIns="0" tIns="0" rIns="0" bIns="0" rtlCol="0" anchor="ctr"/>
          <a:lstStyle/>
          <a:p>
            <a:pPr marL="0" indent="0">
              <a:buNone/>
            </a:pPr>
            <a:r>
              <a:rPr lang="en-US" sz="1450" i="1" dirty="0">
                <a:solidFill>
                  <a:srgbClr val="7A7A7A"/>
                </a:solidFill>
                <a:latin typeface="Calibri" pitchFamily="34" charset="0"/>
                <a:ea typeface="Calibri" pitchFamily="34" charset="-122"/>
                <a:cs typeface="Calibri" pitchFamily="34" charset="-120"/>
              </a:rPr>
              <a:t>Four steps. You will run this loop in every tutor activity this semester.</a:t>
            </a:r>
            <a:endParaRPr lang="en-US" sz="1450" dirty="0"/>
          </a:p>
        </p:txBody>
      </p:sp>
      <p:sp>
        <p:nvSpPr>
          <p:cNvPr id="8" name="Shape 5"/>
          <p:cNvSpPr/>
          <p:nvPr/>
        </p:nvSpPr>
        <p:spPr>
          <a:xfrm>
            <a:off x="566928" y="2011680"/>
            <a:ext cx="2615184" cy="2267712"/>
          </a:xfrm>
          <a:prstGeom prst="roundRect">
            <a:avLst>
              <a:gd name="adj" fmla="val 3629"/>
            </a:avLst>
          </a:prstGeom>
          <a:solidFill>
            <a:srgbClr val="FBF7EF"/>
          </a:solidFill>
          <a:ln w="12700">
            <a:solidFill>
              <a:srgbClr val="E6E6E6"/>
            </a:solidFill>
            <a:prstDash val="solid"/>
          </a:ln>
        </p:spPr>
        <p:txBody>
          <a:bodyPr/>
          <a:lstStyle/>
          <a:p>
            <a:endParaRPr lang="en-US"/>
          </a:p>
        </p:txBody>
      </p:sp>
      <p:sp>
        <p:nvSpPr>
          <p:cNvPr id="9" name="Shape 6"/>
          <p:cNvSpPr/>
          <p:nvPr/>
        </p:nvSpPr>
        <p:spPr>
          <a:xfrm>
            <a:off x="804672" y="2249424"/>
            <a:ext cx="420624" cy="420624"/>
          </a:xfrm>
          <a:prstGeom prst="ellipse">
            <a:avLst/>
          </a:prstGeom>
          <a:solidFill>
            <a:srgbClr val="F2C879"/>
          </a:solidFill>
          <a:ln w="12700">
            <a:solidFill>
              <a:srgbClr val="F2C879"/>
            </a:solidFill>
            <a:prstDash val="solid"/>
          </a:ln>
        </p:spPr>
        <p:txBody>
          <a:bodyPr/>
          <a:lstStyle/>
          <a:p>
            <a:endParaRPr lang="en-US"/>
          </a:p>
        </p:txBody>
      </p:sp>
      <p:sp>
        <p:nvSpPr>
          <p:cNvPr id="10" name="Text 7"/>
          <p:cNvSpPr txBox="1"/>
          <p:nvPr/>
        </p:nvSpPr>
        <p:spPr>
          <a:xfrm>
            <a:off x="804672" y="2249424"/>
            <a:ext cx="420624" cy="420624"/>
          </a:xfrm>
          <a:prstGeom prst="rect">
            <a:avLst/>
          </a:prstGeom>
          <a:noFill/>
          <a:ln/>
        </p:spPr>
        <p:txBody>
          <a:bodyPr wrap="square" lIns="0" tIns="0" rIns="0" bIns="0" rtlCol="0" anchor="ctr"/>
          <a:lstStyle/>
          <a:p>
            <a:pPr marL="0" indent="0" algn="ctr">
              <a:buNone/>
            </a:pPr>
            <a:r>
              <a:rPr lang="en-US" sz="1500" b="1" dirty="0">
                <a:solidFill>
                  <a:srgbClr val="5A4415"/>
                </a:solidFill>
                <a:latin typeface="Arial" pitchFamily="34" charset="0"/>
                <a:ea typeface="Arial" pitchFamily="34" charset="-122"/>
                <a:cs typeface="Arial" pitchFamily="34" charset="-120"/>
              </a:rPr>
              <a:t>1</a:t>
            </a:r>
            <a:endParaRPr lang="en-US" sz="1500" dirty="0"/>
          </a:p>
        </p:txBody>
      </p:sp>
      <p:sp>
        <p:nvSpPr>
          <p:cNvPr id="11" name="Text 8"/>
          <p:cNvSpPr txBox="1"/>
          <p:nvPr/>
        </p:nvSpPr>
        <p:spPr>
          <a:xfrm>
            <a:off x="804672" y="2798064"/>
            <a:ext cx="2148840" cy="365760"/>
          </a:xfrm>
          <a:prstGeom prst="rect">
            <a:avLst/>
          </a:prstGeom>
          <a:noFill/>
          <a:ln/>
        </p:spPr>
        <p:txBody>
          <a:bodyPr wrap="square" lIns="0" tIns="0" rIns="0" bIns="0" rtlCol="0" anchor="ctr"/>
          <a:lstStyle/>
          <a:p>
            <a:pPr marL="0" indent="0">
              <a:buNone/>
            </a:pPr>
            <a:r>
              <a:rPr lang="en-US" sz="1800" b="1" dirty="0">
                <a:solidFill>
                  <a:srgbClr val="1C1C1C"/>
                </a:solidFill>
                <a:latin typeface="Arial" pitchFamily="34" charset="0"/>
                <a:ea typeface="Arial" pitchFamily="34" charset="-122"/>
                <a:cs typeface="Arial" pitchFamily="34" charset="-120"/>
              </a:rPr>
              <a:t>Expect</a:t>
            </a:r>
            <a:endParaRPr lang="en-US" sz="1800" dirty="0"/>
          </a:p>
        </p:txBody>
      </p:sp>
      <p:sp>
        <p:nvSpPr>
          <p:cNvPr id="12" name="Text 9"/>
          <p:cNvSpPr txBox="1"/>
          <p:nvPr/>
        </p:nvSpPr>
        <p:spPr>
          <a:xfrm>
            <a:off x="804672" y="3218688"/>
            <a:ext cx="2148840" cy="1097280"/>
          </a:xfrm>
          <a:prstGeom prst="rect">
            <a:avLst/>
          </a:prstGeom>
          <a:noFill/>
          <a:ln/>
        </p:spPr>
        <p:txBody>
          <a:bodyPr wrap="square" lIns="0" tIns="0" rIns="0" bIns="0" rtlCol="0" anchor="t"/>
          <a:lstStyle/>
          <a:p>
            <a:pPr marL="0" indent="0">
              <a:lnSpc>
                <a:spcPts val="1600"/>
              </a:lnSpc>
              <a:buNone/>
            </a:pPr>
            <a:r>
              <a:rPr lang="en-US" sz="1200" dirty="0">
                <a:solidFill>
                  <a:srgbClr val="7A7A7A"/>
                </a:solidFill>
                <a:latin typeface="Calibri" pitchFamily="34" charset="0"/>
                <a:ea typeface="Calibri" pitchFamily="34" charset="-122"/>
                <a:cs typeface="Calibri" pitchFamily="34" charset="-120"/>
              </a:rPr>
              <a:t>Before you run it, say what the output should look like. Roughly how big? What shape? What sign?</a:t>
            </a:r>
            <a:endParaRPr lang="en-US" sz="1200" dirty="0"/>
          </a:p>
        </p:txBody>
      </p:sp>
      <p:sp>
        <p:nvSpPr>
          <p:cNvPr id="13" name="Text 10"/>
          <p:cNvSpPr txBox="1"/>
          <p:nvPr/>
        </p:nvSpPr>
        <p:spPr>
          <a:xfrm>
            <a:off x="3163824" y="2962656"/>
            <a:ext cx="219456" cy="365760"/>
          </a:xfrm>
          <a:prstGeom prst="rect">
            <a:avLst/>
          </a:prstGeom>
          <a:noFill/>
          <a:ln/>
        </p:spPr>
        <p:txBody>
          <a:bodyPr wrap="square" lIns="0" tIns="0" rIns="0" bIns="0" rtlCol="0" anchor="ctr"/>
          <a:lstStyle/>
          <a:p>
            <a:pPr marL="0" indent="0" algn="ctr">
              <a:buNone/>
            </a:pPr>
            <a:r>
              <a:rPr lang="en-US" sz="2200" b="1" dirty="0">
                <a:solidFill>
                  <a:srgbClr val="A9A9A9"/>
                </a:solidFill>
                <a:latin typeface="Arial" pitchFamily="34" charset="0"/>
                <a:ea typeface="Arial" pitchFamily="34" charset="-122"/>
                <a:cs typeface="Arial" pitchFamily="34" charset="-120"/>
              </a:rPr>
              <a:t>→</a:t>
            </a:r>
            <a:endParaRPr lang="en-US" sz="2200" dirty="0"/>
          </a:p>
        </p:txBody>
      </p:sp>
      <p:sp>
        <p:nvSpPr>
          <p:cNvPr id="14" name="Shape 11"/>
          <p:cNvSpPr/>
          <p:nvPr/>
        </p:nvSpPr>
        <p:spPr>
          <a:xfrm>
            <a:off x="3364992" y="2011680"/>
            <a:ext cx="2615184" cy="2267712"/>
          </a:xfrm>
          <a:prstGeom prst="roundRect">
            <a:avLst>
              <a:gd name="adj" fmla="val 3629"/>
            </a:avLst>
          </a:prstGeom>
          <a:solidFill>
            <a:srgbClr val="FFFFFF"/>
          </a:solidFill>
          <a:ln w="12700">
            <a:solidFill>
              <a:srgbClr val="E6E6E6"/>
            </a:solidFill>
            <a:prstDash val="solid"/>
          </a:ln>
        </p:spPr>
        <p:txBody>
          <a:bodyPr/>
          <a:lstStyle/>
          <a:p>
            <a:endParaRPr lang="en-US"/>
          </a:p>
        </p:txBody>
      </p:sp>
      <p:sp>
        <p:nvSpPr>
          <p:cNvPr id="15" name="Shape 12"/>
          <p:cNvSpPr/>
          <p:nvPr/>
        </p:nvSpPr>
        <p:spPr>
          <a:xfrm>
            <a:off x="3602736" y="2249424"/>
            <a:ext cx="420624" cy="420624"/>
          </a:xfrm>
          <a:prstGeom prst="ellipse">
            <a:avLst/>
          </a:prstGeom>
          <a:solidFill>
            <a:srgbClr val="DCE1E6"/>
          </a:solidFill>
          <a:ln w="12700">
            <a:solidFill>
              <a:srgbClr val="DCE1E6"/>
            </a:solidFill>
            <a:prstDash val="solid"/>
          </a:ln>
        </p:spPr>
        <p:txBody>
          <a:bodyPr/>
          <a:lstStyle/>
          <a:p>
            <a:endParaRPr lang="en-US"/>
          </a:p>
        </p:txBody>
      </p:sp>
      <p:sp>
        <p:nvSpPr>
          <p:cNvPr id="16" name="Text 13"/>
          <p:cNvSpPr txBox="1"/>
          <p:nvPr/>
        </p:nvSpPr>
        <p:spPr>
          <a:xfrm>
            <a:off x="3602736" y="2249424"/>
            <a:ext cx="420624" cy="420624"/>
          </a:xfrm>
          <a:prstGeom prst="rect">
            <a:avLst/>
          </a:prstGeom>
          <a:noFill/>
          <a:ln/>
        </p:spPr>
        <p:txBody>
          <a:bodyPr wrap="square" lIns="0" tIns="0" rIns="0" bIns="0" rtlCol="0" anchor="ctr"/>
          <a:lstStyle/>
          <a:p>
            <a:pPr marL="0" indent="0" algn="ctr">
              <a:buNone/>
            </a:pPr>
            <a:r>
              <a:rPr lang="en-US" sz="1500" b="1" dirty="0">
                <a:solidFill>
                  <a:srgbClr val="3E4C58"/>
                </a:solidFill>
                <a:latin typeface="Arial" pitchFamily="34" charset="0"/>
                <a:ea typeface="Arial" pitchFamily="34" charset="-122"/>
                <a:cs typeface="Arial" pitchFamily="34" charset="-120"/>
              </a:rPr>
              <a:t>2</a:t>
            </a:r>
            <a:endParaRPr lang="en-US" sz="1500" dirty="0"/>
          </a:p>
        </p:txBody>
      </p:sp>
      <p:sp>
        <p:nvSpPr>
          <p:cNvPr id="17" name="Text 14"/>
          <p:cNvSpPr txBox="1"/>
          <p:nvPr/>
        </p:nvSpPr>
        <p:spPr>
          <a:xfrm>
            <a:off x="3602736" y="2798064"/>
            <a:ext cx="2148840" cy="365760"/>
          </a:xfrm>
          <a:prstGeom prst="rect">
            <a:avLst/>
          </a:prstGeom>
          <a:noFill/>
          <a:ln/>
        </p:spPr>
        <p:txBody>
          <a:bodyPr wrap="square" lIns="0" tIns="0" rIns="0" bIns="0" rtlCol="0" anchor="ctr"/>
          <a:lstStyle/>
          <a:p>
            <a:pPr marL="0" indent="0">
              <a:buNone/>
            </a:pPr>
            <a:r>
              <a:rPr lang="en-US" sz="1800" b="1" dirty="0">
                <a:solidFill>
                  <a:srgbClr val="1C1C1C"/>
                </a:solidFill>
                <a:latin typeface="Arial" pitchFamily="34" charset="0"/>
                <a:ea typeface="Arial" pitchFamily="34" charset="-122"/>
                <a:cs typeface="Arial" pitchFamily="34" charset="-120"/>
              </a:rPr>
              <a:t>Run</a:t>
            </a:r>
            <a:endParaRPr lang="en-US" sz="1800" dirty="0"/>
          </a:p>
        </p:txBody>
      </p:sp>
      <p:sp>
        <p:nvSpPr>
          <p:cNvPr id="18" name="Text 15"/>
          <p:cNvSpPr txBox="1"/>
          <p:nvPr/>
        </p:nvSpPr>
        <p:spPr>
          <a:xfrm>
            <a:off x="3602736" y="3218688"/>
            <a:ext cx="2148840" cy="1097280"/>
          </a:xfrm>
          <a:prstGeom prst="rect">
            <a:avLst/>
          </a:prstGeom>
          <a:noFill/>
          <a:ln/>
        </p:spPr>
        <p:txBody>
          <a:bodyPr wrap="square" lIns="0" tIns="0" rIns="0" bIns="0" rtlCol="0" anchor="t"/>
          <a:lstStyle/>
          <a:p>
            <a:pPr marL="0" indent="0">
              <a:lnSpc>
                <a:spcPts val="1600"/>
              </a:lnSpc>
              <a:buNone/>
            </a:pPr>
            <a:r>
              <a:rPr lang="en-US" sz="1200" dirty="0">
                <a:solidFill>
                  <a:srgbClr val="7A7A7A"/>
                </a:solidFill>
                <a:latin typeface="Calibri" pitchFamily="34" charset="0"/>
                <a:ea typeface="Calibri" pitchFamily="34" charset="-122"/>
                <a:cs typeface="Calibri" pitchFamily="34" charset="-120"/>
              </a:rPr>
              <a:t>Actually execute it. Never reason about code you have not run.</a:t>
            </a:r>
            <a:endParaRPr lang="en-US" sz="1200" dirty="0"/>
          </a:p>
        </p:txBody>
      </p:sp>
      <p:sp>
        <p:nvSpPr>
          <p:cNvPr id="19" name="Text 16"/>
          <p:cNvSpPr txBox="1"/>
          <p:nvPr/>
        </p:nvSpPr>
        <p:spPr>
          <a:xfrm>
            <a:off x="5961888" y="2962656"/>
            <a:ext cx="219456" cy="365760"/>
          </a:xfrm>
          <a:prstGeom prst="rect">
            <a:avLst/>
          </a:prstGeom>
          <a:noFill/>
          <a:ln/>
        </p:spPr>
        <p:txBody>
          <a:bodyPr wrap="square" lIns="0" tIns="0" rIns="0" bIns="0" rtlCol="0" anchor="ctr"/>
          <a:lstStyle/>
          <a:p>
            <a:pPr marL="0" indent="0" algn="ctr">
              <a:buNone/>
            </a:pPr>
            <a:r>
              <a:rPr lang="en-US" sz="2200" b="1" dirty="0">
                <a:solidFill>
                  <a:srgbClr val="A9A9A9"/>
                </a:solidFill>
                <a:latin typeface="Arial" pitchFamily="34" charset="0"/>
                <a:ea typeface="Arial" pitchFamily="34" charset="-122"/>
                <a:cs typeface="Arial" pitchFamily="34" charset="-120"/>
              </a:rPr>
              <a:t>→</a:t>
            </a:r>
            <a:endParaRPr lang="en-US" sz="2200" dirty="0"/>
          </a:p>
        </p:txBody>
      </p:sp>
      <p:sp>
        <p:nvSpPr>
          <p:cNvPr id="20" name="Shape 17"/>
          <p:cNvSpPr/>
          <p:nvPr/>
        </p:nvSpPr>
        <p:spPr>
          <a:xfrm>
            <a:off x="6163056" y="2011680"/>
            <a:ext cx="2615184" cy="2267712"/>
          </a:xfrm>
          <a:prstGeom prst="roundRect">
            <a:avLst>
              <a:gd name="adj" fmla="val 3629"/>
            </a:avLst>
          </a:prstGeom>
          <a:solidFill>
            <a:srgbClr val="FFFFFF"/>
          </a:solidFill>
          <a:ln w="12700">
            <a:solidFill>
              <a:srgbClr val="E6E6E6"/>
            </a:solidFill>
            <a:prstDash val="solid"/>
          </a:ln>
        </p:spPr>
        <p:txBody>
          <a:bodyPr/>
          <a:lstStyle/>
          <a:p>
            <a:endParaRPr lang="en-US"/>
          </a:p>
        </p:txBody>
      </p:sp>
      <p:sp>
        <p:nvSpPr>
          <p:cNvPr id="21" name="Shape 18"/>
          <p:cNvSpPr/>
          <p:nvPr/>
        </p:nvSpPr>
        <p:spPr>
          <a:xfrm>
            <a:off x="6400800" y="2249424"/>
            <a:ext cx="420624" cy="420624"/>
          </a:xfrm>
          <a:prstGeom prst="ellipse">
            <a:avLst/>
          </a:prstGeom>
          <a:solidFill>
            <a:srgbClr val="DCE1E6"/>
          </a:solidFill>
          <a:ln w="12700">
            <a:solidFill>
              <a:srgbClr val="DCE1E6"/>
            </a:solidFill>
            <a:prstDash val="solid"/>
          </a:ln>
        </p:spPr>
        <p:txBody>
          <a:bodyPr/>
          <a:lstStyle/>
          <a:p>
            <a:endParaRPr lang="en-US"/>
          </a:p>
        </p:txBody>
      </p:sp>
      <p:sp>
        <p:nvSpPr>
          <p:cNvPr id="22" name="Text 19"/>
          <p:cNvSpPr txBox="1"/>
          <p:nvPr/>
        </p:nvSpPr>
        <p:spPr>
          <a:xfrm>
            <a:off x="6400800" y="2249424"/>
            <a:ext cx="420624" cy="420624"/>
          </a:xfrm>
          <a:prstGeom prst="rect">
            <a:avLst/>
          </a:prstGeom>
          <a:noFill/>
          <a:ln/>
        </p:spPr>
        <p:txBody>
          <a:bodyPr wrap="square" lIns="0" tIns="0" rIns="0" bIns="0" rtlCol="0" anchor="ctr"/>
          <a:lstStyle/>
          <a:p>
            <a:pPr marL="0" indent="0" algn="ctr">
              <a:buNone/>
            </a:pPr>
            <a:r>
              <a:rPr lang="en-US" sz="1500" b="1" dirty="0">
                <a:solidFill>
                  <a:srgbClr val="3E4C58"/>
                </a:solidFill>
                <a:latin typeface="Arial" pitchFamily="34" charset="0"/>
                <a:ea typeface="Arial" pitchFamily="34" charset="-122"/>
                <a:cs typeface="Arial" pitchFamily="34" charset="-120"/>
              </a:rPr>
              <a:t>3</a:t>
            </a:r>
            <a:endParaRPr lang="en-US" sz="1500" dirty="0"/>
          </a:p>
        </p:txBody>
      </p:sp>
      <p:sp>
        <p:nvSpPr>
          <p:cNvPr id="23" name="Text 20"/>
          <p:cNvSpPr txBox="1"/>
          <p:nvPr/>
        </p:nvSpPr>
        <p:spPr>
          <a:xfrm>
            <a:off x="6400800" y="2798064"/>
            <a:ext cx="2148840" cy="365760"/>
          </a:xfrm>
          <a:prstGeom prst="rect">
            <a:avLst/>
          </a:prstGeom>
          <a:noFill/>
          <a:ln/>
        </p:spPr>
        <p:txBody>
          <a:bodyPr wrap="square" lIns="0" tIns="0" rIns="0" bIns="0" rtlCol="0" anchor="ctr"/>
          <a:lstStyle/>
          <a:p>
            <a:pPr marL="0" indent="0">
              <a:buNone/>
            </a:pPr>
            <a:r>
              <a:rPr lang="en-US" sz="1800" b="1" dirty="0">
                <a:solidFill>
                  <a:srgbClr val="1C1C1C"/>
                </a:solidFill>
                <a:latin typeface="Arial" pitchFamily="34" charset="0"/>
                <a:ea typeface="Arial" pitchFamily="34" charset="-122"/>
                <a:cs typeface="Arial" pitchFamily="34" charset="-120"/>
              </a:rPr>
              <a:t>Compare</a:t>
            </a:r>
            <a:endParaRPr lang="en-US" sz="1800" dirty="0"/>
          </a:p>
        </p:txBody>
      </p:sp>
      <p:sp>
        <p:nvSpPr>
          <p:cNvPr id="24" name="Text 21"/>
          <p:cNvSpPr txBox="1"/>
          <p:nvPr/>
        </p:nvSpPr>
        <p:spPr>
          <a:xfrm>
            <a:off x="6400800" y="3218688"/>
            <a:ext cx="2148840" cy="1097280"/>
          </a:xfrm>
          <a:prstGeom prst="rect">
            <a:avLst/>
          </a:prstGeom>
          <a:noFill/>
          <a:ln/>
        </p:spPr>
        <p:txBody>
          <a:bodyPr wrap="square" lIns="0" tIns="0" rIns="0" bIns="0" rtlCol="0" anchor="t"/>
          <a:lstStyle/>
          <a:p>
            <a:pPr marL="0" indent="0">
              <a:lnSpc>
                <a:spcPts val="1600"/>
              </a:lnSpc>
              <a:buNone/>
            </a:pPr>
            <a:r>
              <a:rPr lang="en-US" sz="1200" dirty="0">
                <a:solidFill>
                  <a:srgbClr val="7A7A7A"/>
                </a:solidFill>
                <a:latin typeface="Calibri" pitchFamily="34" charset="0"/>
                <a:ea typeface="Calibri" pitchFamily="34" charset="-122"/>
                <a:cs typeface="Calibri" pitchFamily="34" charset="-120"/>
              </a:rPr>
              <a:t>Does the output match what you expected? If not — which one of you is wrong?</a:t>
            </a:r>
            <a:endParaRPr lang="en-US" sz="1200" dirty="0"/>
          </a:p>
        </p:txBody>
      </p:sp>
      <p:sp>
        <p:nvSpPr>
          <p:cNvPr id="25" name="Text 22"/>
          <p:cNvSpPr txBox="1"/>
          <p:nvPr/>
        </p:nvSpPr>
        <p:spPr>
          <a:xfrm>
            <a:off x="8759952" y="2962656"/>
            <a:ext cx="219456" cy="365760"/>
          </a:xfrm>
          <a:prstGeom prst="rect">
            <a:avLst/>
          </a:prstGeom>
          <a:noFill/>
          <a:ln/>
        </p:spPr>
        <p:txBody>
          <a:bodyPr wrap="square" lIns="0" tIns="0" rIns="0" bIns="0" rtlCol="0" anchor="ctr"/>
          <a:lstStyle/>
          <a:p>
            <a:pPr marL="0" indent="0" algn="ctr">
              <a:buNone/>
            </a:pPr>
            <a:r>
              <a:rPr lang="en-US" sz="2200" b="1" dirty="0">
                <a:solidFill>
                  <a:srgbClr val="A9A9A9"/>
                </a:solidFill>
                <a:latin typeface="Arial" pitchFamily="34" charset="0"/>
                <a:ea typeface="Arial" pitchFamily="34" charset="-122"/>
                <a:cs typeface="Arial" pitchFamily="34" charset="-120"/>
              </a:rPr>
              <a:t>→</a:t>
            </a:r>
            <a:endParaRPr lang="en-US" sz="2200" dirty="0"/>
          </a:p>
        </p:txBody>
      </p:sp>
      <p:sp>
        <p:nvSpPr>
          <p:cNvPr id="26" name="Shape 23"/>
          <p:cNvSpPr/>
          <p:nvPr/>
        </p:nvSpPr>
        <p:spPr>
          <a:xfrm>
            <a:off x="8961120" y="2011680"/>
            <a:ext cx="2615184" cy="2267712"/>
          </a:xfrm>
          <a:prstGeom prst="roundRect">
            <a:avLst>
              <a:gd name="adj" fmla="val 3629"/>
            </a:avLst>
          </a:prstGeom>
          <a:solidFill>
            <a:srgbClr val="FFFFFF"/>
          </a:solidFill>
          <a:ln w="12700">
            <a:solidFill>
              <a:srgbClr val="E6E6E6"/>
            </a:solidFill>
            <a:prstDash val="solid"/>
          </a:ln>
        </p:spPr>
        <p:txBody>
          <a:bodyPr/>
          <a:lstStyle/>
          <a:p>
            <a:endParaRPr lang="en-US"/>
          </a:p>
        </p:txBody>
      </p:sp>
      <p:sp>
        <p:nvSpPr>
          <p:cNvPr id="27" name="Shape 24"/>
          <p:cNvSpPr/>
          <p:nvPr/>
        </p:nvSpPr>
        <p:spPr>
          <a:xfrm>
            <a:off x="9198864" y="2249424"/>
            <a:ext cx="420624" cy="420624"/>
          </a:xfrm>
          <a:prstGeom prst="ellipse">
            <a:avLst/>
          </a:prstGeom>
          <a:solidFill>
            <a:srgbClr val="DCE1E6"/>
          </a:solidFill>
          <a:ln w="12700">
            <a:solidFill>
              <a:srgbClr val="DCE1E6"/>
            </a:solidFill>
            <a:prstDash val="solid"/>
          </a:ln>
        </p:spPr>
        <p:txBody>
          <a:bodyPr/>
          <a:lstStyle/>
          <a:p>
            <a:endParaRPr lang="en-US"/>
          </a:p>
        </p:txBody>
      </p:sp>
      <p:sp>
        <p:nvSpPr>
          <p:cNvPr id="28" name="Text 25"/>
          <p:cNvSpPr txBox="1"/>
          <p:nvPr/>
        </p:nvSpPr>
        <p:spPr>
          <a:xfrm>
            <a:off x="9198864" y="2249424"/>
            <a:ext cx="420624" cy="420624"/>
          </a:xfrm>
          <a:prstGeom prst="rect">
            <a:avLst/>
          </a:prstGeom>
          <a:noFill/>
          <a:ln/>
        </p:spPr>
        <p:txBody>
          <a:bodyPr wrap="square" lIns="0" tIns="0" rIns="0" bIns="0" rtlCol="0" anchor="ctr"/>
          <a:lstStyle/>
          <a:p>
            <a:pPr marL="0" indent="0" algn="ctr">
              <a:buNone/>
            </a:pPr>
            <a:r>
              <a:rPr lang="en-US" sz="1500" b="1" dirty="0">
                <a:solidFill>
                  <a:srgbClr val="3E4C58"/>
                </a:solidFill>
                <a:latin typeface="Arial" pitchFamily="34" charset="0"/>
                <a:ea typeface="Arial" pitchFamily="34" charset="-122"/>
                <a:cs typeface="Arial" pitchFamily="34" charset="-120"/>
              </a:rPr>
              <a:t>4</a:t>
            </a:r>
            <a:endParaRPr lang="en-US" sz="1500" dirty="0"/>
          </a:p>
        </p:txBody>
      </p:sp>
      <p:sp>
        <p:nvSpPr>
          <p:cNvPr id="29" name="Text 26"/>
          <p:cNvSpPr txBox="1"/>
          <p:nvPr/>
        </p:nvSpPr>
        <p:spPr>
          <a:xfrm>
            <a:off x="9198864" y="2798064"/>
            <a:ext cx="2148840" cy="365760"/>
          </a:xfrm>
          <a:prstGeom prst="rect">
            <a:avLst/>
          </a:prstGeom>
          <a:noFill/>
          <a:ln/>
        </p:spPr>
        <p:txBody>
          <a:bodyPr wrap="square" lIns="0" tIns="0" rIns="0" bIns="0" rtlCol="0" anchor="ctr"/>
          <a:lstStyle/>
          <a:p>
            <a:pPr marL="0" indent="0">
              <a:buNone/>
            </a:pPr>
            <a:r>
              <a:rPr lang="en-US" sz="1800" b="1" dirty="0">
                <a:solidFill>
                  <a:srgbClr val="1C1C1C"/>
                </a:solidFill>
                <a:latin typeface="Arial" pitchFamily="34" charset="0"/>
                <a:ea typeface="Arial" pitchFamily="34" charset="-122"/>
                <a:cs typeface="Arial" pitchFamily="34" charset="-120"/>
              </a:rPr>
              <a:t>Explain</a:t>
            </a:r>
            <a:endParaRPr lang="en-US" sz="1800" dirty="0"/>
          </a:p>
        </p:txBody>
      </p:sp>
      <p:sp>
        <p:nvSpPr>
          <p:cNvPr id="30" name="Text 27"/>
          <p:cNvSpPr txBox="1"/>
          <p:nvPr/>
        </p:nvSpPr>
        <p:spPr>
          <a:xfrm>
            <a:off x="9198864" y="3218688"/>
            <a:ext cx="2148840" cy="1097280"/>
          </a:xfrm>
          <a:prstGeom prst="rect">
            <a:avLst/>
          </a:prstGeom>
          <a:noFill/>
          <a:ln/>
        </p:spPr>
        <p:txBody>
          <a:bodyPr wrap="square" lIns="0" tIns="0" rIns="0" bIns="0" rtlCol="0" anchor="t"/>
          <a:lstStyle/>
          <a:p>
            <a:pPr marL="0" indent="0">
              <a:lnSpc>
                <a:spcPts val="1600"/>
              </a:lnSpc>
              <a:buNone/>
            </a:pPr>
            <a:r>
              <a:rPr lang="en-US" sz="1200" dirty="0">
                <a:solidFill>
                  <a:srgbClr val="7A7A7A"/>
                </a:solidFill>
                <a:latin typeface="Calibri" pitchFamily="34" charset="0"/>
                <a:ea typeface="Calibri" pitchFamily="34" charset="-122"/>
                <a:cs typeface="Calibri" pitchFamily="34" charset="-120"/>
              </a:rPr>
              <a:t>Can you say, line by line, why it produced that? If not, you do not own it yet.</a:t>
            </a:r>
            <a:endParaRPr lang="en-US" sz="1200" dirty="0"/>
          </a:p>
        </p:txBody>
      </p:sp>
      <p:sp>
        <p:nvSpPr>
          <p:cNvPr id="31" name="Shape 28"/>
          <p:cNvSpPr/>
          <p:nvPr/>
        </p:nvSpPr>
        <p:spPr>
          <a:xfrm>
            <a:off x="566928" y="4736592"/>
            <a:ext cx="11057839" cy="658368"/>
          </a:xfrm>
          <a:prstGeom prst="roundRect">
            <a:avLst>
              <a:gd name="adj" fmla="val 12500"/>
            </a:avLst>
          </a:prstGeom>
          <a:solidFill>
            <a:srgbClr val="1C1C1C"/>
          </a:solidFill>
          <a:ln w="12700">
            <a:solidFill>
              <a:srgbClr val="1C1C1C"/>
            </a:solidFill>
            <a:prstDash val="solid"/>
          </a:ln>
        </p:spPr>
        <p:txBody>
          <a:bodyPr/>
          <a:lstStyle/>
          <a:p>
            <a:endParaRPr lang="en-US"/>
          </a:p>
        </p:txBody>
      </p:sp>
      <p:sp>
        <p:nvSpPr>
          <p:cNvPr id="32" name="Text 29"/>
          <p:cNvSpPr txBox="1"/>
          <p:nvPr/>
        </p:nvSpPr>
        <p:spPr>
          <a:xfrm>
            <a:off x="841248" y="4736592"/>
            <a:ext cx="10509199" cy="658368"/>
          </a:xfrm>
          <a:prstGeom prst="rect">
            <a:avLst/>
          </a:prstGeom>
          <a:noFill/>
          <a:ln/>
        </p:spPr>
        <p:txBody>
          <a:bodyPr wrap="square" lIns="0" tIns="0" rIns="0" bIns="0" rtlCol="0" anchor="ctr"/>
          <a:lstStyle/>
          <a:p>
            <a:pPr marL="0" indent="0">
              <a:lnSpc>
                <a:spcPts val="1700"/>
              </a:lnSpc>
              <a:buNone/>
            </a:pPr>
            <a:r>
              <a:rPr lang="en-US" sz="1350" b="1" dirty="0">
                <a:solidFill>
                  <a:srgbClr val="F2C879"/>
                </a:solidFill>
                <a:latin typeface="Calibri" pitchFamily="34" charset="0"/>
                <a:ea typeface="Calibri" pitchFamily="34" charset="-122"/>
                <a:cs typeface="Calibri" pitchFamily="34" charset="-120"/>
              </a:rPr>
              <a:t>Worth writing down:  </a:t>
            </a:r>
            <a:r>
              <a:rPr lang="en-US" sz="1350" dirty="0">
                <a:solidFill>
                  <a:srgbClr val="EDEDED"/>
                </a:solidFill>
                <a:latin typeface="Calibri" pitchFamily="34" charset="0"/>
                <a:ea typeface="Calibri" pitchFamily="34" charset="-122"/>
                <a:cs typeface="Calibri" pitchFamily="34" charset="-120"/>
              </a:rPr>
              <a:t>if you have no expectation, you are not doing science. You are doing typing.</a:t>
            </a:r>
            <a:endParaRPr lang="en-US" sz="1350" dirty="0"/>
          </a:p>
        </p:txBody>
      </p:sp>
      <p:sp>
        <p:nvSpPr>
          <p:cNvPr id="33" name="Text 30"/>
          <p:cNvSpPr txBox="1"/>
          <p:nvPr/>
        </p:nvSpPr>
        <p:spPr>
          <a:xfrm>
            <a:off x="566928" y="5596128"/>
            <a:ext cx="11057839" cy="329184"/>
          </a:xfrm>
          <a:prstGeom prst="rect">
            <a:avLst/>
          </a:prstGeom>
          <a:noFill/>
          <a:ln/>
        </p:spPr>
        <p:txBody>
          <a:bodyPr wrap="square" lIns="0" tIns="0" rIns="0" bIns="0" rtlCol="0" anchor="ctr"/>
          <a:lstStyle/>
          <a:p>
            <a:pPr marL="0" indent="0">
              <a:buNone/>
            </a:pPr>
            <a:r>
              <a:rPr lang="en-US" sz="1250" i="1" dirty="0">
                <a:solidFill>
                  <a:srgbClr val="8A6D3B"/>
                </a:solidFill>
                <a:latin typeface="Calibri" pitchFamily="34" charset="0"/>
                <a:ea typeface="Calibri" pitchFamily="34" charset="-122"/>
                <a:cs typeface="Calibri" pitchFamily="34" charset="-120"/>
              </a:rPr>
              <a:t>Step 1 is the one you will skip. It is also the only one that catches a silent error.</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vu_mark_gold.png"/>
          <p:cNvPicPr>
            <a:picLocks noChangeAspect="1"/>
          </p:cNvPicPr>
          <p:nvPr/>
        </p:nvPicPr>
        <p:blipFill>
          <a:blip r:embed="rId3"/>
          <a:stretch>
            <a:fillRect/>
          </a:stretch>
        </p:blipFill>
        <p:spPr>
          <a:xfrm>
            <a:off x="11356848" y="310896"/>
            <a:ext cx="384048" cy="274320"/>
          </a:xfrm>
          <a:prstGeom prst="rect">
            <a:avLst/>
          </a:prstGeom>
        </p:spPr>
      </p:pic>
      <p:sp>
        <p:nvSpPr>
          <p:cNvPr id="3" name="Shape 0"/>
          <p:cNvSpPr/>
          <p:nvPr/>
        </p:nvSpPr>
        <p:spPr>
          <a:xfrm>
            <a:off x="566928" y="329184"/>
            <a:ext cx="2243021" cy="310896"/>
          </a:xfrm>
          <a:prstGeom prst="roundRect">
            <a:avLst>
              <a:gd name="adj" fmla="val 50000"/>
            </a:avLst>
          </a:prstGeom>
          <a:solidFill>
            <a:srgbClr val="F2C879"/>
          </a:solidFill>
          <a:ln w="12700">
            <a:solidFill>
              <a:srgbClr val="F2C879"/>
            </a:solidFill>
            <a:prstDash val="solid"/>
          </a:ln>
        </p:spPr>
        <p:txBody>
          <a:bodyPr/>
          <a:lstStyle/>
          <a:p>
            <a:endParaRPr lang="en-US"/>
          </a:p>
        </p:txBody>
      </p:sp>
      <p:sp>
        <p:nvSpPr>
          <p:cNvPr id="4" name="Text 1"/>
          <p:cNvSpPr txBox="1"/>
          <p:nvPr/>
        </p:nvSpPr>
        <p:spPr>
          <a:xfrm>
            <a:off x="566928" y="329184"/>
            <a:ext cx="2243021" cy="310896"/>
          </a:xfrm>
          <a:prstGeom prst="rect">
            <a:avLst/>
          </a:prstGeom>
          <a:noFill/>
          <a:ln/>
        </p:spPr>
        <p:txBody>
          <a:bodyPr wrap="square" lIns="0" tIns="0" rIns="0" bIns="0" rtlCol="0" anchor="ctr"/>
          <a:lstStyle/>
          <a:p>
            <a:pPr marL="0" indent="0" algn="ctr">
              <a:buNone/>
            </a:pPr>
            <a:r>
              <a:rPr lang="en-US" sz="1050" b="1" kern="0" spc="110" dirty="0">
                <a:solidFill>
                  <a:srgbClr val="5A4415"/>
                </a:solidFill>
                <a:latin typeface="Arial" pitchFamily="34" charset="0"/>
                <a:ea typeface="Arial" pitchFamily="34" charset="-122"/>
                <a:cs typeface="Arial" pitchFamily="34" charset="-120"/>
              </a:rPr>
              <a:t>53–55 MIN  ·  HANDOFF</a:t>
            </a:r>
            <a:endParaRPr lang="en-US" sz="1050" dirty="0"/>
          </a:p>
        </p:txBody>
      </p:sp>
      <p:sp>
        <p:nvSpPr>
          <p:cNvPr id="5" name="Text 2"/>
          <p:cNvSpPr txBox="1"/>
          <p:nvPr/>
        </p:nvSpPr>
        <p:spPr>
          <a:xfrm>
            <a:off x="566928" y="749808"/>
            <a:ext cx="10692079" cy="658368"/>
          </a:xfrm>
          <a:prstGeom prst="rect">
            <a:avLst/>
          </a:prstGeom>
          <a:noFill/>
          <a:ln/>
        </p:spPr>
        <p:txBody>
          <a:bodyPr wrap="square" lIns="0" tIns="0" rIns="0" bIns="0" rtlCol="0" anchor="ctr"/>
          <a:lstStyle/>
          <a:p>
            <a:pPr marL="0" indent="0">
              <a:buNone/>
            </a:pPr>
            <a:r>
              <a:rPr lang="en-US" sz="3300" b="1" dirty="0">
                <a:solidFill>
                  <a:srgbClr val="1C1C1C"/>
                </a:solidFill>
                <a:latin typeface="Arial" pitchFamily="34" charset="0"/>
                <a:ea typeface="Arial" pitchFamily="34" charset="-122"/>
                <a:cs typeface="Arial" pitchFamily="34" charset="-120"/>
              </a:rPr>
              <a:t>This week’s activity: the Session 1 tutor</a:t>
            </a:r>
            <a:endParaRPr lang="en-US" sz="3300" dirty="0"/>
          </a:p>
        </p:txBody>
      </p:sp>
      <p:sp>
        <p:nvSpPr>
          <p:cNvPr id="6" name="Text 3"/>
          <p:cNvSpPr txBox="1"/>
          <p:nvPr/>
        </p:nvSpPr>
        <p:spPr>
          <a:xfrm>
            <a:off x="11430000" y="6419088"/>
            <a:ext cx="320040" cy="228600"/>
          </a:xfrm>
          <a:prstGeom prst="rect">
            <a:avLst/>
          </a:prstGeom>
          <a:noFill/>
          <a:ln/>
        </p:spPr>
        <p:txBody>
          <a:bodyPr wrap="square" lIns="0" tIns="0" rIns="0" bIns="0" rtlCol="0" anchor="ctr"/>
          <a:lstStyle/>
          <a:p>
            <a:pPr marL="0" indent="0" algn="r">
              <a:buNone/>
            </a:pPr>
            <a:r>
              <a:rPr lang="en-US" sz="1000" dirty="0">
                <a:solidFill>
                  <a:srgbClr val="B5B5B5"/>
                </a:solidFill>
                <a:latin typeface="Calibri" pitchFamily="34" charset="0"/>
                <a:ea typeface="Calibri" pitchFamily="34" charset="-122"/>
                <a:cs typeface="Calibri" pitchFamily="34" charset="-120"/>
              </a:rPr>
              <a:t>19</a:t>
            </a:r>
            <a:endParaRPr lang="en-US" sz="1000" dirty="0"/>
          </a:p>
        </p:txBody>
      </p:sp>
      <p:sp>
        <p:nvSpPr>
          <p:cNvPr id="7" name="Shape 4"/>
          <p:cNvSpPr/>
          <p:nvPr/>
        </p:nvSpPr>
        <p:spPr>
          <a:xfrm>
            <a:off x="566928" y="1517904"/>
            <a:ext cx="5760720" cy="2633472"/>
          </a:xfrm>
          <a:prstGeom prst="roundRect">
            <a:avLst>
              <a:gd name="adj" fmla="val 3125"/>
            </a:avLst>
          </a:prstGeom>
          <a:solidFill>
            <a:srgbClr val="FBF7EF"/>
          </a:solidFill>
          <a:ln w="12700">
            <a:solidFill>
              <a:srgbClr val="E6E6E6"/>
            </a:solidFill>
            <a:prstDash val="solid"/>
          </a:ln>
        </p:spPr>
        <p:txBody>
          <a:bodyPr/>
          <a:lstStyle/>
          <a:p>
            <a:endParaRPr lang="en-US"/>
          </a:p>
        </p:txBody>
      </p:sp>
      <p:sp>
        <p:nvSpPr>
          <p:cNvPr id="8" name="Text 5"/>
          <p:cNvSpPr txBox="1"/>
          <p:nvPr/>
        </p:nvSpPr>
        <p:spPr>
          <a:xfrm>
            <a:off x="822960" y="1719072"/>
            <a:ext cx="5120640" cy="237744"/>
          </a:xfrm>
          <a:prstGeom prst="rect">
            <a:avLst/>
          </a:prstGeom>
          <a:noFill/>
          <a:ln/>
        </p:spPr>
        <p:txBody>
          <a:bodyPr wrap="square" lIns="0" tIns="0" rIns="0" bIns="0" rtlCol="0" anchor="ctr"/>
          <a:lstStyle/>
          <a:p>
            <a:pPr marL="0" indent="0">
              <a:buNone/>
            </a:pPr>
            <a:r>
              <a:rPr lang="en-US" sz="1000" b="1" kern="0" spc="150" dirty="0">
                <a:solidFill>
                  <a:srgbClr val="8A6D3B"/>
                </a:solidFill>
                <a:latin typeface="Arial" pitchFamily="34" charset="0"/>
                <a:ea typeface="Arial" pitchFamily="34" charset="-122"/>
                <a:cs typeface="Arial" pitchFamily="34" charset="-120"/>
              </a:rPr>
              <a:t>RULES OF ENGAGEMENT</a:t>
            </a:r>
            <a:endParaRPr lang="en-US" sz="1000" dirty="0"/>
          </a:p>
        </p:txBody>
      </p:sp>
      <p:sp>
        <p:nvSpPr>
          <p:cNvPr id="9" name="Text 6"/>
          <p:cNvSpPr txBox="1"/>
          <p:nvPr/>
        </p:nvSpPr>
        <p:spPr>
          <a:xfrm>
            <a:off x="841248" y="2029968"/>
            <a:ext cx="5257800" cy="2103120"/>
          </a:xfrm>
          <a:prstGeom prst="rect">
            <a:avLst/>
          </a:prstGeom>
          <a:noFill/>
          <a:ln/>
        </p:spPr>
        <p:txBody>
          <a:bodyPr wrap="square" lIns="0" tIns="0" rIns="0" bIns="0" rtlCol="0" anchor="t"/>
          <a:lstStyle/>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The tutor will not give you code. It asks questions. That is deliberate and it will not budge.</a:t>
            </a:r>
            <a:endParaRPr lang="en-US" sz="1250" dirty="0"/>
          </a:p>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Credit comes from engaging, not from being right.</a:t>
            </a:r>
            <a:endParaRPr lang="en-US" sz="1250" dirty="0"/>
          </a:p>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Say what you think first, even when you are unsure. Especially then.</a:t>
            </a:r>
            <a:endParaRPr lang="en-US" sz="1250" dirty="0"/>
          </a:p>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We spent today’s activity time on installs — so this one is homework.</a:t>
            </a:r>
            <a:endParaRPr lang="en-US" sz="1250" dirty="0"/>
          </a:p>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Twenty minutes. Paste the transcript to Brightspace before Session 2.</a:t>
            </a:r>
            <a:endParaRPr lang="en-US" sz="1250" dirty="0"/>
          </a:p>
        </p:txBody>
      </p:sp>
      <p:sp>
        <p:nvSpPr>
          <p:cNvPr id="10" name="Shape 7"/>
          <p:cNvSpPr/>
          <p:nvPr/>
        </p:nvSpPr>
        <p:spPr>
          <a:xfrm>
            <a:off x="6583680" y="1517904"/>
            <a:ext cx="5029200" cy="2633472"/>
          </a:xfrm>
          <a:prstGeom prst="roundRect">
            <a:avLst>
              <a:gd name="adj" fmla="val 3125"/>
            </a:avLst>
          </a:prstGeom>
          <a:solidFill>
            <a:srgbClr val="FFFFFF"/>
          </a:solidFill>
          <a:ln w="12700">
            <a:solidFill>
              <a:srgbClr val="E6E6E6"/>
            </a:solidFill>
            <a:prstDash val="solid"/>
          </a:ln>
        </p:spPr>
        <p:txBody>
          <a:bodyPr/>
          <a:lstStyle/>
          <a:p>
            <a:endParaRPr lang="en-US"/>
          </a:p>
        </p:txBody>
      </p:sp>
      <p:sp>
        <p:nvSpPr>
          <p:cNvPr id="11" name="Text 8"/>
          <p:cNvSpPr txBox="1"/>
          <p:nvPr/>
        </p:nvSpPr>
        <p:spPr>
          <a:xfrm>
            <a:off x="6839712" y="1719072"/>
            <a:ext cx="4480560" cy="237744"/>
          </a:xfrm>
          <a:prstGeom prst="rect">
            <a:avLst/>
          </a:prstGeom>
          <a:noFill/>
          <a:ln/>
        </p:spPr>
        <p:txBody>
          <a:bodyPr wrap="square" lIns="0" tIns="0" rIns="0" bIns="0" rtlCol="0" anchor="ctr"/>
          <a:lstStyle/>
          <a:p>
            <a:pPr marL="0" indent="0">
              <a:buNone/>
            </a:pPr>
            <a:r>
              <a:rPr lang="en-US" sz="1000" b="1" kern="0" spc="150" dirty="0">
                <a:solidFill>
                  <a:srgbClr val="8A6D3B"/>
                </a:solidFill>
                <a:latin typeface="Arial" pitchFamily="34" charset="0"/>
                <a:ea typeface="Arial" pitchFamily="34" charset="-122"/>
                <a:cs typeface="Arial" pitchFamily="34" charset="-120"/>
              </a:rPr>
              <a:t>THE TUTOR COVERS</a:t>
            </a:r>
            <a:endParaRPr lang="en-US" sz="1000" dirty="0"/>
          </a:p>
        </p:txBody>
      </p:sp>
      <p:sp>
        <p:nvSpPr>
          <p:cNvPr id="12" name="Text 9"/>
          <p:cNvSpPr txBox="1"/>
          <p:nvPr/>
        </p:nvSpPr>
        <p:spPr>
          <a:xfrm>
            <a:off x="6858000" y="2029968"/>
            <a:ext cx="4526280" cy="2103120"/>
          </a:xfrm>
          <a:prstGeom prst="rect">
            <a:avLst/>
          </a:prstGeom>
          <a:noFill/>
          <a:ln/>
        </p:spPr>
        <p:txBody>
          <a:bodyPr wrap="square" lIns="0" tIns="0" rIns="0" bIns="0" rtlCol="0" anchor="t"/>
          <a:lstStyle/>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Getting hello world running in both languages</a:t>
            </a:r>
            <a:endParaRPr lang="en-US" sz="1250" dirty="0"/>
          </a:p>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Explaining what a program is, in your words</a:t>
            </a:r>
            <a:endParaRPr lang="en-US" sz="1250" dirty="0"/>
          </a:p>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Two decomposition problems</a:t>
            </a:r>
            <a:endParaRPr lang="en-US" sz="1250" dirty="0"/>
          </a:p>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A piece of code that runs and is still wrong</a:t>
            </a:r>
            <a:endParaRPr lang="en-US" sz="1250" dirty="0"/>
          </a:p>
          <a:p>
            <a:pPr marL="203200" indent="-203200">
              <a:lnSpc>
                <a:spcPts val="1800"/>
              </a:lnSpc>
              <a:spcAft>
                <a:spcPts val="900"/>
              </a:spcAft>
              <a:buSzPct val="100000"/>
              <a:buChar char="•"/>
            </a:pPr>
            <a:r>
              <a:rPr lang="en-US" sz="1250" dirty="0">
                <a:solidFill>
                  <a:srgbClr val="3A3A3A"/>
                </a:solidFill>
                <a:latin typeface="Calibri" pitchFamily="34" charset="0"/>
                <a:ea typeface="Calibri" pitchFamily="34" charset="-122"/>
                <a:cs typeface="Calibri" pitchFamily="34" charset="-120"/>
              </a:rPr>
              <a:t>An AI reality check</a:t>
            </a:r>
            <a:endParaRPr lang="en-US" sz="1250" dirty="0"/>
          </a:p>
        </p:txBody>
      </p:sp>
      <p:sp>
        <p:nvSpPr>
          <p:cNvPr id="13" name="Text 10"/>
          <p:cNvSpPr txBox="1"/>
          <p:nvPr/>
        </p:nvSpPr>
        <p:spPr>
          <a:xfrm>
            <a:off x="566928" y="4443984"/>
            <a:ext cx="7315200" cy="256032"/>
          </a:xfrm>
          <a:prstGeom prst="rect">
            <a:avLst/>
          </a:prstGeom>
          <a:noFill/>
          <a:ln/>
        </p:spPr>
        <p:txBody>
          <a:bodyPr wrap="square" lIns="0" tIns="0" rIns="0" bIns="0" rtlCol="0" anchor="ctr"/>
          <a:lstStyle/>
          <a:p>
            <a:pPr marL="0" indent="0">
              <a:buNone/>
            </a:pPr>
            <a:r>
              <a:rPr lang="en-US" sz="1000" b="1" kern="0" spc="150" dirty="0">
                <a:solidFill>
                  <a:srgbClr val="A83A2C"/>
                </a:solidFill>
                <a:latin typeface="Arial" pitchFamily="34" charset="0"/>
                <a:ea typeface="Arial" pitchFamily="34" charset="-122"/>
                <a:cs typeface="Arial" pitchFamily="34" charset="-120"/>
              </a:rPr>
              <a:t>COMMON SESSION-1 MISTAKES — PREEMPTED</a:t>
            </a:r>
            <a:endParaRPr lang="en-US" sz="1000" dirty="0"/>
          </a:p>
        </p:txBody>
      </p:sp>
      <p:sp>
        <p:nvSpPr>
          <p:cNvPr id="14" name="Text 11"/>
          <p:cNvSpPr txBox="1"/>
          <p:nvPr/>
        </p:nvSpPr>
        <p:spPr>
          <a:xfrm>
            <a:off x="566928" y="4754880"/>
            <a:ext cx="219456" cy="310896"/>
          </a:xfrm>
          <a:prstGeom prst="rect">
            <a:avLst/>
          </a:prstGeom>
          <a:noFill/>
          <a:ln/>
        </p:spPr>
        <p:txBody>
          <a:bodyPr wrap="square" lIns="0" tIns="0" rIns="0" bIns="0" rtlCol="0" anchor="ctr"/>
          <a:lstStyle/>
          <a:p>
            <a:pPr marL="0" indent="0">
              <a:buNone/>
            </a:pPr>
            <a:r>
              <a:rPr lang="en-US" sz="1100" b="1" dirty="0">
                <a:solidFill>
                  <a:srgbClr val="A83A2C"/>
                </a:solidFill>
                <a:latin typeface="Arial" pitchFamily="34" charset="0"/>
                <a:ea typeface="Arial" pitchFamily="34" charset="-122"/>
                <a:cs typeface="Arial" pitchFamily="34" charset="-120"/>
              </a:rPr>
              <a:t>✕</a:t>
            </a:r>
            <a:endParaRPr lang="en-US" sz="1100" dirty="0"/>
          </a:p>
        </p:txBody>
      </p:sp>
      <p:sp>
        <p:nvSpPr>
          <p:cNvPr id="15" name="Text 12"/>
          <p:cNvSpPr txBox="1"/>
          <p:nvPr/>
        </p:nvSpPr>
        <p:spPr>
          <a:xfrm>
            <a:off x="804672" y="4754880"/>
            <a:ext cx="5120640" cy="310896"/>
          </a:xfrm>
          <a:prstGeom prst="rect">
            <a:avLst/>
          </a:prstGeom>
          <a:noFill/>
          <a:ln/>
        </p:spPr>
        <p:txBody>
          <a:bodyPr wrap="square" lIns="0" tIns="0" rIns="0" bIns="0" rtlCol="0" anchor="ctr"/>
          <a:lstStyle/>
          <a:p>
            <a:pPr marL="0" indent="0">
              <a:buNone/>
            </a:pPr>
            <a:r>
              <a:rPr lang="en-US" sz="1250" dirty="0">
                <a:solidFill>
                  <a:srgbClr val="3A3A3A"/>
                </a:solidFill>
                <a:latin typeface="Calibri" pitchFamily="34" charset="0"/>
                <a:ea typeface="Calibri" pitchFamily="34" charset="-122"/>
                <a:cs typeface="Calibri" pitchFamily="34" charset="-120"/>
              </a:rPr>
              <a:t>Confusing “Python the language” with “VS Code the editor.”</a:t>
            </a:r>
            <a:endParaRPr lang="en-US" sz="1250" dirty="0"/>
          </a:p>
        </p:txBody>
      </p:sp>
      <p:sp>
        <p:nvSpPr>
          <p:cNvPr id="16" name="Text 13"/>
          <p:cNvSpPr txBox="1"/>
          <p:nvPr/>
        </p:nvSpPr>
        <p:spPr>
          <a:xfrm>
            <a:off x="6108192" y="4754880"/>
            <a:ext cx="219456" cy="310896"/>
          </a:xfrm>
          <a:prstGeom prst="rect">
            <a:avLst/>
          </a:prstGeom>
          <a:noFill/>
          <a:ln/>
        </p:spPr>
        <p:txBody>
          <a:bodyPr wrap="square" lIns="0" tIns="0" rIns="0" bIns="0" rtlCol="0" anchor="ctr"/>
          <a:lstStyle/>
          <a:p>
            <a:pPr marL="0" indent="0">
              <a:buNone/>
            </a:pPr>
            <a:r>
              <a:rPr lang="en-US" sz="1100" b="1" dirty="0">
                <a:solidFill>
                  <a:srgbClr val="A83A2C"/>
                </a:solidFill>
                <a:latin typeface="Arial" pitchFamily="34" charset="0"/>
                <a:ea typeface="Arial" pitchFamily="34" charset="-122"/>
                <a:cs typeface="Arial" pitchFamily="34" charset="-120"/>
              </a:rPr>
              <a:t>✕</a:t>
            </a:r>
            <a:endParaRPr lang="en-US" sz="1100" dirty="0"/>
          </a:p>
        </p:txBody>
      </p:sp>
      <p:sp>
        <p:nvSpPr>
          <p:cNvPr id="17" name="Text 14"/>
          <p:cNvSpPr txBox="1"/>
          <p:nvPr/>
        </p:nvSpPr>
        <p:spPr>
          <a:xfrm>
            <a:off x="6345936" y="4754880"/>
            <a:ext cx="5120640" cy="310896"/>
          </a:xfrm>
          <a:prstGeom prst="rect">
            <a:avLst/>
          </a:prstGeom>
          <a:noFill/>
          <a:ln/>
        </p:spPr>
        <p:txBody>
          <a:bodyPr wrap="square" lIns="0" tIns="0" rIns="0" bIns="0" rtlCol="0" anchor="ctr"/>
          <a:lstStyle/>
          <a:p>
            <a:pPr marL="0" indent="0">
              <a:buNone/>
            </a:pPr>
            <a:r>
              <a:rPr lang="en-US" sz="1250" dirty="0">
                <a:solidFill>
                  <a:srgbClr val="3A3A3A"/>
                </a:solidFill>
                <a:latin typeface="Calibri" pitchFamily="34" charset="0"/>
                <a:ea typeface="Calibri" pitchFamily="34" charset="-122"/>
                <a:cs typeface="Calibri" pitchFamily="34" charset="-120"/>
              </a:rPr>
              <a:t>Thinking Copilot and ChatGPT are the same thing.</a:t>
            </a:r>
            <a:endParaRPr lang="en-US" sz="1250" dirty="0"/>
          </a:p>
        </p:txBody>
      </p:sp>
      <p:sp>
        <p:nvSpPr>
          <p:cNvPr id="18" name="Text 15"/>
          <p:cNvSpPr txBox="1"/>
          <p:nvPr/>
        </p:nvSpPr>
        <p:spPr>
          <a:xfrm>
            <a:off x="566928" y="5175504"/>
            <a:ext cx="219456" cy="310896"/>
          </a:xfrm>
          <a:prstGeom prst="rect">
            <a:avLst/>
          </a:prstGeom>
          <a:noFill/>
          <a:ln/>
        </p:spPr>
        <p:txBody>
          <a:bodyPr wrap="square" lIns="0" tIns="0" rIns="0" bIns="0" rtlCol="0" anchor="ctr"/>
          <a:lstStyle/>
          <a:p>
            <a:pPr marL="0" indent="0">
              <a:buNone/>
            </a:pPr>
            <a:r>
              <a:rPr lang="en-US" sz="1100" b="1" dirty="0">
                <a:solidFill>
                  <a:srgbClr val="A83A2C"/>
                </a:solidFill>
                <a:latin typeface="Arial" pitchFamily="34" charset="0"/>
                <a:ea typeface="Arial" pitchFamily="34" charset="-122"/>
                <a:cs typeface="Arial" pitchFamily="34" charset="-120"/>
              </a:rPr>
              <a:t>✕</a:t>
            </a:r>
            <a:endParaRPr lang="en-US" sz="1100" dirty="0"/>
          </a:p>
        </p:txBody>
      </p:sp>
      <p:sp>
        <p:nvSpPr>
          <p:cNvPr id="19" name="Text 16"/>
          <p:cNvSpPr txBox="1"/>
          <p:nvPr/>
        </p:nvSpPr>
        <p:spPr>
          <a:xfrm>
            <a:off x="804672" y="5175504"/>
            <a:ext cx="5120640" cy="310896"/>
          </a:xfrm>
          <a:prstGeom prst="rect">
            <a:avLst/>
          </a:prstGeom>
          <a:noFill/>
          <a:ln/>
        </p:spPr>
        <p:txBody>
          <a:bodyPr wrap="square" lIns="0" tIns="0" rIns="0" bIns="0" rtlCol="0" anchor="ctr"/>
          <a:lstStyle/>
          <a:p>
            <a:pPr marL="0" indent="0">
              <a:buNone/>
            </a:pPr>
            <a:r>
              <a:rPr lang="en-US" sz="1250" dirty="0">
                <a:solidFill>
                  <a:srgbClr val="3A3A3A"/>
                </a:solidFill>
                <a:latin typeface="Calibri" pitchFamily="34" charset="0"/>
                <a:ea typeface="Calibri" pitchFamily="34" charset="-122"/>
                <a:cs typeface="Calibri" pitchFamily="34" charset="-120"/>
              </a:rPr>
              <a:t>Assuming a program that runs is a program that is correct.</a:t>
            </a:r>
            <a:endParaRPr lang="en-US" sz="1250" dirty="0"/>
          </a:p>
        </p:txBody>
      </p:sp>
      <p:sp>
        <p:nvSpPr>
          <p:cNvPr id="20" name="Text 17"/>
          <p:cNvSpPr txBox="1"/>
          <p:nvPr/>
        </p:nvSpPr>
        <p:spPr>
          <a:xfrm>
            <a:off x="6108192" y="5175504"/>
            <a:ext cx="219456" cy="310896"/>
          </a:xfrm>
          <a:prstGeom prst="rect">
            <a:avLst/>
          </a:prstGeom>
          <a:noFill/>
          <a:ln/>
        </p:spPr>
        <p:txBody>
          <a:bodyPr wrap="square" lIns="0" tIns="0" rIns="0" bIns="0" rtlCol="0" anchor="ctr"/>
          <a:lstStyle/>
          <a:p>
            <a:pPr marL="0" indent="0">
              <a:buNone/>
            </a:pPr>
            <a:r>
              <a:rPr lang="en-US" sz="1100" b="1" dirty="0">
                <a:solidFill>
                  <a:srgbClr val="A83A2C"/>
                </a:solidFill>
                <a:latin typeface="Arial" pitchFamily="34" charset="0"/>
                <a:ea typeface="Arial" pitchFamily="34" charset="-122"/>
                <a:cs typeface="Arial" pitchFamily="34" charset="-120"/>
              </a:rPr>
              <a:t>✕</a:t>
            </a:r>
            <a:endParaRPr lang="en-US" sz="1100" dirty="0"/>
          </a:p>
        </p:txBody>
      </p:sp>
      <p:sp>
        <p:nvSpPr>
          <p:cNvPr id="21" name="Text 18"/>
          <p:cNvSpPr txBox="1"/>
          <p:nvPr/>
        </p:nvSpPr>
        <p:spPr>
          <a:xfrm>
            <a:off x="6345936" y="5175504"/>
            <a:ext cx="5120640" cy="310896"/>
          </a:xfrm>
          <a:prstGeom prst="rect">
            <a:avLst/>
          </a:prstGeom>
          <a:noFill/>
          <a:ln/>
        </p:spPr>
        <p:txBody>
          <a:bodyPr wrap="square" lIns="0" tIns="0" rIns="0" bIns="0" rtlCol="0" anchor="ctr"/>
          <a:lstStyle/>
          <a:p>
            <a:pPr marL="0" indent="0">
              <a:buNone/>
            </a:pPr>
            <a:r>
              <a:rPr lang="en-US" sz="1250" dirty="0">
                <a:solidFill>
                  <a:srgbClr val="3A3A3A"/>
                </a:solidFill>
                <a:latin typeface="Calibri" pitchFamily="34" charset="0"/>
                <a:ea typeface="Calibri" pitchFamily="34" charset="-122"/>
                <a:cs typeface="Calibri" pitchFamily="34" charset="-120"/>
              </a:rPr>
              <a:t>Copy-pasting AI code without ever reading it.</a:t>
            </a:r>
            <a:endParaRPr lang="en-US" sz="1250" dirty="0"/>
          </a:p>
        </p:txBody>
      </p:sp>
      <p:sp>
        <p:nvSpPr>
          <p:cNvPr id="22" name="Text 19"/>
          <p:cNvSpPr txBox="1"/>
          <p:nvPr/>
        </p:nvSpPr>
        <p:spPr>
          <a:xfrm>
            <a:off x="566928" y="5815584"/>
            <a:ext cx="11057839" cy="566928"/>
          </a:xfrm>
          <a:prstGeom prst="rect">
            <a:avLst/>
          </a:prstGeom>
          <a:noFill/>
          <a:ln/>
        </p:spPr>
        <p:txBody>
          <a:bodyPr wrap="square" lIns="0" tIns="0" rIns="0" bIns="0" rtlCol="0" anchor="ctr"/>
          <a:lstStyle/>
          <a:p>
            <a:pPr marL="0" indent="0">
              <a:buNone/>
            </a:pPr>
            <a:r>
              <a:rPr lang="en-US" sz="1250" i="1" dirty="0">
                <a:solidFill>
                  <a:srgbClr val="7A7A7A"/>
                </a:solidFill>
                <a:latin typeface="Calibri" pitchFamily="34" charset="0"/>
                <a:ea typeface="Calibri" pitchFamily="34" charset="-122"/>
                <a:cs typeface="Calibri" pitchFamily="34" charset="-120"/>
              </a:rPr>
              <a:t>Link on Brightspace — or go straight there: chatgpt.com/g/g-6a8f87ff4fc88191beb3a40405c0f2e3-cpbp-8306-tutor-session-1-thinking-like-a-coder</a:t>
            </a:r>
            <a:endParaRPr lang="en-US" sz="1250" dirty="0"/>
          </a:p>
          <a:p>
            <a:pPr marL="0" indent="0">
              <a:buNone/>
            </a:pPr>
            <a:r>
              <a:rPr lang="en-US" sz="1250" i="1" dirty="0">
                <a:solidFill>
                  <a:srgbClr val="7A7A7A"/>
                </a:solidFill>
                <a:latin typeface="Calibri" pitchFamily="34" charset="0"/>
                <a:ea typeface="Calibri" pitchFamily="34" charset="-122"/>
                <a:cs typeface="Calibri" pitchFamily="34" charset="-120"/>
              </a:rPr>
              <a:t>Do the tutor even if your install is not finished. Only its first problem needs a working laptop.</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vu_mark_gold.png"/>
          <p:cNvPicPr>
            <a:picLocks noChangeAspect="1"/>
          </p:cNvPicPr>
          <p:nvPr/>
        </p:nvPicPr>
        <p:blipFill>
          <a:blip r:embed="rId3"/>
          <a:stretch>
            <a:fillRect/>
          </a:stretch>
        </p:blipFill>
        <p:spPr>
          <a:xfrm>
            <a:off x="11356848" y="310896"/>
            <a:ext cx="384048" cy="274320"/>
          </a:xfrm>
          <a:prstGeom prst="rect">
            <a:avLst/>
          </a:prstGeom>
        </p:spPr>
      </p:pic>
      <p:sp>
        <p:nvSpPr>
          <p:cNvPr id="3" name="Shape 0"/>
          <p:cNvSpPr/>
          <p:nvPr/>
        </p:nvSpPr>
        <p:spPr>
          <a:xfrm>
            <a:off x="566928" y="329184"/>
            <a:ext cx="1222553" cy="310896"/>
          </a:xfrm>
          <a:prstGeom prst="roundRect">
            <a:avLst>
              <a:gd name="adj" fmla="val 50000"/>
            </a:avLst>
          </a:prstGeom>
          <a:solidFill>
            <a:srgbClr val="F2C879"/>
          </a:solidFill>
          <a:ln w="12700">
            <a:solidFill>
              <a:srgbClr val="F2C879"/>
            </a:solidFill>
            <a:prstDash val="solid"/>
          </a:ln>
        </p:spPr>
        <p:txBody>
          <a:bodyPr/>
          <a:lstStyle/>
          <a:p>
            <a:endParaRPr lang="en-US"/>
          </a:p>
        </p:txBody>
      </p:sp>
      <p:sp>
        <p:nvSpPr>
          <p:cNvPr id="4" name="Text 1"/>
          <p:cNvSpPr txBox="1"/>
          <p:nvPr/>
        </p:nvSpPr>
        <p:spPr>
          <a:xfrm>
            <a:off x="566928" y="329184"/>
            <a:ext cx="1222553" cy="310896"/>
          </a:xfrm>
          <a:prstGeom prst="rect">
            <a:avLst/>
          </a:prstGeom>
          <a:noFill/>
          <a:ln/>
        </p:spPr>
        <p:txBody>
          <a:bodyPr wrap="square" lIns="0" tIns="0" rIns="0" bIns="0" rtlCol="0" anchor="ctr"/>
          <a:lstStyle/>
          <a:p>
            <a:pPr marL="0" indent="0" algn="ctr">
              <a:buNone/>
            </a:pPr>
            <a:r>
              <a:rPr lang="en-US" sz="1050" b="1" kern="0" spc="110" dirty="0">
                <a:solidFill>
                  <a:srgbClr val="5A4415"/>
                </a:solidFill>
                <a:latin typeface="Arial" pitchFamily="34" charset="0"/>
                <a:ea typeface="Arial" pitchFamily="34" charset="-122"/>
                <a:cs typeface="Arial" pitchFamily="34" charset="-120"/>
              </a:rPr>
              <a:t>REFERENCE</a:t>
            </a:r>
            <a:endParaRPr lang="en-US" sz="1050" dirty="0"/>
          </a:p>
        </p:txBody>
      </p:sp>
      <p:sp>
        <p:nvSpPr>
          <p:cNvPr id="5" name="Text 2"/>
          <p:cNvSpPr txBox="1"/>
          <p:nvPr/>
        </p:nvSpPr>
        <p:spPr>
          <a:xfrm>
            <a:off x="566928" y="749808"/>
            <a:ext cx="10692079" cy="658368"/>
          </a:xfrm>
          <a:prstGeom prst="rect">
            <a:avLst/>
          </a:prstGeom>
          <a:noFill/>
          <a:ln/>
        </p:spPr>
        <p:txBody>
          <a:bodyPr wrap="square" lIns="0" tIns="0" rIns="0" bIns="0" rtlCol="0" anchor="ctr"/>
          <a:lstStyle/>
          <a:p>
            <a:pPr marL="0" indent="0">
              <a:buNone/>
            </a:pPr>
            <a:r>
              <a:rPr lang="en-US" sz="3300" b="1" dirty="0">
                <a:solidFill>
                  <a:srgbClr val="1C1C1C"/>
                </a:solidFill>
                <a:latin typeface="Arial" pitchFamily="34" charset="0"/>
                <a:ea typeface="Arial" pitchFamily="34" charset="-122"/>
                <a:cs typeface="Arial" pitchFamily="34" charset="-120"/>
              </a:rPr>
              <a:t>Vocabulary from today</a:t>
            </a:r>
            <a:endParaRPr lang="en-US" sz="3300" dirty="0"/>
          </a:p>
        </p:txBody>
      </p:sp>
      <p:sp>
        <p:nvSpPr>
          <p:cNvPr id="6" name="Text 3"/>
          <p:cNvSpPr txBox="1"/>
          <p:nvPr/>
        </p:nvSpPr>
        <p:spPr>
          <a:xfrm>
            <a:off x="11430000" y="6419088"/>
            <a:ext cx="320040" cy="228600"/>
          </a:xfrm>
          <a:prstGeom prst="rect">
            <a:avLst/>
          </a:prstGeom>
          <a:noFill/>
          <a:ln/>
        </p:spPr>
        <p:txBody>
          <a:bodyPr wrap="square" lIns="0" tIns="0" rIns="0" bIns="0" rtlCol="0" anchor="ctr"/>
          <a:lstStyle/>
          <a:p>
            <a:pPr marL="0" indent="0" algn="r">
              <a:buNone/>
            </a:pPr>
            <a:r>
              <a:rPr lang="en-US" sz="1000" dirty="0">
                <a:solidFill>
                  <a:srgbClr val="B5B5B5"/>
                </a:solidFill>
                <a:latin typeface="Calibri" pitchFamily="34" charset="0"/>
                <a:ea typeface="Calibri" pitchFamily="34" charset="-122"/>
                <a:cs typeface="Calibri" pitchFamily="34" charset="-120"/>
              </a:rPr>
              <a:t>20</a:t>
            </a:r>
            <a:endParaRPr lang="en-US" sz="1000" dirty="0"/>
          </a:p>
        </p:txBody>
      </p:sp>
      <p:sp>
        <p:nvSpPr>
          <p:cNvPr id="7" name="Text 4"/>
          <p:cNvSpPr txBox="1"/>
          <p:nvPr/>
        </p:nvSpPr>
        <p:spPr>
          <a:xfrm>
            <a:off x="566928" y="1426464"/>
            <a:ext cx="10692079" cy="310896"/>
          </a:xfrm>
          <a:prstGeom prst="rect">
            <a:avLst/>
          </a:prstGeom>
          <a:noFill/>
          <a:ln/>
        </p:spPr>
        <p:txBody>
          <a:bodyPr wrap="square" lIns="0" tIns="0" rIns="0" bIns="0" rtlCol="0" anchor="ctr"/>
          <a:lstStyle/>
          <a:p>
            <a:pPr marL="0" indent="0">
              <a:buNone/>
            </a:pPr>
            <a:r>
              <a:rPr lang="en-US" sz="1450" i="1" dirty="0">
                <a:solidFill>
                  <a:srgbClr val="7A7A7A"/>
                </a:solidFill>
                <a:latin typeface="Calibri" pitchFamily="34" charset="0"/>
                <a:ea typeface="Calibri" pitchFamily="34" charset="-122"/>
                <a:cs typeface="Calibri" pitchFamily="34" charset="-120"/>
              </a:rPr>
              <a:t>This is not trivia. This is the vocabulary you need to write a precise prompt.</a:t>
            </a:r>
            <a:endParaRPr lang="en-US" sz="1450" dirty="0"/>
          </a:p>
        </p:txBody>
      </p:sp>
      <p:sp>
        <p:nvSpPr>
          <p:cNvPr id="8" name="Shape 5"/>
          <p:cNvSpPr/>
          <p:nvPr/>
        </p:nvSpPr>
        <p:spPr>
          <a:xfrm>
            <a:off x="566928" y="2011680"/>
            <a:ext cx="3547872" cy="1645920"/>
          </a:xfrm>
          <a:prstGeom prst="roundRect">
            <a:avLst>
              <a:gd name="adj" fmla="val 5000"/>
            </a:avLst>
          </a:prstGeom>
          <a:solidFill>
            <a:srgbClr val="FBF7EF"/>
          </a:solidFill>
          <a:ln w="12700">
            <a:solidFill>
              <a:srgbClr val="E6E6E6"/>
            </a:solidFill>
            <a:prstDash val="solid"/>
          </a:ln>
        </p:spPr>
        <p:txBody>
          <a:bodyPr/>
          <a:lstStyle/>
          <a:p>
            <a:endParaRPr lang="en-US"/>
          </a:p>
        </p:txBody>
      </p:sp>
      <p:sp>
        <p:nvSpPr>
          <p:cNvPr id="9" name="Text 6"/>
          <p:cNvSpPr txBox="1"/>
          <p:nvPr/>
        </p:nvSpPr>
        <p:spPr>
          <a:xfrm>
            <a:off x="822960" y="2249424"/>
            <a:ext cx="3054096" cy="384048"/>
          </a:xfrm>
          <a:prstGeom prst="rect">
            <a:avLst/>
          </a:prstGeom>
          <a:noFill/>
          <a:ln/>
        </p:spPr>
        <p:txBody>
          <a:bodyPr wrap="square" lIns="0" tIns="0" rIns="0" bIns="0" rtlCol="0" anchor="ctr"/>
          <a:lstStyle/>
          <a:p>
            <a:pPr marL="0" indent="0">
              <a:buNone/>
            </a:pPr>
            <a:r>
              <a:rPr lang="en-US" sz="1500" b="1" dirty="0">
                <a:solidFill>
                  <a:srgbClr val="1C1C1C"/>
                </a:solidFill>
                <a:latin typeface="Arial" pitchFamily="34" charset="0"/>
                <a:ea typeface="Arial" pitchFamily="34" charset="-122"/>
                <a:cs typeface="Arial" pitchFamily="34" charset="-120"/>
              </a:rPr>
              <a:t>Program / script</a:t>
            </a:r>
            <a:endParaRPr lang="en-US" sz="1500" dirty="0"/>
          </a:p>
        </p:txBody>
      </p:sp>
      <p:sp>
        <p:nvSpPr>
          <p:cNvPr id="10" name="Text 7"/>
          <p:cNvSpPr txBox="1"/>
          <p:nvPr/>
        </p:nvSpPr>
        <p:spPr>
          <a:xfrm>
            <a:off x="822960" y="2706624"/>
            <a:ext cx="3054096" cy="786384"/>
          </a:xfrm>
          <a:prstGeom prst="rect">
            <a:avLst/>
          </a:prstGeom>
          <a:noFill/>
          <a:ln/>
        </p:spPr>
        <p:txBody>
          <a:bodyPr wrap="square" lIns="0" tIns="0" rIns="0" bIns="0" rtlCol="0" anchor="t"/>
          <a:lstStyle/>
          <a:p>
            <a:pPr marL="0" indent="0">
              <a:lnSpc>
                <a:spcPts val="1600"/>
              </a:lnSpc>
              <a:buNone/>
            </a:pPr>
            <a:r>
              <a:rPr lang="en-US" sz="1250" dirty="0">
                <a:solidFill>
                  <a:srgbClr val="7A7A7A"/>
                </a:solidFill>
                <a:latin typeface="Calibri" pitchFamily="34" charset="0"/>
                <a:ea typeface="Calibri" pitchFamily="34" charset="-122"/>
                <a:cs typeface="Calibri" pitchFamily="34" charset="-120"/>
              </a:rPr>
              <a:t>A text file the interpreter reads and executes, top to bottom.</a:t>
            </a:r>
            <a:endParaRPr lang="en-US" sz="1250" dirty="0"/>
          </a:p>
        </p:txBody>
      </p:sp>
      <p:sp>
        <p:nvSpPr>
          <p:cNvPr id="11" name="Shape 8"/>
          <p:cNvSpPr/>
          <p:nvPr/>
        </p:nvSpPr>
        <p:spPr>
          <a:xfrm>
            <a:off x="4297680" y="2011680"/>
            <a:ext cx="3547872" cy="1645920"/>
          </a:xfrm>
          <a:prstGeom prst="roundRect">
            <a:avLst>
              <a:gd name="adj" fmla="val 5000"/>
            </a:avLst>
          </a:prstGeom>
          <a:solidFill>
            <a:srgbClr val="FBF7EF"/>
          </a:solidFill>
          <a:ln w="12700">
            <a:solidFill>
              <a:srgbClr val="E6E6E6"/>
            </a:solidFill>
            <a:prstDash val="solid"/>
          </a:ln>
        </p:spPr>
        <p:txBody>
          <a:bodyPr/>
          <a:lstStyle/>
          <a:p>
            <a:endParaRPr lang="en-US"/>
          </a:p>
        </p:txBody>
      </p:sp>
      <p:sp>
        <p:nvSpPr>
          <p:cNvPr id="12" name="Text 9"/>
          <p:cNvSpPr txBox="1"/>
          <p:nvPr/>
        </p:nvSpPr>
        <p:spPr>
          <a:xfrm>
            <a:off x="4553712" y="2249424"/>
            <a:ext cx="3054096" cy="384048"/>
          </a:xfrm>
          <a:prstGeom prst="rect">
            <a:avLst/>
          </a:prstGeom>
          <a:noFill/>
          <a:ln/>
        </p:spPr>
        <p:txBody>
          <a:bodyPr wrap="square" lIns="0" tIns="0" rIns="0" bIns="0" rtlCol="0" anchor="ctr"/>
          <a:lstStyle/>
          <a:p>
            <a:pPr marL="0" indent="0">
              <a:buNone/>
            </a:pPr>
            <a:r>
              <a:rPr lang="en-US" sz="1500" b="1" dirty="0">
                <a:solidFill>
                  <a:srgbClr val="1C1C1C"/>
                </a:solidFill>
                <a:latin typeface="Arial" pitchFamily="34" charset="0"/>
                <a:ea typeface="Arial" pitchFamily="34" charset="-122"/>
                <a:cs typeface="Arial" pitchFamily="34" charset="-120"/>
              </a:rPr>
              <a:t>Interpreter</a:t>
            </a:r>
            <a:endParaRPr lang="en-US" sz="1500" dirty="0"/>
          </a:p>
        </p:txBody>
      </p:sp>
      <p:sp>
        <p:nvSpPr>
          <p:cNvPr id="13" name="Text 10"/>
          <p:cNvSpPr txBox="1"/>
          <p:nvPr/>
        </p:nvSpPr>
        <p:spPr>
          <a:xfrm>
            <a:off x="4553712" y="2706624"/>
            <a:ext cx="3054096" cy="786384"/>
          </a:xfrm>
          <a:prstGeom prst="rect">
            <a:avLst/>
          </a:prstGeom>
          <a:noFill/>
          <a:ln/>
        </p:spPr>
        <p:txBody>
          <a:bodyPr wrap="square" lIns="0" tIns="0" rIns="0" bIns="0" rtlCol="0" anchor="t"/>
          <a:lstStyle/>
          <a:p>
            <a:pPr marL="0" indent="0">
              <a:lnSpc>
                <a:spcPts val="1600"/>
              </a:lnSpc>
              <a:buNone/>
            </a:pPr>
            <a:r>
              <a:rPr lang="en-US" sz="1250" dirty="0">
                <a:solidFill>
                  <a:srgbClr val="7A7A7A"/>
                </a:solidFill>
                <a:latin typeface="Calibri" pitchFamily="34" charset="0"/>
                <a:ea typeface="Calibri" pitchFamily="34" charset="-122"/>
                <a:cs typeface="Calibri" pitchFamily="34" charset="-120"/>
              </a:rPr>
              <a:t>The software that reads code and does what it says — python, R.</a:t>
            </a:r>
            <a:endParaRPr lang="en-US" sz="1250" dirty="0"/>
          </a:p>
        </p:txBody>
      </p:sp>
      <p:sp>
        <p:nvSpPr>
          <p:cNvPr id="14" name="Shape 11"/>
          <p:cNvSpPr/>
          <p:nvPr/>
        </p:nvSpPr>
        <p:spPr>
          <a:xfrm>
            <a:off x="8028432" y="2011680"/>
            <a:ext cx="3547872" cy="1645920"/>
          </a:xfrm>
          <a:prstGeom prst="roundRect">
            <a:avLst>
              <a:gd name="adj" fmla="val 5000"/>
            </a:avLst>
          </a:prstGeom>
          <a:solidFill>
            <a:srgbClr val="FBF7EF"/>
          </a:solidFill>
          <a:ln w="12700">
            <a:solidFill>
              <a:srgbClr val="E6E6E6"/>
            </a:solidFill>
            <a:prstDash val="solid"/>
          </a:ln>
        </p:spPr>
        <p:txBody>
          <a:bodyPr/>
          <a:lstStyle/>
          <a:p>
            <a:endParaRPr lang="en-US"/>
          </a:p>
        </p:txBody>
      </p:sp>
      <p:sp>
        <p:nvSpPr>
          <p:cNvPr id="15" name="Text 12"/>
          <p:cNvSpPr txBox="1"/>
          <p:nvPr/>
        </p:nvSpPr>
        <p:spPr>
          <a:xfrm>
            <a:off x="8284464" y="2249424"/>
            <a:ext cx="3054096" cy="384048"/>
          </a:xfrm>
          <a:prstGeom prst="rect">
            <a:avLst/>
          </a:prstGeom>
          <a:noFill/>
          <a:ln/>
        </p:spPr>
        <p:txBody>
          <a:bodyPr wrap="square" lIns="0" tIns="0" rIns="0" bIns="0" rtlCol="0" anchor="ctr"/>
          <a:lstStyle/>
          <a:p>
            <a:pPr marL="0" indent="0">
              <a:buNone/>
            </a:pPr>
            <a:r>
              <a:rPr lang="en-US" sz="1500" b="1" dirty="0">
                <a:solidFill>
                  <a:srgbClr val="1C1C1C"/>
                </a:solidFill>
                <a:latin typeface="Arial" pitchFamily="34" charset="0"/>
                <a:ea typeface="Arial" pitchFamily="34" charset="-122"/>
                <a:cs typeface="Arial" pitchFamily="34" charset="-120"/>
              </a:rPr>
              <a:t>Editor</a:t>
            </a:r>
            <a:endParaRPr lang="en-US" sz="1500" dirty="0"/>
          </a:p>
        </p:txBody>
      </p:sp>
      <p:sp>
        <p:nvSpPr>
          <p:cNvPr id="16" name="Text 13"/>
          <p:cNvSpPr txBox="1"/>
          <p:nvPr/>
        </p:nvSpPr>
        <p:spPr>
          <a:xfrm>
            <a:off x="8284464" y="2706624"/>
            <a:ext cx="3054096" cy="786384"/>
          </a:xfrm>
          <a:prstGeom prst="rect">
            <a:avLst/>
          </a:prstGeom>
          <a:noFill/>
          <a:ln/>
        </p:spPr>
        <p:txBody>
          <a:bodyPr wrap="square" lIns="0" tIns="0" rIns="0" bIns="0" rtlCol="0" anchor="t"/>
          <a:lstStyle/>
          <a:p>
            <a:pPr marL="0" indent="0">
              <a:lnSpc>
                <a:spcPts val="1600"/>
              </a:lnSpc>
              <a:buNone/>
            </a:pPr>
            <a:r>
              <a:rPr lang="en-US" sz="1250" dirty="0">
                <a:solidFill>
                  <a:srgbClr val="7A7A7A"/>
                </a:solidFill>
                <a:latin typeface="Calibri" pitchFamily="34" charset="0"/>
                <a:ea typeface="Calibri" pitchFamily="34" charset="-122"/>
                <a:cs typeface="Calibri" pitchFamily="34" charset="-120"/>
              </a:rPr>
              <a:t>The software you type code in — VS Code, RStudio.</a:t>
            </a:r>
            <a:endParaRPr lang="en-US" sz="1250" dirty="0"/>
          </a:p>
        </p:txBody>
      </p:sp>
      <p:sp>
        <p:nvSpPr>
          <p:cNvPr id="17" name="Shape 14"/>
          <p:cNvSpPr/>
          <p:nvPr/>
        </p:nvSpPr>
        <p:spPr>
          <a:xfrm>
            <a:off x="566928" y="3858768"/>
            <a:ext cx="3547872" cy="1645920"/>
          </a:xfrm>
          <a:prstGeom prst="roundRect">
            <a:avLst>
              <a:gd name="adj" fmla="val 5000"/>
            </a:avLst>
          </a:prstGeom>
          <a:solidFill>
            <a:srgbClr val="FFFFFF"/>
          </a:solidFill>
          <a:ln w="12700">
            <a:solidFill>
              <a:srgbClr val="E6E6E6"/>
            </a:solidFill>
            <a:prstDash val="solid"/>
          </a:ln>
        </p:spPr>
        <p:txBody>
          <a:bodyPr/>
          <a:lstStyle/>
          <a:p>
            <a:endParaRPr lang="en-US"/>
          </a:p>
        </p:txBody>
      </p:sp>
      <p:sp>
        <p:nvSpPr>
          <p:cNvPr id="18" name="Text 15"/>
          <p:cNvSpPr txBox="1"/>
          <p:nvPr/>
        </p:nvSpPr>
        <p:spPr>
          <a:xfrm>
            <a:off x="822960" y="4096512"/>
            <a:ext cx="3054096" cy="384048"/>
          </a:xfrm>
          <a:prstGeom prst="rect">
            <a:avLst/>
          </a:prstGeom>
          <a:noFill/>
          <a:ln/>
        </p:spPr>
        <p:txBody>
          <a:bodyPr wrap="square" lIns="0" tIns="0" rIns="0" bIns="0" rtlCol="0" anchor="ctr"/>
          <a:lstStyle/>
          <a:p>
            <a:pPr marL="0" indent="0">
              <a:buNone/>
            </a:pPr>
            <a:r>
              <a:rPr lang="en-US" sz="1500" b="1" dirty="0">
                <a:solidFill>
                  <a:srgbClr val="1C1C1C"/>
                </a:solidFill>
                <a:latin typeface="Arial" pitchFamily="34" charset="0"/>
                <a:ea typeface="Arial" pitchFamily="34" charset="-122"/>
                <a:cs typeface="Arial" pitchFamily="34" charset="-120"/>
              </a:rPr>
              <a:t>REPL</a:t>
            </a:r>
            <a:endParaRPr lang="en-US" sz="1500" dirty="0"/>
          </a:p>
        </p:txBody>
      </p:sp>
      <p:sp>
        <p:nvSpPr>
          <p:cNvPr id="19" name="Text 16"/>
          <p:cNvSpPr txBox="1"/>
          <p:nvPr/>
        </p:nvSpPr>
        <p:spPr>
          <a:xfrm>
            <a:off x="822960" y="4553712"/>
            <a:ext cx="3054096" cy="786384"/>
          </a:xfrm>
          <a:prstGeom prst="rect">
            <a:avLst/>
          </a:prstGeom>
          <a:noFill/>
          <a:ln/>
        </p:spPr>
        <p:txBody>
          <a:bodyPr wrap="square" lIns="0" tIns="0" rIns="0" bIns="0" rtlCol="0" anchor="t"/>
          <a:lstStyle/>
          <a:p>
            <a:pPr marL="0" indent="0">
              <a:lnSpc>
                <a:spcPts val="1600"/>
              </a:lnSpc>
              <a:buNone/>
            </a:pPr>
            <a:r>
              <a:rPr lang="en-US" sz="1250" dirty="0">
                <a:solidFill>
                  <a:srgbClr val="7A7A7A"/>
                </a:solidFill>
                <a:latin typeface="Calibri" pitchFamily="34" charset="0"/>
                <a:ea typeface="Calibri" pitchFamily="34" charset="-122"/>
                <a:cs typeface="Calibri" pitchFamily="34" charset="-120"/>
              </a:rPr>
              <a:t>Read–Eval–Print Loop. The interactive prompt where you type one line at a time.</a:t>
            </a:r>
            <a:endParaRPr lang="en-US" sz="1250" dirty="0"/>
          </a:p>
        </p:txBody>
      </p:sp>
      <p:sp>
        <p:nvSpPr>
          <p:cNvPr id="20" name="Shape 17"/>
          <p:cNvSpPr/>
          <p:nvPr/>
        </p:nvSpPr>
        <p:spPr>
          <a:xfrm>
            <a:off x="4297680" y="3858768"/>
            <a:ext cx="3547872" cy="1645920"/>
          </a:xfrm>
          <a:prstGeom prst="roundRect">
            <a:avLst>
              <a:gd name="adj" fmla="val 5000"/>
            </a:avLst>
          </a:prstGeom>
          <a:solidFill>
            <a:srgbClr val="FFFFFF"/>
          </a:solidFill>
          <a:ln w="12700">
            <a:solidFill>
              <a:srgbClr val="E6E6E6"/>
            </a:solidFill>
            <a:prstDash val="solid"/>
          </a:ln>
        </p:spPr>
        <p:txBody>
          <a:bodyPr/>
          <a:lstStyle/>
          <a:p>
            <a:endParaRPr lang="en-US"/>
          </a:p>
        </p:txBody>
      </p:sp>
      <p:sp>
        <p:nvSpPr>
          <p:cNvPr id="21" name="Text 18"/>
          <p:cNvSpPr txBox="1"/>
          <p:nvPr/>
        </p:nvSpPr>
        <p:spPr>
          <a:xfrm>
            <a:off x="4553712" y="4096512"/>
            <a:ext cx="3054096" cy="384048"/>
          </a:xfrm>
          <a:prstGeom prst="rect">
            <a:avLst/>
          </a:prstGeom>
          <a:noFill/>
          <a:ln/>
        </p:spPr>
        <p:txBody>
          <a:bodyPr wrap="square" lIns="0" tIns="0" rIns="0" bIns="0" rtlCol="0" anchor="ctr"/>
          <a:lstStyle/>
          <a:p>
            <a:pPr marL="0" indent="0">
              <a:buNone/>
            </a:pPr>
            <a:r>
              <a:rPr lang="en-US" sz="1500" b="1" dirty="0">
                <a:solidFill>
                  <a:srgbClr val="1C1C1C"/>
                </a:solidFill>
                <a:latin typeface="Arial" pitchFamily="34" charset="0"/>
                <a:ea typeface="Arial" pitchFamily="34" charset="-122"/>
                <a:cs typeface="Arial" pitchFamily="34" charset="-120"/>
              </a:rPr>
              <a:t>Notebook</a:t>
            </a:r>
            <a:endParaRPr lang="en-US" sz="1500" dirty="0"/>
          </a:p>
        </p:txBody>
      </p:sp>
      <p:sp>
        <p:nvSpPr>
          <p:cNvPr id="22" name="Text 19"/>
          <p:cNvSpPr txBox="1"/>
          <p:nvPr/>
        </p:nvSpPr>
        <p:spPr>
          <a:xfrm>
            <a:off x="4553712" y="4553712"/>
            <a:ext cx="3054096" cy="786384"/>
          </a:xfrm>
          <a:prstGeom prst="rect">
            <a:avLst/>
          </a:prstGeom>
          <a:noFill/>
          <a:ln/>
        </p:spPr>
        <p:txBody>
          <a:bodyPr wrap="square" lIns="0" tIns="0" rIns="0" bIns="0" rtlCol="0" anchor="t"/>
          <a:lstStyle/>
          <a:p>
            <a:pPr marL="0" indent="0">
              <a:lnSpc>
                <a:spcPts val="1600"/>
              </a:lnSpc>
              <a:buNone/>
            </a:pPr>
            <a:r>
              <a:rPr lang="en-US" sz="1250" dirty="0">
                <a:solidFill>
                  <a:srgbClr val="7A7A7A"/>
                </a:solidFill>
                <a:latin typeface="Calibri" pitchFamily="34" charset="0"/>
                <a:ea typeface="Calibri" pitchFamily="34" charset="-122"/>
                <a:cs typeface="Calibri" pitchFamily="34" charset="-120"/>
              </a:rPr>
              <a:t>A document mixing code cells and prose — Jupyter, Quarto.</a:t>
            </a:r>
            <a:endParaRPr lang="en-US" sz="1250" dirty="0"/>
          </a:p>
        </p:txBody>
      </p:sp>
      <p:sp>
        <p:nvSpPr>
          <p:cNvPr id="23" name="Shape 20"/>
          <p:cNvSpPr/>
          <p:nvPr/>
        </p:nvSpPr>
        <p:spPr>
          <a:xfrm>
            <a:off x="8028432" y="3858768"/>
            <a:ext cx="3547872" cy="1645920"/>
          </a:xfrm>
          <a:prstGeom prst="roundRect">
            <a:avLst>
              <a:gd name="adj" fmla="val 5000"/>
            </a:avLst>
          </a:prstGeom>
          <a:solidFill>
            <a:srgbClr val="FFFFFF"/>
          </a:solidFill>
          <a:ln w="12700">
            <a:solidFill>
              <a:srgbClr val="E6E6E6"/>
            </a:solidFill>
            <a:prstDash val="solid"/>
          </a:ln>
        </p:spPr>
        <p:txBody>
          <a:bodyPr/>
          <a:lstStyle/>
          <a:p>
            <a:endParaRPr lang="en-US"/>
          </a:p>
        </p:txBody>
      </p:sp>
      <p:sp>
        <p:nvSpPr>
          <p:cNvPr id="24" name="Text 21"/>
          <p:cNvSpPr txBox="1"/>
          <p:nvPr/>
        </p:nvSpPr>
        <p:spPr>
          <a:xfrm>
            <a:off x="8284464" y="4096512"/>
            <a:ext cx="3054096" cy="384048"/>
          </a:xfrm>
          <a:prstGeom prst="rect">
            <a:avLst/>
          </a:prstGeom>
          <a:noFill/>
          <a:ln/>
        </p:spPr>
        <p:txBody>
          <a:bodyPr wrap="square" lIns="0" tIns="0" rIns="0" bIns="0" rtlCol="0" anchor="ctr"/>
          <a:lstStyle/>
          <a:p>
            <a:pPr marL="0" indent="0">
              <a:buNone/>
            </a:pPr>
            <a:r>
              <a:rPr lang="en-US" sz="1500" b="1" dirty="0">
                <a:solidFill>
                  <a:srgbClr val="1C1C1C"/>
                </a:solidFill>
                <a:latin typeface="Arial" pitchFamily="34" charset="0"/>
                <a:ea typeface="Arial" pitchFamily="34" charset="-122"/>
                <a:cs typeface="Arial" pitchFamily="34" charset="-120"/>
              </a:rPr>
              <a:t>Decomposition</a:t>
            </a:r>
            <a:endParaRPr lang="en-US" sz="1500" dirty="0"/>
          </a:p>
        </p:txBody>
      </p:sp>
      <p:sp>
        <p:nvSpPr>
          <p:cNvPr id="25" name="Text 22"/>
          <p:cNvSpPr txBox="1"/>
          <p:nvPr/>
        </p:nvSpPr>
        <p:spPr>
          <a:xfrm>
            <a:off x="8284464" y="4553712"/>
            <a:ext cx="3054096" cy="786384"/>
          </a:xfrm>
          <a:prstGeom prst="rect">
            <a:avLst/>
          </a:prstGeom>
          <a:noFill/>
          <a:ln/>
        </p:spPr>
        <p:txBody>
          <a:bodyPr wrap="square" lIns="0" tIns="0" rIns="0" bIns="0" rtlCol="0" anchor="t"/>
          <a:lstStyle/>
          <a:p>
            <a:pPr marL="0" indent="0">
              <a:lnSpc>
                <a:spcPts val="1600"/>
              </a:lnSpc>
              <a:buNone/>
            </a:pPr>
            <a:r>
              <a:rPr lang="en-US" sz="1250" dirty="0">
                <a:solidFill>
                  <a:srgbClr val="7A7A7A"/>
                </a:solidFill>
                <a:latin typeface="Calibri" pitchFamily="34" charset="0"/>
                <a:ea typeface="Calibri" pitchFamily="34" charset="-122"/>
                <a:cs typeface="Calibri" pitchFamily="34" charset="-120"/>
              </a:rPr>
              <a:t>Breaking a question into steps small enough to code.</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vu_mark_gold.png"/>
          <p:cNvPicPr>
            <a:picLocks noChangeAspect="1"/>
          </p:cNvPicPr>
          <p:nvPr/>
        </p:nvPicPr>
        <p:blipFill>
          <a:blip r:embed="rId3"/>
          <a:stretch>
            <a:fillRect/>
          </a:stretch>
        </p:blipFill>
        <p:spPr>
          <a:xfrm>
            <a:off x="11356848" y="310896"/>
            <a:ext cx="384048" cy="274320"/>
          </a:xfrm>
          <a:prstGeom prst="rect">
            <a:avLst/>
          </a:prstGeom>
        </p:spPr>
      </p:pic>
      <p:sp>
        <p:nvSpPr>
          <p:cNvPr id="3" name="Shape 0"/>
          <p:cNvSpPr/>
          <p:nvPr/>
        </p:nvSpPr>
        <p:spPr>
          <a:xfrm>
            <a:off x="566928" y="329184"/>
            <a:ext cx="1562710" cy="310896"/>
          </a:xfrm>
          <a:prstGeom prst="roundRect">
            <a:avLst>
              <a:gd name="adj" fmla="val 50000"/>
            </a:avLst>
          </a:prstGeom>
          <a:solidFill>
            <a:srgbClr val="F2C879"/>
          </a:solidFill>
          <a:ln w="12700">
            <a:solidFill>
              <a:srgbClr val="F2C879"/>
            </a:solidFill>
            <a:prstDash val="solid"/>
          </a:ln>
        </p:spPr>
        <p:txBody>
          <a:bodyPr/>
          <a:lstStyle/>
          <a:p>
            <a:endParaRPr lang="en-US"/>
          </a:p>
        </p:txBody>
      </p:sp>
      <p:sp>
        <p:nvSpPr>
          <p:cNvPr id="4" name="Text 1"/>
          <p:cNvSpPr txBox="1"/>
          <p:nvPr/>
        </p:nvSpPr>
        <p:spPr>
          <a:xfrm>
            <a:off x="566928" y="329184"/>
            <a:ext cx="1562710" cy="310896"/>
          </a:xfrm>
          <a:prstGeom prst="rect">
            <a:avLst/>
          </a:prstGeom>
          <a:noFill/>
          <a:ln/>
        </p:spPr>
        <p:txBody>
          <a:bodyPr wrap="square" lIns="0" tIns="0" rIns="0" bIns="0" rtlCol="0" anchor="ctr"/>
          <a:lstStyle/>
          <a:p>
            <a:pPr marL="0" indent="0" algn="ctr">
              <a:buNone/>
            </a:pPr>
            <a:r>
              <a:rPr lang="en-US" sz="1050" b="1" kern="0" spc="110" dirty="0">
                <a:solidFill>
                  <a:srgbClr val="5A4415"/>
                </a:solidFill>
                <a:latin typeface="Arial" pitchFamily="34" charset="0"/>
                <a:ea typeface="Arial" pitchFamily="34" charset="-122"/>
                <a:cs typeface="Arial" pitchFamily="34" charset="-120"/>
              </a:rPr>
              <a:t>BEFORE YOU GO</a:t>
            </a:r>
            <a:endParaRPr lang="en-US" sz="1050" dirty="0"/>
          </a:p>
        </p:txBody>
      </p:sp>
      <p:sp>
        <p:nvSpPr>
          <p:cNvPr id="5" name="Text 2"/>
          <p:cNvSpPr txBox="1"/>
          <p:nvPr/>
        </p:nvSpPr>
        <p:spPr>
          <a:xfrm>
            <a:off x="566928" y="749808"/>
            <a:ext cx="10692079" cy="658368"/>
          </a:xfrm>
          <a:prstGeom prst="rect">
            <a:avLst/>
          </a:prstGeom>
          <a:noFill/>
          <a:ln/>
        </p:spPr>
        <p:txBody>
          <a:bodyPr wrap="square" lIns="0" tIns="0" rIns="0" bIns="0" rtlCol="0" anchor="ctr"/>
          <a:lstStyle/>
          <a:p>
            <a:pPr marL="0" indent="0">
              <a:buNone/>
            </a:pPr>
            <a:r>
              <a:rPr lang="en-US" sz="3300" b="1" dirty="0">
                <a:solidFill>
                  <a:srgbClr val="1C1C1C"/>
                </a:solidFill>
                <a:latin typeface="Arial" pitchFamily="34" charset="0"/>
                <a:ea typeface="Arial" pitchFamily="34" charset="-122"/>
                <a:cs typeface="Arial" pitchFamily="34" charset="-120"/>
              </a:rPr>
              <a:t>Before next week</a:t>
            </a:r>
            <a:endParaRPr lang="en-US" sz="3300" dirty="0"/>
          </a:p>
        </p:txBody>
      </p:sp>
      <p:sp>
        <p:nvSpPr>
          <p:cNvPr id="6" name="Text 3"/>
          <p:cNvSpPr txBox="1"/>
          <p:nvPr/>
        </p:nvSpPr>
        <p:spPr>
          <a:xfrm>
            <a:off x="11430000" y="6419088"/>
            <a:ext cx="320040" cy="228600"/>
          </a:xfrm>
          <a:prstGeom prst="rect">
            <a:avLst/>
          </a:prstGeom>
          <a:noFill/>
          <a:ln/>
        </p:spPr>
        <p:txBody>
          <a:bodyPr wrap="square" lIns="0" tIns="0" rIns="0" bIns="0" rtlCol="0" anchor="ctr"/>
          <a:lstStyle/>
          <a:p>
            <a:pPr marL="0" indent="0" algn="r">
              <a:buNone/>
            </a:pPr>
            <a:r>
              <a:rPr lang="en-US" sz="1000" dirty="0">
                <a:solidFill>
                  <a:srgbClr val="B5B5B5"/>
                </a:solidFill>
                <a:latin typeface="Calibri" pitchFamily="34" charset="0"/>
                <a:ea typeface="Calibri" pitchFamily="34" charset="-122"/>
                <a:cs typeface="Calibri" pitchFamily="34" charset="-120"/>
              </a:rPr>
              <a:t>21</a:t>
            </a:r>
            <a:endParaRPr lang="en-US" sz="1000" dirty="0"/>
          </a:p>
        </p:txBody>
      </p:sp>
      <p:sp>
        <p:nvSpPr>
          <p:cNvPr id="7" name="Shape 4"/>
          <p:cNvSpPr/>
          <p:nvPr/>
        </p:nvSpPr>
        <p:spPr>
          <a:xfrm>
            <a:off x="566928" y="1572768"/>
            <a:ext cx="5532120" cy="2834640"/>
          </a:xfrm>
          <a:prstGeom prst="roundRect">
            <a:avLst>
              <a:gd name="adj" fmla="val 2903"/>
            </a:avLst>
          </a:prstGeom>
          <a:solidFill>
            <a:srgbClr val="FBF7EF"/>
          </a:solidFill>
          <a:ln w="12700">
            <a:solidFill>
              <a:srgbClr val="E6E6E6"/>
            </a:solidFill>
            <a:prstDash val="solid"/>
          </a:ln>
        </p:spPr>
        <p:txBody>
          <a:bodyPr/>
          <a:lstStyle/>
          <a:p>
            <a:endParaRPr lang="en-US"/>
          </a:p>
        </p:txBody>
      </p:sp>
      <p:sp>
        <p:nvSpPr>
          <p:cNvPr id="8" name="Text 5"/>
          <p:cNvSpPr txBox="1"/>
          <p:nvPr/>
        </p:nvSpPr>
        <p:spPr>
          <a:xfrm>
            <a:off x="822960" y="1773936"/>
            <a:ext cx="4937760" cy="237744"/>
          </a:xfrm>
          <a:prstGeom prst="rect">
            <a:avLst/>
          </a:prstGeom>
          <a:noFill/>
          <a:ln/>
        </p:spPr>
        <p:txBody>
          <a:bodyPr wrap="square" lIns="0" tIns="0" rIns="0" bIns="0" rtlCol="0" anchor="ctr"/>
          <a:lstStyle/>
          <a:p>
            <a:pPr marL="0" indent="0">
              <a:buNone/>
            </a:pPr>
            <a:r>
              <a:rPr lang="en-US" sz="1000" b="1" kern="0" spc="150" dirty="0">
                <a:solidFill>
                  <a:srgbClr val="8A6D3B"/>
                </a:solidFill>
                <a:latin typeface="Arial" pitchFamily="34" charset="0"/>
                <a:ea typeface="Arial" pitchFamily="34" charset="-122"/>
                <a:cs typeface="Arial" pitchFamily="34" charset="-120"/>
              </a:rPr>
              <a:t>REQUIRED</a:t>
            </a:r>
            <a:endParaRPr lang="en-US" sz="1000" dirty="0"/>
          </a:p>
        </p:txBody>
      </p:sp>
      <p:sp>
        <p:nvSpPr>
          <p:cNvPr id="9" name="Text 6"/>
          <p:cNvSpPr txBox="1"/>
          <p:nvPr/>
        </p:nvSpPr>
        <p:spPr>
          <a:xfrm>
            <a:off x="841248" y="2103120"/>
            <a:ext cx="5029200" cy="2377440"/>
          </a:xfrm>
          <a:prstGeom prst="rect">
            <a:avLst/>
          </a:prstGeom>
          <a:noFill/>
          <a:ln/>
        </p:spPr>
        <p:txBody>
          <a:bodyPr wrap="square" lIns="0" tIns="0" rIns="0" bIns="0" rtlCol="0" anchor="t"/>
          <a:lstStyle/>
          <a:p>
            <a:pPr marL="203200" indent="-203200">
              <a:lnSpc>
                <a:spcPts val="1800"/>
              </a:lnSpc>
              <a:spcAft>
                <a:spcPts val="1300"/>
              </a:spcAft>
              <a:buSzPct val="100000"/>
              <a:buChar char="•"/>
            </a:pPr>
            <a:r>
              <a:rPr lang="en-US" sz="1400" dirty="0">
                <a:solidFill>
                  <a:srgbClr val="3A3A3A"/>
                </a:solidFill>
                <a:latin typeface="Calibri" pitchFamily="34" charset="0"/>
                <a:ea typeface="Calibri" pitchFamily="34" charset="-122"/>
                <a:cs typeface="Calibri" pitchFamily="34" charset="-120"/>
              </a:rPr>
              <a:t>Finish your installs — the written guide is on Brightspace.</a:t>
            </a:r>
            <a:endParaRPr lang="en-US" sz="1400" dirty="0"/>
          </a:p>
          <a:p>
            <a:pPr marL="203200" indent="-203200">
              <a:lnSpc>
                <a:spcPts val="1800"/>
              </a:lnSpc>
              <a:spcAft>
                <a:spcPts val="1300"/>
              </a:spcAft>
              <a:buSzPct val="100000"/>
              <a:buChar char="•"/>
            </a:pPr>
            <a:r>
              <a:rPr lang="en-US" sz="1400" dirty="0">
                <a:solidFill>
                  <a:srgbClr val="3A3A3A"/>
                </a:solidFill>
                <a:latin typeface="Calibri" pitchFamily="34" charset="0"/>
                <a:ea typeface="Calibri" pitchFamily="34" charset="-122"/>
                <a:cs typeface="Calibri" pitchFamily="34" charset="-120"/>
              </a:rPr>
              <a:t>Run the check script and fix whatever it names.</a:t>
            </a:r>
            <a:endParaRPr lang="en-US" sz="1400" dirty="0"/>
          </a:p>
          <a:p>
            <a:pPr marL="203200" indent="-203200">
              <a:lnSpc>
                <a:spcPts val="1800"/>
              </a:lnSpc>
              <a:spcAft>
                <a:spcPts val="1300"/>
              </a:spcAft>
              <a:buSzPct val="100000"/>
              <a:buChar char="•"/>
            </a:pPr>
            <a:r>
              <a:rPr lang="en-US" sz="1400" dirty="0">
                <a:solidFill>
                  <a:srgbClr val="3A3A3A"/>
                </a:solidFill>
                <a:latin typeface="Calibri" pitchFamily="34" charset="0"/>
                <a:ea typeface="Calibri" pitchFamily="34" charset="-122"/>
                <a:cs typeface="Calibri" pitchFamily="34" charset="-120"/>
              </a:rPr>
              <a:t>Do the Session 1 tutor activity and post the transcript — this is your participation grade.</a:t>
            </a:r>
            <a:endParaRPr lang="en-US" sz="1400" dirty="0"/>
          </a:p>
          <a:p>
            <a:pPr marL="203200" indent="-203200">
              <a:lnSpc>
                <a:spcPts val="1800"/>
              </a:lnSpc>
              <a:spcAft>
                <a:spcPts val="1300"/>
              </a:spcAft>
              <a:buSzPct val="100000"/>
              <a:buChar char="•"/>
            </a:pPr>
            <a:r>
              <a:rPr lang="en-US" sz="1400" dirty="0">
                <a:solidFill>
                  <a:srgbClr val="3A3A3A"/>
                </a:solidFill>
                <a:latin typeface="Calibri" pitchFamily="34" charset="0"/>
                <a:ea typeface="Calibri" pitchFamily="34" charset="-122"/>
                <a:cs typeface="Calibri" pitchFamily="34" charset="-120"/>
              </a:rPr>
              <a:t>Set up Copilot: make a GitHub account, apply for student access, then add the extension.</a:t>
            </a:r>
            <a:endParaRPr lang="en-US" sz="1400" dirty="0"/>
          </a:p>
          <a:p>
            <a:pPr marL="203200" indent="-203200">
              <a:lnSpc>
                <a:spcPts val="1800"/>
              </a:lnSpc>
              <a:spcAft>
                <a:spcPts val="1300"/>
              </a:spcAft>
              <a:buSzPct val="100000"/>
              <a:buChar char="•"/>
            </a:pPr>
            <a:r>
              <a:rPr lang="en-US" sz="1400" dirty="0">
                <a:solidFill>
                  <a:srgbClr val="3A3A3A"/>
                </a:solidFill>
                <a:latin typeface="Calibri" pitchFamily="34" charset="0"/>
                <a:ea typeface="Calibri" pitchFamily="34" charset="-122"/>
                <a:cs typeface="Calibri" pitchFamily="34" charset="-120"/>
              </a:rPr>
              <a:t>Missed the pre-test? forms.cloud.microsoft/r/ee6cN6cpkz</a:t>
            </a:r>
            <a:endParaRPr lang="en-US" sz="1400" dirty="0"/>
          </a:p>
        </p:txBody>
      </p:sp>
      <p:sp>
        <p:nvSpPr>
          <p:cNvPr id="10" name="Shape 7"/>
          <p:cNvSpPr/>
          <p:nvPr/>
        </p:nvSpPr>
        <p:spPr>
          <a:xfrm>
            <a:off x="6382512" y="1572768"/>
            <a:ext cx="5230368" cy="2834640"/>
          </a:xfrm>
          <a:prstGeom prst="roundRect">
            <a:avLst>
              <a:gd name="adj" fmla="val 2903"/>
            </a:avLst>
          </a:prstGeom>
          <a:solidFill>
            <a:srgbClr val="FFFFFF"/>
          </a:solidFill>
          <a:ln w="12700">
            <a:solidFill>
              <a:srgbClr val="E6E6E6"/>
            </a:solidFill>
            <a:prstDash val="solid"/>
          </a:ln>
        </p:spPr>
        <p:txBody>
          <a:bodyPr/>
          <a:lstStyle/>
          <a:p>
            <a:endParaRPr lang="en-US"/>
          </a:p>
        </p:txBody>
      </p:sp>
      <p:sp>
        <p:nvSpPr>
          <p:cNvPr id="11" name="Text 8"/>
          <p:cNvSpPr txBox="1"/>
          <p:nvPr/>
        </p:nvSpPr>
        <p:spPr>
          <a:xfrm>
            <a:off x="6638544" y="1773936"/>
            <a:ext cx="4754880" cy="237744"/>
          </a:xfrm>
          <a:prstGeom prst="rect">
            <a:avLst/>
          </a:prstGeom>
          <a:noFill/>
          <a:ln/>
        </p:spPr>
        <p:txBody>
          <a:bodyPr wrap="square" lIns="0" tIns="0" rIns="0" bIns="0" rtlCol="0" anchor="ctr"/>
          <a:lstStyle/>
          <a:p>
            <a:pPr marL="0" indent="0">
              <a:buNone/>
            </a:pPr>
            <a:r>
              <a:rPr lang="en-US" sz="1000" b="1" kern="0" spc="150" dirty="0">
                <a:solidFill>
                  <a:srgbClr val="6B7A88"/>
                </a:solidFill>
                <a:latin typeface="Arial" pitchFamily="34" charset="0"/>
                <a:ea typeface="Arial" pitchFamily="34" charset="-122"/>
                <a:cs typeface="Arial" pitchFamily="34" charset="-120"/>
              </a:rPr>
              <a:t>START THINKING ABOUT</a:t>
            </a:r>
            <a:endParaRPr lang="en-US" sz="1000" dirty="0"/>
          </a:p>
        </p:txBody>
      </p:sp>
      <p:sp>
        <p:nvSpPr>
          <p:cNvPr id="12" name="Text 9"/>
          <p:cNvSpPr txBox="1"/>
          <p:nvPr/>
        </p:nvSpPr>
        <p:spPr>
          <a:xfrm>
            <a:off x="6656832" y="2103120"/>
            <a:ext cx="4754880" cy="2377440"/>
          </a:xfrm>
          <a:prstGeom prst="rect">
            <a:avLst/>
          </a:prstGeom>
          <a:noFill/>
          <a:ln/>
        </p:spPr>
        <p:txBody>
          <a:bodyPr wrap="square" lIns="0" tIns="0" rIns="0" bIns="0" rtlCol="0" anchor="t"/>
          <a:lstStyle/>
          <a:p>
            <a:pPr marL="203200" indent="-203200">
              <a:lnSpc>
                <a:spcPts val="1800"/>
              </a:lnSpc>
              <a:spcAft>
                <a:spcPts val="1300"/>
              </a:spcAft>
              <a:buSzPct val="100000"/>
              <a:buChar char="•"/>
            </a:pPr>
            <a:r>
              <a:rPr lang="en-US" sz="1400" dirty="0">
                <a:solidFill>
                  <a:srgbClr val="3A3A3A"/>
                </a:solidFill>
                <a:latin typeface="Calibri" pitchFamily="34" charset="0"/>
                <a:ea typeface="Calibri" pitchFamily="34" charset="-122"/>
                <a:cs typeface="Calibri" pitchFamily="34" charset="-120"/>
              </a:rPr>
              <a:t>Your project dataset. Choose by Session 4, register by Session 6.</a:t>
            </a:r>
            <a:endParaRPr lang="en-US" sz="1400" dirty="0"/>
          </a:p>
          <a:p>
            <a:pPr marL="203200" indent="-203200">
              <a:lnSpc>
                <a:spcPts val="1800"/>
              </a:lnSpc>
              <a:spcAft>
                <a:spcPts val="1300"/>
              </a:spcAft>
              <a:buSzPct val="100000"/>
              <a:buChar char="•"/>
            </a:pPr>
            <a:r>
              <a:rPr lang="en-US" sz="1400" dirty="0">
                <a:solidFill>
                  <a:srgbClr val="3A3A3A"/>
                </a:solidFill>
                <a:latin typeface="Calibri" pitchFamily="34" charset="0"/>
                <a:ea typeface="Calibri" pitchFamily="34" charset="-122"/>
                <a:cs typeface="Calibri" pitchFamily="34" charset="-120"/>
              </a:rPr>
              <a:t>Browse the dataset list on the course research guide.</a:t>
            </a:r>
            <a:endParaRPr lang="en-US" sz="1400" dirty="0"/>
          </a:p>
          <a:p>
            <a:pPr marL="203200" indent="-203200">
              <a:lnSpc>
                <a:spcPts val="1800"/>
              </a:lnSpc>
              <a:spcAft>
                <a:spcPts val="1300"/>
              </a:spcAft>
              <a:buSzPct val="100000"/>
              <a:buChar char="•"/>
            </a:pPr>
            <a:r>
              <a:rPr lang="en-US" sz="1400" dirty="0">
                <a:solidFill>
                  <a:srgbClr val="3A3A3A"/>
                </a:solidFill>
                <a:latin typeface="Calibri" pitchFamily="34" charset="0"/>
                <a:ea typeface="Calibri" pitchFamily="34" charset="-122"/>
                <a:cs typeface="Calibri" pitchFamily="34" charset="-120"/>
              </a:rPr>
              <a:t>Best option by far: data you already have, or already want.</a:t>
            </a:r>
            <a:endParaRPr lang="en-US" sz="1400" dirty="0"/>
          </a:p>
        </p:txBody>
      </p:sp>
      <p:sp>
        <p:nvSpPr>
          <p:cNvPr id="13" name="Shape 10"/>
          <p:cNvSpPr/>
          <p:nvPr/>
        </p:nvSpPr>
        <p:spPr>
          <a:xfrm>
            <a:off x="566928" y="4754880"/>
            <a:ext cx="11057839" cy="1207008"/>
          </a:xfrm>
          <a:prstGeom prst="roundRect">
            <a:avLst>
              <a:gd name="adj" fmla="val 6818"/>
            </a:avLst>
          </a:prstGeom>
          <a:solidFill>
            <a:srgbClr val="1C1C1C"/>
          </a:solidFill>
          <a:ln w="12700">
            <a:solidFill>
              <a:srgbClr val="1C1C1C"/>
            </a:solidFill>
            <a:prstDash val="solid"/>
          </a:ln>
        </p:spPr>
        <p:txBody>
          <a:bodyPr/>
          <a:lstStyle/>
          <a:p>
            <a:endParaRPr lang="en-US"/>
          </a:p>
        </p:txBody>
      </p:sp>
      <p:sp>
        <p:nvSpPr>
          <p:cNvPr id="14" name="Text 11"/>
          <p:cNvSpPr txBox="1"/>
          <p:nvPr/>
        </p:nvSpPr>
        <p:spPr>
          <a:xfrm>
            <a:off x="886968" y="4956048"/>
            <a:ext cx="5486400" cy="237744"/>
          </a:xfrm>
          <a:prstGeom prst="rect">
            <a:avLst/>
          </a:prstGeom>
          <a:noFill/>
          <a:ln/>
        </p:spPr>
        <p:txBody>
          <a:bodyPr wrap="square" lIns="0" tIns="0" rIns="0" bIns="0" rtlCol="0" anchor="ctr"/>
          <a:lstStyle/>
          <a:p>
            <a:pPr marL="0" indent="0">
              <a:buNone/>
            </a:pPr>
            <a:r>
              <a:rPr lang="en-US" sz="950" b="1" kern="0" spc="160" dirty="0">
                <a:solidFill>
                  <a:srgbClr val="D9A441"/>
                </a:solidFill>
                <a:latin typeface="Arial" pitchFamily="34" charset="0"/>
                <a:ea typeface="Arial" pitchFamily="34" charset="-122"/>
                <a:cs typeface="Arial" pitchFamily="34" charset="-120"/>
              </a:rPr>
              <a:t>NEXT WEEK  ·  SESSION 2</a:t>
            </a:r>
            <a:endParaRPr lang="en-US" sz="950" dirty="0"/>
          </a:p>
        </p:txBody>
      </p:sp>
      <p:sp>
        <p:nvSpPr>
          <p:cNvPr id="15" name="Text 12"/>
          <p:cNvSpPr txBox="1"/>
          <p:nvPr/>
        </p:nvSpPr>
        <p:spPr>
          <a:xfrm>
            <a:off x="886968" y="5230368"/>
            <a:ext cx="10424160" cy="713232"/>
          </a:xfrm>
          <a:prstGeom prst="rect">
            <a:avLst/>
          </a:prstGeom>
          <a:noFill/>
          <a:ln/>
        </p:spPr>
        <p:txBody>
          <a:bodyPr wrap="square" lIns="0" tIns="0" rIns="0" bIns="0" rtlCol="0" anchor="t"/>
          <a:lstStyle/>
          <a:p>
            <a:pPr marL="0" indent="0">
              <a:lnSpc>
                <a:spcPts val="2400"/>
              </a:lnSpc>
              <a:buNone/>
            </a:pPr>
            <a:r>
              <a:rPr lang="en-US" sz="1800" b="1" dirty="0">
                <a:solidFill>
                  <a:srgbClr val="FFFFFF"/>
                </a:solidFill>
                <a:latin typeface="Arial" pitchFamily="34" charset="0"/>
                <a:ea typeface="Arial" pitchFamily="34" charset="-122"/>
                <a:cs typeface="Arial" pitchFamily="34" charset="-120"/>
              </a:rPr>
              <a:t>Variables and types — where most of your bugs will come from.
</a:t>
            </a:r>
            <a:r>
              <a:rPr lang="en-US" sz="1350" dirty="0">
                <a:solidFill>
                  <a:srgbClr val="C6C6C6"/>
                </a:solidFill>
                <a:latin typeface="Arial" pitchFamily="34" charset="0"/>
                <a:ea typeface="Arial" pitchFamily="34" charset="-122"/>
                <a:cs typeface="Arial" pitchFamily="34" charset="-120"/>
              </a:rPr>
              <a:t>Including how to read a TypeError traceback without panicking.</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5339</Words>
  <Application>Microsoft Office PowerPoint</Application>
  <PresentationFormat>Widescreen</PresentationFormat>
  <Paragraphs>490</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CPBP 8306 — Session 1: Thinking Like a Coder</dc:title>
  <dc:subject>PptxGenJS Presentation</dc:subject>
  <dc:creator>Joshua Borycz &amp; Daniel Genkins</dc:creator>
  <cp:lastModifiedBy>Daniel Genkins</cp:lastModifiedBy>
  <cp:revision>2</cp:revision>
  <dcterms:created xsi:type="dcterms:W3CDTF">2026-08-26T21:26:45Z</dcterms:created>
  <dcterms:modified xsi:type="dcterms:W3CDTF">2026-08-27T00:31:03Z</dcterms:modified>
</cp:coreProperties>
</file>